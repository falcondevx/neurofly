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0.jpg" ContentType="image/jpg"/>
  <Override PartName="/ppt/media/image11.jpg" ContentType="image/jpg"/>
  <Override PartName="/ppt/media/image17.jpg" ContentType="image/jpg"/>
  <Override PartName="/ppt/media/image5.jpg" ContentType="image/jpg"/>
  <Override PartName="/ppt/media/image8.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2" r:id="rId7"/>
    <p:sldId id="261"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D8A02D0-AF1F-3F1E-4188-34A3A9CAF2EA}">
          <p14:sldIdLst>
            <p14:sldId id="256"/>
          </p14:sldIdLst>
        </p14:section>
        <p14:section name="Idea" id="{AF792F90-3DC9-54C4-608A-7EA97F211101}">
          <p14:sldIdLst>
            <p14:sldId id="257"/>
            <p14:sldId id="258"/>
          </p14:sldIdLst>
        </p14:section>
        <p14:section name="How it works" id="{C2542D62-EE2F-F962-36CB-ED6E5145136A}">
          <p14:sldIdLst>
            <p14:sldId id="259"/>
            <p14:sldId id="260"/>
            <p14:sldId id="262"/>
            <p14:sldId id="261"/>
          </p14:sldIdLst>
        </p14:section>
        <p14:section name="AI and control" id="{C436905A-787B-9A80-7B27-DE76FFF2A93A}">
          <p14:sldIdLst>
            <p14:sldId id="263"/>
          </p14:sldIdLst>
        </p14:section>
        <p14:section name="Results" id="{5723ED12-F0AC-9DCF-F059-A96C819CC5F2}">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5" d="100"/>
          <a:sy n="145"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Target-side accuracy</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1BF2-44C4-B1E3-7E65DE74D308}"/>
              </c:ext>
            </c:extLst>
          </c:dPt>
          <c:dPt>
            <c:idx val="1"/>
            <c:invertIfNegative val="0"/>
            <c:bubble3D val="0"/>
            <c:extLst>
              <c:ext xmlns:c16="http://schemas.microsoft.com/office/drawing/2014/chart" uri="{C3380CC4-5D6E-409C-BE32-E72D297353CC}">
                <c16:uniqueId val="{00000003-1BF2-44C4-B1E3-7E65DE74D308}"/>
              </c:ext>
            </c:extLst>
          </c:dPt>
          <c:dPt>
            <c:idx val="2"/>
            <c:invertIfNegative val="0"/>
            <c:bubble3D val="0"/>
            <c:extLst>
              <c:ext xmlns:c16="http://schemas.microsoft.com/office/drawing/2014/chart" uri="{C3380CC4-5D6E-409C-BE32-E72D297353CC}">
                <c16:uniqueId val="{00000005-1BF2-44C4-B1E3-7E65DE74D308}"/>
              </c:ext>
            </c:extLst>
          </c:dPt>
          <c:dPt>
            <c:idx val="3"/>
            <c:invertIfNegative val="0"/>
            <c:bubble3D val="0"/>
            <c:spPr>
              <a:solidFill>
                <a:srgbClr val="FF2D6F"/>
              </a:solidFill>
              <a:effectLst/>
            </c:spPr>
            <c:extLst>
              <c:ext xmlns:c16="http://schemas.microsoft.com/office/drawing/2014/chart" uri="{C3380CC4-5D6E-409C-BE32-E72D297353CC}">
                <c16:uniqueId val="{00000007-1BF2-44C4-B1E3-7E65DE74D308}"/>
              </c:ext>
            </c:extLst>
          </c:dPt>
          <c:dLbls>
            <c:numFmt formatCode="0&quot;%&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muscle neurons, averaged</c:v>
                </c:pt>
                <c:pt idx="1">
                  <c:v>muscle neurons, one by one</c:v>
                </c:pt>
                <c:pt idx="2">
                  <c:v>vision neurons</c:v>
                </c:pt>
                <c:pt idx="3">
                  <c:v>flight neurons, one by one</c:v>
                </c:pt>
              </c:strCache>
            </c:strRef>
          </c:cat>
          <c:val>
            <c:numRef>
              <c:f>Sheet1!$B$2:$B$5</c:f>
              <c:numCache>
                <c:formatCode>General</c:formatCode>
                <c:ptCount val="4"/>
                <c:pt idx="0">
                  <c:v>68</c:v>
                </c:pt>
                <c:pt idx="1">
                  <c:v>84</c:v>
                </c:pt>
                <c:pt idx="2">
                  <c:v>94</c:v>
                </c:pt>
                <c:pt idx="3">
                  <c:v>99</c:v>
                </c:pt>
              </c:numCache>
            </c:numRef>
          </c:val>
          <c:extLst>
            <c:ext xmlns:c16="http://schemas.microsoft.com/office/drawing/2014/chart" uri="{C3380CC4-5D6E-409C-BE32-E72D297353CC}">
              <c16:uniqueId val="{00000008-1BF2-44C4-B1E3-7E65DE74D30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115"/>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6.8"/>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902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NeuroFly: the drone camera image goes through a model of the fly eye (FlyVis), then through the real Drosophila connectome (BANC v888, brain + ventral nerve cord), and flight-neuron activity steers the drone in simulation. Render: semi-transparent NeuroMechFly body (FlyGym) with the BANC connectome inside — body alignment is illustrative — next to the X2 drone from MuJoCo. The threads from flight neurons to the drone are an illustration of the loop, not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NeuroFly is not another chatbot connected to a drone. It is an experiment in biologically grounded visual intelligence: the controller is the published connectome of a fruit fly (BANC), run as a neural network.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systems need large datasets, expensive training and opaque networks. We explore a different path: the measured wiring of a fly, where every neuron has a name and a function label.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image is resampled into the hexagonal lattice of a fly eye (FlyGym retina, 721 ommatidia per eye). FlyVis (Lappalainen et al.) computes the activity of fly visual neuron types, including motion detectors T4 and T5. Those activities are mapped by cell type onto 22,462 BANC neurons.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AI parts: FlyVis (trained network of the fly visual system), the BANC connectome (biological network, rate model on the GPU, never trained) and the decoder that reads flight neurons, learned by imitation (DAgger) on two laptop GPUs at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Connectome-constrained recurrent rate model: 175,401 BANC v888 neurons, 1.5 M connections, weights fixed by synapse counts and predicted transmitter sign; nothing inside the brain is trained. The only learned part is a linear ridge readout (DAgger from a teacher pilot) of 375 descending flight neurons plus 6 wing-motor group means, about 380 weights for yaw. Chart: target side is readable from single flight neurons in 99% of scenes, averaging motor neurons loses it (68%), cross-validated, scripts/check_side_decoding.py. 138 of the last 150 training flights reached the target with the teacher off, clear corridor. Our assumptions: rate dynamics, tau, gain, transmitter signs and the linear readout.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use case: the final approach, where GPS drifts by metres, e.g. homing on a marked landing zone. Far away a GPS heading is used; inside 4 m the turn comes only from BANC flight neurons. 138 of the last 150 training flights reached the target with the teacher fully off (clear corridor). Obstacle avoidance is being trained.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panel (sim/brain_panel.py) shows signal strength in vision, flight, muscle and haltere groups, who decides the heading (BANC vs GPS) and the votes of individual neurons. python -m sim.viewer --brain lets a person fly while the network only observes. The Next.js explorer shows every neuron with its real synaptic partners.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Newest run (world_nostab): thrust, roll and pitch only from BANC, drone sensors weighted 0. Evaluation on 6 fixed worlds with 2 blocks on the path: 0, 0, 1, 4, 5 reached after 0, 40, 80, 120, 160 flights; mean closest approach 9.8 m to 1.8 m. Only 6 test worlds, so treat it as promising, not final. The attitude controller of the simulator still holds the commanded tilt and GPS sets the heading beyond 4 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BANC data, FlyVis, FlyGym, MuJoCo and the X2 model are open resources; PyTorch, Next.js and three.js are libraries; Claude Code was used as an AI coding assistant. We did not use Godot or FlyWire data. Everything else was built during HackYeah.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NeuroFly\docs\prezentacja\assets\accent_line.png"/>
          <p:cNvPicPr>
            <a:picLocks noChangeAspect="1"/>
          </p:cNvPicPr>
          <p:nvPr/>
        </p:nvPicPr>
        <p:blipFill>
          <a:blip r:embed="rId3"/>
          <a:stretch>
            <a:fillRect/>
          </a:stretch>
        </p:blipFill>
        <p:spPr>
          <a:xfrm>
            <a:off x="402336" y="182880"/>
            <a:ext cx="36576" cy="749808"/>
          </a:xfrm>
          <a:prstGeom prst="rect">
            <a:avLst/>
          </a:prstGeom>
        </p:spPr>
      </p:pic>
      <p:pic>
        <p:nvPicPr>
          <p:cNvPr id="3" name="Image 1" descr="C:\NeuroFly\docs\prezentacja\assets\logo.png"/>
          <p:cNvPicPr>
            <a:picLocks noChangeAspect="1"/>
          </p:cNvPicPr>
          <p:nvPr/>
        </p:nvPicPr>
        <p:blipFill>
          <a:blip r:embed="rId4"/>
          <a:stretch>
            <a:fillRect/>
          </a:stretch>
        </p:blipFill>
        <p:spPr>
          <a:xfrm>
            <a:off x="457200" y="4690872"/>
            <a:ext cx="310896" cy="182880"/>
          </a:xfrm>
          <a:prstGeom prst="rect">
            <a:avLst/>
          </a:prstGeom>
        </p:spPr>
      </p:pic>
      <p:sp>
        <p:nvSpPr>
          <p:cNvPr id="4" name="Text 0"/>
          <p:cNvSpPr/>
          <p:nvPr/>
        </p:nvSpPr>
        <p:spPr>
          <a:xfrm>
            <a:off x="822960" y="4645152"/>
            <a:ext cx="1828800" cy="274320"/>
          </a:xfrm>
          <a:prstGeom prst="rect">
            <a:avLst/>
          </a:prstGeom>
          <a:noFill/>
          <a:ln/>
        </p:spPr>
        <p:txBody>
          <a:bodyPr wrap="square" lIns="0" tIns="0" rIns="0" bIns="0" rtlCol="0" anchor="ctr"/>
          <a:lstStyle/>
          <a:p>
            <a:pPr marL="0" indent="0">
              <a:buNone/>
            </a:pPr>
            <a:r>
              <a:rPr lang="en-US" sz="1000" dirty="0">
                <a:solidFill>
                  <a:srgbClr val="A1A1AA"/>
                </a:solidFill>
              </a:rPr>
              <a:t>NeuroFly</a:t>
            </a:r>
            <a:endParaRPr lang="en-US" sz="1000" dirty="0"/>
          </a:p>
        </p:txBody>
      </p:sp>
      <p:sp>
        <p:nvSpPr>
          <p:cNvPr id="5" name="Text 1"/>
          <p:cNvSpPr>
            <a:spLocks noGrp="1"/>
          </p:cNvSpPr>
          <p:nvPr>
            <p:ph type="title" idx="103" hasCustomPrompt="1"/>
          </p:nvPr>
        </p:nvSpPr>
        <p:spPr>
          <a:xfrm>
            <a:off x="566928" y="457200"/>
            <a:ext cx="7589520" cy="365760"/>
          </a:xfrm>
          <a:prstGeom prst="rect">
            <a:avLst/>
          </a:prstGeom>
          <a:noFill/>
          <a:ln/>
        </p:spPr>
        <p:txBody>
          <a:bodyPr wrap="square" rtlCol="0"/>
          <a:lstStyle>
            <a:lvl1pPr marL="0" indent="0" algn="l">
              <a:buNone/>
              <a:defRPr lang="en-US" sz="1600" kern="0" spc="100" dirty="0">
                <a:solidFill>
                  <a:srgbClr val="FAFAFA"/>
                </a:solidFill>
                <a:latin typeface="Michroma" pitchFamily="34" charset="0"/>
                <a:ea typeface="Michroma" pitchFamily="34" charset="-122"/>
                <a:cs typeface="Michroma" pitchFamily="34" charset="-120"/>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image" Target="../media/image14.png"/><Relationship Id="rId7"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FalconDevX/neurofly"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nder-fly-drone" descr="C:\NeuroFly\docs\prezentacja\assets\fly_drone.jpg"/>
          <p:cNvPicPr>
            <a:picLocks noChangeAspect="1"/>
          </p:cNvPicPr>
          <p:nvPr/>
        </p:nvPicPr>
        <p:blipFill>
          <a:blip r:embed="rId3"/>
          <a:stretch>
            <a:fillRect/>
          </a:stretch>
        </p:blipFill>
        <p:spPr>
          <a:xfrm>
            <a:off x="3291840" y="0"/>
            <a:ext cx="5852160" cy="4009644"/>
          </a:xfrm>
          <a:prstGeom prst="rect">
            <a:avLst/>
          </a:prstGeom>
        </p:spPr>
      </p:pic>
      <p:pic>
        <p:nvPicPr>
          <p:cNvPr id="3" name="logo" descr="C:\NeuroFly\docs\prezentacja\assets\logo.png"/>
          <p:cNvPicPr>
            <a:picLocks noChangeAspect="1"/>
          </p:cNvPicPr>
          <p:nvPr/>
        </p:nvPicPr>
        <p:blipFill>
          <a:blip r:embed="rId4"/>
          <a:stretch>
            <a:fillRect/>
          </a:stretch>
        </p:blipFill>
        <p:spPr>
          <a:xfrm>
            <a:off x="548640" y="868680"/>
            <a:ext cx="914400" cy="539496"/>
          </a:xfrm>
          <a:prstGeom prst="rect">
            <a:avLst/>
          </a:prstGeom>
        </p:spPr>
      </p:pic>
      <p:sp>
        <p:nvSpPr>
          <p:cNvPr id="4" name="eyebrow"/>
          <p:cNvSpPr txBox="1"/>
          <p:nvPr/>
        </p:nvSpPr>
        <p:spPr>
          <a:xfrm>
            <a:off x="548640" y="1627632"/>
            <a:ext cx="4754880" cy="201168"/>
          </a:xfrm>
          <a:prstGeom prst="rect">
            <a:avLst/>
          </a:prstGeom>
          <a:noFill/>
          <a:ln/>
        </p:spPr>
        <p:txBody>
          <a:bodyPr wrap="square" lIns="0" tIns="0" rIns="0" bIns="0" rtlCol="0" anchor="t"/>
          <a:lstStyle/>
          <a:p>
            <a:pPr marL="0" indent="0">
              <a:buNone/>
            </a:pPr>
            <a:r>
              <a:rPr lang="en-US" sz="800" kern="0" spc="500" dirty="0">
                <a:solidFill>
                  <a:srgbClr val="FF2D6F"/>
                </a:solidFill>
              </a:rPr>
              <a:t>BANC V888 CONNECTOME</a:t>
            </a:r>
            <a:endParaRPr lang="en-US" sz="800" dirty="0"/>
          </a:p>
        </p:txBody>
      </p:sp>
      <p:sp>
        <p:nvSpPr>
          <p:cNvPr id="5" name="title"/>
          <p:cNvSpPr txBox="1"/>
          <p:nvPr/>
        </p:nvSpPr>
        <p:spPr>
          <a:xfrm>
            <a:off x="548640" y="1874520"/>
            <a:ext cx="4754880" cy="777240"/>
          </a:xfrm>
          <a:prstGeom prst="rect">
            <a:avLst/>
          </a:prstGeom>
          <a:noFill/>
          <a:ln/>
        </p:spPr>
        <p:txBody>
          <a:bodyPr wrap="square" lIns="0" tIns="0" rIns="0" bIns="0" rtlCol="0" anchor="t"/>
          <a:lstStyle/>
          <a:p>
            <a:pPr marL="0" indent="0">
              <a:buNone/>
            </a:pPr>
            <a:r>
              <a:rPr lang="en-US" sz="4000" kern="0" spc="200" dirty="0">
                <a:solidFill>
                  <a:srgbClr val="FAFAFA"/>
                </a:solidFill>
                <a:latin typeface="Michroma" pitchFamily="34" charset="0"/>
                <a:ea typeface="Michroma" pitchFamily="34" charset="-122"/>
                <a:cs typeface="Michroma" pitchFamily="34" charset="-120"/>
              </a:rPr>
              <a:t>NEUROFLY</a:t>
            </a:r>
            <a:endParaRPr lang="en-US" sz="4000" dirty="0"/>
          </a:p>
        </p:txBody>
      </p:sp>
      <p:pic>
        <p:nvPicPr>
          <p:cNvPr id="6" name="accent-line" descr="C:\NeuroFly\docs\prezentacja\assets\accent_line.png"/>
          <p:cNvPicPr>
            <a:picLocks noChangeAspect="1"/>
          </p:cNvPicPr>
          <p:nvPr/>
        </p:nvPicPr>
        <p:blipFill>
          <a:blip r:embed="rId5"/>
          <a:stretch>
            <a:fillRect/>
          </a:stretch>
        </p:blipFill>
        <p:spPr>
          <a:xfrm>
            <a:off x="548640" y="2788920"/>
            <a:ext cx="45720" cy="868680"/>
          </a:xfrm>
          <a:prstGeom prst="rect">
            <a:avLst/>
          </a:prstGeom>
        </p:spPr>
      </p:pic>
      <p:sp>
        <p:nvSpPr>
          <p:cNvPr id="7" name="subtitle"/>
          <p:cNvSpPr txBox="1"/>
          <p:nvPr/>
        </p:nvSpPr>
        <p:spPr>
          <a:xfrm>
            <a:off x="777239" y="2788920"/>
            <a:ext cx="3021037" cy="731520"/>
          </a:xfrm>
          <a:prstGeom prst="rect">
            <a:avLst/>
          </a:prstGeom>
          <a:noFill/>
          <a:ln/>
        </p:spPr>
        <p:txBody>
          <a:bodyPr wrap="square" lIns="0" tIns="0" rIns="0" bIns="0" rtlCol="0" anchor="t"/>
          <a:lstStyle/>
          <a:p>
            <a:pPr marL="0" indent="0">
              <a:buNone/>
            </a:pPr>
            <a:r>
              <a:rPr lang="en-US" sz="1800" dirty="0">
                <a:solidFill>
                  <a:srgbClr val="A1A1AA"/>
                </a:solidFill>
                <a:latin typeface="Abadi ExtraLight" panose="020F0502020204030204" pitchFamily="34" charset="-18"/>
              </a:rPr>
              <a:t>The brain of a fruit fly</a:t>
            </a:r>
            <a:r>
              <a:rPr lang="pl-PL" sz="1800" dirty="0">
                <a:solidFill>
                  <a:srgbClr val="A1A1AA"/>
                </a:solidFill>
                <a:latin typeface="Abadi ExtraLight" panose="020F0502020204030204" pitchFamily="34" charset="-18"/>
              </a:rPr>
              <a:t> which</a:t>
            </a:r>
            <a:endParaRPr lang="en-US" sz="1800" dirty="0">
              <a:latin typeface="Abadi ExtraLight" panose="020F0502020204030204" pitchFamily="34" charset="-18"/>
            </a:endParaRPr>
          </a:p>
          <a:p>
            <a:pPr marL="0" indent="0">
              <a:buNone/>
            </a:pPr>
            <a:r>
              <a:rPr lang="en-US" sz="1800" dirty="0">
                <a:solidFill>
                  <a:srgbClr val="A1A1AA"/>
                </a:solidFill>
                <a:latin typeface="Abadi ExtraLight" panose="020F0502020204030204" pitchFamily="34" charset="-18"/>
              </a:rPr>
              <a:t>pilots a drone</a:t>
            </a:r>
            <a:endParaRPr lang="en-US" sz="1800" dirty="0">
              <a:latin typeface="Abadi ExtraLight" panose="020F0502020204030204" pitchFamily="34" charset="-18"/>
            </a:endParaRPr>
          </a:p>
        </p:txBody>
      </p:sp>
      <p:sp>
        <p:nvSpPr>
          <p:cNvPr id="8" name="footer"/>
          <p:cNvSpPr txBox="1"/>
          <p:nvPr/>
        </p:nvSpPr>
        <p:spPr>
          <a:xfrm>
            <a:off x="548640" y="4343400"/>
            <a:ext cx="8046720" cy="274320"/>
          </a:xfrm>
          <a:prstGeom prst="rect">
            <a:avLst/>
          </a:prstGeom>
          <a:noFill/>
          <a:ln/>
        </p:spPr>
        <p:txBody>
          <a:bodyPr wrap="square" lIns="0" tIns="0" rIns="0" bIns="0" rtlCol="0" anchor="t"/>
          <a:lstStyle/>
          <a:p>
            <a:pPr marL="0" indent="0">
              <a:buNone/>
            </a:pPr>
            <a:r>
              <a:rPr lang="en-US" sz="800" kern="0" spc="400" dirty="0">
                <a:solidFill>
                  <a:srgbClr val="A1A1AA"/>
                </a:solidFill>
              </a:rPr>
              <a:t>FULL BANC V888 CONNECTOME      175,401 NEURONS      CLOSED LOOP IN MUJOCO</a:t>
            </a:r>
            <a:endParaRPr lang="en-US" sz="800" dirty="0"/>
          </a:p>
        </p:txBody>
      </p:sp>
      <p:sp>
        <p:nvSpPr>
          <p:cNvPr id="12" name="TextBox 11">
            <a:extLst>
              <a:ext uri="{FF2B5EF4-FFF2-40B4-BE49-F238E27FC236}">
                <a16:creationId xmlns:a16="http://schemas.microsoft.com/office/drawing/2014/main" id="{9312F346-EEAF-81DD-04C2-5CA6E1740A56}"/>
              </a:ext>
            </a:extLst>
          </p:cNvPr>
          <p:cNvSpPr txBox="1"/>
          <p:nvPr/>
        </p:nvSpPr>
        <p:spPr>
          <a:xfrm>
            <a:off x="5494314" y="4617720"/>
            <a:ext cx="4572000" cy="338554"/>
          </a:xfrm>
          <a:prstGeom prst="rect">
            <a:avLst/>
          </a:prstGeom>
          <a:noFill/>
        </p:spPr>
        <p:txBody>
          <a:bodyPr wrap="square">
            <a:spAutoFit/>
          </a:bodyPr>
          <a:lstStyle/>
          <a:p>
            <a:r>
              <a:rPr lang="pl-PL" sz="800" spc="500" dirty="0">
                <a:solidFill>
                  <a:srgbClr val="FF2D6F"/>
                </a:solidFill>
                <a:latin typeface="Roboto"/>
              </a:rPr>
              <a:t>NO IMAGE OR 3D OBJECT ON THE PRESENTATION IS AI GENERATED</a:t>
            </a:r>
            <a:endParaRPr lang="pl-PL" sz="800" b="0" spc="500" dirty="0">
              <a:solidFill>
                <a:srgbClr val="FF2D6F"/>
              </a:solidFill>
              <a:latin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IDEA</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WHY A FLY BRAIN?</a:t>
            </a:r>
            <a:endParaRPr lang="en-US" sz="1600" dirty="0"/>
          </a:p>
        </p:txBody>
      </p:sp>
      <p:sp>
        <p:nvSpPr>
          <p:cNvPr id="4" name="lead"/>
          <p:cNvSpPr txBox="1"/>
          <p:nvPr/>
        </p:nvSpPr>
        <p:spPr>
          <a:xfrm>
            <a:off x="566927" y="1005840"/>
            <a:ext cx="4954641" cy="1892808"/>
          </a:xfrm>
          <a:prstGeom prst="rect">
            <a:avLst/>
          </a:prstGeom>
          <a:noFill/>
          <a:ln/>
        </p:spPr>
        <p:txBody>
          <a:bodyPr wrap="square" lIns="0" tIns="0" rIns="0" bIns="0" rtlCol="0" anchor="t"/>
          <a:lstStyle/>
          <a:p>
            <a:r>
              <a:rPr lang="pl-PL" sz="1400" dirty="0">
                <a:solidFill>
                  <a:schemeClr val="bg1"/>
                </a:solidFill>
              </a:rPr>
              <a:t>A fruit fly can detect motion, avoid obstacles and move towards a target using a very small brain.</a:t>
            </a:r>
          </a:p>
          <a:p>
            <a:endParaRPr lang="pl-PL" sz="1400" dirty="0">
              <a:solidFill>
                <a:schemeClr val="bg1"/>
              </a:solidFill>
            </a:endParaRPr>
          </a:p>
          <a:p>
            <a:r>
              <a:rPr lang="pl-PL" sz="1400" dirty="0">
                <a:solidFill>
                  <a:schemeClr val="bg1"/>
                </a:solidFill>
              </a:rPr>
              <a:t>Its visual system quickly turns what it sees into movement decisions. This can help build drone navigation that reacts to the environment without needing a large model or constant connection to powerful hardware.</a:t>
            </a:r>
          </a:p>
        </p:txBody>
      </p:sp>
      <p:sp>
        <p:nvSpPr>
          <p:cNvPr id="5" name="q"/>
          <p:cNvSpPr/>
          <p:nvPr/>
        </p:nvSpPr>
        <p:spPr>
          <a:xfrm>
            <a:off x="502920" y="2679192"/>
            <a:ext cx="4892040" cy="91440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txBody>
          <a:bodyPr/>
          <a:lstStyle/>
          <a:p>
            <a:endParaRPr lang="pl-PL"/>
          </a:p>
        </p:txBody>
      </p:sp>
      <p:sp>
        <p:nvSpPr>
          <p:cNvPr id="6" name="q-k"/>
          <p:cNvSpPr txBox="1"/>
          <p:nvPr/>
        </p:nvSpPr>
        <p:spPr>
          <a:xfrm>
            <a:off x="713232" y="2788920"/>
            <a:ext cx="2743200" cy="201168"/>
          </a:xfrm>
          <a:prstGeom prst="rect">
            <a:avLst/>
          </a:prstGeom>
          <a:noFill/>
          <a:ln/>
        </p:spPr>
        <p:txBody>
          <a:bodyPr wrap="square" lIns="0" tIns="0" rIns="0" bIns="0" rtlCol="0" anchor="t"/>
          <a:lstStyle/>
          <a:p>
            <a:pPr marL="0" indent="0">
              <a:buNone/>
            </a:pPr>
            <a:r>
              <a:rPr lang="en-US" sz="800" kern="0" spc="500" dirty="0">
                <a:solidFill>
                  <a:srgbClr val="FF2D6F"/>
                </a:solidFill>
              </a:rPr>
              <a:t>OUR QUESTION</a:t>
            </a:r>
            <a:endParaRPr lang="en-US" sz="800" dirty="0"/>
          </a:p>
        </p:txBody>
      </p:sp>
      <p:sp>
        <p:nvSpPr>
          <p:cNvPr id="7" name="q-t"/>
          <p:cNvSpPr txBox="1"/>
          <p:nvPr/>
        </p:nvSpPr>
        <p:spPr>
          <a:xfrm>
            <a:off x="713232" y="3026664"/>
            <a:ext cx="4526280" cy="502920"/>
          </a:xfrm>
          <a:prstGeom prst="rect">
            <a:avLst/>
          </a:prstGeom>
          <a:noFill/>
          <a:ln/>
        </p:spPr>
        <p:txBody>
          <a:bodyPr wrap="square" lIns="0" tIns="0" rIns="0" bIns="0" rtlCol="0" anchor="t"/>
          <a:lstStyle/>
          <a:p>
            <a:r>
              <a:rPr lang="en-US" sz="1500" b="1" dirty="0">
                <a:solidFill>
                  <a:srgbClr val="FAFAFA"/>
                </a:solidFill>
              </a:rPr>
              <a:t>Can the real wiring of an insect brain pilot </a:t>
            </a:r>
            <a:r>
              <a:rPr lang="pl-PL" sz="1500" b="1" dirty="0">
                <a:solidFill>
                  <a:srgbClr val="FAFAFA"/>
                </a:solidFill>
              </a:rPr>
              <a:t>effectively </a:t>
            </a:r>
            <a:r>
              <a:rPr lang="en-US" sz="1500" b="1" dirty="0">
                <a:solidFill>
                  <a:srgbClr val="FAFAFA"/>
                </a:solidFill>
              </a:rPr>
              <a:t>an autonomous drone?</a:t>
            </a:r>
            <a:endParaRPr lang="en-US" sz="1500" dirty="0"/>
          </a:p>
        </p:txBody>
      </p:sp>
      <p:sp>
        <p:nvSpPr>
          <p:cNvPr id="8" name="s-n-value"/>
          <p:cNvSpPr txBox="1"/>
          <p:nvPr/>
        </p:nvSpPr>
        <p:spPr>
          <a:xfrm>
            <a:off x="502920" y="3721608"/>
            <a:ext cx="228600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175,401</a:t>
            </a:r>
            <a:endParaRPr lang="en-US" sz="3200" dirty="0"/>
          </a:p>
        </p:txBody>
      </p:sp>
      <p:sp>
        <p:nvSpPr>
          <p:cNvPr id="9" name="s-n-label"/>
          <p:cNvSpPr txBox="1"/>
          <p:nvPr/>
        </p:nvSpPr>
        <p:spPr>
          <a:xfrm>
            <a:off x="502920" y="4179687"/>
            <a:ext cx="2286000" cy="457200"/>
          </a:xfrm>
          <a:prstGeom prst="rect">
            <a:avLst/>
          </a:prstGeom>
          <a:noFill/>
          <a:ln/>
        </p:spPr>
        <p:txBody>
          <a:bodyPr wrap="square" lIns="0" tIns="0" rIns="0" bIns="0" rtlCol="0" anchor="t"/>
          <a:lstStyle/>
          <a:p>
            <a:pPr marL="0" indent="0">
              <a:buNone/>
            </a:pPr>
            <a:r>
              <a:rPr lang="en-US" sz="1200" dirty="0">
                <a:solidFill>
                  <a:srgbClr val="A1A1AA"/>
                </a:solidFill>
              </a:rPr>
              <a:t>neurons, mapped synapse by synapse</a:t>
            </a:r>
            <a:endParaRPr lang="en-US" sz="1200" dirty="0"/>
          </a:p>
        </p:txBody>
      </p:sp>
      <p:sp>
        <p:nvSpPr>
          <p:cNvPr id="10" name="s-t-value"/>
          <p:cNvSpPr txBox="1"/>
          <p:nvPr/>
        </p:nvSpPr>
        <p:spPr>
          <a:xfrm>
            <a:off x="3052690" y="3718970"/>
            <a:ext cx="237744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2.6 ms</a:t>
            </a:r>
            <a:endParaRPr lang="en-US" sz="3200" dirty="0"/>
          </a:p>
        </p:txBody>
      </p:sp>
      <p:sp>
        <p:nvSpPr>
          <p:cNvPr id="11" name="s-t-label"/>
          <p:cNvSpPr txBox="1"/>
          <p:nvPr/>
        </p:nvSpPr>
        <p:spPr>
          <a:xfrm>
            <a:off x="3052690" y="4179687"/>
            <a:ext cx="2377440" cy="457200"/>
          </a:xfrm>
          <a:prstGeom prst="rect">
            <a:avLst/>
          </a:prstGeom>
          <a:noFill/>
          <a:ln/>
        </p:spPr>
        <p:txBody>
          <a:bodyPr wrap="square" lIns="0" tIns="0" rIns="0" bIns="0" rtlCol="0" anchor="t"/>
          <a:lstStyle/>
          <a:p>
            <a:pPr marL="0" indent="0">
              <a:buNone/>
            </a:pPr>
            <a:r>
              <a:rPr lang="en-US" sz="1200" dirty="0">
                <a:solidFill>
                  <a:srgbClr val="A1A1AA"/>
                </a:solidFill>
              </a:rPr>
              <a:t>to run all of them once on a laptop GPU</a:t>
            </a:r>
            <a:endParaRPr lang="en-US" sz="12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a:t>
            </a:fld>
            <a:endParaRPr lang="en-US"/>
          </a:p>
        </p:txBody>
      </p:sp>
      <p:pic>
        <p:nvPicPr>
          <p:cNvPr id="16" name="Picture 15">
            <a:extLst>
              <a:ext uri="{FF2B5EF4-FFF2-40B4-BE49-F238E27FC236}">
                <a16:creationId xmlns:a16="http://schemas.microsoft.com/office/drawing/2014/main" id="{45F7407B-88C0-B271-F6E5-BD12FB406216}"/>
              </a:ext>
            </a:extLst>
          </p:cNvPr>
          <p:cNvPicPr>
            <a:picLocks noChangeAspect="1"/>
          </p:cNvPicPr>
          <p:nvPr/>
        </p:nvPicPr>
        <p:blipFill>
          <a:blip r:embed="rId3"/>
          <a:stretch>
            <a:fillRect/>
          </a:stretch>
        </p:blipFill>
        <p:spPr>
          <a:xfrm>
            <a:off x="5770670" y="850392"/>
            <a:ext cx="2995261" cy="2571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IDEA</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THE PROBLEM</a:t>
            </a:r>
            <a:endParaRPr lang="en-US" sz="1600" dirty="0"/>
          </a:p>
        </p:txBody>
      </p:sp>
      <p:sp>
        <p:nvSpPr>
          <p:cNvPr id="4" name="lead"/>
          <p:cNvSpPr txBox="1"/>
          <p:nvPr/>
        </p:nvSpPr>
        <p:spPr>
          <a:xfrm>
            <a:off x="566928" y="1005840"/>
            <a:ext cx="8046720" cy="320040"/>
          </a:xfrm>
          <a:prstGeom prst="rect">
            <a:avLst/>
          </a:prstGeom>
          <a:noFill/>
          <a:ln/>
        </p:spPr>
        <p:txBody>
          <a:bodyPr wrap="square" lIns="0" tIns="0" rIns="0" bIns="0" rtlCol="0" anchor="t"/>
          <a:lstStyle/>
          <a:p>
            <a:pPr marL="0" indent="0">
              <a:buNone/>
            </a:pPr>
            <a:r>
              <a:rPr lang="en-US" sz="1400" dirty="0">
                <a:solidFill>
                  <a:srgbClr val="FAFAFA"/>
                </a:solidFill>
              </a:rPr>
              <a:t>An autonomous drone decides from imperfect pictures, many times a second.</a:t>
            </a:r>
            <a:endParaRPr lang="en-US" sz="1400" dirty="0"/>
          </a:p>
        </p:txBody>
      </p:sp>
      <p:sp>
        <p:nvSpPr>
          <p:cNvPr id="5" name="q-0"/>
          <p:cNvSpPr/>
          <p:nvPr/>
        </p:nvSpPr>
        <p:spPr>
          <a:xfrm>
            <a:off x="5134346" y="1417320"/>
            <a:ext cx="3506734" cy="56692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6" name="q-0-h"/>
          <p:cNvSpPr txBox="1"/>
          <p:nvPr/>
        </p:nvSpPr>
        <p:spPr>
          <a:xfrm>
            <a:off x="5298938" y="1481328"/>
            <a:ext cx="3232414" cy="237744"/>
          </a:xfrm>
          <a:prstGeom prst="rect">
            <a:avLst/>
          </a:prstGeom>
          <a:noFill/>
          <a:ln/>
        </p:spPr>
        <p:txBody>
          <a:bodyPr wrap="square" lIns="0" tIns="0" rIns="0" bIns="0" rtlCol="0" anchor="t"/>
          <a:lstStyle/>
          <a:p>
            <a:pPr marL="0" indent="0">
              <a:buNone/>
            </a:pPr>
            <a:r>
              <a:rPr lang="en-US" sz="1250" b="1" dirty="0">
                <a:solidFill>
                  <a:srgbClr val="FAFAFA"/>
                </a:solidFill>
              </a:rPr>
              <a:t>Where is the target?</a:t>
            </a:r>
            <a:endParaRPr lang="en-US" sz="1250" dirty="0"/>
          </a:p>
        </p:txBody>
      </p:sp>
      <p:sp>
        <p:nvSpPr>
          <p:cNvPr id="7" name="q-0-d"/>
          <p:cNvSpPr txBox="1"/>
          <p:nvPr/>
        </p:nvSpPr>
        <p:spPr>
          <a:xfrm>
            <a:off x="5298938" y="1728216"/>
            <a:ext cx="3232414" cy="219456"/>
          </a:xfrm>
          <a:prstGeom prst="rect">
            <a:avLst/>
          </a:prstGeom>
          <a:noFill/>
          <a:ln/>
        </p:spPr>
        <p:txBody>
          <a:bodyPr wrap="square" lIns="0" tIns="0" rIns="0" bIns="0" rtlCol="0" anchor="t"/>
          <a:lstStyle/>
          <a:p>
            <a:pPr marL="0" indent="0">
              <a:buNone/>
            </a:pPr>
            <a:r>
              <a:rPr lang="en-US" sz="1050" dirty="0">
                <a:solidFill>
                  <a:srgbClr val="A1A1AA"/>
                </a:solidFill>
              </a:rPr>
              <a:t>a mast somewhere ahead, GPS off by metres</a:t>
            </a:r>
            <a:endParaRPr lang="en-US" sz="1050" dirty="0"/>
          </a:p>
        </p:txBody>
      </p:sp>
      <p:sp>
        <p:nvSpPr>
          <p:cNvPr id="8" name="q-1"/>
          <p:cNvSpPr/>
          <p:nvPr/>
        </p:nvSpPr>
        <p:spPr>
          <a:xfrm>
            <a:off x="5134346" y="2057400"/>
            <a:ext cx="3506734" cy="56692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9" name="q-1-h"/>
          <p:cNvSpPr txBox="1"/>
          <p:nvPr/>
        </p:nvSpPr>
        <p:spPr>
          <a:xfrm>
            <a:off x="5298938" y="2121408"/>
            <a:ext cx="3232414" cy="237744"/>
          </a:xfrm>
          <a:prstGeom prst="rect">
            <a:avLst/>
          </a:prstGeom>
          <a:noFill/>
          <a:ln/>
        </p:spPr>
        <p:txBody>
          <a:bodyPr wrap="square" lIns="0" tIns="0" rIns="0" bIns="0" rtlCol="0" anchor="t"/>
          <a:lstStyle/>
          <a:p>
            <a:pPr marL="0" indent="0">
              <a:buNone/>
            </a:pPr>
            <a:r>
              <a:rPr lang="en-US" sz="1250" b="1" dirty="0">
                <a:solidFill>
                  <a:srgbClr val="FAFAFA"/>
                </a:solidFill>
              </a:rPr>
              <a:t>Is something in the way?</a:t>
            </a:r>
            <a:endParaRPr lang="en-US" sz="1250" dirty="0"/>
          </a:p>
        </p:txBody>
      </p:sp>
      <p:sp>
        <p:nvSpPr>
          <p:cNvPr id="10" name="q-1-d"/>
          <p:cNvSpPr txBox="1"/>
          <p:nvPr/>
        </p:nvSpPr>
        <p:spPr>
          <a:xfrm>
            <a:off x="5298938" y="2368296"/>
            <a:ext cx="3232414" cy="219456"/>
          </a:xfrm>
          <a:prstGeom prst="rect">
            <a:avLst/>
          </a:prstGeom>
          <a:noFill/>
          <a:ln/>
        </p:spPr>
        <p:txBody>
          <a:bodyPr wrap="square" lIns="0" tIns="0" rIns="0" bIns="0" rtlCol="0" anchor="t"/>
          <a:lstStyle/>
          <a:p>
            <a:pPr marL="0" indent="0">
              <a:buNone/>
            </a:pPr>
            <a:r>
              <a:rPr lang="pl-PL" sz="1050" dirty="0">
                <a:solidFill>
                  <a:srgbClr val="A1A1AA"/>
                </a:solidFill>
              </a:rPr>
              <a:t>buildings,</a:t>
            </a:r>
            <a:r>
              <a:rPr lang="en-US" sz="1050" dirty="0">
                <a:solidFill>
                  <a:srgbClr val="A1A1AA"/>
                </a:solidFill>
              </a:rPr>
              <a:t>walls and </a:t>
            </a:r>
            <a:r>
              <a:rPr lang="pl-PL" sz="1050" dirty="0">
                <a:solidFill>
                  <a:srgbClr val="A1A1AA"/>
                </a:solidFill>
              </a:rPr>
              <a:t>trees</a:t>
            </a:r>
            <a:r>
              <a:rPr lang="en-US" sz="1050" dirty="0">
                <a:solidFill>
                  <a:srgbClr val="A1A1AA"/>
                </a:solidFill>
              </a:rPr>
              <a:t> on the route</a:t>
            </a:r>
            <a:endParaRPr lang="en-US" sz="1050" dirty="0"/>
          </a:p>
        </p:txBody>
      </p:sp>
      <p:sp>
        <p:nvSpPr>
          <p:cNvPr id="11" name="q-2"/>
          <p:cNvSpPr/>
          <p:nvPr/>
        </p:nvSpPr>
        <p:spPr>
          <a:xfrm>
            <a:off x="5134346" y="2697480"/>
            <a:ext cx="3506734" cy="56692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2" name="q-2-h"/>
          <p:cNvSpPr txBox="1"/>
          <p:nvPr/>
        </p:nvSpPr>
        <p:spPr>
          <a:xfrm>
            <a:off x="5298938" y="2761488"/>
            <a:ext cx="3232414" cy="237744"/>
          </a:xfrm>
          <a:prstGeom prst="rect">
            <a:avLst/>
          </a:prstGeom>
          <a:noFill/>
          <a:ln/>
        </p:spPr>
        <p:txBody>
          <a:bodyPr wrap="square" lIns="0" tIns="0" rIns="0" bIns="0" rtlCol="0" anchor="t"/>
          <a:lstStyle/>
          <a:p>
            <a:pPr marL="0" indent="0">
              <a:buNone/>
            </a:pPr>
            <a:r>
              <a:rPr lang="en-US" sz="1250" b="1" dirty="0">
                <a:solidFill>
                  <a:srgbClr val="FAFAFA"/>
                </a:solidFill>
              </a:rPr>
              <a:t>Which way to turn?</a:t>
            </a:r>
            <a:endParaRPr lang="en-US" sz="1250" dirty="0"/>
          </a:p>
        </p:txBody>
      </p:sp>
      <p:sp>
        <p:nvSpPr>
          <p:cNvPr id="13" name="q-2-d"/>
          <p:cNvSpPr txBox="1"/>
          <p:nvPr/>
        </p:nvSpPr>
        <p:spPr>
          <a:xfrm>
            <a:off x="5298938" y="3008376"/>
            <a:ext cx="3232414" cy="219456"/>
          </a:xfrm>
          <a:prstGeom prst="rect">
            <a:avLst/>
          </a:prstGeom>
          <a:noFill/>
          <a:ln/>
        </p:spPr>
        <p:txBody>
          <a:bodyPr wrap="square" lIns="0" tIns="0" rIns="0" bIns="0" rtlCol="0" anchor="t"/>
          <a:lstStyle/>
          <a:p>
            <a:pPr marL="0" indent="0">
              <a:buNone/>
            </a:pPr>
            <a:r>
              <a:rPr lang="en-US" sz="1050" dirty="0">
                <a:solidFill>
                  <a:srgbClr val="A1A1AA"/>
                </a:solidFill>
              </a:rPr>
              <a:t>left, right, how hard</a:t>
            </a:r>
            <a:endParaRPr lang="en-US" sz="1050" dirty="0"/>
          </a:p>
        </p:txBody>
      </p:sp>
      <p:sp>
        <p:nvSpPr>
          <p:cNvPr id="14" name="q-3"/>
          <p:cNvSpPr/>
          <p:nvPr/>
        </p:nvSpPr>
        <p:spPr>
          <a:xfrm>
            <a:off x="5134346" y="3337560"/>
            <a:ext cx="3506734" cy="56692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5" name="q-3-h"/>
          <p:cNvSpPr txBox="1"/>
          <p:nvPr/>
        </p:nvSpPr>
        <p:spPr>
          <a:xfrm>
            <a:off x="5298938" y="3401568"/>
            <a:ext cx="3232414" cy="237744"/>
          </a:xfrm>
          <a:prstGeom prst="rect">
            <a:avLst/>
          </a:prstGeom>
          <a:noFill/>
          <a:ln/>
        </p:spPr>
        <p:txBody>
          <a:bodyPr wrap="square" lIns="0" tIns="0" rIns="0" bIns="0" rtlCol="0" anchor="t"/>
          <a:lstStyle/>
          <a:p>
            <a:pPr marL="0" indent="0">
              <a:buNone/>
            </a:pPr>
            <a:r>
              <a:rPr lang="en-US" sz="1250" b="1" dirty="0">
                <a:solidFill>
                  <a:srgbClr val="FAFAFA"/>
                </a:solidFill>
              </a:rPr>
              <a:t>How to stay in the air?</a:t>
            </a:r>
            <a:endParaRPr lang="en-US" sz="1250" dirty="0"/>
          </a:p>
        </p:txBody>
      </p:sp>
      <p:sp>
        <p:nvSpPr>
          <p:cNvPr id="16" name="q-3-d"/>
          <p:cNvSpPr txBox="1"/>
          <p:nvPr/>
        </p:nvSpPr>
        <p:spPr>
          <a:xfrm>
            <a:off x="5298938" y="3648456"/>
            <a:ext cx="3232414" cy="219456"/>
          </a:xfrm>
          <a:prstGeom prst="rect">
            <a:avLst/>
          </a:prstGeom>
          <a:noFill/>
          <a:ln/>
        </p:spPr>
        <p:txBody>
          <a:bodyPr wrap="square" lIns="0" tIns="0" rIns="0" bIns="0" rtlCol="0" anchor="t"/>
          <a:lstStyle/>
          <a:p>
            <a:pPr marL="0" indent="0">
              <a:buNone/>
            </a:pPr>
            <a:r>
              <a:rPr lang="en-US" sz="1050" dirty="0">
                <a:solidFill>
                  <a:srgbClr val="A1A1AA"/>
                </a:solidFill>
              </a:rPr>
              <a:t>height, tilt, wind gusts</a:t>
            </a:r>
            <a:endParaRPr lang="en-US" sz="1050" dirty="0"/>
          </a:p>
        </p:txBody>
      </p:sp>
      <p:sp>
        <p:nvSpPr>
          <p:cNvPr id="18" name="cap-world"/>
          <p:cNvSpPr txBox="1"/>
          <p:nvPr/>
        </p:nvSpPr>
        <p:spPr>
          <a:xfrm>
            <a:off x="502920" y="3968496"/>
            <a:ext cx="4352544" cy="182880"/>
          </a:xfrm>
          <a:prstGeom prst="rect">
            <a:avLst/>
          </a:prstGeom>
          <a:noFill/>
          <a:ln/>
        </p:spPr>
        <p:txBody>
          <a:bodyPr wrap="square" lIns="0" tIns="0" rIns="0" bIns="0" rtlCol="0" anchor="t">
            <a:noAutofit/>
          </a:bodyPr>
          <a:lstStyle/>
          <a:p>
            <a:pPr marL="0" indent="0">
              <a:buNone/>
            </a:pPr>
            <a:r>
              <a:rPr lang="en-US" sz="1000">
                <a:solidFill>
                  <a:srgbClr val="A1A1AA"/>
                </a:solidFill>
              </a:rPr>
              <a:t>Live run: world, drone eyes (bottom), BANC panel (right)</a:t>
            </a:r>
            <a:endParaRPr lang="en-US" sz="1000" dirty="0"/>
          </a:p>
        </p:txBody>
      </p:sp>
      <p:sp>
        <p:nvSpPr>
          <p:cNvPr id="20" name="glossary-1"/>
          <p:cNvSpPr txBox="1"/>
          <p:nvPr/>
        </p:nvSpPr>
        <p:spPr>
          <a:xfrm>
            <a:off x="497734" y="4193227"/>
            <a:ext cx="8033617" cy="411480"/>
          </a:xfrm>
          <a:prstGeom prst="rect">
            <a:avLst/>
          </a:prstGeom>
          <a:noFill/>
          <a:ln/>
        </p:spPr>
        <p:txBody>
          <a:bodyPr wrap="square" lIns="0" tIns="0" rIns="0" bIns="0" rtlCol="0" anchor="t"/>
          <a:lstStyle/>
          <a:p>
            <a:r>
              <a:rPr lang="en-US" sz="1200" b="1" dirty="0">
                <a:solidFill>
                  <a:srgbClr val="A1A1AA"/>
                </a:solidFill>
              </a:rPr>
              <a:t>Our </a:t>
            </a:r>
            <a:r>
              <a:rPr lang="pl-PL" sz="1200" b="1" dirty="0">
                <a:solidFill>
                  <a:srgbClr val="A1A1AA"/>
                </a:solidFill>
              </a:rPr>
              <a:t>experimental </a:t>
            </a:r>
            <a:r>
              <a:rPr lang="en-US" sz="1200" b="1" dirty="0">
                <a:solidFill>
                  <a:srgbClr val="A1A1AA"/>
                </a:solidFill>
              </a:rPr>
              <a:t>path</a:t>
            </a:r>
            <a:r>
              <a:rPr lang="pl-PL" sz="1200" b="1" dirty="0">
                <a:solidFill>
                  <a:srgbClr val="A1A1AA"/>
                </a:solidFill>
              </a:rPr>
              <a:t> </a:t>
            </a:r>
            <a:r>
              <a:rPr lang="en-US" sz="1200" dirty="0">
                <a:solidFill>
                  <a:srgbClr val="71717A"/>
                </a:solidFill>
              </a:rPr>
              <a:t> </a:t>
            </a:r>
            <a:r>
              <a:rPr lang="pl-PL" sz="1200" dirty="0">
                <a:solidFill>
                  <a:srgbClr val="71717A"/>
                </a:solidFill>
              </a:rPr>
              <a:t>is a </a:t>
            </a:r>
            <a:r>
              <a:rPr lang="en-US" sz="1200" dirty="0">
                <a:solidFill>
                  <a:srgbClr val="71717A"/>
                </a:solidFill>
              </a:rPr>
              <a:t>small, inspectable circuit that evolution already tuned</a:t>
            </a:r>
            <a:r>
              <a:rPr lang="pl-PL" sz="1200" dirty="0">
                <a:solidFill>
                  <a:srgbClr val="71717A"/>
                </a:solidFill>
              </a:rPr>
              <a:t> instead of</a:t>
            </a:r>
            <a:r>
              <a:rPr lang="en-US" sz="1200" dirty="0">
                <a:solidFill>
                  <a:srgbClr val="71717A"/>
                </a:solidFill>
              </a:rPr>
              <a:t> big datasets, long training, a black box</a:t>
            </a:r>
            <a:r>
              <a:rPr lang="pl-PL" sz="1200" dirty="0">
                <a:solidFill>
                  <a:srgbClr val="71717A"/>
                </a:solidFill>
              </a:rPr>
              <a:t> </a:t>
            </a:r>
            <a:endParaRPr lang="en-US" sz="12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3</a:t>
            </a:fld>
            <a:endParaRPr lang="en-US"/>
          </a:p>
        </p:txBody>
      </p:sp>
      <p:pic>
        <p:nvPicPr>
          <p:cNvPr id="22" name="Picture 21">
            <a:extLst>
              <a:ext uri="{FF2B5EF4-FFF2-40B4-BE49-F238E27FC236}">
                <a16:creationId xmlns:a16="http://schemas.microsoft.com/office/drawing/2014/main" id="{5BF015A0-0A14-96B2-7396-1B9033A156B7}"/>
              </a:ext>
            </a:extLst>
          </p:cNvPr>
          <p:cNvPicPr>
            <a:picLocks noChangeAspect="1"/>
          </p:cNvPicPr>
          <p:nvPr/>
        </p:nvPicPr>
        <p:blipFill>
          <a:blip r:embed="rId3"/>
          <a:stretch>
            <a:fillRect/>
          </a:stretch>
        </p:blipFill>
        <p:spPr>
          <a:xfrm>
            <a:off x="502920" y="1417320"/>
            <a:ext cx="4357106" cy="2514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FROM A CAMERA FRAME TO A FLY'S VIEW</a:t>
            </a:r>
            <a:endParaRPr lang="en-US" sz="1600" dirty="0"/>
          </a:p>
        </p:txBody>
      </p:sp>
      <p:sp>
        <p:nvSpPr>
          <p:cNvPr id="4" name="st-0"/>
          <p:cNvSpPr/>
          <p:nvPr/>
        </p:nvSpPr>
        <p:spPr>
          <a:xfrm>
            <a:off x="502920" y="1005840"/>
            <a:ext cx="2606040" cy="260604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5" name="st-0-img" descr="C:\NeuroFly\docs\prezentacja\assets\eye_right.jpg"/>
          <p:cNvPicPr>
            <a:picLocks noChangeAspect="1"/>
          </p:cNvPicPr>
          <p:nvPr/>
        </p:nvPicPr>
        <p:blipFill>
          <a:blip r:embed="rId3"/>
          <a:srcRect/>
          <a:stretch/>
        </p:blipFill>
        <p:spPr>
          <a:xfrm>
            <a:off x="594360" y="1097280"/>
            <a:ext cx="2423160" cy="1554480"/>
          </a:xfrm>
          <a:prstGeom prst="rect">
            <a:avLst/>
          </a:prstGeom>
        </p:spPr>
      </p:pic>
      <p:sp>
        <p:nvSpPr>
          <p:cNvPr id="6" name="st-0-h"/>
          <p:cNvSpPr txBox="1"/>
          <p:nvPr/>
        </p:nvSpPr>
        <p:spPr>
          <a:xfrm>
            <a:off x="685800" y="2788920"/>
            <a:ext cx="2286000" cy="274320"/>
          </a:xfrm>
          <a:prstGeom prst="rect">
            <a:avLst/>
          </a:prstGeom>
          <a:noFill/>
          <a:ln/>
        </p:spPr>
        <p:txBody>
          <a:bodyPr wrap="square" lIns="0" tIns="0" rIns="0" bIns="0" rtlCol="0" anchor="t"/>
          <a:lstStyle/>
          <a:p>
            <a:pPr marL="0" indent="0">
              <a:buNone/>
            </a:pPr>
            <a:r>
              <a:rPr lang="en-US" sz="1200" dirty="0">
                <a:solidFill>
                  <a:srgbClr val="FF2D6F"/>
                </a:solidFill>
                <a:latin typeface="Michroma" pitchFamily="34" charset="0"/>
                <a:ea typeface="Michroma" pitchFamily="34" charset="-122"/>
                <a:cs typeface="Michroma" pitchFamily="34" charset="-120"/>
              </a:rPr>
              <a:t>1  </a:t>
            </a:r>
            <a:r>
              <a:rPr lang="en-US" sz="1400" b="1" dirty="0">
                <a:solidFill>
                  <a:srgbClr val="FAFAFA"/>
                </a:solidFill>
              </a:rPr>
              <a:t>Camera</a:t>
            </a:r>
            <a:endParaRPr lang="en-US" sz="1400" dirty="0"/>
          </a:p>
        </p:txBody>
      </p:sp>
      <p:sp>
        <p:nvSpPr>
          <p:cNvPr id="7" name="st-0-d"/>
          <p:cNvSpPr txBox="1"/>
          <p:nvPr/>
        </p:nvSpPr>
        <p:spPr>
          <a:xfrm>
            <a:off x="685800" y="3108960"/>
            <a:ext cx="2286000" cy="457200"/>
          </a:xfrm>
          <a:prstGeom prst="rect">
            <a:avLst/>
          </a:prstGeom>
          <a:noFill/>
          <a:ln/>
        </p:spPr>
        <p:txBody>
          <a:bodyPr wrap="square" lIns="0" tIns="0" rIns="0" bIns="0" rtlCol="0" anchor="t"/>
          <a:lstStyle/>
          <a:p>
            <a:pPr marL="0" indent="0">
              <a:buNone/>
            </a:pPr>
            <a:r>
              <a:rPr lang="en-US" sz="1100" dirty="0">
                <a:solidFill>
                  <a:srgbClr val="A1A1AA"/>
                </a:solidFill>
              </a:rPr>
              <a:t>two eyes on the drone's nose, 157° each</a:t>
            </a:r>
            <a:r>
              <a:rPr lang="pl-PL" sz="1100" dirty="0">
                <a:solidFill>
                  <a:srgbClr val="A1A1AA"/>
                </a:solidFill>
              </a:rPr>
              <a:t> from 3d simulation</a:t>
            </a:r>
            <a:endParaRPr lang="en-US" sz="1100" dirty="0"/>
          </a:p>
        </p:txBody>
      </p:sp>
      <p:sp>
        <p:nvSpPr>
          <p:cNvPr id="8" name="st-1"/>
          <p:cNvSpPr/>
          <p:nvPr/>
        </p:nvSpPr>
        <p:spPr>
          <a:xfrm>
            <a:off x="3291840" y="1005840"/>
            <a:ext cx="2606040" cy="260604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txBody>
          <a:bodyPr/>
          <a:lstStyle/>
          <a:p>
            <a:endParaRPr lang="pl-PL"/>
          </a:p>
        </p:txBody>
      </p:sp>
      <p:pic>
        <p:nvPicPr>
          <p:cNvPr id="9" name="st-1-img" descr="C:\NeuroFly\docs\prezentacja\assets\retina_right.jpg"/>
          <p:cNvPicPr>
            <a:picLocks noChangeAspect="1"/>
          </p:cNvPicPr>
          <p:nvPr/>
        </p:nvPicPr>
        <p:blipFill>
          <a:blip r:embed="rId4"/>
          <a:srcRect/>
          <a:stretch/>
        </p:blipFill>
        <p:spPr>
          <a:xfrm>
            <a:off x="3383280" y="1097280"/>
            <a:ext cx="2423160" cy="1554480"/>
          </a:xfrm>
          <a:prstGeom prst="rect">
            <a:avLst/>
          </a:prstGeom>
        </p:spPr>
      </p:pic>
      <p:sp>
        <p:nvSpPr>
          <p:cNvPr id="10" name="st-1-h"/>
          <p:cNvSpPr txBox="1"/>
          <p:nvPr/>
        </p:nvSpPr>
        <p:spPr>
          <a:xfrm>
            <a:off x="3474720" y="2788920"/>
            <a:ext cx="2286000" cy="274320"/>
          </a:xfrm>
          <a:prstGeom prst="rect">
            <a:avLst/>
          </a:prstGeom>
          <a:noFill/>
          <a:ln/>
        </p:spPr>
        <p:txBody>
          <a:bodyPr wrap="square" lIns="0" tIns="0" rIns="0" bIns="0" rtlCol="0" anchor="t"/>
          <a:lstStyle/>
          <a:p>
            <a:pPr marL="0" indent="0">
              <a:buNone/>
            </a:pPr>
            <a:r>
              <a:rPr lang="en-US" sz="1200" dirty="0">
                <a:solidFill>
                  <a:srgbClr val="FF2D6F"/>
                </a:solidFill>
                <a:latin typeface="Michroma" pitchFamily="34" charset="0"/>
                <a:ea typeface="Michroma" pitchFamily="34" charset="-122"/>
                <a:cs typeface="Michroma" pitchFamily="34" charset="-120"/>
              </a:rPr>
              <a:t>2  </a:t>
            </a:r>
            <a:r>
              <a:rPr lang="en-US" sz="1400" b="1" dirty="0">
                <a:solidFill>
                  <a:srgbClr val="FAFAFA"/>
                </a:solidFill>
              </a:rPr>
              <a:t>Compound eye</a:t>
            </a:r>
            <a:endParaRPr lang="en-US" sz="1400" dirty="0"/>
          </a:p>
        </p:txBody>
      </p:sp>
      <p:sp>
        <p:nvSpPr>
          <p:cNvPr id="11" name="st-1-d"/>
          <p:cNvSpPr txBox="1"/>
          <p:nvPr/>
        </p:nvSpPr>
        <p:spPr>
          <a:xfrm>
            <a:off x="3474720" y="3108960"/>
            <a:ext cx="2286000" cy="457200"/>
          </a:xfrm>
          <a:prstGeom prst="rect">
            <a:avLst/>
          </a:prstGeom>
          <a:noFill/>
          <a:ln/>
        </p:spPr>
        <p:txBody>
          <a:bodyPr wrap="square" lIns="0" tIns="0" rIns="0" bIns="0" rtlCol="0" anchor="t"/>
          <a:lstStyle/>
          <a:p>
            <a:pPr marL="0" indent="0">
              <a:buNone/>
            </a:pPr>
            <a:r>
              <a:rPr lang="en-US" sz="1100" dirty="0">
                <a:solidFill>
                  <a:srgbClr val="A1A1AA"/>
                </a:solidFill>
              </a:rPr>
              <a:t>721 ommatidia per eye, one brightness value each</a:t>
            </a:r>
            <a:endParaRPr lang="en-US" sz="1100" dirty="0"/>
          </a:p>
        </p:txBody>
      </p:sp>
      <p:sp>
        <p:nvSpPr>
          <p:cNvPr id="12" name="st-2"/>
          <p:cNvSpPr/>
          <p:nvPr/>
        </p:nvSpPr>
        <p:spPr>
          <a:xfrm>
            <a:off x="6080760" y="1005840"/>
            <a:ext cx="2606040" cy="260604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pic>
        <p:nvPicPr>
          <p:cNvPr id="13" name="st-2-img" descr="C:\NeuroFly\docs\prezentacja\assets\thumb_flyvis.jpg"/>
          <p:cNvPicPr>
            <a:picLocks noChangeAspect="1"/>
          </p:cNvPicPr>
          <p:nvPr/>
        </p:nvPicPr>
        <p:blipFill>
          <a:blip r:embed="rId5"/>
          <a:srcRect/>
          <a:stretch/>
        </p:blipFill>
        <p:spPr>
          <a:xfrm>
            <a:off x="6172200" y="1097280"/>
            <a:ext cx="2423160" cy="1554480"/>
          </a:xfrm>
          <a:prstGeom prst="rect">
            <a:avLst/>
          </a:prstGeom>
        </p:spPr>
      </p:pic>
      <p:sp>
        <p:nvSpPr>
          <p:cNvPr id="14" name="st-2-h"/>
          <p:cNvSpPr txBox="1"/>
          <p:nvPr/>
        </p:nvSpPr>
        <p:spPr>
          <a:xfrm>
            <a:off x="6263640" y="2788920"/>
            <a:ext cx="2286000" cy="274320"/>
          </a:xfrm>
          <a:prstGeom prst="rect">
            <a:avLst/>
          </a:prstGeom>
          <a:noFill/>
          <a:ln/>
        </p:spPr>
        <p:txBody>
          <a:bodyPr wrap="square" lIns="0" tIns="0" rIns="0" bIns="0" rtlCol="0" anchor="t"/>
          <a:lstStyle/>
          <a:p>
            <a:pPr marL="0" indent="0">
              <a:buNone/>
            </a:pPr>
            <a:r>
              <a:rPr lang="en-US" sz="1200" dirty="0">
                <a:solidFill>
                  <a:srgbClr val="FF2D6F"/>
                </a:solidFill>
                <a:latin typeface="Michroma" pitchFamily="34" charset="0"/>
                <a:ea typeface="Michroma" pitchFamily="34" charset="-122"/>
                <a:cs typeface="Michroma" pitchFamily="34" charset="-120"/>
              </a:rPr>
              <a:t>3  </a:t>
            </a:r>
            <a:r>
              <a:rPr lang="en-US" sz="1400" b="1" dirty="0">
                <a:solidFill>
                  <a:srgbClr val="FAFAFA"/>
                </a:solidFill>
              </a:rPr>
              <a:t>Motion vision</a:t>
            </a:r>
            <a:endParaRPr lang="en-US" sz="1400" dirty="0"/>
          </a:p>
        </p:txBody>
      </p:sp>
      <p:sp>
        <p:nvSpPr>
          <p:cNvPr id="15" name="st-2-d"/>
          <p:cNvSpPr txBox="1"/>
          <p:nvPr/>
        </p:nvSpPr>
        <p:spPr>
          <a:xfrm>
            <a:off x="6263640" y="3108960"/>
            <a:ext cx="2286000" cy="457200"/>
          </a:xfrm>
          <a:prstGeom prst="rect">
            <a:avLst/>
          </a:prstGeom>
          <a:noFill/>
          <a:ln/>
        </p:spPr>
        <p:txBody>
          <a:bodyPr wrap="square" lIns="0" tIns="0" rIns="0" bIns="0" rtlCol="0" anchor="t"/>
          <a:lstStyle/>
          <a:p>
            <a:r>
              <a:rPr lang="en-US" sz="1100" dirty="0" err="1">
                <a:solidFill>
                  <a:srgbClr val="A1A1AA"/>
                </a:solidFill>
              </a:rPr>
              <a:t>FlyVi</a:t>
            </a:r>
            <a:r>
              <a:rPr lang="pl-PL" sz="1100" dirty="0">
                <a:solidFill>
                  <a:srgbClr val="A1A1AA"/>
                </a:solidFill>
              </a:rPr>
              <a:t>s photoreceptors tu</a:t>
            </a:r>
            <a:r>
              <a:rPr lang="en-US" sz="1100" dirty="0" err="1">
                <a:solidFill>
                  <a:srgbClr val="A1A1AA"/>
                </a:solidFill>
              </a:rPr>
              <a:t>rns</a:t>
            </a:r>
            <a:r>
              <a:rPr lang="en-US" sz="1100" dirty="0">
                <a:solidFill>
                  <a:srgbClr val="A1A1AA"/>
                </a:solidFill>
              </a:rPr>
              <a:t> it into fly visual neuron activity</a:t>
            </a:r>
            <a:endParaRPr lang="en-US" sz="1100" dirty="0"/>
          </a:p>
        </p:txBody>
      </p:sp>
      <p:sp>
        <p:nvSpPr>
          <p:cNvPr id="16" name="point"/>
          <p:cNvSpPr txBox="1"/>
          <p:nvPr/>
        </p:nvSpPr>
        <p:spPr>
          <a:xfrm>
            <a:off x="566928" y="3749040"/>
            <a:ext cx="8046720" cy="274320"/>
          </a:xfrm>
          <a:prstGeom prst="rect">
            <a:avLst/>
          </a:prstGeom>
          <a:noFill/>
          <a:ln/>
        </p:spPr>
        <p:txBody>
          <a:bodyPr wrap="square" lIns="0" tIns="0" rIns="0" bIns="0" rtlCol="0" anchor="t"/>
          <a:lstStyle/>
          <a:p>
            <a:r>
              <a:rPr lang="en-US" sz="1200" i="1" dirty="0">
                <a:solidFill>
                  <a:srgbClr val="FAFAFA"/>
                </a:solidFill>
              </a:rPr>
              <a:t>Each ommatidium</a:t>
            </a:r>
            <a:r>
              <a:rPr lang="pl-PL" sz="1200" i="1" dirty="0">
                <a:solidFill>
                  <a:srgbClr val="FAFAFA"/>
                </a:solidFill>
              </a:rPr>
              <a:t> </a:t>
            </a:r>
            <a:r>
              <a:rPr lang="pl-PL" sz="1200" i="1" dirty="0">
                <a:solidFill>
                  <a:schemeClr val="bg1"/>
                </a:solidFill>
              </a:rPr>
              <a:t>(</a:t>
            </a:r>
            <a:r>
              <a:rPr lang="en-US" sz="1200" i="1" dirty="0">
                <a:solidFill>
                  <a:schemeClr val="bg1"/>
                </a:solidFill>
              </a:rPr>
              <a:t>one facet of the compound eye</a:t>
            </a:r>
            <a:r>
              <a:rPr lang="pl-PL" sz="1200" i="1" dirty="0">
                <a:solidFill>
                  <a:schemeClr val="bg1"/>
                </a:solidFill>
              </a:rPr>
              <a:t>)</a:t>
            </a:r>
            <a:r>
              <a:rPr lang="en-US" sz="1200" i="1" dirty="0">
                <a:solidFill>
                  <a:schemeClr val="bg1"/>
                </a:solidFill>
              </a:rPr>
              <a:t> </a:t>
            </a:r>
            <a:r>
              <a:rPr lang="en-US" sz="1200" i="1" dirty="0">
                <a:solidFill>
                  <a:srgbClr val="FAFAFA"/>
                </a:solidFill>
              </a:rPr>
              <a:t>sees only a small patch of the scene. No full image ever reaches the brain.</a:t>
            </a:r>
            <a:endParaRPr lang="en-US" sz="12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HOW NEUROFLY WORKS</a:t>
            </a:r>
            <a:r>
              <a:rPr lang="pl-PL" sz="1600" kern="0" spc="100" dirty="0">
                <a:solidFill>
                  <a:srgbClr val="FAFAFA"/>
                </a:solidFill>
                <a:latin typeface="Michroma" pitchFamily="34" charset="0"/>
                <a:ea typeface="Michroma" pitchFamily="34" charset="-122"/>
                <a:cs typeface="Michroma" pitchFamily="34" charset="-120"/>
              </a:rPr>
              <a:t> IN SIMPLE TERMS</a:t>
            </a:r>
            <a:endParaRPr lang="en-US" sz="1600" dirty="0"/>
          </a:p>
        </p:txBody>
      </p:sp>
      <p:sp>
        <p:nvSpPr>
          <p:cNvPr id="4" name="node-0"/>
          <p:cNvSpPr/>
          <p:nvPr/>
        </p:nvSpPr>
        <p:spPr>
          <a:xfrm>
            <a:off x="502920" y="1051560"/>
            <a:ext cx="1517904" cy="2514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6" name="node-0-title"/>
          <p:cNvSpPr txBox="1"/>
          <p:nvPr/>
        </p:nvSpPr>
        <p:spPr>
          <a:xfrm>
            <a:off x="630936" y="2377440"/>
            <a:ext cx="1298448" cy="274320"/>
          </a:xfrm>
          <a:prstGeom prst="rect">
            <a:avLst/>
          </a:prstGeom>
          <a:noFill/>
          <a:ln/>
        </p:spPr>
        <p:txBody>
          <a:bodyPr wrap="square" lIns="0" tIns="0" rIns="0" bIns="0" rtlCol="0" anchor="t"/>
          <a:lstStyle/>
          <a:p>
            <a:pPr marL="0" indent="0">
              <a:buNone/>
            </a:pPr>
            <a:r>
              <a:rPr lang="en-US" sz="1100" dirty="0">
                <a:solidFill>
                  <a:srgbClr val="FF2D6F"/>
                </a:solidFill>
                <a:latin typeface="Michroma" pitchFamily="34" charset="0"/>
                <a:ea typeface="Michroma" pitchFamily="34" charset="-122"/>
                <a:cs typeface="Michroma" pitchFamily="34" charset="-120"/>
              </a:rPr>
              <a:t>1  </a:t>
            </a:r>
            <a:r>
              <a:rPr lang="en-US" sz="1300" b="1" dirty="0">
                <a:solidFill>
                  <a:srgbClr val="FAFAFA"/>
                </a:solidFill>
              </a:rPr>
              <a:t>Camera</a:t>
            </a:r>
            <a:endParaRPr lang="en-US" sz="1300" dirty="0"/>
          </a:p>
        </p:txBody>
      </p:sp>
      <p:sp>
        <p:nvSpPr>
          <p:cNvPr id="7" name="node-0-desc"/>
          <p:cNvSpPr txBox="1"/>
          <p:nvPr/>
        </p:nvSpPr>
        <p:spPr>
          <a:xfrm>
            <a:off x="630936" y="2670048"/>
            <a:ext cx="1298448" cy="841248"/>
          </a:xfrm>
          <a:prstGeom prst="rect">
            <a:avLst/>
          </a:prstGeom>
          <a:noFill/>
          <a:ln/>
        </p:spPr>
        <p:txBody>
          <a:bodyPr wrap="square" lIns="0" tIns="0" rIns="0" bIns="0" rtlCol="0" anchor="t"/>
          <a:lstStyle/>
          <a:p>
            <a:pPr marL="0" indent="0">
              <a:buNone/>
            </a:pPr>
            <a:r>
              <a:rPr lang="en-US" sz="1000">
                <a:solidFill>
                  <a:srgbClr val="A1A1AA"/>
                </a:solidFill>
              </a:rPr>
              <a:t>Two cameras on the drone's nose film the world 30 times a second.</a:t>
            </a:r>
            <a:endParaRPr lang="en-US" sz="1000" dirty="0"/>
          </a:p>
        </p:txBody>
      </p:sp>
      <p:sp>
        <p:nvSpPr>
          <p:cNvPr id="8" name="node-1"/>
          <p:cNvSpPr/>
          <p:nvPr/>
        </p:nvSpPr>
        <p:spPr>
          <a:xfrm>
            <a:off x="2139696" y="1051560"/>
            <a:ext cx="1517904" cy="251460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txBody>
          <a:bodyPr/>
          <a:lstStyle/>
          <a:p>
            <a:endParaRPr lang="pl-PL"/>
          </a:p>
        </p:txBody>
      </p:sp>
      <p:pic>
        <p:nvPicPr>
          <p:cNvPr id="9" name="node-1-img" descr="C:\NeuroFly\docs\prezentacja\assets\retina_left.jpg"/>
          <p:cNvPicPr>
            <a:picLocks noChangeAspect="1"/>
          </p:cNvPicPr>
          <p:nvPr/>
        </p:nvPicPr>
        <p:blipFill>
          <a:blip r:embed="rId3"/>
          <a:srcRect/>
          <a:stretch/>
        </p:blipFill>
        <p:spPr>
          <a:xfrm>
            <a:off x="2203704" y="1115568"/>
            <a:ext cx="1389888" cy="1143000"/>
          </a:xfrm>
          <a:prstGeom prst="rect">
            <a:avLst/>
          </a:prstGeom>
        </p:spPr>
      </p:pic>
      <p:sp>
        <p:nvSpPr>
          <p:cNvPr id="10" name="node-1-ai"/>
          <p:cNvSpPr/>
          <p:nvPr/>
        </p:nvSpPr>
        <p:spPr>
          <a:xfrm>
            <a:off x="2203704" y="1115568"/>
            <a:ext cx="1188720" cy="182880"/>
          </a:xfrm>
          <a:prstGeom prst="rect">
            <a:avLst/>
          </a:prstGeom>
          <a:solidFill>
            <a:srgbClr val="FF2D6F"/>
          </a:solidFill>
          <a:ln w="12700">
            <a:solidFill>
              <a:srgbClr val="FF2D6F"/>
            </a:solidFill>
            <a:prstDash val="solid"/>
          </a:ln>
        </p:spPr>
        <p:txBody>
          <a:bodyPr/>
          <a:lstStyle/>
          <a:p>
            <a:endParaRPr lang="pl-PL"/>
          </a:p>
        </p:txBody>
      </p:sp>
      <p:sp>
        <p:nvSpPr>
          <p:cNvPr id="11" name="node-1-ai-t"/>
          <p:cNvSpPr txBox="1"/>
          <p:nvPr/>
        </p:nvSpPr>
        <p:spPr>
          <a:xfrm>
            <a:off x="2249424" y="1138428"/>
            <a:ext cx="1143000" cy="146304"/>
          </a:xfrm>
          <a:prstGeom prst="rect">
            <a:avLst/>
          </a:prstGeom>
          <a:noFill/>
          <a:ln/>
        </p:spPr>
        <p:txBody>
          <a:bodyPr wrap="square" lIns="0" tIns="0" rIns="0" bIns="0" rtlCol="0" anchor="t"/>
          <a:lstStyle/>
          <a:p>
            <a:pPr marL="0" indent="0">
              <a:buNone/>
            </a:pPr>
            <a:r>
              <a:rPr lang="en-US" sz="700" b="1" kern="0" spc="100" dirty="0">
                <a:solidFill>
                  <a:srgbClr val="FAFAFA"/>
                </a:solidFill>
              </a:rPr>
              <a:t>TRAINED NET</a:t>
            </a:r>
            <a:endParaRPr lang="en-US" sz="700" dirty="0"/>
          </a:p>
        </p:txBody>
      </p:sp>
      <p:sp>
        <p:nvSpPr>
          <p:cNvPr id="12" name="node-1-title"/>
          <p:cNvSpPr txBox="1"/>
          <p:nvPr/>
        </p:nvSpPr>
        <p:spPr>
          <a:xfrm>
            <a:off x="2267712" y="2377440"/>
            <a:ext cx="1298448" cy="274320"/>
          </a:xfrm>
          <a:prstGeom prst="rect">
            <a:avLst/>
          </a:prstGeom>
          <a:noFill/>
          <a:ln/>
        </p:spPr>
        <p:txBody>
          <a:bodyPr wrap="square" lIns="0" tIns="0" rIns="0" bIns="0" rtlCol="0" anchor="t"/>
          <a:lstStyle/>
          <a:p>
            <a:pPr marL="0" indent="0">
              <a:buNone/>
            </a:pPr>
            <a:r>
              <a:rPr lang="en-US" sz="1100" dirty="0">
                <a:solidFill>
                  <a:srgbClr val="FF2D6F"/>
                </a:solidFill>
                <a:latin typeface="Michroma" pitchFamily="34" charset="0"/>
                <a:ea typeface="Michroma" pitchFamily="34" charset="-122"/>
                <a:cs typeface="Michroma" pitchFamily="34" charset="-120"/>
              </a:rPr>
              <a:t>2  </a:t>
            </a:r>
            <a:r>
              <a:rPr lang="en-US" sz="1300" b="1" dirty="0">
                <a:solidFill>
                  <a:srgbClr val="FAFAFA"/>
                </a:solidFill>
              </a:rPr>
              <a:t>Fly eye</a:t>
            </a:r>
            <a:endParaRPr lang="en-US" sz="1300" dirty="0"/>
          </a:p>
        </p:txBody>
      </p:sp>
      <p:sp>
        <p:nvSpPr>
          <p:cNvPr id="13" name="node-1-desc"/>
          <p:cNvSpPr txBox="1"/>
          <p:nvPr/>
        </p:nvSpPr>
        <p:spPr>
          <a:xfrm>
            <a:off x="2267712" y="2670048"/>
            <a:ext cx="1298448" cy="841248"/>
          </a:xfrm>
          <a:prstGeom prst="rect">
            <a:avLst/>
          </a:prstGeom>
          <a:noFill/>
          <a:ln/>
        </p:spPr>
        <p:txBody>
          <a:bodyPr wrap="square" lIns="0" tIns="0" rIns="0" bIns="0" rtlCol="0" anchor="t"/>
          <a:lstStyle/>
          <a:p>
            <a:pPr marL="0" indent="0">
              <a:buNone/>
            </a:pPr>
            <a:r>
              <a:rPr lang="en-US" sz="1000">
                <a:solidFill>
                  <a:srgbClr val="A1A1AA"/>
                </a:solidFill>
              </a:rPr>
              <a:t>721 facets per eye. FlyVis turns them into the signals of real fly visual neurons.</a:t>
            </a:r>
            <a:endParaRPr lang="en-US" sz="1000" dirty="0"/>
          </a:p>
        </p:txBody>
      </p:sp>
      <p:sp>
        <p:nvSpPr>
          <p:cNvPr id="14" name="node-2"/>
          <p:cNvSpPr/>
          <p:nvPr/>
        </p:nvSpPr>
        <p:spPr>
          <a:xfrm>
            <a:off x="3776472" y="1051560"/>
            <a:ext cx="1517904" cy="251460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txBody>
          <a:bodyPr/>
          <a:lstStyle/>
          <a:p>
            <a:endParaRPr lang="pl-PL"/>
          </a:p>
        </p:txBody>
      </p:sp>
      <p:pic>
        <p:nvPicPr>
          <p:cNvPr id="21" name="node-2-img">
            <a:extLst>
              <a:ext uri="{FF2B5EF4-FFF2-40B4-BE49-F238E27FC236}">
                <a16:creationId xmlns:a16="http://schemas.microsoft.com/office/drawing/2014/main" id="{538DBE72-D931-3FE8-60A6-C29DCF568B38}"/>
              </a:ext>
            </a:extLst>
          </p:cNvPr>
          <p:cNvPicPr>
            <a:picLocks/>
          </p:cNvPicPr>
          <p:nvPr/>
        </p:nvPicPr>
        <p:blipFill>
          <a:blip r:embed="rId4"/>
          <a:stretch>
            <a:fillRect/>
          </a:stretch>
        </p:blipFill>
        <p:spPr>
          <a:xfrm>
            <a:off x="3840480" y="1115568"/>
            <a:ext cx="1389888" cy="1143000"/>
          </a:xfrm>
          <a:prstGeom prst="rect">
            <a:avLst/>
          </a:prstGeom>
        </p:spPr>
      </p:pic>
      <p:sp>
        <p:nvSpPr>
          <p:cNvPr id="16" name="node-2-ai"/>
          <p:cNvSpPr/>
          <p:nvPr/>
        </p:nvSpPr>
        <p:spPr>
          <a:xfrm>
            <a:off x="3840480" y="1115568"/>
            <a:ext cx="1188720" cy="182880"/>
          </a:xfrm>
          <a:prstGeom prst="rect">
            <a:avLst/>
          </a:prstGeom>
          <a:solidFill>
            <a:srgbClr val="FF2D6F"/>
          </a:solidFill>
          <a:ln w="12700">
            <a:solidFill>
              <a:srgbClr val="FF2D6F"/>
            </a:solidFill>
            <a:prstDash val="solid"/>
          </a:ln>
        </p:spPr>
        <p:txBody>
          <a:bodyPr/>
          <a:lstStyle/>
          <a:p>
            <a:endParaRPr lang="pl-PL"/>
          </a:p>
        </p:txBody>
      </p:sp>
      <p:sp>
        <p:nvSpPr>
          <p:cNvPr id="17" name="node-2-ai-t"/>
          <p:cNvSpPr txBox="1"/>
          <p:nvPr/>
        </p:nvSpPr>
        <p:spPr>
          <a:xfrm>
            <a:off x="3886200" y="1138428"/>
            <a:ext cx="1143000" cy="146304"/>
          </a:xfrm>
          <a:prstGeom prst="rect">
            <a:avLst/>
          </a:prstGeom>
          <a:noFill/>
          <a:ln/>
        </p:spPr>
        <p:txBody>
          <a:bodyPr wrap="square" lIns="0" tIns="0" rIns="0" bIns="0" rtlCol="0" anchor="t"/>
          <a:lstStyle/>
          <a:p>
            <a:pPr marL="0" indent="0">
              <a:buNone/>
            </a:pPr>
            <a:r>
              <a:rPr lang="en-US" sz="700" b="1" kern="0" spc="100" dirty="0">
                <a:solidFill>
                  <a:srgbClr val="FAFAFA"/>
                </a:solidFill>
              </a:rPr>
              <a:t>REAL CONNECTOME</a:t>
            </a:r>
            <a:endParaRPr lang="en-US" sz="700" dirty="0"/>
          </a:p>
        </p:txBody>
      </p:sp>
      <p:sp>
        <p:nvSpPr>
          <p:cNvPr id="18" name="node-2-title"/>
          <p:cNvSpPr txBox="1"/>
          <p:nvPr/>
        </p:nvSpPr>
        <p:spPr>
          <a:xfrm>
            <a:off x="3904488" y="2377440"/>
            <a:ext cx="1298448" cy="274320"/>
          </a:xfrm>
          <a:prstGeom prst="rect">
            <a:avLst/>
          </a:prstGeom>
          <a:noFill/>
          <a:ln/>
        </p:spPr>
        <p:txBody>
          <a:bodyPr wrap="square" lIns="0" tIns="0" rIns="0" bIns="0" rtlCol="0" anchor="t"/>
          <a:lstStyle/>
          <a:p>
            <a:pPr marL="0" indent="0">
              <a:buNone/>
            </a:pPr>
            <a:r>
              <a:rPr lang="en-US" sz="1100">
                <a:solidFill>
                  <a:srgbClr val="FF2D6F"/>
                </a:solidFill>
                <a:latin typeface="Michroma" pitchFamily="34" charset="0"/>
                <a:ea typeface="Michroma" pitchFamily="34" charset="-122"/>
                <a:cs typeface="Michroma" pitchFamily="34" charset="-120"/>
              </a:rPr>
              <a:t>3  </a:t>
            </a:r>
            <a:r>
              <a:rPr lang="en-US" sz="1300" b="1">
                <a:solidFill>
                  <a:srgbClr val="FAFAFA"/>
                </a:solidFill>
              </a:rPr>
              <a:t>Fly brain</a:t>
            </a:r>
            <a:endParaRPr lang="en-US" sz="1300" dirty="0"/>
          </a:p>
        </p:txBody>
      </p:sp>
      <p:sp>
        <p:nvSpPr>
          <p:cNvPr id="19" name="node-2-desc"/>
          <p:cNvSpPr txBox="1"/>
          <p:nvPr/>
        </p:nvSpPr>
        <p:spPr>
          <a:xfrm>
            <a:off x="3904488" y="2670048"/>
            <a:ext cx="1298448" cy="841248"/>
          </a:xfrm>
          <a:prstGeom prst="rect">
            <a:avLst/>
          </a:prstGeom>
          <a:noFill/>
          <a:ln/>
        </p:spPr>
        <p:txBody>
          <a:bodyPr wrap="square" lIns="0" tIns="0" rIns="0" bIns="0" rtlCol="0" anchor="t"/>
          <a:lstStyle/>
          <a:p>
            <a:pPr marL="0" indent="0">
              <a:buNone/>
            </a:pPr>
            <a:r>
              <a:rPr lang="en-US" sz="1000">
                <a:solidFill>
                  <a:srgbClr val="A1A1AA"/>
                </a:solidFill>
              </a:rPr>
              <a:t>The signals spread through 175,401 real neurons and 1.5 M connections, on the GPU.</a:t>
            </a:r>
            <a:endParaRPr lang="en-US" sz="1000" dirty="0"/>
          </a:p>
        </p:txBody>
      </p:sp>
      <p:sp>
        <p:nvSpPr>
          <p:cNvPr id="20" name="node-3"/>
          <p:cNvSpPr/>
          <p:nvPr/>
        </p:nvSpPr>
        <p:spPr>
          <a:xfrm>
            <a:off x="5413248" y="1051560"/>
            <a:ext cx="1517904" cy="251460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txBody>
          <a:bodyPr/>
          <a:lstStyle/>
          <a:p>
            <a:endParaRPr lang="pl-PL"/>
          </a:p>
        </p:txBody>
      </p:sp>
      <p:pic>
        <p:nvPicPr>
          <p:cNvPr id="37" name="node-3-img">
            <a:extLst>
              <a:ext uri="{FF2B5EF4-FFF2-40B4-BE49-F238E27FC236}">
                <a16:creationId xmlns:a16="http://schemas.microsoft.com/office/drawing/2014/main" id="{9D4BD82D-0698-EF7F-2113-D58CA54DAF8B}"/>
              </a:ext>
            </a:extLst>
          </p:cNvPr>
          <p:cNvPicPr>
            <a:picLocks/>
          </p:cNvPicPr>
          <p:nvPr/>
        </p:nvPicPr>
        <p:blipFill>
          <a:blip r:embed="rId5"/>
          <a:stretch>
            <a:fillRect/>
          </a:stretch>
        </p:blipFill>
        <p:spPr>
          <a:xfrm>
            <a:off x="5477256" y="1115568"/>
            <a:ext cx="1389888" cy="1143000"/>
          </a:xfrm>
          <a:prstGeom prst="rect">
            <a:avLst/>
          </a:prstGeom>
        </p:spPr>
      </p:pic>
      <p:sp>
        <p:nvSpPr>
          <p:cNvPr id="22" name="node-3-ai"/>
          <p:cNvSpPr/>
          <p:nvPr/>
        </p:nvSpPr>
        <p:spPr>
          <a:xfrm>
            <a:off x="5477256" y="1115568"/>
            <a:ext cx="1188720" cy="182880"/>
          </a:xfrm>
          <a:prstGeom prst="rect">
            <a:avLst/>
          </a:prstGeom>
          <a:solidFill>
            <a:srgbClr val="FF2D6F"/>
          </a:solidFill>
          <a:ln w="12700">
            <a:solidFill>
              <a:srgbClr val="FF2D6F"/>
            </a:solidFill>
            <a:prstDash val="solid"/>
          </a:ln>
        </p:spPr>
        <p:txBody>
          <a:bodyPr/>
          <a:lstStyle/>
          <a:p>
            <a:endParaRPr lang="pl-PL"/>
          </a:p>
        </p:txBody>
      </p:sp>
      <p:sp>
        <p:nvSpPr>
          <p:cNvPr id="23" name="node-3-ai-t"/>
          <p:cNvSpPr txBox="1"/>
          <p:nvPr/>
        </p:nvSpPr>
        <p:spPr>
          <a:xfrm>
            <a:off x="5522976" y="1138428"/>
            <a:ext cx="1143000" cy="146304"/>
          </a:xfrm>
          <a:prstGeom prst="rect">
            <a:avLst/>
          </a:prstGeom>
          <a:noFill/>
          <a:ln/>
        </p:spPr>
        <p:txBody>
          <a:bodyPr wrap="square" lIns="0" tIns="0" rIns="0" bIns="0" rtlCol="0" anchor="t"/>
          <a:lstStyle/>
          <a:p>
            <a:pPr marL="0" indent="0">
              <a:buNone/>
            </a:pPr>
            <a:r>
              <a:rPr lang="en-US" sz="700" b="1" kern="0" spc="100" dirty="0">
                <a:solidFill>
                  <a:srgbClr val="FAFAFA"/>
                </a:solidFill>
              </a:rPr>
              <a:t>LEARNED</a:t>
            </a:r>
            <a:endParaRPr lang="en-US" sz="700" dirty="0"/>
          </a:p>
        </p:txBody>
      </p:sp>
      <p:sp>
        <p:nvSpPr>
          <p:cNvPr id="24" name="node-3-title"/>
          <p:cNvSpPr txBox="1"/>
          <p:nvPr/>
        </p:nvSpPr>
        <p:spPr>
          <a:xfrm>
            <a:off x="5541264" y="2377440"/>
            <a:ext cx="1298448" cy="274320"/>
          </a:xfrm>
          <a:prstGeom prst="rect">
            <a:avLst/>
          </a:prstGeom>
          <a:noFill/>
          <a:ln/>
        </p:spPr>
        <p:txBody>
          <a:bodyPr wrap="square" lIns="0" tIns="0" rIns="0" bIns="0" rtlCol="0" anchor="t"/>
          <a:lstStyle/>
          <a:p>
            <a:pPr marL="0" indent="0">
              <a:buNone/>
            </a:pPr>
            <a:r>
              <a:rPr lang="en-US" sz="1100" dirty="0">
                <a:solidFill>
                  <a:srgbClr val="FF2D6F"/>
                </a:solidFill>
                <a:latin typeface="Michroma" pitchFamily="34" charset="0"/>
                <a:ea typeface="Michroma" pitchFamily="34" charset="-122"/>
                <a:cs typeface="Michroma" pitchFamily="34" charset="-120"/>
              </a:rPr>
              <a:t>4  </a:t>
            </a:r>
            <a:r>
              <a:rPr lang="en-US" sz="1300" b="1" dirty="0">
                <a:solidFill>
                  <a:srgbClr val="FAFAFA"/>
                </a:solidFill>
              </a:rPr>
              <a:t>Decoder</a:t>
            </a:r>
            <a:endParaRPr lang="en-US" sz="1300" dirty="0"/>
          </a:p>
        </p:txBody>
      </p:sp>
      <p:sp>
        <p:nvSpPr>
          <p:cNvPr id="25" name="node-3-desc"/>
          <p:cNvSpPr txBox="1"/>
          <p:nvPr/>
        </p:nvSpPr>
        <p:spPr>
          <a:xfrm>
            <a:off x="5541264" y="2670048"/>
            <a:ext cx="1298448" cy="841248"/>
          </a:xfrm>
          <a:prstGeom prst="rect">
            <a:avLst/>
          </a:prstGeom>
          <a:noFill/>
          <a:ln/>
        </p:spPr>
        <p:txBody>
          <a:bodyPr wrap="square" lIns="0" tIns="0" rIns="0" bIns="0" rtlCol="0" anchor="t"/>
          <a:lstStyle/>
          <a:p>
            <a:pPr marL="0" indent="0">
              <a:buNone/>
            </a:pPr>
            <a:r>
              <a:rPr lang="en-US" sz="1000" dirty="0">
                <a:solidFill>
                  <a:srgbClr val="A1A1AA"/>
                </a:solidFill>
              </a:rPr>
              <a:t>Reads 375 flight neurons and turns them into commands. Learned from a teacher pilot.</a:t>
            </a:r>
            <a:endParaRPr lang="en-US" sz="1000" dirty="0"/>
          </a:p>
        </p:txBody>
      </p:sp>
      <p:sp>
        <p:nvSpPr>
          <p:cNvPr id="26" name="node-4"/>
          <p:cNvSpPr/>
          <p:nvPr/>
        </p:nvSpPr>
        <p:spPr>
          <a:xfrm>
            <a:off x="7050024" y="1051560"/>
            <a:ext cx="1517904" cy="2514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28" name="node-4-title"/>
          <p:cNvSpPr txBox="1"/>
          <p:nvPr/>
        </p:nvSpPr>
        <p:spPr>
          <a:xfrm>
            <a:off x="7178040" y="2377440"/>
            <a:ext cx="1298448" cy="274320"/>
          </a:xfrm>
          <a:prstGeom prst="rect">
            <a:avLst/>
          </a:prstGeom>
          <a:noFill/>
          <a:ln/>
        </p:spPr>
        <p:txBody>
          <a:bodyPr wrap="square" lIns="0" tIns="0" rIns="0" bIns="0" rtlCol="0" anchor="t"/>
          <a:lstStyle/>
          <a:p>
            <a:pPr marL="0" indent="0">
              <a:buNone/>
            </a:pPr>
            <a:r>
              <a:rPr lang="en-US" sz="1100" dirty="0">
                <a:solidFill>
                  <a:srgbClr val="FF2D6F"/>
                </a:solidFill>
                <a:latin typeface="Michroma" pitchFamily="34" charset="0"/>
                <a:ea typeface="Michroma" pitchFamily="34" charset="-122"/>
                <a:cs typeface="Michroma" pitchFamily="34" charset="-120"/>
              </a:rPr>
              <a:t>5  </a:t>
            </a:r>
            <a:r>
              <a:rPr lang="en-US" sz="1300" b="1" dirty="0">
                <a:solidFill>
                  <a:srgbClr val="FAFAFA"/>
                </a:solidFill>
              </a:rPr>
              <a:t>Drone</a:t>
            </a:r>
            <a:endParaRPr lang="en-US" sz="1300" dirty="0"/>
          </a:p>
        </p:txBody>
      </p:sp>
      <p:sp>
        <p:nvSpPr>
          <p:cNvPr id="29" name="node-4-desc"/>
          <p:cNvSpPr txBox="1"/>
          <p:nvPr/>
        </p:nvSpPr>
        <p:spPr>
          <a:xfrm>
            <a:off x="7178040" y="2670048"/>
            <a:ext cx="1298448" cy="841248"/>
          </a:xfrm>
          <a:prstGeom prst="rect">
            <a:avLst/>
          </a:prstGeom>
          <a:noFill/>
          <a:ln/>
        </p:spPr>
        <p:txBody>
          <a:bodyPr wrap="square" lIns="0" tIns="0" rIns="0" bIns="0" rtlCol="0" anchor="t"/>
          <a:lstStyle/>
          <a:p>
            <a:pPr marL="0" indent="0">
              <a:buNone/>
            </a:pPr>
            <a:r>
              <a:rPr lang="en-US" sz="1000">
                <a:solidFill>
                  <a:srgbClr val="A1A1AA"/>
                </a:solidFill>
              </a:rPr>
              <a:t>Thrust, roll, pitch and yaw spin the 4 rotors. The drone moves and sees a new frame.</a:t>
            </a:r>
            <a:endParaRPr lang="en-US" sz="1000" dirty="0"/>
          </a:p>
        </p:txBody>
      </p:sp>
      <p:sp>
        <p:nvSpPr>
          <p:cNvPr id="30" name="loop"/>
          <p:cNvSpPr txBox="1"/>
          <p:nvPr/>
        </p:nvSpPr>
        <p:spPr>
          <a:xfrm>
            <a:off x="566928" y="3703320"/>
            <a:ext cx="8046720" cy="274320"/>
          </a:xfrm>
          <a:prstGeom prst="rect">
            <a:avLst/>
          </a:prstGeom>
          <a:noFill/>
          <a:ln/>
        </p:spPr>
        <p:txBody>
          <a:bodyPr wrap="square" lIns="0" tIns="0" rIns="0" bIns="0" rtlCol="0" anchor="t"/>
          <a:lstStyle/>
          <a:p>
            <a:pPr marL="0" indent="0">
              <a:buNone/>
            </a:pPr>
            <a:r>
              <a:rPr lang="en-US" sz="1200" i="1" dirty="0">
                <a:solidFill>
                  <a:srgbClr val="FAFAFA"/>
                </a:solidFill>
              </a:rPr>
              <a:t>Every frame goes once around: seeing, processing, deciding, moving, then a new picture.</a:t>
            </a:r>
            <a:endParaRPr lang="en-US" sz="1200" dirty="0"/>
          </a:p>
        </p:txBody>
      </p:sp>
      <p:sp>
        <p:nvSpPr>
          <p:cNvPr id="31" name="glossary-0"/>
          <p:cNvSpPr txBox="1"/>
          <p:nvPr/>
        </p:nvSpPr>
        <p:spPr>
          <a:xfrm>
            <a:off x="566928" y="4206240"/>
            <a:ext cx="2235200" cy="411480"/>
          </a:xfrm>
          <a:prstGeom prst="rect">
            <a:avLst/>
          </a:prstGeom>
          <a:noFill/>
          <a:ln/>
        </p:spPr>
        <p:txBody>
          <a:bodyPr wrap="square" lIns="0" tIns="0" rIns="0" bIns="0" rtlCol="0" anchor="t"/>
          <a:lstStyle/>
          <a:p>
            <a:pPr marL="0" indent="0">
              <a:buNone/>
            </a:pPr>
            <a:r>
              <a:rPr lang="en-US" sz="900" b="1" dirty="0">
                <a:solidFill>
                  <a:srgbClr val="A1A1AA"/>
                </a:solidFill>
              </a:rPr>
              <a:t>Red tag:</a:t>
            </a:r>
            <a:r>
              <a:rPr lang="en-US" sz="900" dirty="0">
                <a:solidFill>
                  <a:srgbClr val="71717A"/>
                </a:solidFill>
              </a:rPr>
              <a:t> where AI works in the loop</a:t>
            </a:r>
            <a:endParaRPr lang="en-US" sz="900" dirty="0"/>
          </a:p>
        </p:txBody>
      </p:sp>
      <p:sp>
        <p:nvSpPr>
          <p:cNvPr id="32" name="glossary-1"/>
          <p:cNvSpPr txBox="1"/>
          <p:nvPr/>
        </p:nvSpPr>
        <p:spPr>
          <a:xfrm>
            <a:off x="3076448" y="4206240"/>
            <a:ext cx="3119967" cy="411480"/>
          </a:xfrm>
          <a:prstGeom prst="rect">
            <a:avLst/>
          </a:prstGeom>
          <a:noFill/>
          <a:ln/>
        </p:spPr>
        <p:txBody>
          <a:bodyPr wrap="square" lIns="0" tIns="0" rIns="0" bIns="0" rtlCol="0" anchor="t"/>
          <a:lstStyle/>
          <a:p>
            <a:pPr marL="0" indent="0">
              <a:buNone/>
            </a:pPr>
            <a:r>
              <a:rPr lang="en-US" sz="900" b="1" dirty="0">
                <a:solidFill>
                  <a:srgbClr val="A1A1AA"/>
                </a:solidFill>
              </a:rPr>
              <a:t>Simulator:</a:t>
            </a:r>
            <a:r>
              <a:rPr lang="en-US" sz="900" dirty="0">
                <a:solidFill>
                  <a:srgbClr val="71717A"/>
                </a:solidFill>
              </a:rPr>
              <a:t> MuJoCo physics with a Skydio X2 drone model</a:t>
            </a:r>
            <a:endParaRPr lang="en-US" sz="900" dirty="0"/>
          </a:p>
        </p:txBody>
      </p:sp>
      <p:sp>
        <p:nvSpPr>
          <p:cNvPr id="33" name="glossary-2"/>
          <p:cNvSpPr txBox="1"/>
          <p:nvPr/>
        </p:nvSpPr>
        <p:spPr>
          <a:xfrm>
            <a:off x="6470735" y="4206240"/>
            <a:ext cx="2188633" cy="411480"/>
          </a:xfrm>
          <a:prstGeom prst="rect">
            <a:avLst/>
          </a:prstGeom>
          <a:noFill/>
          <a:ln/>
        </p:spPr>
        <p:txBody>
          <a:bodyPr wrap="square" lIns="0" tIns="0" rIns="0" bIns="0" rtlCol="0" anchor="t"/>
          <a:lstStyle/>
          <a:p>
            <a:pPr marL="0" indent="0">
              <a:buNone/>
            </a:pPr>
            <a:r>
              <a:rPr lang="en-US" sz="900" b="1" dirty="0">
                <a:solidFill>
                  <a:srgbClr val="A1A1AA"/>
                </a:solidFill>
              </a:rPr>
              <a:t>Speed:</a:t>
            </a:r>
            <a:r>
              <a:rPr lang="en-US" sz="900" dirty="0">
                <a:solidFill>
                  <a:srgbClr val="71717A"/>
                </a:solidFill>
              </a:rPr>
              <a:t> 30 camera frames per second</a:t>
            </a:r>
            <a:endParaRPr lang="en-US" sz="900" dirty="0"/>
          </a:p>
        </p:txBody>
      </p:sp>
      <p:sp>
        <p:nvSpPr>
          <p:cNvPr id="34"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5</a:t>
            </a:fld>
            <a:endParaRPr lang="en-US"/>
          </a:p>
        </p:txBody>
      </p:sp>
      <p:pic>
        <p:nvPicPr>
          <p:cNvPr id="35" name="Picture 34">
            <a:extLst>
              <a:ext uri="{FF2B5EF4-FFF2-40B4-BE49-F238E27FC236}">
                <a16:creationId xmlns:a16="http://schemas.microsoft.com/office/drawing/2014/main" id="{9E155176-B5B9-6B6F-F9DF-AEB19EA06360}"/>
              </a:ext>
            </a:extLst>
          </p:cNvPr>
          <p:cNvPicPr>
            <a:picLocks noChangeAspect="1"/>
          </p:cNvPicPr>
          <p:nvPr/>
        </p:nvPicPr>
        <p:blipFill>
          <a:blip r:embed="rId6"/>
          <a:srcRect l="15537" r="16061"/>
          <a:stretch>
            <a:fillRect/>
          </a:stretch>
        </p:blipFill>
        <p:spPr>
          <a:xfrm>
            <a:off x="576072" y="1165860"/>
            <a:ext cx="1360480" cy="982980"/>
          </a:xfrm>
          <a:prstGeom prst="rect">
            <a:avLst/>
          </a:prstGeom>
        </p:spPr>
      </p:pic>
      <p:pic>
        <p:nvPicPr>
          <p:cNvPr id="38" name="Picture 37">
            <a:extLst>
              <a:ext uri="{FF2B5EF4-FFF2-40B4-BE49-F238E27FC236}">
                <a16:creationId xmlns:a16="http://schemas.microsoft.com/office/drawing/2014/main" id="{78999008-460F-6480-FF15-F8E37B595153}"/>
              </a:ext>
            </a:extLst>
          </p:cNvPr>
          <p:cNvPicPr>
            <a:picLocks noChangeAspect="1"/>
          </p:cNvPicPr>
          <p:nvPr/>
        </p:nvPicPr>
        <p:blipFill>
          <a:blip r:embed="rId7"/>
          <a:srcRect l="9547" r="10783"/>
          <a:stretch>
            <a:fillRect/>
          </a:stretch>
        </p:blipFill>
        <p:spPr>
          <a:xfrm>
            <a:off x="7125461" y="1157068"/>
            <a:ext cx="1368611" cy="8195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AI AND CONTROL</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WHAT KIND OF AI THIS IS</a:t>
            </a:r>
            <a:endParaRPr lang="en-US" sz="1600" dirty="0"/>
          </a:p>
        </p:txBody>
      </p:sp>
      <p:graphicFrame>
        <p:nvGraphicFramePr>
          <p:cNvPr id="4" name="chart-side"/>
          <p:cNvGraphicFramePr/>
          <p:nvPr/>
        </p:nvGraphicFramePr>
        <p:xfrm>
          <a:off x="411480" y="1005840"/>
          <a:ext cx="448056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5" name="chart-cap"/>
          <p:cNvSpPr txBox="1"/>
          <p:nvPr/>
        </p:nvSpPr>
        <p:spPr>
          <a:xfrm>
            <a:off x="566928" y="3730752"/>
            <a:ext cx="4297680" cy="274320"/>
          </a:xfrm>
          <a:prstGeom prst="rect">
            <a:avLst/>
          </a:prstGeom>
          <a:noFill/>
          <a:ln/>
        </p:spPr>
        <p:txBody>
          <a:bodyPr wrap="square" lIns="0" tIns="0" rIns="0" bIns="0" rtlCol="0" anchor="t"/>
          <a:lstStyle/>
          <a:p>
            <a:pPr marL="0" indent="0">
              <a:buNone/>
            </a:pPr>
            <a:r>
              <a:rPr lang="en-US" sz="1000" dirty="0">
                <a:solidFill>
                  <a:srgbClr val="A1A1AA"/>
                </a:solidFill>
              </a:rPr>
              <a:t>How often fly neurons tell where the target is (50% = guessing)</a:t>
            </a:r>
            <a:endParaRPr lang="en-US" sz="1000" dirty="0"/>
          </a:p>
        </p:txBody>
      </p:sp>
      <p:sp>
        <p:nvSpPr>
          <p:cNvPr id="7" name="what-k"/>
          <p:cNvSpPr txBox="1"/>
          <p:nvPr/>
        </p:nvSpPr>
        <p:spPr>
          <a:xfrm>
            <a:off x="5120640" y="960120"/>
            <a:ext cx="3520440" cy="182880"/>
          </a:xfrm>
          <a:prstGeom prst="rect">
            <a:avLst/>
          </a:prstGeom>
          <a:noFill/>
          <a:ln/>
        </p:spPr>
        <p:txBody>
          <a:bodyPr wrap="square" lIns="0" tIns="0" rIns="0" bIns="0" rtlCol="0" anchor="t"/>
          <a:lstStyle/>
          <a:p>
            <a:pPr marL="0" indent="0">
              <a:buNone/>
            </a:pPr>
            <a:r>
              <a:rPr lang="en-US" sz="800" b="0" spc="300" dirty="0">
                <a:solidFill>
                  <a:srgbClr val="FF2D6F"/>
                </a:solidFill>
              </a:rPr>
              <a:t>WHAT IT IS</a:t>
            </a:r>
            <a:endParaRPr lang="en-US" sz="1250" dirty="0"/>
          </a:p>
        </p:txBody>
      </p:sp>
      <p:sp>
        <p:nvSpPr>
          <p:cNvPr id="8" name="what-d"/>
          <p:cNvSpPr txBox="1"/>
          <p:nvPr/>
        </p:nvSpPr>
        <p:spPr>
          <a:xfrm>
            <a:off x="5120640" y="1161288"/>
            <a:ext cx="3520440" cy="566928"/>
          </a:xfrm>
          <a:prstGeom prst="rect">
            <a:avLst/>
          </a:prstGeom>
          <a:noFill/>
          <a:ln/>
        </p:spPr>
        <p:txBody>
          <a:bodyPr wrap="square" lIns="0" tIns="0" rIns="0" bIns="0" rtlCol="0" anchor="t"/>
          <a:lstStyle/>
          <a:p>
            <a:pPr marL="0" indent="0">
              <a:buNone/>
            </a:pPr>
            <a:r>
              <a:rPr lang="en-US" sz="950" dirty="0">
                <a:solidFill>
                  <a:srgbClr val="FAFAFA"/>
                </a:solidFill>
              </a:rPr>
              <a:t>A network copied neuron by neuron from a real fruit fly brain. Every connection keeps the strength nature gave it. We only learn how to read it.</a:t>
            </a:r>
            <a:endParaRPr lang="en-US" sz="1050" dirty="0"/>
          </a:p>
        </p:txBody>
      </p:sp>
      <p:sp>
        <p:nvSpPr>
          <p:cNvPr id="6" name="p-0"/>
          <p:cNvSpPr/>
          <p:nvPr/>
        </p:nvSpPr>
        <p:spPr>
          <a:xfrm>
            <a:off x="5120640" y="1828800"/>
            <a:ext cx="3520440" cy="512064"/>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9" name="p-0-v"/>
          <p:cNvSpPr txBox="1"/>
          <p:nvPr/>
        </p:nvSpPr>
        <p:spPr>
          <a:xfrm>
            <a:off x="5248655" y="1938528"/>
            <a:ext cx="868680" cy="292608"/>
          </a:xfrm>
          <a:prstGeom prst="rect">
            <a:avLst/>
          </a:prstGeom>
          <a:noFill/>
          <a:ln/>
        </p:spPr>
        <p:txBody>
          <a:bodyPr wrap="square" lIns="0" tIns="0" rIns="0" bIns="0" rtlCol="0" anchor="t"/>
          <a:lstStyle/>
          <a:p>
            <a:pPr marL="0" indent="0">
              <a:buNone/>
            </a:pPr>
            <a:r>
              <a:rPr lang="en-US" sz="1000" b="0" dirty="0">
                <a:solidFill>
                  <a:srgbClr val="FF2D6F"/>
                </a:solidFill>
                <a:latin typeface="Michroma"/>
              </a:rPr>
              <a:t>COPIED</a:t>
            </a:r>
            <a:endParaRPr lang="en-US" sz="1250" dirty="0"/>
          </a:p>
        </p:txBody>
      </p:sp>
      <p:sp>
        <p:nvSpPr>
          <p:cNvPr id="10" name="p-0-h"/>
          <p:cNvSpPr txBox="1"/>
          <p:nvPr/>
        </p:nvSpPr>
        <p:spPr>
          <a:xfrm>
            <a:off x="6144768" y="1874519"/>
            <a:ext cx="2386584" cy="182880"/>
          </a:xfrm>
          <a:prstGeom prst="rect">
            <a:avLst/>
          </a:prstGeom>
          <a:noFill/>
          <a:ln/>
        </p:spPr>
        <p:txBody>
          <a:bodyPr wrap="square" lIns="0" tIns="0" rIns="0" bIns="0" rtlCol="0" anchor="t"/>
          <a:lstStyle/>
          <a:p>
            <a:pPr marL="0" indent="0">
              <a:buNone/>
            </a:pPr>
            <a:r>
              <a:rPr lang="en-US" sz="1050" b="1" dirty="0">
                <a:solidFill>
                  <a:srgbClr val="FAFAFA"/>
                </a:solidFill>
              </a:rPr>
              <a:t>the brain is not trained</a:t>
            </a:r>
            <a:endParaRPr lang="en-US" sz="1250" dirty="0"/>
          </a:p>
        </p:txBody>
      </p:sp>
      <p:sp>
        <p:nvSpPr>
          <p:cNvPr id="11" name="p-0-d"/>
          <p:cNvSpPr txBox="1"/>
          <p:nvPr/>
        </p:nvSpPr>
        <p:spPr>
          <a:xfrm>
            <a:off x="6144768" y="2048256"/>
            <a:ext cx="2386584" cy="237744"/>
          </a:xfrm>
          <a:prstGeom prst="rect">
            <a:avLst/>
          </a:prstGeom>
          <a:noFill/>
          <a:ln/>
        </p:spPr>
        <p:txBody>
          <a:bodyPr wrap="square" lIns="0" tIns="0" rIns="0" bIns="0" rtlCol="0" anchor="t"/>
          <a:lstStyle/>
          <a:p>
            <a:pPr marL="0" indent="0">
              <a:buNone/>
            </a:pPr>
            <a:r>
              <a:rPr lang="en-US" sz="850" dirty="0">
                <a:solidFill>
                  <a:srgbClr val="A1A1AA"/>
                </a:solidFill>
              </a:rPr>
              <a:t>its connections come from electron microscope scans of a real fly</a:t>
            </a:r>
            <a:endParaRPr lang="en-US" sz="1050" dirty="0"/>
          </a:p>
        </p:txBody>
      </p:sp>
      <p:sp>
        <p:nvSpPr>
          <p:cNvPr id="12" name="p-1"/>
          <p:cNvSpPr/>
          <p:nvPr/>
        </p:nvSpPr>
        <p:spPr>
          <a:xfrm>
            <a:off x="5120640" y="2377440"/>
            <a:ext cx="3520440" cy="512064"/>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3" name="p-1-v"/>
          <p:cNvSpPr txBox="1"/>
          <p:nvPr/>
        </p:nvSpPr>
        <p:spPr>
          <a:xfrm>
            <a:off x="5248655" y="2487168"/>
            <a:ext cx="868680" cy="292608"/>
          </a:xfrm>
          <a:prstGeom prst="rect">
            <a:avLst/>
          </a:prstGeom>
          <a:noFill/>
          <a:ln/>
        </p:spPr>
        <p:txBody>
          <a:bodyPr wrap="square" lIns="0" tIns="0" rIns="0" bIns="0" rtlCol="0" anchor="t"/>
          <a:lstStyle/>
          <a:p>
            <a:pPr marL="0" indent="0">
              <a:buNone/>
            </a:pPr>
            <a:r>
              <a:rPr lang="en-US" sz="1000" b="0" dirty="0">
                <a:solidFill>
                  <a:srgbClr val="FF2D6F"/>
                </a:solidFill>
                <a:latin typeface="Michroma"/>
              </a:rPr>
              <a:t>READ</a:t>
            </a:r>
            <a:endParaRPr lang="en-US" sz="1250" dirty="0"/>
          </a:p>
        </p:txBody>
      </p:sp>
      <p:sp>
        <p:nvSpPr>
          <p:cNvPr id="14" name="p-1-h"/>
          <p:cNvSpPr txBox="1"/>
          <p:nvPr/>
        </p:nvSpPr>
        <p:spPr>
          <a:xfrm>
            <a:off x="6144768" y="2423160"/>
            <a:ext cx="2386584" cy="182880"/>
          </a:xfrm>
          <a:prstGeom prst="rect">
            <a:avLst/>
          </a:prstGeom>
          <a:noFill/>
          <a:ln/>
        </p:spPr>
        <p:txBody>
          <a:bodyPr wrap="square" lIns="0" tIns="0" rIns="0" bIns="0" rtlCol="0" anchor="t"/>
          <a:lstStyle/>
          <a:p>
            <a:pPr marL="0" indent="0">
              <a:buNone/>
            </a:pPr>
            <a:r>
              <a:rPr lang="en-US" sz="1050" b="1" dirty="0">
                <a:solidFill>
                  <a:srgbClr val="FAFAFA"/>
                </a:solidFill>
              </a:rPr>
              <a:t>only the readout learns</a:t>
            </a:r>
            <a:endParaRPr lang="en-US" sz="1250" dirty="0"/>
          </a:p>
        </p:txBody>
      </p:sp>
      <p:sp>
        <p:nvSpPr>
          <p:cNvPr id="15" name="p-1-d"/>
          <p:cNvSpPr txBox="1"/>
          <p:nvPr/>
        </p:nvSpPr>
        <p:spPr>
          <a:xfrm>
            <a:off x="6144768" y="2596896"/>
            <a:ext cx="2386584" cy="237744"/>
          </a:xfrm>
          <a:prstGeom prst="rect">
            <a:avLst/>
          </a:prstGeom>
          <a:noFill/>
          <a:ln/>
        </p:spPr>
        <p:txBody>
          <a:bodyPr wrap="square" lIns="0" tIns="0" rIns="0" bIns="0" rtlCol="0" anchor="t"/>
          <a:lstStyle/>
          <a:p>
            <a:pPr marL="0" indent="0">
              <a:buNone/>
            </a:pPr>
            <a:r>
              <a:rPr lang="en-US" sz="850" dirty="0">
                <a:solidFill>
                  <a:srgbClr val="A1A1AA"/>
                </a:solidFill>
              </a:rPr>
              <a:t>a small decoder learns which flight neurons mean left or right</a:t>
            </a:r>
            <a:endParaRPr lang="en-US" sz="1050" dirty="0"/>
          </a:p>
        </p:txBody>
      </p:sp>
      <p:sp>
        <p:nvSpPr>
          <p:cNvPr id="17" name="p-2"/>
          <p:cNvSpPr/>
          <p:nvPr/>
        </p:nvSpPr>
        <p:spPr>
          <a:xfrm>
            <a:off x="5120640" y="2926080"/>
            <a:ext cx="3520440" cy="512064"/>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8" name="p-2-v"/>
          <p:cNvSpPr txBox="1"/>
          <p:nvPr/>
        </p:nvSpPr>
        <p:spPr>
          <a:xfrm>
            <a:off x="5248655" y="3035808"/>
            <a:ext cx="868680" cy="292608"/>
          </a:xfrm>
          <a:prstGeom prst="rect">
            <a:avLst/>
          </a:prstGeom>
          <a:noFill/>
          <a:ln/>
        </p:spPr>
        <p:txBody>
          <a:bodyPr wrap="square" lIns="0" tIns="0" rIns="0" bIns="0" rtlCol="0" anchor="t"/>
          <a:lstStyle/>
          <a:p>
            <a:pPr marL="0" indent="0">
              <a:buNone/>
            </a:pPr>
            <a:r>
              <a:rPr lang="en-US" sz="1000" b="0" dirty="0">
                <a:solidFill>
                  <a:srgbClr val="FF2D6F"/>
                </a:solidFill>
                <a:latin typeface="Michroma"/>
              </a:rPr>
              <a:t>VISIBLE</a:t>
            </a:r>
            <a:endParaRPr lang="en-US" sz="1250" dirty="0"/>
          </a:p>
        </p:txBody>
      </p:sp>
      <p:sp>
        <p:nvSpPr>
          <p:cNvPr id="19" name="p-2-h"/>
          <p:cNvSpPr txBox="1"/>
          <p:nvPr/>
        </p:nvSpPr>
        <p:spPr>
          <a:xfrm>
            <a:off x="6144768" y="2971800"/>
            <a:ext cx="2386584" cy="182880"/>
          </a:xfrm>
          <a:prstGeom prst="rect">
            <a:avLst/>
          </a:prstGeom>
          <a:noFill/>
          <a:ln/>
        </p:spPr>
        <p:txBody>
          <a:bodyPr wrap="square" lIns="0" tIns="0" rIns="0" bIns="0" rtlCol="0" anchor="t"/>
          <a:lstStyle/>
          <a:p>
            <a:pPr marL="0" indent="0">
              <a:buNone/>
            </a:pPr>
            <a:r>
              <a:rPr lang="en-US" sz="1050" b="1" dirty="0">
                <a:solidFill>
                  <a:srgbClr val="FAFAFA"/>
                </a:solidFill>
              </a:rPr>
              <a:t>every turn can be explained</a:t>
            </a:r>
            <a:endParaRPr lang="en-US" sz="1250" dirty="0"/>
          </a:p>
        </p:txBody>
      </p:sp>
      <p:sp>
        <p:nvSpPr>
          <p:cNvPr id="20" name="p-2-d"/>
          <p:cNvSpPr txBox="1"/>
          <p:nvPr/>
        </p:nvSpPr>
        <p:spPr>
          <a:xfrm>
            <a:off x="6144768" y="3145536"/>
            <a:ext cx="2386584" cy="237744"/>
          </a:xfrm>
          <a:prstGeom prst="rect">
            <a:avLst/>
          </a:prstGeom>
          <a:noFill/>
          <a:ln/>
        </p:spPr>
        <p:txBody>
          <a:bodyPr wrap="square" lIns="0" tIns="0" rIns="0" bIns="0" rtlCol="0" anchor="t"/>
          <a:lstStyle/>
          <a:p>
            <a:pPr marL="0" indent="0">
              <a:buNone/>
            </a:pPr>
            <a:r>
              <a:rPr lang="en-US" sz="850" dirty="0">
                <a:solidFill>
                  <a:srgbClr val="A1A1AA"/>
                </a:solidFill>
              </a:rPr>
              <a:t>named neurons vote left or right, shown live in flight</a:t>
            </a:r>
            <a:endParaRPr lang="en-US" sz="1050" dirty="0"/>
          </a:p>
        </p:txBody>
      </p:sp>
      <p:sp>
        <p:nvSpPr>
          <p:cNvPr id="21" name="p-3"/>
          <p:cNvSpPr/>
          <p:nvPr/>
        </p:nvSpPr>
        <p:spPr>
          <a:xfrm>
            <a:off x="5120640" y="3474720"/>
            <a:ext cx="3520440" cy="512064"/>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22" name="p-3-v"/>
          <p:cNvSpPr txBox="1"/>
          <p:nvPr/>
        </p:nvSpPr>
        <p:spPr>
          <a:xfrm>
            <a:off x="5248655" y="3584448"/>
            <a:ext cx="868680" cy="292608"/>
          </a:xfrm>
          <a:prstGeom prst="rect">
            <a:avLst/>
          </a:prstGeom>
          <a:noFill/>
          <a:ln/>
        </p:spPr>
        <p:txBody>
          <a:bodyPr wrap="square" lIns="0" tIns="0" rIns="0" bIns="0" rtlCol="0" anchor="t"/>
          <a:lstStyle/>
          <a:p>
            <a:pPr marL="0" indent="0">
              <a:buNone/>
            </a:pPr>
            <a:r>
              <a:rPr lang="en-US" sz="1000" b="0" dirty="0">
                <a:solidFill>
                  <a:srgbClr val="FF2D6F"/>
                </a:solidFill>
                <a:latin typeface="Michroma"/>
              </a:rPr>
              <a:t>TESTED</a:t>
            </a:r>
            <a:endParaRPr lang="en-US" sz="1250" dirty="0"/>
          </a:p>
        </p:txBody>
      </p:sp>
      <p:sp>
        <p:nvSpPr>
          <p:cNvPr id="23" name="p-3-h"/>
          <p:cNvSpPr txBox="1"/>
          <p:nvPr/>
        </p:nvSpPr>
        <p:spPr>
          <a:xfrm>
            <a:off x="6144768" y="3520439"/>
            <a:ext cx="2386584" cy="182880"/>
          </a:xfrm>
          <a:prstGeom prst="rect">
            <a:avLst/>
          </a:prstGeom>
          <a:noFill/>
          <a:ln/>
        </p:spPr>
        <p:txBody>
          <a:bodyPr wrap="square" lIns="0" tIns="0" rIns="0" bIns="0" rtlCol="0" anchor="t"/>
          <a:lstStyle/>
          <a:p>
            <a:pPr marL="0" indent="0">
              <a:buNone/>
            </a:pPr>
            <a:r>
              <a:rPr lang="en-US" sz="1050" b="1" dirty="0">
                <a:solidFill>
                  <a:srgbClr val="FAFAFA"/>
                </a:solidFill>
              </a:rPr>
              <a:t>new worlds, no teacher</a:t>
            </a:r>
            <a:endParaRPr lang="en-US" sz="1250" dirty="0"/>
          </a:p>
        </p:txBody>
      </p:sp>
      <p:sp>
        <p:nvSpPr>
          <p:cNvPr id="24" name="p-3-d"/>
          <p:cNvSpPr txBox="1"/>
          <p:nvPr/>
        </p:nvSpPr>
        <p:spPr>
          <a:xfrm>
            <a:off x="6144768" y="3694176"/>
            <a:ext cx="2386584" cy="237744"/>
          </a:xfrm>
          <a:prstGeom prst="rect">
            <a:avLst/>
          </a:prstGeom>
          <a:noFill/>
          <a:ln/>
        </p:spPr>
        <p:txBody>
          <a:bodyPr wrap="square" lIns="0" tIns="0" rIns="0" bIns="0" rtlCol="0" anchor="t"/>
          <a:lstStyle/>
          <a:p>
            <a:pPr marL="0" indent="0">
              <a:buNone/>
            </a:pPr>
            <a:r>
              <a:rPr lang="en-US" sz="850" dirty="0">
                <a:solidFill>
                  <a:srgbClr val="A1A1AA"/>
                </a:solidFill>
              </a:rPr>
              <a:t>it reaches targets in random worlds it has never seen</a:t>
            </a:r>
            <a:endParaRPr lang="en-US" sz="1050" dirty="0"/>
          </a:p>
        </p:txBody>
      </p:sp>
      <p:sp>
        <p:nvSpPr>
          <p:cNvPr id="16"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Flight neurons:</a:t>
            </a:r>
            <a:r>
              <a:rPr lang="en-US" sz="900" dirty="0">
                <a:solidFill>
                  <a:srgbClr val="71717A"/>
                </a:solidFill>
              </a:rPr>
              <a:t> 375 descending neurons that carry flight commands from brain to body</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USE CASE: REACH A TARGET SAFELY</a:t>
            </a:r>
            <a:endParaRPr lang="en-US" sz="1600" dirty="0"/>
          </a:p>
        </p:txBody>
      </p:sp>
      <p:sp>
        <p:nvSpPr>
          <p:cNvPr id="5" name="story"/>
          <p:cNvSpPr txBox="1"/>
          <p:nvPr/>
        </p:nvSpPr>
        <p:spPr>
          <a:xfrm>
            <a:off x="4617720" y="1005840"/>
            <a:ext cx="4023360" cy="731520"/>
          </a:xfrm>
          <a:prstGeom prst="rect">
            <a:avLst/>
          </a:prstGeom>
          <a:noFill/>
          <a:ln/>
        </p:spPr>
        <p:txBody>
          <a:bodyPr wrap="square" lIns="0" tIns="0" rIns="0" bIns="0" rtlCol="0" anchor="t"/>
          <a:lstStyle/>
          <a:p>
            <a:pPr marL="0" indent="0">
              <a:buNone/>
            </a:pPr>
            <a:r>
              <a:rPr lang="en-US" sz="1300">
                <a:solidFill>
                  <a:srgbClr val="FAFAFA"/>
                </a:solidFill>
              </a:rPr>
              <a:t>No route is pre-written. Every frame the eyes see the scene, the fly brain reacts, and the decoder reads its flight neurons like a pilot's stick.</a:t>
            </a:r>
            <a:endParaRPr lang="en-US" sz="1300" dirty="0"/>
          </a:p>
        </p:txBody>
      </p:sp>
      <p:sp>
        <p:nvSpPr>
          <p:cNvPr id="6" name="bar-gps"/>
          <p:cNvSpPr/>
          <p:nvPr/>
        </p:nvSpPr>
        <p:spPr>
          <a:xfrm>
            <a:off x="4617720" y="1874520"/>
            <a:ext cx="2103120" cy="384048"/>
          </a:xfrm>
          <a:prstGeom prst="rect">
            <a:avLst/>
          </a:prstGeom>
          <a:solidFill>
            <a:srgbClr val="4F8CFF">
              <a:alpha val="45000"/>
            </a:srgbClr>
          </a:solidFill>
          <a:ln w="9525">
            <a:solidFill>
              <a:srgbClr val="4F8CFF"/>
            </a:solidFill>
            <a:prstDash val="solid"/>
          </a:ln>
        </p:spPr>
        <p:txBody>
          <a:bodyPr/>
          <a:lstStyle/>
          <a:p>
            <a:endParaRPr lang="pl-PL"/>
          </a:p>
        </p:txBody>
      </p:sp>
      <p:sp>
        <p:nvSpPr>
          <p:cNvPr id="7" name="bar-banc"/>
          <p:cNvSpPr/>
          <p:nvPr/>
        </p:nvSpPr>
        <p:spPr>
          <a:xfrm>
            <a:off x="6720840" y="1874520"/>
            <a:ext cx="1920240" cy="384048"/>
          </a:xfrm>
          <a:prstGeom prst="rect">
            <a:avLst/>
          </a:prstGeom>
          <a:solidFill>
            <a:srgbClr val="FF2D6F">
              <a:alpha val="65000"/>
            </a:srgbClr>
          </a:solidFill>
          <a:ln w="9525">
            <a:solidFill>
              <a:srgbClr val="FF2D6F"/>
            </a:solidFill>
            <a:prstDash val="solid"/>
          </a:ln>
        </p:spPr>
        <p:txBody>
          <a:bodyPr/>
          <a:lstStyle/>
          <a:p>
            <a:endParaRPr lang="pl-PL"/>
          </a:p>
        </p:txBody>
      </p:sp>
      <p:sp>
        <p:nvSpPr>
          <p:cNvPr id="8" name="bar-gps-t"/>
          <p:cNvSpPr txBox="1"/>
          <p:nvPr/>
        </p:nvSpPr>
        <p:spPr>
          <a:xfrm>
            <a:off x="4754880" y="1965960"/>
            <a:ext cx="2011680" cy="228600"/>
          </a:xfrm>
          <a:prstGeom prst="rect">
            <a:avLst/>
          </a:prstGeom>
          <a:noFill/>
          <a:ln/>
        </p:spPr>
        <p:txBody>
          <a:bodyPr wrap="square" lIns="0" tIns="0" rIns="0" bIns="0" rtlCol="0" anchor="t"/>
          <a:lstStyle/>
          <a:p>
            <a:pPr marL="0" indent="0">
              <a:buNone/>
            </a:pPr>
            <a:r>
              <a:rPr lang="en-US" sz="1200" dirty="0">
                <a:solidFill>
                  <a:srgbClr val="FAFAFA"/>
                </a:solidFill>
              </a:rPr>
              <a:t>far: rough GPS</a:t>
            </a:r>
            <a:r>
              <a:rPr lang="pl-PL" sz="1200" dirty="0">
                <a:solidFill>
                  <a:srgbClr val="FAFAFA"/>
                </a:solidFill>
              </a:rPr>
              <a:t> signal</a:t>
            </a:r>
            <a:endParaRPr lang="en-US" sz="1200" dirty="0"/>
          </a:p>
        </p:txBody>
      </p:sp>
      <p:sp>
        <p:nvSpPr>
          <p:cNvPr id="9" name="bar-banc-t"/>
          <p:cNvSpPr txBox="1"/>
          <p:nvPr/>
        </p:nvSpPr>
        <p:spPr>
          <a:xfrm>
            <a:off x="6798564" y="1958047"/>
            <a:ext cx="1810512" cy="228600"/>
          </a:xfrm>
          <a:prstGeom prst="rect">
            <a:avLst/>
          </a:prstGeom>
          <a:noFill/>
          <a:ln/>
        </p:spPr>
        <p:txBody>
          <a:bodyPr wrap="square" lIns="0" tIns="0" rIns="0" bIns="0" rtlCol="0" anchor="t"/>
          <a:lstStyle/>
          <a:p>
            <a:pPr marL="0" indent="0">
              <a:buNone/>
            </a:pPr>
            <a:r>
              <a:rPr lang="pl-PL" sz="1200" b="1" dirty="0">
                <a:solidFill>
                  <a:srgbClr val="FAFAFA"/>
                </a:solidFill>
              </a:rPr>
              <a:t>avoiding objects</a:t>
            </a:r>
            <a:r>
              <a:rPr lang="en-US" sz="1200" b="1" dirty="0">
                <a:solidFill>
                  <a:srgbClr val="FAFAFA"/>
                </a:solidFill>
              </a:rPr>
              <a:t>: fly brain</a:t>
            </a:r>
            <a:endParaRPr lang="en-US" sz="12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7</a:t>
            </a:fld>
            <a:endParaRPr lang="en-US"/>
          </a:p>
        </p:txBody>
      </p:sp>
      <p:pic>
        <p:nvPicPr>
          <p:cNvPr id="18" name="Picture 17">
            <a:extLst>
              <a:ext uri="{FF2B5EF4-FFF2-40B4-BE49-F238E27FC236}">
                <a16:creationId xmlns:a16="http://schemas.microsoft.com/office/drawing/2014/main" id="{FF307EE5-11D2-EA9A-A758-5C7F94B34B60}"/>
              </a:ext>
            </a:extLst>
          </p:cNvPr>
          <p:cNvPicPr>
            <a:picLocks noChangeAspect="1"/>
          </p:cNvPicPr>
          <p:nvPr/>
        </p:nvPicPr>
        <p:blipFill>
          <a:blip r:embed="rId3"/>
          <a:stretch>
            <a:fillRect/>
          </a:stretch>
        </p:blipFill>
        <p:spPr>
          <a:xfrm>
            <a:off x="604032" y="1004660"/>
            <a:ext cx="3638257" cy="3311308"/>
          </a:xfrm>
          <a:prstGeom prst="rect">
            <a:avLst/>
          </a:prstGeom>
        </p:spPr>
      </p:pic>
      <p:sp>
        <p:nvSpPr>
          <p:cNvPr id="26" name="who-k"/>
          <p:cNvSpPr txBox="1"/>
          <p:nvPr/>
        </p:nvSpPr>
        <p:spPr>
          <a:xfrm>
            <a:off x="4617720" y="2395728"/>
            <a:ext cx="4023360" cy="182880"/>
          </a:xfrm>
          <a:prstGeom prst="rect">
            <a:avLst/>
          </a:prstGeom>
          <a:noFill/>
        </p:spPr>
        <p:txBody>
          <a:bodyPr wrap="square" lIns="0" tIns="0" rIns="0" bIns="0" anchor="t">
            <a:spAutoFit/>
          </a:bodyPr>
          <a:lstStyle/>
          <a:p>
            <a:r>
              <a:rPr sz="800" b="0" spc="500" dirty="0">
                <a:solidFill>
                  <a:srgbClr val="FF2D6F"/>
                </a:solidFill>
                <a:latin typeface="Roboto"/>
              </a:rPr>
              <a:t>WHO CONTROLS WHAT</a:t>
            </a:r>
          </a:p>
        </p:txBody>
      </p:sp>
      <p:sp>
        <p:nvSpPr>
          <p:cNvPr id="27" name="who-0"/>
          <p:cNvSpPr/>
          <p:nvPr/>
        </p:nvSpPr>
        <p:spPr>
          <a:xfrm>
            <a:off x="4617720" y="2633472"/>
            <a:ext cx="4023360" cy="402336"/>
          </a:xfrm>
          <a:prstGeom prst="rect">
            <a:avLst/>
          </a:prstGeom>
          <a:solidFill>
            <a:srgbClr val="18181B"/>
          </a:solidFill>
          <a:ln w="9525">
            <a:solidFill>
              <a:srgbClr val="3F3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who-0-h"/>
          <p:cNvSpPr txBox="1"/>
          <p:nvPr/>
        </p:nvSpPr>
        <p:spPr>
          <a:xfrm>
            <a:off x="4727448" y="2752343"/>
            <a:ext cx="1325880" cy="292608"/>
          </a:xfrm>
          <a:prstGeom prst="rect">
            <a:avLst/>
          </a:prstGeom>
          <a:noFill/>
        </p:spPr>
        <p:txBody>
          <a:bodyPr wrap="square" lIns="0" tIns="0" rIns="0" bIns="0" anchor="t">
            <a:spAutoFit/>
          </a:bodyPr>
          <a:lstStyle/>
          <a:p>
            <a:r>
              <a:rPr sz="1050" b="1" dirty="0">
                <a:solidFill>
                  <a:srgbClr val="FAFAFA"/>
                </a:solidFill>
                <a:latin typeface="Roboto"/>
              </a:rPr>
              <a:t>Turning left and right</a:t>
            </a:r>
          </a:p>
        </p:txBody>
      </p:sp>
      <p:sp>
        <p:nvSpPr>
          <p:cNvPr id="29" name="who-0-d"/>
          <p:cNvSpPr txBox="1"/>
          <p:nvPr/>
        </p:nvSpPr>
        <p:spPr>
          <a:xfrm>
            <a:off x="6199632" y="2679191"/>
            <a:ext cx="2377440" cy="329184"/>
          </a:xfrm>
          <a:prstGeom prst="rect">
            <a:avLst/>
          </a:prstGeom>
          <a:noFill/>
        </p:spPr>
        <p:txBody>
          <a:bodyPr wrap="square" lIns="0" tIns="0" rIns="0" bIns="0" anchor="t">
            <a:spAutoFit/>
          </a:bodyPr>
          <a:lstStyle/>
          <a:p>
            <a:r>
              <a:rPr sz="950" b="0">
                <a:solidFill>
                  <a:srgbClr val="A1A1AA"/>
                </a:solidFill>
                <a:latin typeface="Roboto"/>
              </a:rPr>
              <a:t>fly brain only: 375 flight neurons, no drone sensors</a:t>
            </a:r>
          </a:p>
        </p:txBody>
      </p:sp>
      <p:sp>
        <p:nvSpPr>
          <p:cNvPr id="30" name="who-1"/>
          <p:cNvSpPr/>
          <p:nvPr/>
        </p:nvSpPr>
        <p:spPr>
          <a:xfrm>
            <a:off x="4617720" y="3090672"/>
            <a:ext cx="4023360" cy="402336"/>
          </a:xfrm>
          <a:prstGeom prst="rect">
            <a:avLst/>
          </a:prstGeom>
          <a:solidFill>
            <a:srgbClr val="18181B"/>
          </a:solidFill>
          <a:ln w="9525">
            <a:solidFill>
              <a:srgbClr val="3F3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who-1-h"/>
          <p:cNvSpPr txBox="1"/>
          <p:nvPr/>
        </p:nvSpPr>
        <p:spPr>
          <a:xfrm>
            <a:off x="4736592" y="3197937"/>
            <a:ext cx="1325880" cy="292608"/>
          </a:xfrm>
          <a:prstGeom prst="rect">
            <a:avLst/>
          </a:prstGeom>
          <a:noFill/>
        </p:spPr>
        <p:txBody>
          <a:bodyPr wrap="square" lIns="0" tIns="0" rIns="0" bIns="0" anchor="t">
            <a:spAutoFit/>
          </a:bodyPr>
          <a:lstStyle/>
          <a:p>
            <a:r>
              <a:rPr sz="1050" b="1" dirty="0">
                <a:solidFill>
                  <a:srgbClr val="FAFAFA"/>
                </a:solidFill>
                <a:latin typeface="Roboto"/>
              </a:rPr>
              <a:t>Height and speed</a:t>
            </a:r>
          </a:p>
        </p:txBody>
      </p:sp>
      <p:sp>
        <p:nvSpPr>
          <p:cNvPr id="32" name="who-1-d"/>
          <p:cNvSpPr txBox="1"/>
          <p:nvPr/>
        </p:nvSpPr>
        <p:spPr>
          <a:xfrm>
            <a:off x="6199632" y="3136391"/>
            <a:ext cx="2377440" cy="292388"/>
          </a:xfrm>
          <a:prstGeom prst="rect">
            <a:avLst/>
          </a:prstGeom>
          <a:noFill/>
        </p:spPr>
        <p:txBody>
          <a:bodyPr wrap="square" lIns="0" tIns="0" rIns="0" bIns="0" anchor="t">
            <a:spAutoFit/>
          </a:bodyPr>
          <a:lstStyle/>
          <a:p>
            <a:r>
              <a:rPr sz="950" b="0" dirty="0">
                <a:solidFill>
                  <a:srgbClr val="A1A1AA"/>
                </a:solidFill>
                <a:latin typeface="Roboto"/>
              </a:rPr>
              <a:t>fly </a:t>
            </a:r>
            <a:r>
              <a:rPr lang="pl-PL" sz="950" b="0" dirty="0">
                <a:solidFill>
                  <a:srgbClr val="A1A1AA"/>
                </a:solidFill>
                <a:latin typeface="Roboto"/>
              </a:rPr>
              <a:t>eyes and </a:t>
            </a:r>
            <a:r>
              <a:rPr sz="950" b="0" dirty="0">
                <a:solidFill>
                  <a:srgbClr val="A1A1AA"/>
                </a:solidFill>
                <a:latin typeface="Roboto"/>
              </a:rPr>
              <a:t>brain plus height and speed sensors</a:t>
            </a:r>
          </a:p>
        </p:txBody>
      </p:sp>
      <p:sp>
        <p:nvSpPr>
          <p:cNvPr id="33" name="who-2"/>
          <p:cNvSpPr/>
          <p:nvPr/>
        </p:nvSpPr>
        <p:spPr>
          <a:xfrm>
            <a:off x="4617720" y="3547872"/>
            <a:ext cx="4023360" cy="402336"/>
          </a:xfrm>
          <a:prstGeom prst="rect">
            <a:avLst/>
          </a:prstGeom>
          <a:solidFill>
            <a:srgbClr val="18181B"/>
          </a:solidFill>
          <a:ln w="9525">
            <a:solidFill>
              <a:srgbClr val="3F3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who-2-h"/>
          <p:cNvSpPr txBox="1"/>
          <p:nvPr/>
        </p:nvSpPr>
        <p:spPr>
          <a:xfrm>
            <a:off x="4727448" y="3630167"/>
            <a:ext cx="1325880" cy="292608"/>
          </a:xfrm>
          <a:prstGeom prst="rect">
            <a:avLst/>
          </a:prstGeom>
          <a:noFill/>
        </p:spPr>
        <p:txBody>
          <a:bodyPr wrap="square" lIns="0" tIns="0" rIns="0" bIns="0" anchor="t">
            <a:spAutoFit/>
          </a:bodyPr>
          <a:lstStyle/>
          <a:p>
            <a:r>
              <a:rPr sz="1050" b="1">
                <a:solidFill>
                  <a:srgbClr val="FAFAFA"/>
                </a:solidFill>
                <a:latin typeface="Roboto"/>
              </a:rPr>
              <a:t>Holding the tilt</a:t>
            </a:r>
          </a:p>
        </p:txBody>
      </p:sp>
      <p:sp>
        <p:nvSpPr>
          <p:cNvPr id="35" name="who-2-d"/>
          <p:cNvSpPr txBox="1"/>
          <p:nvPr/>
        </p:nvSpPr>
        <p:spPr>
          <a:xfrm>
            <a:off x="6199632" y="3593591"/>
            <a:ext cx="2377440" cy="329184"/>
          </a:xfrm>
          <a:prstGeom prst="rect">
            <a:avLst/>
          </a:prstGeom>
          <a:noFill/>
        </p:spPr>
        <p:txBody>
          <a:bodyPr wrap="square" lIns="0" tIns="0" rIns="0" bIns="0" anchor="t">
            <a:spAutoFit/>
          </a:bodyPr>
          <a:lstStyle/>
          <a:p>
            <a:r>
              <a:rPr sz="950" b="0" dirty="0">
                <a:solidFill>
                  <a:srgbClr val="A1A1AA"/>
                </a:solidFill>
                <a:latin typeface="Roboto"/>
              </a:rPr>
              <a:t>the simulator's autopilot keeps the tilt the brain asks for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AI AND CONTROL</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pl-PL" dirty="0"/>
              <a:t>LIVE NEURON PANEL DURING AI FLIGHT</a:t>
            </a:r>
            <a:endParaRPr lang="en-US" sz="1600" dirty="0"/>
          </a:p>
        </p:txBody>
      </p:sp>
      <p:pic>
        <p:nvPicPr>
          <p:cNvPr id="4" name="img-panel" descr="C:\NeuroFly\docs\prezentacja\assets\panel_live.jpg"/>
          <p:cNvPicPr>
            <a:picLocks noChangeAspect="1"/>
          </p:cNvPicPr>
          <p:nvPr/>
        </p:nvPicPr>
        <p:blipFill>
          <a:blip r:embed="rId3"/>
          <a:stretch>
            <a:fillRect/>
          </a:stretch>
        </p:blipFill>
        <p:spPr>
          <a:xfrm>
            <a:off x="502920" y="960120"/>
            <a:ext cx="2103120" cy="3108960"/>
          </a:xfrm>
          <a:prstGeom prst="rect">
            <a:avLst/>
          </a:prstGeom>
          <a:effectLst>
            <a:outerShdw blurRad="228600" dist="76200" dir="5400000" algn="bl" rotWithShape="0">
              <a:srgbClr val="000000">
                <a:alpha val="55000"/>
              </a:srgbClr>
            </a:outerShdw>
          </a:effectLst>
        </p:spPr>
      </p:pic>
      <p:sp>
        <p:nvSpPr>
          <p:cNvPr id="5" name="k-0"/>
          <p:cNvSpPr/>
          <p:nvPr/>
        </p:nvSpPr>
        <p:spPr>
          <a:xfrm>
            <a:off x="2926080" y="960120"/>
            <a:ext cx="571500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6" name="k-0-n"/>
          <p:cNvSpPr txBox="1"/>
          <p:nvPr/>
        </p:nvSpPr>
        <p:spPr>
          <a:xfrm>
            <a:off x="3108960" y="1143000"/>
            <a:ext cx="32004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1</a:t>
            </a:r>
            <a:endParaRPr lang="en-US" sz="1800" dirty="0"/>
          </a:p>
        </p:txBody>
      </p:sp>
      <p:sp>
        <p:nvSpPr>
          <p:cNvPr id="7" name="k-0-h"/>
          <p:cNvSpPr txBox="1"/>
          <p:nvPr/>
        </p:nvSpPr>
        <p:spPr>
          <a:xfrm>
            <a:off x="3520440" y="1051560"/>
            <a:ext cx="4937760" cy="256032"/>
          </a:xfrm>
          <a:prstGeom prst="rect">
            <a:avLst/>
          </a:prstGeom>
          <a:noFill/>
          <a:ln/>
        </p:spPr>
        <p:txBody>
          <a:bodyPr wrap="square" lIns="0" tIns="0" rIns="0" bIns="0" rtlCol="0" anchor="t"/>
          <a:lstStyle/>
          <a:p>
            <a:pPr marL="0" indent="0">
              <a:buNone/>
            </a:pPr>
            <a:r>
              <a:rPr lang="en-US" sz="1300" b="1" dirty="0">
                <a:solidFill>
                  <a:srgbClr val="FAFAFA"/>
                </a:solidFill>
              </a:rPr>
              <a:t>What it sees</a:t>
            </a:r>
            <a:endParaRPr lang="en-US" sz="1300" dirty="0"/>
          </a:p>
        </p:txBody>
      </p:sp>
      <p:sp>
        <p:nvSpPr>
          <p:cNvPr id="8" name="k-0-d"/>
          <p:cNvSpPr txBox="1"/>
          <p:nvPr/>
        </p:nvSpPr>
        <p:spPr>
          <a:xfrm>
            <a:off x="3520440" y="1307592"/>
            <a:ext cx="4983480" cy="365760"/>
          </a:xfrm>
          <a:prstGeom prst="rect">
            <a:avLst/>
          </a:prstGeom>
          <a:noFill/>
          <a:ln/>
        </p:spPr>
        <p:txBody>
          <a:bodyPr wrap="square" lIns="0" tIns="0" rIns="0" bIns="0" rtlCol="0" anchor="t"/>
          <a:lstStyle/>
          <a:p>
            <a:pPr marL="0" indent="0">
              <a:buNone/>
            </a:pPr>
            <a:r>
              <a:rPr lang="en-US" sz="1050" dirty="0">
                <a:solidFill>
                  <a:srgbClr val="A1A1AA"/>
                </a:solidFill>
              </a:rPr>
              <a:t>the camera view and both fly eyes, live next to the drone</a:t>
            </a:r>
            <a:endParaRPr lang="en-US" sz="1050" dirty="0"/>
          </a:p>
        </p:txBody>
      </p:sp>
      <p:sp>
        <p:nvSpPr>
          <p:cNvPr id="9" name="k-1"/>
          <p:cNvSpPr/>
          <p:nvPr/>
        </p:nvSpPr>
        <p:spPr>
          <a:xfrm>
            <a:off x="2926080" y="1746504"/>
            <a:ext cx="571500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0" name="k-1-n"/>
          <p:cNvSpPr txBox="1"/>
          <p:nvPr/>
        </p:nvSpPr>
        <p:spPr>
          <a:xfrm>
            <a:off x="3108960" y="1929384"/>
            <a:ext cx="32004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2</a:t>
            </a:r>
            <a:endParaRPr lang="en-US" sz="1800" dirty="0"/>
          </a:p>
        </p:txBody>
      </p:sp>
      <p:sp>
        <p:nvSpPr>
          <p:cNvPr id="11" name="k-1-h"/>
          <p:cNvSpPr txBox="1"/>
          <p:nvPr/>
        </p:nvSpPr>
        <p:spPr>
          <a:xfrm>
            <a:off x="3520440" y="1837944"/>
            <a:ext cx="4937760" cy="256032"/>
          </a:xfrm>
          <a:prstGeom prst="rect">
            <a:avLst/>
          </a:prstGeom>
          <a:noFill/>
          <a:ln/>
        </p:spPr>
        <p:txBody>
          <a:bodyPr wrap="square" lIns="0" tIns="0" rIns="0" bIns="0" rtlCol="0" anchor="t"/>
          <a:lstStyle/>
          <a:p>
            <a:pPr marL="0" indent="0">
              <a:buNone/>
            </a:pPr>
            <a:r>
              <a:rPr lang="en-US" sz="1300" b="1" dirty="0">
                <a:solidFill>
                  <a:srgbClr val="FAFAFA"/>
                </a:solidFill>
              </a:rPr>
              <a:t>Who steers</a:t>
            </a:r>
            <a:endParaRPr lang="en-US" sz="1300" dirty="0"/>
          </a:p>
        </p:txBody>
      </p:sp>
      <p:sp>
        <p:nvSpPr>
          <p:cNvPr id="12" name="k-1-d"/>
          <p:cNvSpPr txBox="1"/>
          <p:nvPr/>
        </p:nvSpPr>
        <p:spPr>
          <a:xfrm>
            <a:off x="3520440" y="2093976"/>
            <a:ext cx="4983480" cy="365760"/>
          </a:xfrm>
          <a:prstGeom prst="rect">
            <a:avLst/>
          </a:prstGeom>
          <a:noFill/>
          <a:ln/>
        </p:spPr>
        <p:txBody>
          <a:bodyPr wrap="square" lIns="0" tIns="0" rIns="0" bIns="0" rtlCol="0" anchor="t"/>
          <a:lstStyle/>
          <a:p>
            <a:pPr marL="0" indent="0">
              <a:buNone/>
            </a:pPr>
            <a:r>
              <a:rPr lang="en-US" sz="1050" dirty="0">
                <a:solidFill>
                  <a:srgbClr val="A1A1AA"/>
                </a:solidFill>
              </a:rPr>
              <a:t>live share of the heading from the fly brain vs GPS, and the final command</a:t>
            </a:r>
            <a:endParaRPr lang="en-US" sz="1050" dirty="0"/>
          </a:p>
        </p:txBody>
      </p:sp>
      <p:sp>
        <p:nvSpPr>
          <p:cNvPr id="13" name="k-2"/>
          <p:cNvSpPr/>
          <p:nvPr/>
        </p:nvSpPr>
        <p:spPr>
          <a:xfrm>
            <a:off x="2926080" y="2532888"/>
            <a:ext cx="571500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4" name="k-2-n"/>
          <p:cNvSpPr txBox="1"/>
          <p:nvPr/>
        </p:nvSpPr>
        <p:spPr>
          <a:xfrm>
            <a:off x="3108960" y="2715768"/>
            <a:ext cx="32004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3</a:t>
            </a:r>
            <a:endParaRPr lang="en-US" sz="1800" dirty="0"/>
          </a:p>
        </p:txBody>
      </p:sp>
      <p:sp>
        <p:nvSpPr>
          <p:cNvPr id="15" name="k-2-h"/>
          <p:cNvSpPr txBox="1"/>
          <p:nvPr/>
        </p:nvSpPr>
        <p:spPr>
          <a:xfrm>
            <a:off x="3520440" y="2624328"/>
            <a:ext cx="4937760" cy="256032"/>
          </a:xfrm>
          <a:prstGeom prst="rect">
            <a:avLst/>
          </a:prstGeom>
          <a:noFill/>
          <a:ln/>
        </p:spPr>
        <p:txBody>
          <a:bodyPr wrap="square" lIns="0" tIns="0" rIns="0" bIns="0" rtlCol="0" anchor="t"/>
          <a:lstStyle/>
          <a:p>
            <a:pPr marL="0" indent="0">
              <a:buNone/>
            </a:pPr>
            <a:r>
              <a:rPr lang="en-US" sz="1300" b="1" dirty="0">
                <a:solidFill>
                  <a:srgbClr val="FAFAFA"/>
                </a:solidFill>
              </a:rPr>
              <a:t>Why it turns</a:t>
            </a:r>
            <a:endParaRPr lang="en-US" sz="1300" dirty="0"/>
          </a:p>
        </p:txBody>
      </p:sp>
      <p:sp>
        <p:nvSpPr>
          <p:cNvPr id="16" name="k-2-d"/>
          <p:cNvSpPr txBox="1"/>
          <p:nvPr/>
        </p:nvSpPr>
        <p:spPr>
          <a:xfrm>
            <a:off x="3520440" y="2880360"/>
            <a:ext cx="4983480" cy="365760"/>
          </a:xfrm>
          <a:prstGeom prst="rect">
            <a:avLst/>
          </a:prstGeom>
          <a:noFill/>
          <a:ln/>
        </p:spPr>
        <p:txBody>
          <a:bodyPr wrap="square" lIns="0" tIns="0" rIns="0" bIns="0" rtlCol="0" anchor="t"/>
          <a:lstStyle/>
          <a:p>
            <a:pPr marL="0" indent="0">
              <a:buNone/>
            </a:pPr>
            <a:r>
              <a:rPr lang="en-US" sz="1050" dirty="0">
                <a:solidFill>
                  <a:srgbClr val="A1A1AA"/>
                </a:solidFill>
              </a:rPr>
              <a:t>each flight neuron's vote for left or right, from the real decoder weights</a:t>
            </a:r>
            <a:endParaRPr lang="en-US" sz="1050" dirty="0"/>
          </a:p>
        </p:txBody>
      </p:sp>
      <p:sp>
        <p:nvSpPr>
          <p:cNvPr id="17" name="k-3"/>
          <p:cNvSpPr/>
          <p:nvPr/>
        </p:nvSpPr>
        <p:spPr>
          <a:xfrm>
            <a:off x="2926080" y="3319272"/>
            <a:ext cx="571500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txBody>
          <a:bodyPr/>
          <a:lstStyle/>
          <a:p>
            <a:endParaRPr lang="pl-PL"/>
          </a:p>
        </p:txBody>
      </p:sp>
      <p:sp>
        <p:nvSpPr>
          <p:cNvPr id="18" name="k-3-n"/>
          <p:cNvSpPr txBox="1"/>
          <p:nvPr/>
        </p:nvSpPr>
        <p:spPr>
          <a:xfrm>
            <a:off x="3108960" y="3502152"/>
            <a:ext cx="32004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4</a:t>
            </a:r>
            <a:endParaRPr lang="en-US" sz="1800" dirty="0"/>
          </a:p>
        </p:txBody>
      </p:sp>
      <p:sp>
        <p:nvSpPr>
          <p:cNvPr id="19" name="k-3-h"/>
          <p:cNvSpPr txBox="1"/>
          <p:nvPr/>
        </p:nvSpPr>
        <p:spPr>
          <a:xfrm>
            <a:off x="3520440" y="3410712"/>
            <a:ext cx="4937760" cy="256032"/>
          </a:xfrm>
          <a:prstGeom prst="rect">
            <a:avLst/>
          </a:prstGeom>
          <a:noFill/>
          <a:ln/>
        </p:spPr>
        <p:txBody>
          <a:bodyPr wrap="square" lIns="0" tIns="0" rIns="0" bIns="0" rtlCol="0" anchor="t"/>
          <a:lstStyle/>
          <a:p>
            <a:pPr marL="0" indent="0">
              <a:buNone/>
            </a:pPr>
            <a:r>
              <a:rPr lang="en-US" sz="1300" b="1" dirty="0">
                <a:solidFill>
                  <a:srgbClr val="FAFAFA"/>
                </a:solidFill>
              </a:rPr>
              <a:t>Take over any time</a:t>
            </a:r>
            <a:endParaRPr lang="en-US" sz="1300" dirty="0"/>
          </a:p>
        </p:txBody>
      </p:sp>
      <p:sp>
        <p:nvSpPr>
          <p:cNvPr id="20" name="k-3-d"/>
          <p:cNvSpPr txBox="1"/>
          <p:nvPr/>
        </p:nvSpPr>
        <p:spPr>
          <a:xfrm>
            <a:off x="3520440" y="3666744"/>
            <a:ext cx="4983480" cy="365760"/>
          </a:xfrm>
          <a:prstGeom prst="rect">
            <a:avLst/>
          </a:prstGeom>
          <a:noFill/>
          <a:ln/>
        </p:spPr>
        <p:txBody>
          <a:bodyPr wrap="square" lIns="0" tIns="0" rIns="0" bIns="0" rtlCol="0" anchor="t"/>
          <a:lstStyle/>
          <a:p>
            <a:pPr marL="0" indent="0">
              <a:buNone/>
            </a:pPr>
            <a:r>
              <a:rPr lang="en-US" sz="1050" dirty="0">
                <a:solidFill>
                  <a:srgbClr val="A1A1AA"/>
                </a:solidFill>
              </a:rPr>
              <a:t>fly by keyboard while the brain only watches; 3D explorer shows every neuron</a:t>
            </a:r>
            <a:endParaRPr lang="en-US" sz="1050" dirty="0"/>
          </a:p>
        </p:txBody>
      </p:sp>
      <p:sp>
        <p:nvSpPr>
          <p:cNvPr id="21" name="glossary-0"/>
          <p:cNvSpPr txBox="1"/>
          <p:nvPr/>
        </p:nvSpPr>
        <p:spPr>
          <a:xfrm>
            <a:off x="566928" y="4206240"/>
            <a:ext cx="2687479" cy="411480"/>
          </a:xfrm>
          <a:prstGeom prst="rect">
            <a:avLst/>
          </a:prstGeom>
          <a:noFill/>
          <a:ln/>
        </p:spPr>
        <p:txBody>
          <a:bodyPr wrap="square" lIns="0" tIns="0" rIns="0" bIns="0" rtlCol="0" anchor="t"/>
          <a:lstStyle/>
          <a:p>
            <a:pPr marL="0" indent="0">
              <a:buNone/>
            </a:pPr>
            <a:r>
              <a:rPr lang="en-US" sz="900" b="1" dirty="0">
                <a:solidFill>
                  <a:srgbClr val="A1A1AA"/>
                </a:solidFill>
              </a:rPr>
              <a:t>Left:</a:t>
            </a:r>
            <a:r>
              <a:rPr lang="en-US" sz="900" dirty="0">
                <a:solidFill>
                  <a:srgbClr val="71717A"/>
                </a:solidFill>
              </a:rPr>
              <a:t> live BANC panel in flight</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RESULTS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WHAT WE BUILT</a:t>
            </a:r>
            <a:r>
              <a:rPr lang="pl-PL" sz="1600" kern="0" spc="100" dirty="0">
                <a:solidFill>
                  <a:srgbClr val="FAFAFA"/>
                </a:solidFill>
                <a:latin typeface="Michroma" pitchFamily="34" charset="0"/>
                <a:ea typeface="Michroma" pitchFamily="34" charset="-122"/>
                <a:cs typeface="Michroma" pitchFamily="34" charset="-120"/>
              </a:rPr>
              <a:t> DURING HACKYEAH</a:t>
            </a:r>
            <a:endParaRPr lang="en-US" sz="1600" dirty="0"/>
          </a:p>
        </p:txBody>
      </p:sp>
      <p:graphicFrame>
        <p:nvGraphicFramePr>
          <p:cNvPr id="5" name="chart-nostab"/>
          <p:cNvGraphicFramePr/>
          <p:nvPr>
            <p:extLst>
              <p:ext uri="{D42A27DB-BD31-4B8C-83A1-F6EECF244321}">
                <p14:modId xmlns:p14="http://schemas.microsoft.com/office/powerpoint/2010/main" val="3120891656"/>
              </p:ext>
            </p:extLst>
          </p:nvPr>
        </p:nvGraphicFramePr>
        <p:xfrm>
          <a:off x="411480" y="1143000"/>
          <a:ext cx="402336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9</a:t>
            </a:fld>
            <a:endParaRPr lang="en-US"/>
          </a:p>
        </p:txBody>
      </p:sp>
      <p:sp>
        <p:nvSpPr>
          <p:cNvPr id="22" name="shot-0-h">
            <a:extLst>
              <a:ext uri="{FF2B5EF4-FFF2-40B4-BE49-F238E27FC236}">
                <a16:creationId xmlns:a16="http://schemas.microsoft.com/office/drawing/2014/main" id="{A8CFA311-CBC6-081D-A390-41E6F559089E}"/>
              </a:ext>
            </a:extLst>
          </p:cNvPr>
          <p:cNvSpPr txBox="1"/>
          <p:nvPr/>
        </p:nvSpPr>
        <p:spPr>
          <a:xfrm>
            <a:off x="411480" y="2414016"/>
            <a:ext cx="2560320" cy="256032"/>
          </a:xfrm>
          <a:prstGeom prst="rect">
            <a:avLst/>
          </a:prstGeom>
          <a:noFill/>
        </p:spPr>
        <p:txBody>
          <a:bodyPr wrap="square" lIns="0" tIns="0" rIns="0" bIns="0" anchor="t">
            <a:spAutoFit/>
          </a:bodyPr>
          <a:lstStyle/>
          <a:p>
            <a:pPr algn="l"/>
            <a:r>
              <a:rPr sz="1200" b="0" dirty="0">
                <a:solidFill>
                  <a:srgbClr val="FF2D6F"/>
                </a:solidFill>
                <a:latin typeface="Roboto"/>
              </a:rPr>
              <a:t>1  </a:t>
            </a:r>
            <a:r>
              <a:rPr sz="1200" b="1" dirty="0">
                <a:solidFill>
                  <a:srgbClr val="FAFAFA"/>
                </a:solidFill>
                <a:latin typeface="Roboto"/>
              </a:rPr>
              <a:t>3D simulation and drone</a:t>
            </a:r>
          </a:p>
        </p:txBody>
      </p:sp>
      <p:sp>
        <p:nvSpPr>
          <p:cNvPr id="24" name="shot-0-d">
            <a:extLst>
              <a:ext uri="{FF2B5EF4-FFF2-40B4-BE49-F238E27FC236}">
                <a16:creationId xmlns:a16="http://schemas.microsoft.com/office/drawing/2014/main" id="{18B0E121-05B3-E9FC-4C73-1F1CCB14E205}"/>
              </a:ext>
            </a:extLst>
          </p:cNvPr>
          <p:cNvSpPr txBox="1"/>
          <p:nvPr/>
        </p:nvSpPr>
        <p:spPr>
          <a:xfrm>
            <a:off x="411480" y="2688336"/>
            <a:ext cx="2560320" cy="411480"/>
          </a:xfrm>
          <a:prstGeom prst="rect">
            <a:avLst/>
          </a:prstGeom>
          <a:noFill/>
        </p:spPr>
        <p:txBody>
          <a:bodyPr wrap="square" lIns="0" tIns="0" rIns="0" bIns="0" anchor="t">
            <a:spAutoFit/>
          </a:bodyPr>
          <a:lstStyle/>
          <a:p>
            <a:pPr algn="l"/>
            <a:r>
              <a:rPr sz="950" b="0" dirty="0" err="1">
                <a:solidFill>
                  <a:srgbClr val="A1A1AA"/>
                </a:solidFill>
                <a:latin typeface="Roboto"/>
              </a:rPr>
              <a:t>MuJoCo world with hills, blocks and wind, and an X2 drone that sees through two fly eyes</a:t>
            </a:r>
          </a:p>
        </p:txBody>
      </p:sp>
      <p:sp>
        <p:nvSpPr>
          <p:cNvPr id="29" name="shot-1-h">
            <a:extLst>
              <a:ext uri="{FF2B5EF4-FFF2-40B4-BE49-F238E27FC236}">
                <a16:creationId xmlns:a16="http://schemas.microsoft.com/office/drawing/2014/main" id="{868A0EA9-81D1-3939-11DD-572552C22894}"/>
              </a:ext>
            </a:extLst>
          </p:cNvPr>
          <p:cNvSpPr txBox="1"/>
          <p:nvPr/>
        </p:nvSpPr>
        <p:spPr>
          <a:xfrm>
            <a:off x="3246120" y="2414016"/>
            <a:ext cx="2560320" cy="256032"/>
          </a:xfrm>
          <a:prstGeom prst="rect">
            <a:avLst/>
          </a:prstGeom>
          <a:noFill/>
        </p:spPr>
        <p:txBody>
          <a:bodyPr wrap="square" lIns="0" tIns="0" rIns="0" bIns="0" anchor="t">
            <a:spAutoFit/>
          </a:bodyPr>
          <a:lstStyle/>
          <a:p>
            <a:pPr algn="l"/>
            <a:r>
              <a:rPr sz="1200" b="0" dirty="0">
                <a:solidFill>
                  <a:srgbClr val="FF2D6F"/>
                </a:solidFill>
                <a:latin typeface="Roboto"/>
              </a:rPr>
              <a:t>2  </a:t>
            </a:r>
            <a:r>
              <a:rPr sz="1200" b="1" dirty="0">
                <a:solidFill>
                  <a:srgbClr val="FAFAFA"/>
                </a:solidFill>
                <a:latin typeface="Roboto"/>
              </a:rPr>
              <a:t>Complete neural pipeline</a:t>
            </a:r>
          </a:p>
        </p:txBody>
      </p:sp>
      <p:sp>
        <p:nvSpPr>
          <p:cNvPr id="31" name="shot-1-d">
            <a:extLst>
              <a:ext uri="{FF2B5EF4-FFF2-40B4-BE49-F238E27FC236}">
                <a16:creationId xmlns:a16="http://schemas.microsoft.com/office/drawing/2014/main" id="{96C7AAE7-BC76-A168-FE92-1251D9FD4B30}"/>
              </a:ext>
            </a:extLst>
          </p:cNvPr>
          <p:cNvSpPr txBox="1"/>
          <p:nvPr/>
        </p:nvSpPr>
        <p:spPr>
          <a:xfrm>
            <a:off x="3246120" y="2688336"/>
            <a:ext cx="2560320" cy="411480"/>
          </a:xfrm>
          <a:prstGeom prst="rect">
            <a:avLst/>
          </a:prstGeom>
          <a:noFill/>
        </p:spPr>
        <p:txBody>
          <a:bodyPr wrap="square" lIns="0" tIns="0" rIns="0" bIns="0" anchor="t">
            <a:spAutoFit/>
          </a:bodyPr>
          <a:lstStyle/>
          <a:p>
            <a:pPr algn="l"/>
            <a:r>
              <a:rPr sz="950" b="0" dirty="0">
                <a:solidFill>
                  <a:srgbClr val="A1A1AA"/>
                </a:solidFill>
                <a:latin typeface="Roboto"/>
              </a:rPr>
              <a:t>camera, fly eye, FlyVis, all 175,401 BANC neurons, decoder and drone in one closed loop</a:t>
            </a:r>
          </a:p>
        </p:txBody>
      </p:sp>
      <p:sp>
        <p:nvSpPr>
          <p:cNvPr id="33" name="shot-2-h">
            <a:extLst>
              <a:ext uri="{FF2B5EF4-FFF2-40B4-BE49-F238E27FC236}">
                <a16:creationId xmlns:a16="http://schemas.microsoft.com/office/drawing/2014/main" id="{28857E90-81DC-0714-3A6D-D828A35B8D18}"/>
              </a:ext>
            </a:extLst>
          </p:cNvPr>
          <p:cNvSpPr txBox="1"/>
          <p:nvPr/>
        </p:nvSpPr>
        <p:spPr>
          <a:xfrm>
            <a:off x="6080760" y="2414016"/>
            <a:ext cx="2560320" cy="256032"/>
          </a:xfrm>
          <a:prstGeom prst="rect">
            <a:avLst/>
          </a:prstGeom>
          <a:noFill/>
        </p:spPr>
        <p:txBody>
          <a:bodyPr wrap="square" lIns="0" tIns="0" rIns="0" bIns="0" anchor="t">
            <a:spAutoFit/>
          </a:bodyPr>
          <a:lstStyle/>
          <a:p>
            <a:pPr algn="l"/>
            <a:r>
              <a:rPr sz="1200" b="0" dirty="0">
                <a:solidFill>
                  <a:srgbClr val="FF2D6F"/>
                </a:solidFill>
                <a:latin typeface="Roboto"/>
              </a:rPr>
              <a:t>3  </a:t>
            </a:r>
            <a:r>
              <a:rPr sz="1200" b="1" dirty="0">
                <a:solidFill>
                  <a:srgbClr val="FAFAFA"/>
                </a:solidFill>
                <a:latin typeface="Roboto"/>
              </a:rPr>
              <a:t>Connectome explorer in </a:t>
            </a:r>
            <a:r>
              <a:rPr lang="pl-PL" sz="1200" b="1" dirty="0">
                <a:solidFill>
                  <a:srgbClr val="FAFAFA"/>
                </a:solidFill>
                <a:latin typeface="Roboto"/>
              </a:rPr>
              <a:t>browser</a:t>
            </a:r>
            <a:endParaRPr sz="1200" b="1" dirty="0">
              <a:solidFill>
                <a:srgbClr val="FAFAFA"/>
              </a:solidFill>
              <a:latin typeface="Roboto"/>
            </a:endParaRPr>
          </a:p>
        </p:txBody>
      </p:sp>
      <p:sp>
        <p:nvSpPr>
          <p:cNvPr id="35" name="shot-2-d">
            <a:extLst>
              <a:ext uri="{FF2B5EF4-FFF2-40B4-BE49-F238E27FC236}">
                <a16:creationId xmlns:a16="http://schemas.microsoft.com/office/drawing/2014/main" id="{349397B3-E703-0B43-4172-041DDBC15580}"/>
              </a:ext>
            </a:extLst>
          </p:cNvPr>
          <p:cNvSpPr txBox="1"/>
          <p:nvPr/>
        </p:nvSpPr>
        <p:spPr>
          <a:xfrm>
            <a:off x="6080760" y="2688336"/>
            <a:ext cx="2560320" cy="411480"/>
          </a:xfrm>
          <a:prstGeom prst="rect">
            <a:avLst/>
          </a:prstGeom>
          <a:noFill/>
        </p:spPr>
        <p:txBody>
          <a:bodyPr wrap="square" lIns="0" tIns="0" rIns="0" bIns="0" anchor="t">
            <a:spAutoFit/>
          </a:bodyPr>
          <a:lstStyle/>
          <a:p>
            <a:pPr algn="l"/>
            <a:r>
              <a:rPr sz="950" b="0">
                <a:solidFill>
                  <a:srgbClr val="A1A1AA"/>
                </a:solidFill>
                <a:latin typeface="Roboto"/>
              </a:rPr>
              <a:t>a web page to explore the connectome and sort out the neuron types we needed</a:t>
            </a:r>
          </a:p>
        </p:txBody>
      </p:sp>
      <p:pic>
        <p:nvPicPr>
          <p:cNvPr id="39" name="Picture 38">
            <a:extLst>
              <a:ext uri="{FF2B5EF4-FFF2-40B4-BE49-F238E27FC236}">
                <a16:creationId xmlns:a16="http://schemas.microsoft.com/office/drawing/2014/main" id="{02D0E501-5EF9-35B4-8C3C-974B4EC425C2}"/>
              </a:ext>
            </a:extLst>
          </p:cNvPr>
          <p:cNvPicPr>
            <a:picLocks noChangeAspect="1"/>
          </p:cNvPicPr>
          <p:nvPr/>
        </p:nvPicPr>
        <p:blipFill>
          <a:blip r:embed="rId4"/>
          <a:stretch>
            <a:fillRect/>
          </a:stretch>
        </p:blipFill>
        <p:spPr>
          <a:xfrm>
            <a:off x="6080760" y="1097280"/>
            <a:ext cx="2250411" cy="1188720"/>
          </a:xfrm>
          <a:prstGeom prst="rect">
            <a:avLst/>
          </a:prstGeom>
        </p:spPr>
      </p:pic>
      <p:pic>
        <p:nvPicPr>
          <p:cNvPr id="41" name="Picture 40">
            <a:extLst>
              <a:ext uri="{FF2B5EF4-FFF2-40B4-BE49-F238E27FC236}">
                <a16:creationId xmlns:a16="http://schemas.microsoft.com/office/drawing/2014/main" id="{3CD9689D-7D7B-DB40-C67A-7EE19D0B0FCE}"/>
              </a:ext>
            </a:extLst>
          </p:cNvPr>
          <p:cNvPicPr>
            <a:picLocks noChangeAspect="1"/>
          </p:cNvPicPr>
          <p:nvPr/>
        </p:nvPicPr>
        <p:blipFill>
          <a:blip r:embed="rId5"/>
          <a:stretch>
            <a:fillRect/>
          </a:stretch>
        </p:blipFill>
        <p:spPr>
          <a:xfrm>
            <a:off x="411480" y="1097280"/>
            <a:ext cx="2057633" cy="1188720"/>
          </a:xfrm>
          <a:prstGeom prst="rect">
            <a:avLst/>
          </a:prstGeom>
        </p:spPr>
      </p:pic>
      <p:pic>
        <p:nvPicPr>
          <p:cNvPr id="43" name="Picture 42">
            <a:extLst>
              <a:ext uri="{FF2B5EF4-FFF2-40B4-BE49-F238E27FC236}">
                <a16:creationId xmlns:a16="http://schemas.microsoft.com/office/drawing/2014/main" id="{FB9C3714-F9C3-5268-847D-80444BD716B2}"/>
              </a:ext>
            </a:extLst>
          </p:cNvPr>
          <p:cNvPicPr>
            <a:picLocks noChangeAspect="1"/>
          </p:cNvPicPr>
          <p:nvPr/>
        </p:nvPicPr>
        <p:blipFill>
          <a:blip r:embed="rId6"/>
          <a:srcRect t="7345" b="3835"/>
          <a:stretch>
            <a:fillRect/>
          </a:stretch>
        </p:blipFill>
        <p:spPr>
          <a:xfrm>
            <a:off x="3246120" y="1097280"/>
            <a:ext cx="1932164" cy="1188720"/>
          </a:xfrm>
          <a:prstGeom prst="rect">
            <a:avLst/>
          </a:prstGeom>
        </p:spPr>
      </p:pic>
      <p:sp>
        <p:nvSpPr>
          <p:cNvPr id="45" name="TextBox 44">
            <a:extLst>
              <a:ext uri="{FF2B5EF4-FFF2-40B4-BE49-F238E27FC236}">
                <a16:creationId xmlns:a16="http://schemas.microsoft.com/office/drawing/2014/main" id="{6C819405-2FBB-EB1C-FAD4-1AC8D4359CFC}"/>
              </a:ext>
            </a:extLst>
          </p:cNvPr>
          <p:cNvSpPr txBox="1"/>
          <p:nvPr/>
        </p:nvSpPr>
        <p:spPr>
          <a:xfrm>
            <a:off x="3929986" y="4594788"/>
            <a:ext cx="4160520" cy="369332"/>
          </a:xfrm>
          <a:prstGeom prst="rect">
            <a:avLst/>
          </a:prstGeom>
          <a:noFill/>
        </p:spPr>
        <p:txBody>
          <a:bodyPr wrap="square">
            <a:spAutoFit/>
          </a:bodyPr>
          <a:lstStyle/>
          <a:p>
            <a:pPr algn="l"/>
            <a:r>
              <a:rPr lang="pl-PL" sz="900" b="1" dirty="0">
                <a:solidFill>
                  <a:srgbClr val="FAFAFA"/>
                </a:solidFill>
                <a:latin typeface="Roboto"/>
              </a:rPr>
              <a:t>Project based on open-source repos: </a:t>
            </a:r>
            <a:r>
              <a:rPr lang="pl-PL" sz="900" b="0" dirty="0">
                <a:solidFill>
                  <a:srgbClr val="A1A1AA"/>
                </a:solidFill>
                <a:latin typeface="Roboto"/>
              </a:rPr>
              <a:t>BANC v888 (Bates et al. 2026), FlyVis, FlyGym, MuJoCo with the Skydio X2 model, PyTorch, Next.js, three.js. </a:t>
            </a:r>
          </a:p>
        </p:txBody>
      </p:sp>
      <p:sp>
        <p:nvSpPr>
          <p:cNvPr id="46" name="train-h"/>
          <p:cNvSpPr txBox="1"/>
          <p:nvPr/>
        </p:nvSpPr>
        <p:spPr>
          <a:xfrm>
            <a:off x="411480" y="3246120"/>
            <a:ext cx="8229600" cy="274320"/>
          </a:xfrm>
          <a:prstGeom prst="rect">
            <a:avLst/>
          </a:prstGeom>
          <a:noFill/>
        </p:spPr>
        <p:txBody>
          <a:bodyPr wrap="square" lIns="0" tIns="0" rIns="0" bIns="0" anchor="t">
            <a:spAutoFit/>
          </a:bodyPr>
          <a:lstStyle/>
          <a:p>
            <a:r>
              <a:rPr sz="1450" b="0">
                <a:solidFill>
                  <a:srgbClr val="FF2D6F"/>
                </a:solidFill>
                <a:latin typeface="Roboto"/>
              </a:rPr>
              <a:t>4  </a:t>
            </a:r>
            <a:r>
              <a:rPr sz="1450" b="1">
                <a:solidFill>
                  <a:srgbClr val="FAFAFA"/>
                </a:solidFill>
                <a:latin typeface="Roboto"/>
              </a:rPr>
              <a:t>Three models, more autonomy each time</a:t>
            </a:r>
          </a:p>
        </p:txBody>
      </p:sp>
      <p:sp>
        <p:nvSpPr>
          <p:cNvPr id="47" name="train-d"/>
          <p:cNvSpPr txBox="1"/>
          <p:nvPr/>
        </p:nvSpPr>
        <p:spPr>
          <a:xfrm>
            <a:off x="411480" y="3538728"/>
            <a:ext cx="8229600" cy="228600"/>
          </a:xfrm>
          <a:prstGeom prst="rect">
            <a:avLst/>
          </a:prstGeom>
          <a:noFill/>
        </p:spPr>
        <p:txBody>
          <a:bodyPr wrap="square" lIns="0" tIns="0" rIns="0" bIns="0" anchor="t">
            <a:spAutoFit/>
          </a:bodyPr>
          <a:lstStyle/>
          <a:p>
            <a:r>
              <a:rPr sz="1050" b="0">
                <a:solidFill>
                  <a:srgbClr val="A1A1AA"/>
                </a:solidFill>
                <a:latin typeface="Roboto"/>
              </a:rPr>
              <a:t>Each model took over more of the flight than the one before, all trained on two GPUs in parallel (RTX 4060 + RTX 3070 Ti).</a:t>
            </a:r>
          </a:p>
        </p:txBody>
      </p:sp>
      <p:sp>
        <p:nvSpPr>
          <p:cNvPr id="48" name="train-0"/>
          <p:cNvSpPr/>
          <p:nvPr/>
        </p:nvSpPr>
        <p:spPr>
          <a:xfrm>
            <a:off x="411480" y="3822191"/>
            <a:ext cx="2560320" cy="676656"/>
          </a:xfrm>
          <a:prstGeom prst="rect">
            <a:avLst/>
          </a:prstGeom>
          <a:solidFill>
            <a:srgbClr val="18181B"/>
          </a:solidFill>
          <a:ln w="9525">
            <a:solidFill>
              <a:srgbClr val="3F3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rain-0-d"/>
          <p:cNvSpPr txBox="1"/>
          <p:nvPr/>
        </p:nvSpPr>
        <p:spPr>
          <a:xfrm>
            <a:off x="557784" y="3895344"/>
            <a:ext cx="2267712" cy="530352"/>
          </a:xfrm>
          <a:prstGeom prst="rect">
            <a:avLst/>
          </a:prstGeom>
          <a:noFill/>
        </p:spPr>
        <p:txBody>
          <a:bodyPr wrap="square" lIns="0" tIns="0" rIns="0" bIns="0" anchor="ctr">
            <a:spAutoFit/>
          </a:bodyPr>
          <a:lstStyle/>
          <a:p>
            <a:r>
              <a:rPr sz="950" b="0" dirty="0">
                <a:solidFill>
                  <a:srgbClr val="A1A1AA"/>
                </a:solidFill>
                <a:latin typeface="Roboto"/>
              </a:rPr>
              <a:t>hangs in the air and turns its nose toward the target</a:t>
            </a:r>
          </a:p>
        </p:txBody>
      </p:sp>
      <p:sp>
        <p:nvSpPr>
          <p:cNvPr id="56" name="train-2"/>
          <p:cNvSpPr/>
          <p:nvPr/>
        </p:nvSpPr>
        <p:spPr>
          <a:xfrm>
            <a:off x="3246120" y="3822191"/>
            <a:ext cx="2560320" cy="676656"/>
          </a:xfrm>
          <a:prstGeom prst="rect">
            <a:avLst/>
          </a:prstGeom>
          <a:solidFill>
            <a:srgbClr val="18181B"/>
          </a:solidFill>
          <a:ln w="9525">
            <a:solidFill>
              <a:srgbClr val="3F3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rain-2-d"/>
          <p:cNvSpPr txBox="1"/>
          <p:nvPr/>
        </p:nvSpPr>
        <p:spPr>
          <a:xfrm>
            <a:off x="3392424" y="3895344"/>
            <a:ext cx="2267712" cy="530352"/>
          </a:xfrm>
          <a:prstGeom prst="rect">
            <a:avLst/>
          </a:prstGeom>
          <a:noFill/>
        </p:spPr>
        <p:txBody>
          <a:bodyPr wrap="square" lIns="0" tIns="0" rIns="0" bIns="0" anchor="ctr">
            <a:spAutoFit/>
          </a:bodyPr>
          <a:lstStyle/>
          <a:p>
            <a:r>
              <a:rPr sz="950" b="0" dirty="0">
                <a:solidFill>
                  <a:srgbClr val="A1A1AA"/>
                </a:solidFill>
                <a:latin typeface="Roboto"/>
              </a:rPr>
              <a:t>flies through a new random world to the target, guided by GPS from afar</a:t>
            </a:r>
          </a:p>
        </p:txBody>
      </p:sp>
      <p:sp>
        <p:nvSpPr>
          <p:cNvPr id="60" name="train-3"/>
          <p:cNvSpPr/>
          <p:nvPr/>
        </p:nvSpPr>
        <p:spPr>
          <a:xfrm>
            <a:off x="6080760" y="3822191"/>
            <a:ext cx="2560320" cy="676656"/>
          </a:xfrm>
          <a:prstGeom prst="rect">
            <a:avLst/>
          </a:prstGeom>
          <a:solidFill>
            <a:srgbClr val="18181B"/>
          </a:solidFill>
          <a:ln w="9525">
            <a:solidFill>
              <a:srgbClr val="FF2D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rain-3-d"/>
          <p:cNvSpPr txBox="1"/>
          <p:nvPr/>
        </p:nvSpPr>
        <p:spPr>
          <a:xfrm>
            <a:off x="6227064" y="3895344"/>
            <a:ext cx="2267712" cy="530352"/>
          </a:xfrm>
          <a:prstGeom prst="rect">
            <a:avLst/>
          </a:prstGeom>
          <a:noFill/>
        </p:spPr>
        <p:txBody>
          <a:bodyPr wrap="square" lIns="0" tIns="0" rIns="0" bIns="0" anchor="ctr">
            <a:spAutoFit/>
          </a:bodyPr>
          <a:lstStyle/>
          <a:p>
            <a:r>
              <a:rPr sz="950" b="0" dirty="0">
                <a:solidFill>
                  <a:srgbClr val="A1A1AA"/>
                </a:solidFill>
                <a:latin typeface="Roboto"/>
              </a:rPr>
              <a:t>height and speed from the fly brain alone, no drone sensors, blocks on the way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lose-1"/>
          <p:cNvSpPr txBox="1"/>
          <p:nvPr/>
        </p:nvSpPr>
        <p:spPr>
          <a:xfrm>
            <a:off x="548640" y="411480"/>
            <a:ext cx="8046720" cy="411480"/>
          </a:xfrm>
          <a:prstGeom prst="rect">
            <a:avLst/>
          </a:prstGeom>
          <a:noFill/>
          <a:ln/>
        </p:spPr>
        <p:txBody>
          <a:bodyPr wrap="square" lIns="0" tIns="0" rIns="0" bIns="0" rtlCol="0" anchor="t"/>
          <a:lstStyle/>
          <a:p>
            <a:pPr marL="0" indent="0">
              <a:buNone/>
            </a:pPr>
            <a:r>
              <a:rPr lang="en-US" sz="2000" kern="0" spc="100" dirty="0">
                <a:solidFill>
                  <a:srgbClr val="FAFAFA"/>
                </a:solidFill>
                <a:latin typeface="Michroma" pitchFamily="34" charset="0"/>
                <a:ea typeface="Michroma" pitchFamily="34" charset="-122"/>
                <a:cs typeface="Michroma" pitchFamily="34" charset="-120"/>
              </a:rPr>
              <a:t>FROM A FLY'S VISUAL WORLD</a:t>
            </a:r>
            <a:endParaRPr lang="en-US" sz="2000" dirty="0"/>
          </a:p>
        </p:txBody>
      </p:sp>
      <p:sp>
        <p:nvSpPr>
          <p:cNvPr id="3" name="close-2"/>
          <p:cNvSpPr txBox="1"/>
          <p:nvPr/>
        </p:nvSpPr>
        <p:spPr>
          <a:xfrm>
            <a:off x="548640" y="804672"/>
            <a:ext cx="8046720" cy="411480"/>
          </a:xfrm>
          <a:prstGeom prst="rect">
            <a:avLst/>
          </a:prstGeom>
          <a:noFill/>
          <a:ln/>
        </p:spPr>
        <p:txBody>
          <a:bodyPr wrap="square" lIns="0" tIns="0" rIns="0" bIns="0" rtlCol="0" anchor="t"/>
          <a:lstStyle/>
          <a:p>
            <a:pPr marL="0" indent="0">
              <a:buNone/>
            </a:pPr>
            <a:r>
              <a:rPr lang="en-US" sz="2000" kern="0" spc="100" dirty="0">
                <a:solidFill>
                  <a:srgbClr val="FF2D6F"/>
                </a:solidFill>
                <a:latin typeface="Michroma" pitchFamily="34" charset="0"/>
                <a:ea typeface="Michroma" pitchFamily="34" charset="-122"/>
                <a:cs typeface="Michroma" pitchFamily="34" charset="-120"/>
              </a:rPr>
              <a:t>TO AUTONOMOUS NAVIGATION</a:t>
            </a:r>
            <a:endParaRPr lang="en-US" sz="2000" dirty="0"/>
          </a:p>
        </p:txBody>
      </p:sp>
      <p:sp>
        <p:nvSpPr>
          <p:cNvPr id="8" name="members">
            <a:extLst>
              <a:ext uri="{FF2B5EF4-FFF2-40B4-BE49-F238E27FC236}">
                <a16:creationId xmlns:a16="http://schemas.microsoft.com/office/drawing/2014/main" id="{9F9C521B-A186-393C-A29E-0DC59218FD6E}"/>
              </a:ext>
            </a:extLst>
          </p:cNvPr>
          <p:cNvSpPr txBox="1"/>
          <p:nvPr/>
        </p:nvSpPr>
        <p:spPr>
          <a:xfrm>
            <a:off x="411480" y="4088247"/>
            <a:ext cx="4023360" cy="274320"/>
          </a:xfrm>
          <a:prstGeom prst="rect">
            <a:avLst/>
          </a:prstGeom>
          <a:noFill/>
          <a:ln/>
        </p:spPr>
        <p:txBody>
          <a:bodyPr wrap="square" lIns="0" tIns="0" rIns="0" bIns="0" rtlCol="0" anchor="t"/>
          <a:lstStyle/>
          <a:p>
            <a:pPr marL="0" indent="0">
              <a:buNone/>
            </a:pPr>
            <a:r>
              <a:rPr lang="en-US" sz="1000" dirty="0">
                <a:solidFill>
                  <a:srgbClr val="FAFAFA"/>
                </a:solidFill>
              </a:rPr>
              <a:t>Team the Roook</a:t>
            </a:r>
            <a:endParaRPr lang="en-US" sz="1100" dirty="0"/>
          </a:p>
        </p:txBody>
      </p:sp>
      <p:sp>
        <p:nvSpPr>
          <p:cNvPr id="22" name="repo">
            <a:hlinkClick r:id="rId3"/>
            <a:extLst>
              <a:ext uri="{FF2B5EF4-FFF2-40B4-BE49-F238E27FC236}">
                <a16:creationId xmlns:a16="http://schemas.microsoft.com/office/drawing/2014/main" id="{1D855647-FBAC-231C-FCA8-4662F6370338}"/>
              </a:ext>
            </a:extLst>
          </p:cNvPr>
          <p:cNvSpPr txBox="1"/>
          <p:nvPr/>
        </p:nvSpPr>
        <p:spPr>
          <a:xfrm>
            <a:off x="411480" y="4572879"/>
            <a:ext cx="5486400" cy="274320"/>
          </a:xfrm>
          <a:prstGeom prst="rect">
            <a:avLst/>
          </a:prstGeom>
          <a:noFill/>
          <a:ln/>
        </p:spPr>
        <p:txBody>
          <a:bodyPr wrap="square" lIns="0" tIns="0" rIns="0" bIns="0" rtlCol="0" anchor="t"/>
          <a:lstStyle/>
          <a:p>
            <a:pPr marL="0" indent="0">
              <a:buNone/>
            </a:pPr>
            <a:r>
              <a:rPr lang="en-US" sz="1000" u="sng" kern="0" spc="400" dirty="0">
                <a:solidFill>
                  <a:srgbClr val="FF2D6F"/>
                </a:solidFill>
                <a:hlinkClick r:id="rId3">
                  <a:extLst>
                    <a:ext uri="{A12FA001-AC4F-418D-AE19-62706E023703}">
                      <ahyp:hlinkClr xmlns:ahyp="http://schemas.microsoft.com/office/drawing/2018/hyperlinkcolor" val="tx"/>
                    </a:ext>
                  </a:extLst>
                </a:hlinkClick>
              </a:rPr>
              <a:t>GITHUB.COM/FALCONDEVX/NEUROFLY</a:t>
            </a:r>
            <a:endParaRPr lang="en-US" sz="1000" dirty="0"/>
          </a:p>
        </p:txBody>
      </p:sp>
      <p:pic>
        <p:nvPicPr>
          <p:cNvPr id="5" name="logo" descr="C:\NeuroFly\docs\prezentacja\assets\logo.png">
            <a:extLst>
              <a:ext uri="{FF2B5EF4-FFF2-40B4-BE49-F238E27FC236}">
                <a16:creationId xmlns:a16="http://schemas.microsoft.com/office/drawing/2014/main" id="{A1A2BD16-DD2D-01D0-15EB-48A01F8EE1EF}"/>
              </a:ext>
            </a:extLst>
          </p:cNvPr>
          <p:cNvPicPr>
            <a:picLocks noChangeAspect="1"/>
          </p:cNvPicPr>
          <p:nvPr/>
        </p:nvPicPr>
        <p:blipFill>
          <a:blip r:embed="rId4"/>
          <a:stretch>
            <a:fillRect/>
          </a:stretch>
        </p:blipFill>
        <p:spPr>
          <a:xfrm>
            <a:off x="7028571" y="3646433"/>
            <a:ext cx="1962622" cy="1157947"/>
          </a:xfrm>
          <a:prstGeom prst="rect">
            <a:avLst/>
          </a:prstGeom>
        </p:spPr>
      </p:pic>
      <p:sp>
        <p:nvSpPr>
          <p:cNvPr id="23" name="team-0-k"/>
          <p:cNvSpPr txBox="1"/>
          <p:nvPr/>
        </p:nvSpPr>
        <p:spPr>
          <a:xfrm>
            <a:off x="548640" y="2103120"/>
            <a:ext cx="2103120" cy="182880"/>
          </a:xfrm>
          <a:prstGeom prst="rect">
            <a:avLst/>
          </a:prstGeom>
          <a:noFill/>
        </p:spPr>
        <p:txBody>
          <a:bodyPr wrap="square" lIns="0" tIns="0" rIns="0" bIns="0" anchor="t">
            <a:spAutoFit/>
          </a:bodyPr>
          <a:lstStyle/>
          <a:p>
            <a:r>
              <a:rPr sz="800" b="0" spc="500">
                <a:solidFill>
                  <a:srgbClr val="FF2D6F"/>
                </a:solidFill>
                <a:latin typeface="Roboto"/>
              </a:rPr>
              <a:t>THE EYES</a:t>
            </a:r>
          </a:p>
        </p:txBody>
      </p:sp>
      <p:sp>
        <p:nvSpPr>
          <p:cNvPr id="24" name="team-0-n"/>
          <p:cNvSpPr txBox="1"/>
          <p:nvPr/>
        </p:nvSpPr>
        <p:spPr>
          <a:xfrm>
            <a:off x="548640" y="2331720"/>
            <a:ext cx="2103120" cy="274320"/>
          </a:xfrm>
          <a:prstGeom prst="rect">
            <a:avLst/>
          </a:prstGeom>
          <a:noFill/>
        </p:spPr>
        <p:txBody>
          <a:bodyPr wrap="square" lIns="0" tIns="0" rIns="0" bIns="0" anchor="t">
            <a:spAutoFit/>
          </a:bodyPr>
          <a:lstStyle/>
          <a:p>
            <a:r>
              <a:rPr sz="1400" b="1">
                <a:solidFill>
                  <a:srgbClr val="FAFAFA"/>
                </a:solidFill>
                <a:latin typeface="Roboto"/>
              </a:rPr>
              <a:t>Dawid Wypych</a:t>
            </a:r>
          </a:p>
        </p:txBody>
      </p:sp>
      <p:sp>
        <p:nvSpPr>
          <p:cNvPr id="25" name="team-0-d"/>
          <p:cNvSpPr txBox="1"/>
          <p:nvPr/>
        </p:nvSpPr>
        <p:spPr>
          <a:xfrm>
            <a:off x="548640" y="2651760"/>
            <a:ext cx="2103120" cy="228600"/>
          </a:xfrm>
          <a:prstGeom prst="rect">
            <a:avLst/>
          </a:prstGeom>
          <a:noFill/>
        </p:spPr>
        <p:txBody>
          <a:bodyPr wrap="square" lIns="0" tIns="0" rIns="0" bIns="0" anchor="t">
            <a:spAutoFit/>
          </a:bodyPr>
          <a:lstStyle/>
          <a:p>
            <a:r>
              <a:rPr sz="1000" b="0">
                <a:solidFill>
                  <a:srgbClr val="A1A1AA"/>
                </a:solidFill>
                <a:latin typeface="Roboto"/>
              </a:rPr>
              <a:t>camera, fly eye, FlyVis</a:t>
            </a:r>
          </a:p>
        </p:txBody>
      </p:sp>
      <p:sp>
        <p:nvSpPr>
          <p:cNvPr id="26" name="team-1-k"/>
          <p:cNvSpPr txBox="1"/>
          <p:nvPr/>
        </p:nvSpPr>
        <p:spPr>
          <a:xfrm>
            <a:off x="2788920" y="2103120"/>
            <a:ext cx="2103120" cy="182880"/>
          </a:xfrm>
          <a:prstGeom prst="rect">
            <a:avLst/>
          </a:prstGeom>
          <a:noFill/>
        </p:spPr>
        <p:txBody>
          <a:bodyPr wrap="square" lIns="0" tIns="0" rIns="0" bIns="0" anchor="t">
            <a:spAutoFit/>
          </a:bodyPr>
          <a:lstStyle/>
          <a:p>
            <a:r>
              <a:rPr sz="800" b="0" spc="500">
                <a:solidFill>
                  <a:srgbClr val="FF2D6F"/>
                </a:solidFill>
                <a:latin typeface="Roboto"/>
              </a:rPr>
              <a:t>THE BRAIN</a:t>
            </a:r>
          </a:p>
        </p:txBody>
      </p:sp>
      <p:sp>
        <p:nvSpPr>
          <p:cNvPr id="27" name="team-1-n"/>
          <p:cNvSpPr txBox="1"/>
          <p:nvPr/>
        </p:nvSpPr>
        <p:spPr>
          <a:xfrm>
            <a:off x="2788920" y="2331720"/>
            <a:ext cx="2103120" cy="274320"/>
          </a:xfrm>
          <a:prstGeom prst="rect">
            <a:avLst/>
          </a:prstGeom>
          <a:noFill/>
        </p:spPr>
        <p:txBody>
          <a:bodyPr wrap="square" lIns="0" tIns="0" rIns="0" bIns="0" anchor="t">
            <a:spAutoFit/>
          </a:bodyPr>
          <a:lstStyle/>
          <a:p>
            <a:r>
              <a:rPr sz="1400" b="1">
                <a:solidFill>
                  <a:srgbClr val="FAFAFA"/>
                </a:solidFill>
                <a:latin typeface="Roboto"/>
              </a:rPr>
              <a:t>Mateusz Nowaczek</a:t>
            </a:r>
          </a:p>
        </p:txBody>
      </p:sp>
      <p:sp>
        <p:nvSpPr>
          <p:cNvPr id="28" name="team-1-d"/>
          <p:cNvSpPr txBox="1"/>
          <p:nvPr/>
        </p:nvSpPr>
        <p:spPr>
          <a:xfrm>
            <a:off x="2788920" y="2651760"/>
            <a:ext cx="2103120" cy="228600"/>
          </a:xfrm>
          <a:prstGeom prst="rect">
            <a:avLst/>
          </a:prstGeom>
          <a:noFill/>
        </p:spPr>
        <p:txBody>
          <a:bodyPr wrap="square" lIns="0" tIns="0" rIns="0" bIns="0" anchor="t">
            <a:spAutoFit/>
          </a:bodyPr>
          <a:lstStyle/>
          <a:p>
            <a:r>
              <a:rPr sz="1000" b="0">
                <a:solidFill>
                  <a:srgbClr val="A1A1AA"/>
                </a:solidFill>
                <a:latin typeface="Roboto"/>
              </a:rPr>
              <a:t>BANC on the GPU, decoders, training</a:t>
            </a:r>
          </a:p>
        </p:txBody>
      </p:sp>
      <p:sp>
        <p:nvSpPr>
          <p:cNvPr id="29" name="team-2-k"/>
          <p:cNvSpPr txBox="1"/>
          <p:nvPr/>
        </p:nvSpPr>
        <p:spPr>
          <a:xfrm>
            <a:off x="5609492" y="2103120"/>
            <a:ext cx="2103120" cy="182880"/>
          </a:xfrm>
          <a:prstGeom prst="rect">
            <a:avLst/>
          </a:prstGeom>
          <a:noFill/>
        </p:spPr>
        <p:txBody>
          <a:bodyPr wrap="square" lIns="0" tIns="0" rIns="0" bIns="0" anchor="t">
            <a:spAutoFit/>
          </a:bodyPr>
          <a:lstStyle/>
          <a:p>
            <a:r>
              <a:rPr sz="800" b="0" spc="500">
                <a:solidFill>
                  <a:srgbClr val="FF2D6F"/>
                </a:solidFill>
                <a:latin typeface="Roboto"/>
              </a:rPr>
              <a:t>THE BODY</a:t>
            </a:r>
          </a:p>
        </p:txBody>
      </p:sp>
      <p:sp>
        <p:nvSpPr>
          <p:cNvPr id="30" name="team-2-n"/>
          <p:cNvSpPr txBox="1"/>
          <p:nvPr/>
        </p:nvSpPr>
        <p:spPr>
          <a:xfrm>
            <a:off x="5609492" y="2331720"/>
            <a:ext cx="2103120" cy="274320"/>
          </a:xfrm>
          <a:prstGeom prst="rect">
            <a:avLst/>
          </a:prstGeom>
          <a:noFill/>
        </p:spPr>
        <p:txBody>
          <a:bodyPr wrap="square" lIns="0" tIns="0" rIns="0" bIns="0" anchor="t">
            <a:spAutoFit/>
          </a:bodyPr>
          <a:lstStyle/>
          <a:p>
            <a:r>
              <a:rPr sz="1400" b="1">
                <a:solidFill>
                  <a:srgbClr val="FAFAFA"/>
                </a:solidFill>
                <a:latin typeface="Roboto"/>
              </a:rPr>
              <a:t>Krzysztof Mazur</a:t>
            </a:r>
          </a:p>
        </p:txBody>
      </p:sp>
      <p:sp>
        <p:nvSpPr>
          <p:cNvPr id="31" name="team-2-d"/>
          <p:cNvSpPr txBox="1"/>
          <p:nvPr/>
        </p:nvSpPr>
        <p:spPr>
          <a:xfrm>
            <a:off x="5609492" y="2651760"/>
            <a:ext cx="2103120" cy="228600"/>
          </a:xfrm>
          <a:prstGeom prst="rect">
            <a:avLst/>
          </a:prstGeom>
          <a:noFill/>
        </p:spPr>
        <p:txBody>
          <a:bodyPr wrap="square" lIns="0" tIns="0" rIns="0" bIns="0" anchor="t">
            <a:spAutoFit/>
          </a:bodyPr>
          <a:lstStyle/>
          <a:p>
            <a:r>
              <a:rPr sz="1000" b="0">
                <a:solidFill>
                  <a:srgbClr val="A1A1AA"/>
                </a:solidFill>
                <a:latin typeface="Roboto"/>
              </a:rPr>
              <a:t>drone, 3D world, sensors</a:t>
            </a:r>
          </a:p>
        </p:txBody>
      </p:sp>
    </p:spTree>
  </p:cSld>
  <p:clrMapOvr>
    <a:masterClrMapping/>
  </p:clrMapOvr>
</p:sld>
</file>

<file path=ppt/theme/theme1.xml><?xml version="1.0" encoding="utf-8"?>
<a:theme xmlns:a="http://schemas.openxmlformats.org/drawingml/2006/main" name="NeuroFly">
  <a:themeElements>
    <a:clrScheme name="NeuroFly">
      <a:dk1>
        <a:srgbClr val="09090B"/>
      </a:dk1>
      <a:lt1>
        <a:srgbClr val="FAFAFA"/>
      </a:lt1>
      <a:dk2>
        <a:srgbClr val="18181B"/>
      </a:dk2>
      <a:lt2>
        <a:srgbClr val="A1A1AA"/>
      </a:lt2>
      <a:accent1>
        <a:srgbClr val="2FD3C4"/>
      </a:accent1>
      <a:accent2>
        <a:srgbClr val="FFB547"/>
      </a:accent2>
      <a:accent3>
        <a:srgbClr val="FF4FB0"/>
      </a:accent3>
      <a:accent4>
        <a:srgbClr val="4F8CFF"/>
      </a:accent4>
      <a:accent5>
        <a:srgbClr val="52525B"/>
      </a:accent5>
      <a:accent6>
        <a:srgbClr val="27272A"/>
      </a:accent6>
      <a:hlink>
        <a:srgbClr val="2FD3C4"/>
      </a:hlink>
      <a:folHlink>
        <a:srgbClr val="A1A1AA"/>
      </a:folHlink>
    </a:clrScheme>
    <a:fontScheme name="NeuroFly">
      <a:majorFont>
        <a:latin typeface="Michr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1762</Words>
  <Application>Microsoft Office PowerPoint</Application>
  <PresentationFormat>On-screen Show (16:9)</PresentationFormat>
  <Paragraphs>158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Abadi ExtraLight</vt:lpstr>
      <vt:lpstr>Arial</vt:lpstr>
      <vt:lpstr>Michroma</vt:lpstr>
      <vt:lpstr>Roboto</vt:lpstr>
      <vt:lpstr>Roboto Light</vt:lpstr>
      <vt:lpstr>NeuroFly</vt:lpstr>
      <vt:lpstr>PowerPoint Presentation</vt:lpstr>
      <vt:lpstr>WHY A FLY BRAIN?</vt:lpstr>
      <vt:lpstr>THE PROBLEM</vt:lpstr>
      <vt:lpstr>FROM A CAMERA FRAME TO A FLY'S VIEW</vt:lpstr>
      <vt:lpstr>HOW NEUROFLY WORKS IN SIMPLE TERMS</vt:lpstr>
      <vt:lpstr>WHAT KIND OF AI THIS IS</vt:lpstr>
      <vt:lpstr>USE CASE: REACH A TARGET SAFELY</vt:lpstr>
      <vt:lpstr>LIVE NEURON PANEL DURING AI FLIGHT</vt:lpstr>
      <vt:lpstr>WHAT WE BUILT DURING HACKYEAH</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NeuroFly — the brain of a fruit fly pilots a drone</dc:title>
  <dc:subject>PptxGenJS Presentation</dc:subject>
  <dc:creator>NeuroFly team</dc:creator>
  <cp:lastModifiedBy>Mateusz Nowaczek</cp:lastModifiedBy>
  <cp:revision>14</cp:revision>
  <dcterms:created xsi:type="dcterms:W3CDTF">2026-10-04T02:54:53Z</dcterms:created>
  <dcterms:modified xsi:type="dcterms:W3CDTF">2026-10-04T05:11:06Z</dcterms:modified>
</cp:coreProperties>
</file>