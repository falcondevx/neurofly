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stęp" id="{c27e2906-34f7-5fd0-9dcd-3af43b2920ea}">
          <p14:sldIdLst>
            <p14:sldId id="256"/>
            <p14:sldId id="257"/>
          </p14:sldIdLst>
        </p14:section>
        <p14:section name="Connectome" id="{453dfe89-57e8-71fb-d453-037f9e50055b}">
          <p14:sldIdLst>
            <p14:sldId id="258"/>
            <p14:sldId id="259"/>
          </p14:sldIdLst>
        </p14:section>
        <p14:section name="Architektura" id="{8f361dbf-9477-1b88-2467-f067bc746241}">
          <p14:sldIdLst>
            <p14:sldId id="260"/>
            <p14:sldId id="261"/>
            <p14:sldId id="262"/>
          </p14:sldIdLst>
        </p14:section>
        <p14:section name="Realizacja" id="{2d0ca7fb-d4f4-4d97-eac8-0064b2af32ae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Neurony</c:v>
                </c:pt>
              </c:strCache>
            </c:strRef>
          </c:tx>
          <c:spPr>
            <a:solidFill>
              <a:srgbClr val="6B5844"/>
            </a:solidFill>
            <a:effectLst/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211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Płaty wzrokowe</c:v>
                  </c:pt>
                  <c:pt idx="1">
                    <c:v>Projekcje wzrokowe</c:v>
                  </c:pt>
                  <c:pt idx="2">
                    <c:v>Mózg centralny</c:v>
                  </c:pt>
                  <c:pt idx="3">
                    <c:v>Neurony zstępujące (DN)</c:v>
                  </c:pt>
                  <c:pt idx="4">
                    <c:v>VNC</c:v>
                  </c:pt>
                  <c:pt idx="5">
                    <c:v>Motoneurony skrzydeł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72947</c:v>
                </c:pt>
                <c:pt idx="1">
                  <c:v>7316</c:v>
                </c:pt>
                <c:pt idx="2">
                  <c:v>31879</c:v>
                </c:pt>
                <c:pt idx="3">
                  <c:v>1316</c:v>
                </c:pt>
                <c:pt idx="4">
                  <c:v>12866</c:v>
                </c:pt>
                <c:pt idx="5">
                  <c:v>62</c:v>
                </c:pt>
              </c:numCache>
            </c:numRef>
          </c:val>
        </c:ser>
        <c:dLbls>
          <c:numFmt formatCode="# ##0" sourceLinked="0"/>
          <c:txPr>
            <a:bodyPr/>
            <a:lstStyle/>
            <a:p>
              <a:pPr>
                <a:defRPr b="0" i="0" strike="noStrike" sz="1100" u="none">
                  <a:solidFill>
                    <a:srgbClr val="2B211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211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NeuroFly: bierzemy prawdziwy connectome muszki owocowej (BANC) i każemy mu sterować symulowanym dronem. Obraz z kamery drona trafia do modelu wzroku muszki, sygnał płynie przez jej mózg i rdzeń do motoneuronów skrzydeł, a stamtąd do silników drona.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Pętla jest zamknięta: to, jak dron poleci, zmienia następną klatkę z kamery. Nie ma tu ręcznie napisanego autopilota w środku. Decyzje przechodzą przez graf neuronów muszki.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Liczby pochodzą prosto z plików BANC 888, które mamy w repo. Do symulacji odcinamy słabe połączenia: zostawiamy krawędzie z co najmniej 5 synapsami, czyli około 1,6 miliona.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Słupki idą w kolejności przepływu sygnału. Dziesiątki tysięcy neuronów wzrokowych, potem około 1300 neuronów zstępujących, które łączą mózg z VNC, a na końcu tylko 62 motoneurony skrzydeł. Z tych 62 odczytujemy sterowanie.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Podział jest czysty: każda osoba ma swój moduł i komunikuje się z sąsiadem przez jeden kontrakt danych. Dzięki stubom (FakeVision, ToyDrone) każdy moduł da się testować samodzielnie, zanim połączymy całość.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mapowanie jest umowne, ale oparte na tym, jak muszka naprawdę steruje lotem: amplituda daje siłę, asymetria daje przechył, a przesunięcie płaszczyzny uderzenia daje pochylenie i obrót. Haltery to biologiczny żyroskop, a IMU drona wchodzi dokładnie w to miejsce.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Mamy trzy poziomy ambicji. Plan A uczy się z nagrody, Plan B to prosta regresja, Plan C to ręczne strojenie, które działa zawsze. Ważne: nie zmieniamy wag w connectome. Cała plastyczność jest w małym dekoderze, więc zachowanie wynika z prawdziwej sieci muszki.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Kolejność jest celowa: najpierw cała pętla działa na stubach i Planie C, dopiero potem bierzemy się za uczenie. Jeśli Plan A nie ustabilizuje się do 9. godziny, przechodzimy na B albo C i spokojnie przygotowujemy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Największe ryzyko to niezgodne identyfikatory neuronów między modułami, bo root ID zmieniają się po proofreadingu. Dlatego wszyscy pracujemy na jednej wersji BANC i liczymy, ile neuronów się nie dopasowało.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koniec pokazujemy nagranie: dron zawisa i leci do beacona, a obok widać na żywo aktywność motoneuronów skrzydeł, które tym sterują.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B2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Tytuł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47548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Podtytuł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Tytuł</a:t>
            </a: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NeuroFly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84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84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NeuroFly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Connectome muszki owocowej pilotuje drona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Hackathon, zespół 3 osób</a:t>
            </a:r>
            <a:endParaRPr lang="en-US" sz="1400" dirty="0"/>
          </a:p>
        </p:txBody>
      </p:sp>
      <p:sp>
        <p:nvSpPr>
          <p:cNvPr id="5" name="omatidium 0,0"/>
          <p:cNvSpPr/>
          <p:nvPr/>
        </p:nvSpPr>
        <p:spPr>
          <a:xfrm>
            <a:off x="5486400" y="320040"/>
            <a:ext cx="658368" cy="581924"/>
          </a:xfrm>
          <a:prstGeom prst="hexagon">
            <a:avLst/>
          </a:prstGeom>
          <a:solidFill>
            <a:srgbClr val="3E3122"/>
          </a:solidFill>
          <a:ln/>
        </p:spPr>
      </p:sp>
      <p:sp>
        <p:nvSpPr>
          <p:cNvPr id="6" name="omatidium 0,1"/>
          <p:cNvSpPr/>
          <p:nvPr/>
        </p:nvSpPr>
        <p:spPr>
          <a:xfrm>
            <a:off x="5486400" y="947684"/>
            <a:ext cx="658368" cy="581924"/>
          </a:xfrm>
          <a:prstGeom prst="hexagon">
            <a:avLst/>
          </a:prstGeom>
          <a:solidFill>
            <a:srgbClr val="3E3122"/>
          </a:solidFill>
          <a:ln/>
        </p:spPr>
      </p:sp>
      <p:sp>
        <p:nvSpPr>
          <p:cNvPr id="7" name="omatidium 0,2"/>
          <p:cNvSpPr/>
          <p:nvPr/>
        </p:nvSpPr>
        <p:spPr>
          <a:xfrm>
            <a:off x="5486400" y="1575328"/>
            <a:ext cx="658368" cy="581924"/>
          </a:xfrm>
          <a:prstGeom prst="hexagon">
            <a:avLst/>
          </a:prstGeom>
          <a:solidFill>
            <a:srgbClr val="3E3122"/>
          </a:solidFill>
          <a:ln/>
        </p:spPr>
      </p:sp>
      <p:sp>
        <p:nvSpPr>
          <p:cNvPr id="8" name="omatidium 0,3"/>
          <p:cNvSpPr/>
          <p:nvPr/>
        </p:nvSpPr>
        <p:spPr>
          <a:xfrm>
            <a:off x="5486400" y="2202972"/>
            <a:ext cx="658368" cy="581924"/>
          </a:xfrm>
          <a:prstGeom prst="hexagon">
            <a:avLst/>
          </a:prstGeom>
          <a:solidFill>
            <a:srgbClr val="3E3122"/>
          </a:solidFill>
          <a:ln/>
        </p:spPr>
      </p:sp>
      <p:sp>
        <p:nvSpPr>
          <p:cNvPr id="9" name="omatidium 0,4"/>
          <p:cNvSpPr/>
          <p:nvPr/>
        </p:nvSpPr>
        <p:spPr>
          <a:xfrm>
            <a:off x="5486400" y="2830617"/>
            <a:ext cx="658368" cy="581924"/>
          </a:xfrm>
          <a:prstGeom prst="hexagon">
            <a:avLst/>
          </a:prstGeom>
          <a:solidFill>
            <a:srgbClr val="3E3122"/>
          </a:solidFill>
          <a:ln/>
        </p:spPr>
      </p:sp>
      <p:sp>
        <p:nvSpPr>
          <p:cNvPr id="10" name="omatidium 1,0"/>
          <p:cNvSpPr/>
          <p:nvPr/>
        </p:nvSpPr>
        <p:spPr>
          <a:xfrm>
            <a:off x="6028456" y="633862"/>
            <a:ext cx="658368" cy="581924"/>
          </a:xfrm>
          <a:prstGeom prst="hexagon">
            <a:avLst/>
          </a:prstGeom>
          <a:solidFill>
            <a:srgbClr val="3E3122"/>
          </a:solidFill>
          <a:ln/>
        </p:spPr>
      </p:sp>
      <p:sp>
        <p:nvSpPr>
          <p:cNvPr id="11" name="omatidium 1,1"/>
          <p:cNvSpPr/>
          <p:nvPr/>
        </p:nvSpPr>
        <p:spPr>
          <a:xfrm>
            <a:off x="6028456" y="1261506"/>
            <a:ext cx="658368" cy="581924"/>
          </a:xfrm>
          <a:prstGeom prst="hexagon">
            <a:avLst/>
          </a:prstGeom>
          <a:solidFill>
            <a:srgbClr val="3E3122"/>
          </a:solidFill>
          <a:ln/>
        </p:spPr>
      </p:sp>
      <p:sp>
        <p:nvSpPr>
          <p:cNvPr id="12" name="omatidium 1,2"/>
          <p:cNvSpPr/>
          <p:nvPr/>
        </p:nvSpPr>
        <p:spPr>
          <a:xfrm>
            <a:off x="6028456" y="1889150"/>
            <a:ext cx="658368" cy="581924"/>
          </a:xfrm>
          <a:prstGeom prst="hexagon">
            <a:avLst/>
          </a:prstGeom>
          <a:solidFill>
            <a:srgbClr val="3E3122"/>
          </a:solidFill>
          <a:ln/>
        </p:spPr>
      </p:sp>
      <p:sp>
        <p:nvSpPr>
          <p:cNvPr id="13" name="omatidium 1,3"/>
          <p:cNvSpPr/>
          <p:nvPr/>
        </p:nvSpPr>
        <p:spPr>
          <a:xfrm>
            <a:off x="6028456" y="2516795"/>
            <a:ext cx="658368" cy="581924"/>
          </a:xfrm>
          <a:prstGeom prst="hexagon">
            <a:avLst/>
          </a:prstGeom>
          <a:solidFill>
            <a:srgbClr val="7A1A22"/>
          </a:solidFill>
          <a:ln/>
        </p:spPr>
      </p:sp>
      <p:sp>
        <p:nvSpPr>
          <p:cNvPr id="14" name="omatidium 1,4"/>
          <p:cNvSpPr/>
          <p:nvPr/>
        </p:nvSpPr>
        <p:spPr>
          <a:xfrm>
            <a:off x="6028456" y="3144439"/>
            <a:ext cx="658368" cy="581924"/>
          </a:xfrm>
          <a:prstGeom prst="hexagon">
            <a:avLst/>
          </a:prstGeom>
          <a:solidFill>
            <a:srgbClr val="3E3122"/>
          </a:solidFill>
          <a:ln/>
        </p:spPr>
      </p:sp>
      <p:sp>
        <p:nvSpPr>
          <p:cNvPr id="15" name="omatidium 2,0"/>
          <p:cNvSpPr/>
          <p:nvPr/>
        </p:nvSpPr>
        <p:spPr>
          <a:xfrm>
            <a:off x="6570513" y="320040"/>
            <a:ext cx="658368" cy="581924"/>
          </a:xfrm>
          <a:prstGeom prst="hexagon">
            <a:avLst/>
          </a:prstGeom>
          <a:solidFill>
            <a:srgbClr val="3E3122"/>
          </a:solidFill>
          <a:ln/>
        </p:spPr>
      </p:sp>
      <p:sp>
        <p:nvSpPr>
          <p:cNvPr id="16" name="omatidium 2,1"/>
          <p:cNvSpPr/>
          <p:nvPr/>
        </p:nvSpPr>
        <p:spPr>
          <a:xfrm>
            <a:off x="6570513" y="947684"/>
            <a:ext cx="658368" cy="581924"/>
          </a:xfrm>
          <a:prstGeom prst="hexagon">
            <a:avLst/>
          </a:prstGeom>
          <a:solidFill>
            <a:srgbClr val="7A1A22"/>
          </a:solidFill>
          <a:ln/>
        </p:spPr>
      </p:sp>
      <p:sp>
        <p:nvSpPr>
          <p:cNvPr id="17" name="omatidium 2,2"/>
          <p:cNvSpPr/>
          <p:nvPr/>
        </p:nvSpPr>
        <p:spPr>
          <a:xfrm>
            <a:off x="6570513" y="1575328"/>
            <a:ext cx="658368" cy="581924"/>
          </a:xfrm>
          <a:prstGeom prst="hexagon">
            <a:avLst/>
          </a:prstGeom>
          <a:solidFill>
            <a:srgbClr val="B3122E"/>
          </a:solidFill>
          <a:ln/>
        </p:spPr>
      </p:sp>
      <p:pic>
        <p:nvPicPr>
          <p:cNvPr id="18" name="muszk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6817" y="1685056"/>
            <a:ext cx="402336" cy="402336"/>
          </a:xfrm>
          <a:prstGeom prst="rect">
            <a:avLst/>
          </a:prstGeom>
        </p:spPr>
      </p:pic>
      <p:sp>
        <p:nvSpPr>
          <p:cNvPr id="19" name="omatidium 2,3"/>
          <p:cNvSpPr/>
          <p:nvPr/>
        </p:nvSpPr>
        <p:spPr>
          <a:xfrm>
            <a:off x="6570513" y="2202972"/>
            <a:ext cx="658368" cy="581924"/>
          </a:xfrm>
          <a:prstGeom prst="hexagon">
            <a:avLst/>
          </a:prstGeom>
          <a:solidFill>
            <a:srgbClr val="3E3122"/>
          </a:solidFill>
          <a:ln/>
        </p:spPr>
      </p:sp>
      <p:sp>
        <p:nvSpPr>
          <p:cNvPr id="20" name="omatidium 2,4"/>
          <p:cNvSpPr/>
          <p:nvPr/>
        </p:nvSpPr>
        <p:spPr>
          <a:xfrm>
            <a:off x="6570513" y="2830617"/>
            <a:ext cx="658368" cy="581924"/>
          </a:xfrm>
          <a:prstGeom prst="hexagon">
            <a:avLst/>
          </a:prstGeom>
          <a:solidFill>
            <a:srgbClr val="3E3122"/>
          </a:solidFill>
          <a:ln/>
        </p:spPr>
      </p:sp>
      <p:sp>
        <p:nvSpPr>
          <p:cNvPr id="21" name="omatidium 3,0"/>
          <p:cNvSpPr/>
          <p:nvPr/>
        </p:nvSpPr>
        <p:spPr>
          <a:xfrm>
            <a:off x="7112569" y="633862"/>
            <a:ext cx="658368" cy="581924"/>
          </a:xfrm>
          <a:prstGeom prst="hexagon">
            <a:avLst/>
          </a:prstGeom>
          <a:solidFill>
            <a:srgbClr val="7A1A22"/>
          </a:solidFill>
          <a:ln/>
        </p:spPr>
      </p:sp>
      <p:sp>
        <p:nvSpPr>
          <p:cNvPr id="22" name="omatidium 3,1"/>
          <p:cNvSpPr/>
          <p:nvPr/>
        </p:nvSpPr>
        <p:spPr>
          <a:xfrm>
            <a:off x="7112569" y="1261506"/>
            <a:ext cx="658368" cy="581924"/>
          </a:xfrm>
          <a:prstGeom prst="hexagon">
            <a:avLst/>
          </a:prstGeom>
          <a:solidFill>
            <a:srgbClr val="3E3122"/>
          </a:solidFill>
          <a:ln/>
        </p:spPr>
      </p:sp>
      <p:sp>
        <p:nvSpPr>
          <p:cNvPr id="23" name="omatidium 3,2"/>
          <p:cNvSpPr/>
          <p:nvPr/>
        </p:nvSpPr>
        <p:spPr>
          <a:xfrm>
            <a:off x="7112569" y="1889150"/>
            <a:ext cx="658368" cy="581924"/>
          </a:xfrm>
          <a:prstGeom prst="hexagon">
            <a:avLst/>
          </a:prstGeom>
          <a:solidFill>
            <a:srgbClr val="7A1A22"/>
          </a:solidFill>
          <a:ln/>
        </p:spPr>
      </p:sp>
      <p:sp>
        <p:nvSpPr>
          <p:cNvPr id="24" name="omatidium 3,3"/>
          <p:cNvSpPr/>
          <p:nvPr/>
        </p:nvSpPr>
        <p:spPr>
          <a:xfrm>
            <a:off x="7112569" y="2516795"/>
            <a:ext cx="658368" cy="581924"/>
          </a:xfrm>
          <a:prstGeom prst="hexagon">
            <a:avLst/>
          </a:prstGeom>
          <a:solidFill>
            <a:srgbClr val="3E3122"/>
          </a:solidFill>
          <a:ln/>
        </p:spPr>
      </p:sp>
      <p:sp>
        <p:nvSpPr>
          <p:cNvPr id="25" name="omatidium 3,4"/>
          <p:cNvSpPr/>
          <p:nvPr/>
        </p:nvSpPr>
        <p:spPr>
          <a:xfrm>
            <a:off x="7112569" y="3144439"/>
            <a:ext cx="658368" cy="581924"/>
          </a:xfrm>
          <a:prstGeom prst="hexagon">
            <a:avLst/>
          </a:prstGeom>
          <a:solidFill>
            <a:srgbClr val="3E3122"/>
          </a:solidFill>
          <a:ln/>
        </p:spPr>
      </p:sp>
      <p:sp>
        <p:nvSpPr>
          <p:cNvPr id="26" name="omatidium 4,0"/>
          <p:cNvSpPr/>
          <p:nvPr/>
        </p:nvSpPr>
        <p:spPr>
          <a:xfrm>
            <a:off x="7654625" y="320040"/>
            <a:ext cx="658368" cy="581924"/>
          </a:xfrm>
          <a:prstGeom prst="hexagon">
            <a:avLst/>
          </a:prstGeom>
          <a:solidFill>
            <a:srgbClr val="3E3122"/>
          </a:solidFill>
          <a:ln/>
        </p:spPr>
      </p:sp>
      <p:sp>
        <p:nvSpPr>
          <p:cNvPr id="27" name="omatidium 4,1"/>
          <p:cNvSpPr/>
          <p:nvPr/>
        </p:nvSpPr>
        <p:spPr>
          <a:xfrm>
            <a:off x="7654625" y="947684"/>
            <a:ext cx="658368" cy="581924"/>
          </a:xfrm>
          <a:prstGeom prst="hexagon">
            <a:avLst/>
          </a:prstGeom>
          <a:solidFill>
            <a:srgbClr val="7A1A22"/>
          </a:solidFill>
          <a:ln/>
        </p:spPr>
      </p:sp>
      <p:sp>
        <p:nvSpPr>
          <p:cNvPr id="28" name="omatidium 4,2"/>
          <p:cNvSpPr/>
          <p:nvPr/>
        </p:nvSpPr>
        <p:spPr>
          <a:xfrm>
            <a:off x="7654625" y="1575328"/>
            <a:ext cx="658368" cy="581924"/>
          </a:xfrm>
          <a:prstGeom prst="hexagon">
            <a:avLst/>
          </a:prstGeom>
          <a:solidFill>
            <a:srgbClr val="3E3122"/>
          </a:solidFill>
          <a:ln/>
        </p:spPr>
      </p:sp>
      <p:sp>
        <p:nvSpPr>
          <p:cNvPr id="29" name="omatidium 4,3"/>
          <p:cNvSpPr/>
          <p:nvPr/>
        </p:nvSpPr>
        <p:spPr>
          <a:xfrm>
            <a:off x="7654625" y="2202972"/>
            <a:ext cx="658368" cy="581924"/>
          </a:xfrm>
          <a:prstGeom prst="hexagon">
            <a:avLst/>
          </a:prstGeom>
          <a:solidFill>
            <a:srgbClr val="3E3122"/>
          </a:solidFill>
          <a:ln/>
        </p:spPr>
      </p:sp>
      <p:sp>
        <p:nvSpPr>
          <p:cNvPr id="30" name="omatidium 4,4"/>
          <p:cNvSpPr/>
          <p:nvPr/>
        </p:nvSpPr>
        <p:spPr>
          <a:xfrm>
            <a:off x="7654625" y="2830617"/>
            <a:ext cx="658368" cy="581924"/>
          </a:xfrm>
          <a:prstGeom prst="hexagon">
            <a:avLst/>
          </a:prstGeom>
          <a:solidFill>
            <a:srgbClr val="3E3122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Jedna zamknięta pętla: od piksela do śmigła</a:t>
            </a:r>
            <a:endParaRPr lang="en-US" sz="2800" dirty="0"/>
          </a:p>
        </p:txBody>
      </p:sp>
      <p:sp>
        <p:nvSpPr>
          <p:cNvPr id="3" name="krok 1 hex"/>
          <p:cNvSpPr/>
          <p:nvPr/>
        </p:nvSpPr>
        <p:spPr>
          <a:xfrm>
            <a:off x="763524" y="1554480"/>
            <a:ext cx="868680" cy="764438"/>
          </a:xfrm>
          <a:prstGeom prst="hexagon">
            <a:avLst/>
          </a:prstGeom>
          <a:solidFill>
            <a:srgbClr val="6B5844"/>
          </a:solidFill>
          <a:ln/>
        </p:spPr>
      </p:sp>
      <p:pic>
        <p:nvPicPr>
          <p:cNvPr id="4" name="krok 1 ik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0694" y="1719529"/>
            <a:ext cx="434340" cy="4343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24231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Kamera RGB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12724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obraz z drona w Gazebo</a:t>
            </a:r>
            <a:endParaRPr lang="en-US" sz="1200" dirty="0"/>
          </a:p>
        </p:txBody>
      </p:sp>
      <p:sp>
        <p:nvSpPr>
          <p:cNvPr id="7" name="strzałka 1"/>
          <p:cNvSpPr/>
          <p:nvPr/>
        </p:nvSpPr>
        <p:spPr>
          <a:xfrm>
            <a:off x="1828800" y="1938528"/>
            <a:ext cx="420624" cy="0"/>
          </a:xfrm>
          <a:prstGeom prst="line">
            <a:avLst/>
          </a:prstGeom>
          <a:noFill/>
          <a:ln w="19050">
            <a:solidFill>
              <a:srgbClr val="9C8E80"/>
            </a:solidFill>
            <a:prstDash val="solid"/>
            <a:tailEnd type="triangle"/>
          </a:ln>
        </p:spPr>
      </p:sp>
      <p:sp>
        <p:nvSpPr>
          <p:cNvPr id="8" name="krok 2 hex"/>
          <p:cNvSpPr/>
          <p:nvPr/>
        </p:nvSpPr>
        <p:spPr>
          <a:xfrm>
            <a:off x="2446020" y="1554480"/>
            <a:ext cx="868680" cy="764438"/>
          </a:xfrm>
          <a:prstGeom prst="hexagon">
            <a:avLst/>
          </a:prstGeom>
          <a:solidFill>
            <a:srgbClr val="6B5844"/>
          </a:solidFill>
          <a:ln/>
        </p:spPr>
      </p:sp>
      <p:pic>
        <p:nvPicPr>
          <p:cNvPr id="9" name="krok 2 ik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3190" y="1719529"/>
            <a:ext cx="434340" cy="4343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139696" y="24231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Retina + FlyVis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2139696" y="312724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model oka i płatów wzrokowych</a:t>
            </a:r>
            <a:endParaRPr lang="en-US" sz="1200" dirty="0"/>
          </a:p>
        </p:txBody>
      </p:sp>
      <p:sp>
        <p:nvSpPr>
          <p:cNvPr id="12" name="strzałka 2"/>
          <p:cNvSpPr/>
          <p:nvPr/>
        </p:nvSpPr>
        <p:spPr>
          <a:xfrm>
            <a:off x="3511296" y="1938528"/>
            <a:ext cx="420624" cy="0"/>
          </a:xfrm>
          <a:prstGeom prst="line">
            <a:avLst/>
          </a:prstGeom>
          <a:noFill/>
          <a:ln w="19050">
            <a:solidFill>
              <a:srgbClr val="9C8E80"/>
            </a:solidFill>
            <a:prstDash val="solid"/>
            <a:tailEnd type="triangle"/>
          </a:ln>
        </p:spPr>
      </p:sp>
      <p:sp>
        <p:nvSpPr>
          <p:cNvPr id="13" name="krok 3 hex"/>
          <p:cNvSpPr/>
          <p:nvPr/>
        </p:nvSpPr>
        <p:spPr>
          <a:xfrm>
            <a:off x="4128516" y="1554480"/>
            <a:ext cx="868680" cy="764438"/>
          </a:xfrm>
          <a:prstGeom prst="hexagon">
            <a:avLst/>
          </a:prstGeom>
          <a:solidFill>
            <a:srgbClr val="B3122E"/>
          </a:solidFill>
          <a:ln/>
        </p:spPr>
      </p:sp>
      <p:pic>
        <p:nvPicPr>
          <p:cNvPr id="14" name="krok 3 ikon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5686" y="1719529"/>
            <a:ext cx="434340" cy="43434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822192" y="24231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Connectome BANC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3822192" y="312724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mózg + VNC, dynamika rate</a:t>
            </a:r>
            <a:endParaRPr lang="en-US" sz="1200" dirty="0"/>
          </a:p>
        </p:txBody>
      </p:sp>
      <p:sp>
        <p:nvSpPr>
          <p:cNvPr id="17" name="strzałka 3"/>
          <p:cNvSpPr/>
          <p:nvPr/>
        </p:nvSpPr>
        <p:spPr>
          <a:xfrm>
            <a:off x="5193792" y="1938528"/>
            <a:ext cx="420624" cy="0"/>
          </a:xfrm>
          <a:prstGeom prst="line">
            <a:avLst/>
          </a:prstGeom>
          <a:noFill/>
          <a:ln w="19050">
            <a:solidFill>
              <a:srgbClr val="9C8E80"/>
            </a:solidFill>
            <a:prstDash val="solid"/>
            <a:tailEnd type="triangle"/>
          </a:ln>
        </p:spPr>
      </p:sp>
      <p:sp>
        <p:nvSpPr>
          <p:cNvPr id="18" name="krok 4 hex"/>
          <p:cNvSpPr/>
          <p:nvPr/>
        </p:nvSpPr>
        <p:spPr>
          <a:xfrm>
            <a:off x="5811012" y="1554480"/>
            <a:ext cx="868680" cy="764438"/>
          </a:xfrm>
          <a:prstGeom prst="hexagon">
            <a:avLst/>
          </a:prstGeom>
          <a:solidFill>
            <a:srgbClr val="6B5844"/>
          </a:solidFill>
          <a:ln/>
        </p:spPr>
      </p:sp>
      <p:pic>
        <p:nvPicPr>
          <p:cNvPr id="19" name="krok 4 ik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8182" y="1719529"/>
            <a:ext cx="434340" cy="4343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504688" y="24231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Motoneurony skrzydeł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5504688" y="312724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6 grup → 4 komendy lotu</a:t>
            </a:r>
            <a:endParaRPr lang="en-US" sz="1200" dirty="0"/>
          </a:p>
        </p:txBody>
      </p:sp>
      <p:sp>
        <p:nvSpPr>
          <p:cNvPr id="22" name="strzałka 4"/>
          <p:cNvSpPr/>
          <p:nvPr/>
        </p:nvSpPr>
        <p:spPr>
          <a:xfrm>
            <a:off x="6876288" y="1938528"/>
            <a:ext cx="420624" cy="0"/>
          </a:xfrm>
          <a:prstGeom prst="line">
            <a:avLst/>
          </a:prstGeom>
          <a:noFill/>
          <a:ln w="19050">
            <a:solidFill>
              <a:srgbClr val="9C8E80"/>
            </a:solidFill>
            <a:prstDash val="solid"/>
            <a:tailEnd type="triangle"/>
          </a:ln>
        </p:spPr>
      </p:sp>
      <p:sp>
        <p:nvSpPr>
          <p:cNvPr id="23" name="krok 5 hex"/>
          <p:cNvSpPr/>
          <p:nvPr/>
        </p:nvSpPr>
        <p:spPr>
          <a:xfrm>
            <a:off x="7493508" y="1554480"/>
            <a:ext cx="868680" cy="764438"/>
          </a:xfrm>
          <a:prstGeom prst="hexagon">
            <a:avLst/>
          </a:prstGeom>
          <a:solidFill>
            <a:srgbClr val="6B5844"/>
          </a:solidFill>
          <a:ln/>
        </p:spPr>
      </p:sp>
      <p:pic>
        <p:nvPicPr>
          <p:cNvPr id="24" name="krok 5 ikon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0678" y="1719529"/>
            <a:ext cx="434340" cy="43434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187184" y="24231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Dron w Gazebo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7187184" y="312724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fizyka, IMU, nowa klatka</a:t>
            </a:r>
            <a:endParaRPr lang="en-US" sz="1200" dirty="0"/>
          </a:p>
        </p:txBody>
      </p:sp>
      <p:sp>
        <p:nvSpPr>
          <p:cNvPr id="27" name="powrót 1"/>
          <p:cNvSpPr/>
          <p:nvPr/>
        </p:nvSpPr>
        <p:spPr>
          <a:xfrm>
            <a:off x="7927848" y="3566160"/>
            <a:ext cx="0" cy="228600"/>
          </a:xfrm>
          <a:prstGeom prst="line">
            <a:avLst/>
          </a:prstGeom>
          <a:noFill/>
          <a:ln w="19050">
            <a:solidFill>
              <a:srgbClr val="B3122E"/>
            </a:solidFill>
            <a:prstDash val="solid"/>
          </a:ln>
        </p:spPr>
      </p:sp>
      <p:sp>
        <p:nvSpPr>
          <p:cNvPr id="28" name="powrót 2"/>
          <p:cNvSpPr/>
          <p:nvPr/>
        </p:nvSpPr>
        <p:spPr>
          <a:xfrm>
            <a:off x="1197864" y="3794760"/>
            <a:ext cx="6729984" cy="0"/>
          </a:xfrm>
          <a:prstGeom prst="line">
            <a:avLst/>
          </a:prstGeom>
          <a:noFill/>
          <a:ln w="19050">
            <a:solidFill>
              <a:srgbClr val="B3122E"/>
            </a:solidFill>
            <a:prstDash val="solid"/>
          </a:ln>
        </p:spPr>
      </p:sp>
      <p:sp>
        <p:nvSpPr>
          <p:cNvPr id="29" name="powrót 3"/>
          <p:cNvSpPr/>
          <p:nvPr/>
        </p:nvSpPr>
        <p:spPr>
          <a:xfrm>
            <a:off x="1197864" y="3566160"/>
            <a:ext cx="0" cy="228600"/>
          </a:xfrm>
          <a:prstGeom prst="line">
            <a:avLst/>
          </a:prstGeom>
          <a:noFill/>
          <a:ln w="19050">
            <a:solidFill>
              <a:srgbClr val="B3122E"/>
            </a:solidFill>
            <a:prstDash val="solid"/>
            <a:headEnd type="triangle"/>
          </a:ln>
        </p:spPr>
      </p:sp>
      <p:sp>
        <p:nvSpPr>
          <p:cNvPr id="30" name="Text 23"/>
          <p:cNvSpPr txBox="1"/>
          <p:nvPr/>
        </p:nvSpPr>
        <p:spPr>
          <a:xfrm>
            <a:off x="1828800" y="3931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1"/>
                </a:solidFill>
              </a:rPr>
              <a:t>lot zmienia to, co widzi kamera, więc pętla domyka się w każdej klatce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84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BANC: cały układ nerwowy w jednym grafie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Mózg i brzuszny łańcuch nerwowy (VNC) w jednym connectome. Droga od oka do skrzydła nie ma przerw, więc możemy ją symulować wprost.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206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Dane: BANC, materializacja 888</a:t>
            </a:r>
            <a:endParaRPr lang="en-US" sz="1100" dirty="0"/>
          </a:p>
        </p:txBody>
      </p:sp>
      <p:sp>
        <p:nvSpPr>
          <p:cNvPr id="5" name="stat 1 tło"/>
          <p:cNvSpPr/>
          <p:nvPr/>
        </p:nvSpPr>
        <p:spPr>
          <a:xfrm>
            <a:off x="3931920" y="1097280"/>
            <a:ext cx="4754880" cy="987552"/>
          </a:xfrm>
          <a:prstGeom prst="roundRect">
            <a:avLst>
              <a:gd name="adj" fmla="val 7407"/>
            </a:avLst>
          </a:prstGeom>
          <a:solidFill>
            <a:srgbClr val="F1EF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114800" y="1188720"/>
            <a:ext cx="2286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188 508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6446520" y="12527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neuronów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158191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z czego 805 to motoneurony</a:t>
            </a:r>
            <a:endParaRPr lang="en-US" sz="1100" dirty="0"/>
          </a:p>
        </p:txBody>
      </p:sp>
      <p:sp>
        <p:nvSpPr>
          <p:cNvPr id="9" name="stat 2 tło"/>
          <p:cNvSpPr/>
          <p:nvPr/>
        </p:nvSpPr>
        <p:spPr>
          <a:xfrm>
            <a:off x="3931920" y="2240280"/>
            <a:ext cx="4754880" cy="987552"/>
          </a:xfrm>
          <a:prstGeom prst="roundRect">
            <a:avLst>
              <a:gd name="adj" fmla="val 7407"/>
            </a:avLst>
          </a:prstGeom>
          <a:solidFill>
            <a:srgbClr val="F1EFE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0" y="2331720"/>
            <a:ext cx="2286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35,7 mln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3957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synaps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72491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zliczonych w krawędziach grafu</a:t>
            </a:r>
            <a:endParaRPr lang="en-US" sz="1100" dirty="0"/>
          </a:p>
        </p:txBody>
      </p:sp>
      <p:sp>
        <p:nvSpPr>
          <p:cNvPr id="13" name="stat 3 tło"/>
          <p:cNvSpPr/>
          <p:nvPr/>
        </p:nvSpPr>
        <p:spPr>
          <a:xfrm>
            <a:off x="3931920" y="3383280"/>
            <a:ext cx="4754880" cy="987552"/>
          </a:xfrm>
          <a:prstGeom prst="roundRect">
            <a:avLst>
              <a:gd name="adj" fmla="val 7407"/>
            </a:avLst>
          </a:prstGeom>
          <a:solidFill>
            <a:srgbClr val="F1EFE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114800" y="3474720"/>
            <a:ext cx="2286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1,6 mln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35387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silnych połączeń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386791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≥ 5 synaps, z 11,75 mln wszystkich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84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 oka do skrzydła: 62 neurony na końcu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51560"/>
          <a:ext cx="53949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035040" y="11430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Wszystko, co muszka widzi, kończy się na 62 motoneuronach skrzydeł: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035040" y="1965960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19842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power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766560" y="2240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amplituda uderzenia, czyli ciąg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766560" y="27614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steering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30175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płaszczyzna uderzenia, czyli kierunek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035040" y="3520440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766560" y="35387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tension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766560" y="3794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napięcie mięśni skrzydła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84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Trzy osoby, trzy moduły, dwa kontrakty</a:t>
            </a:r>
            <a:endParaRPr lang="en-US" sz="2800" dirty="0"/>
          </a:p>
        </p:txBody>
      </p:sp>
      <p:sp>
        <p:nvSpPr>
          <p:cNvPr id="3" name="Osoba 1 karta"/>
          <p:cNvSpPr/>
          <p:nvPr/>
        </p:nvSpPr>
        <p:spPr>
          <a:xfrm>
            <a:off x="457200" y="1143000"/>
            <a:ext cx="2377440" cy="2240280"/>
          </a:xfrm>
          <a:prstGeom prst="roundRect">
            <a:avLst>
              <a:gd name="adj" fmla="val 3265"/>
            </a:avLst>
          </a:prstGeom>
          <a:solidFill>
            <a:srgbClr val="F1EFEC"/>
          </a:solidFill>
          <a:ln/>
        </p:spPr>
      </p:sp>
      <p:sp>
        <p:nvSpPr>
          <p:cNvPr id="4" name="Osoba 1 hex"/>
          <p:cNvSpPr/>
          <p:nvPr/>
        </p:nvSpPr>
        <p:spPr>
          <a:xfrm>
            <a:off x="685800" y="1325880"/>
            <a:ext cx="658368" cy="579364"/>
          </a:xfrm>
          <a:prstGeom prst="hexagon">
            <a:avLst/>
          </a:prstGeom>
          <a:solidFill>
            <a:srgbClr val="6B5844"/>
          </a:solidFill>
          <a:ln/>
        </p:spPr>
      </p:sp>
      <p:pic>
        <p:nvPicPr>
          <p:cNvPr id="5" name="Osoba 1 ik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450970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81328" y="13716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Osoba 1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481328" y="162763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Wzrok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19456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Kamera RGB → FlyGym Retina → RetinaMapper → FlyVis → aktywność neuronów BANC</a:t>
            </a:r>
            <a:endParaRPr lang="en-US" sz="1300" dirty="0"/>
          </a:p>
        </p:txBody>
      </p:sp>
      <p:sp>
        <p:nvSpPr>
          <p:cNvPr id="9" name="Osoba 2 karta"/>
          <p:cNvSpPr/>
          <p:nvPr/>
        </p:nvSpPr>
        <p:spPr>
          <a:xfrm>
            <a:off x="3383280" y="1143000"/>
            <a:ext cx="2377440" cy="2240280"/>
          </a:xfrm>
          <a:prstGeom prst="roundRect">
            <a:avLst>
              <a:gd name="adj" fmla="val 3265"/>
            </a:avLst>
          </a:prstGeom>
          <a:solidFill>
            <a:srgbClr val="F1EFEC"/>
          </a:solidFill>
          <a:ln/>
        </p:spPr>
      </p:sp>
      <p:sp>
        <p:nvSpPr>
          <p:cNvPr id="10" name="Osoba 2 hex"/>
          <p:cNvSpPr/>
          <p:nvPr/>
        </p:nvSpPr>
        <p:spPr>
          <a:xfrm>
            <a:off x="3611880" y="1325880"/>
            <a:ext cx="658368" cy="579364"/>
          </a:xfrm>
          <a:prstGeom prst="hexagon">
            <a:avLst/>
          </a:prstGeom>
          <a:solidFill>
            <a:srgbClr val="B3122E"/>
          </a:solidFill>
          <a:ln/>
        </p:spPr>
      </p:sp>
      <p:pic>
        <p:nvPicPr>
          <p:cNvPr id="11" name="Osoba 2 ik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6472" y="1450970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07408" y="13716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Osoba 2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4407408" y="162763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Sterowanie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3611880" y="219456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BANC/VNC → motoneurony skrzydeł → thrust, roll, pitch, yaw (banc_control/)</a:t>
            </a:r>
            <a:endParaRPr lang="en-US" sz="1300" dirty="0"/>
          </a:p>
        </p:txBody>
      </p:sp>
      <p:sp>
        <p:nvSpPr>
          <p:cNvPr id="15" name="Osoba 3 karta"/>
          <p:cNvSpPr/>
          <p:nvPr/>
        </p:nvSpPr>
        <p:spPr>
          <a:xfrm>
            <a:off x="6309360" y="1143000"/>
            <a:ext cx="2377440" cy="2240280"/>
          </a:xfrm>
          <a:prstGeom prst="roundRect">
            <a:avLst>
              <a:gd name="adj" fmla="val 3265"/>
            </a:avLst>
          </a:prstGeom>
          <a:solidFill>
            <a:srgbClr val="F1EFEC"/>
          </a:solidFill>
          <a:ln/>
        </p:spPr>
      </p:sp>
      <p:sp>
        <p:nvSpPr>
          <p:cNvPr id="16" name="Osoba 3 hex"/>
          <p:cNvSpPr/>
          <p:nvPr/>
        </p:nvSpPr>
        <p:spPr>
          <a:xfrm>
            <a:off x="6537960" y="1325880"/>
            <a:ext cx="658368" cy="579364"/>
          </a:xfrm>
          <a:prstGeom prst="hexagon">
            <a:avLst/>
          </a:prstGeom>
          <a:solidFill>
            <a:srgbClr val="6B5844"/>
          </a:solidFill>
          <a:ln/>
        </p:spPr>
      </p:sp>
      <p:pic>
        <p:nvPicPr>
          <p:cNvPr id="17" name="Osoba 3 ikon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2" y="1450970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333488" y="13716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Osoba 3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7333488" y="162763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Symulacja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6537960" y="219456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Gazebo Sim, quadcopter z kamerą i IMU, epizody treningowe</a:t>
            </a:r>
            <a:endParaRPr lang="en-US" sz="1300" dirty="0"/>
          </a:p>
        </p:txBody>
      </p:sp>
      <p:sp>
        <p:nvSpPr>
          <p:cNvPr id="21" name="kontrakt 1 strzałka"/>
          <p:cNvSpPr/>
          <p:nvPr/>
        </p:nvSpPr>
        <p:spPr>
          <a:xfrm>
            <a:off x="2907792" y="2286000"/>
            <a:ext cx="402336" cy="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headEnd type="triangle"/>
            <a:tailEnd type="triangle"/>
          </a:ln>
        </p:spPr>
      </p:sp>
      <p:sp>
        <p:nvSpPr>
          <p:cNvPr id="22" name="kontrakt 1 linia"/>
          <p:cNvSpPr/>
          <p:nvPr/>
        </p:nvSpPr>
        <p:spPr>
          <a:xfrm>
            <a:off x="3108960" y="2395728"/>
            <a:ext cx="0" cy="1078992"/>
          </a:xfrm>
          <a:prstGeom prst="line">
            <a:avLst/>
          </a:prstGeom>
          <a:noFill/>
          <a:ln w="12700">
            <a:solidFill>
              <a:srgbClr val="D9A441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1920240" y="3566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JSON z aktywnością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1920240" y="3840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banc_root_id, cell_type, activity</a:t>
            </a:r>
            <a:endParaRPr lang="en-US" sz="1100" dirty="0"/>
          </a:p>
        </p:txBody>
      </p:sp>
      <p:sp>
        <p:nvSpPr>
          <p:cNvPr id="25" name="kontrakt 2 strzałka"/>
          <p:cNvSpPr/>
          <p:nvPr/>
        </p:nvSpPr>
        <p:spPr>
          <a:xfrm>
            <a:off x="5833872" y="2286000"/>
            <a:ext cx="402336" cy="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headEnd type="triangle"/>
            <a:tailEnd type="triangle"/>
          </a:ln>
        </p:spPr>
      </p:sp>
      <p:sp>
        <p:nvSpPr>
          <p:cNvPr id="26" name="kontrakt 2 linia"/>
          <p:cNvSpPr/>
          <p:nvPr/>
        </p:nvSpPr>
        <p:spPr>
          <a:xfrm>
            <a:off x="6035040" y="2395728"/>
            <a:ext cx="0" cy="1078992"/>
          </a:xfrm>
          <a:prstGeom prst="line">
            <a:avLst/>
          </a:prstGeom>
          <a:noFill/>
          <a:ln w="12700">
            <a:solidFill>
              <a:srgbClr val="D9A441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4846320" y="3566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FlightCommand ↔ IMU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4846320" y="3840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komenda lotu w jedną stronę, żyroskop w drugą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84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Skrzydła muszki jako komendy quadcoptera</a:t>
            </a:r>
            <a:endParaRPr lang="en-US" sz="2800" dirty="0"/>
          </a:p>
        </p:txBody>
      </p:sp>
      <p:sp>
        <p:nvSpPr>
          <p:cNvPr id="3" name="thrust tło"/>
          <p:cNvSpPr/>
          <p:nvPr/>
        </p:nvSpPr>
        <p:spPr>
          <a:xfrm>
            <a:off x="457200" y="1188720"/>
            <a:ext cx="5120640" cy="658368"/>
          </a:xfrm>
          <a:prstGeom prst="roundRect">
            <a:avLst>
              <a:gd name="adj" fmla="val 8333"/>
            </a:avLst>
          </a:prstGeom>
          <a:solidFill>
            <a:srgbClr val="F1EFE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thrust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828800" y="1188720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średnia amplituda uderzenia obu skrzydeł</a:t>
            </a:r>
            <a:endParaRPr lang="en-US" sz="1400" dirty="0"/>
          </a:p>
        </p:txBody>
      </p:sp>
      <p:sp>
        <p:nvSpPr>
          <p:cNvPr id="6" name="roll tło"/>
          <p:cNvSpPr/>
          <p:nvPr/>
        </p:nvSpPr>
        <p:spPr>
          <a:xfrm>
            <a:off x="457200" y="1993392"/>
            <a:ext cx="5120640" cy="658368"/>
          </a:xfrm>
          <a:prstGeom prst="roundRect">
            <a:avLst>
              <a:gd name="adj" fmla="val 8333"/>
            </a:avLst>
          </a:prstGeom>
          <a:solidFill>
            <a:srgbClr val="F1EFE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1993392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1993392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asymetria amplitudy lewe − prawe</a:t>
            </a:r>
            <a:endParaRPr lang="en-US" sz="1400" dirty="0"/>
          </a:p>
        </p:txBody>
      </p:sp>
      <p:sp>
        <p:nvSpPr>
          <p:cNvPr id="9" name="pitch tło"/>
          <p:cNvSpPr/>
          <p:nvPr/>
        </p:nvSpPr>
        <p:spPr>
          <a:xfrm>
            <a:off x="457200" y="2798064"/>
            <a:ext cx="5120640" cy="658368"/>
          </a:xfrm>
          <a:prstGeom prst="roundRect">
            <a:avLst>
              <a:gd name="adj" fmla="val 8333"/>
            </a:avLst>
          </a:prstGeom>
          <a:solidFill>
            <a:srgbClr val="F1EFE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2798064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pitch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2798064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przesunięcie płaszczyzny uderzenia przód − tył</a:t>
            </a:r>
            <a:endParaRPr lang="en-US" sz="1400" dirty="0"/>
          </a:p>
        </p:txBody>
      </p:sp>
      <p:sp>
        <p:nvSpPr>
          <p:cNvPr id="12" name="yaw tło"/>
          <p:cNvSpPr/>
          <p:nvPr/>
        </p:nvSpPr>
        <p:spPr>
          <a:xfrm>
            <a:off x="457200" y="3602736"/>
            <a:ext cx="5120640" cy="658368"/>
          </a:xfrm>
          <a:prstGeom prst="roundRect">
            <a:avLst>
              <a:gd name="adj" fmla="val 8333"/>
            </a:avLst>
          </a:prstGeom>
          <a:solidFill>
            <a:srgbClr val="F1EFE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" y="3602736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yaw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3602736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przeciwne przesunięcie płaszczyzny na L i P</a:t>
            </a:r>
            <a:endParaRPr lang="en-US" sz="1400" dirty="0"/>
          </a:p>
        </p:txBody>
      </p:sp>
      <p:sp>
        <p:nvSpPr>
          <p:cNvPr id="15" name="panel halter"/>
          <p:cNvSpPr/>
          <p:nvPr/>
        </p:nvSpPr>
        <p:spPr>
          <a:xfrm>
            <a:off x="5943600" y="1188720"/>
            <a:ext cx="2743200" cy="3072384"/>
          </a:xfrm>
          <a:prstGeom prst="roundRect">
            <a:avLst>
              <a:gd name="adj" fmla="val 2667"/>
            </a:avLst>
          </a:prstGeom>
          <a:solidFill>
            <a:srgbClr val="2B2116"/>
          </a:solidFill>
          <a:ln/>
        </p:spPr>
      </p:sp>
      <p:sp>
        <p:nvSpPr>
          <p:cNvPr id="16" name="halter hex"/>
          <p:cNvSpPr/>
          <p:nvPr/>
        </p:nvSpPr>
        <p:spPr>
          <a:xfrm>
            <a:off x="6172200" y="1417320"/>
            <a:ext cx="640080" cy="563270"/>
          </a:xfrm>
          <a:prstGeom prst="hexagon">
            <a:avLst/>
          </a:prstGeom>
          <a:solidFill>
            <a:srgbClr val="B3122E"/>
          </a:solidFill>
          <a:ln/>
        </p:spPr>
      </p:sp>
      <p:pic>
        <p:nvPicPr>
          <p:cNvPr id="17" name="halter ik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32220" y="1538935"/>
            <a:ext cx="320040" cy="32004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6172200" y="2148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Halter = IMU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172200" y="256032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Muszka czuje obroty narządami zwanymi halterami. Żyroskop drona podajemy jako ich aferenty w VNC, więc stabilizacja też przechodzi przez connectome.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84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Trzy dekodery, a demo jest zawsze</a:t>
            </a:r>
            <a:endParaRPr lang="en-US" sz="2800" dirty="0"/>
          </a:p>
        </p:txBody>
      </p:sp>
      <p:sp>
        <p:nvSpPr>
          <p:cNvPr id="3" name="Plan A karta"/>
          <p:cNvSpPr/>
          <p:nvPr/>
        </p:nvSpPr>
        <p:spPr>
          <a:xfrm>
            <a:off x="457200" y="1143000"/>
            <a:ext cx="2560320" cy="2011680"/>
          </a:xfrm>
          <a:prstGeom prst="roundRect">
            <a:avLst>
              <a:gd name="adj" fmla="val 3636"/>
            </a:avLst>
          </a:prstGeom>
          <a:solidFill>
            <a:srgbClr val="F1EFEC"/>
          </a:solidFill>
          <a:ln/>
        </p:spPr>
      </p:sp>
      <p:sp>
        <p:nvSpPr>
          <p:cNvPr id="4" name="Plan A hex"/>
          <p:cNvSpPr/>
          <p:nvPr/>
        </p:nvSpPr>
        <p:spPr>
          <a:xfrm>
            <a:off x="685800" y="1325880"/>
            <a:ext cx="658368" cy="579364"/>
          </a:xfrm>
          <a:prstGeom prst="hexagon">
            <a:avLst/>
          </a:prstGeom>
          <a:solidFill>
            <a:srgbClr val="B3122E"/>
          </a:solidFill>
          <a:ln/>
        </p:spPr>
      </p:sp>
      <p:pic>
        <p:nvPicPr>
          <p:cNvPr id="5" name="Plan A ik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450970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81328" y="13716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Plan A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481328" y="162763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Adaptive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19456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Uczenie z nagrody: stabilny zawis i kierunek na beacon. Perturbacja wag dekodera.</a:t>
            </a:r>
            <a:endParaRPr lang="en-US" sz="1300" dirty="0"/>
          </a:p>
        </p:txBody>
      </p:sp>
      <p:sp>
        <p:nvSpPr>
          <p:cNvPr id="9" name="Plan B karta"/>
          <p:cNvSpPr/>
          <p:nvPr/>
        </p:nvSpPr>
        <p:spPr>
          <a:xfrm>
            <a:off x="3291840" y="1143000"/>
            <a:ext cx="2560320" cy="2011680"/>
          </a:xfrm>
          <a:prstGeom prst="roundRect">
            <a:avLst>
              <a:gd name="adj" fmla="val 3636"/>
            </a:avLst>
          </a:prstGeom>
          <a:solidFill>
            <a:srgbClr val="F1EFEC"/>
          </a:solidFill>
          <a:ln/>
        </p:spPr>
      </p:sp>
      <p:sp>
        <p:nvSpPr>
          <p:cNvPr id="10" name="Plan B hex"/>
          <p:cNvSpPr/>
          <p:nvPr/>
        </p:nvSpPr>
        <p:spPr>
          <a:xfrm>
            <a:off x="3520440" y="1325880"/>
            <a:ext cx="658368" cy="579364"/>
          </a:xfrm>
          <a:prstGeom prst="hexagon">
            <a:avLst/>
          </a:prstGeom>
          <a:solidFill>
            <a:srgbClr val="6B5844"/>
          </a:solidFill>
          <a:ln/>
        </p:spPr>
      </p:sp>
      <p:pic>
        <p:nvPicPr>
          <p:cNvPr id="11" name="Plan B ik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5032" y="1450970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315968" y="13716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Plan B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4315968" y="162763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Linear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3520440" y="219456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Mała warstwa liniowa uczona regułą LMS. Szybka i przewidywalna.</a:t>
            </a:r>
            <a:endParaRPr lang="en-US" sz="1300" dirty="0"/>
          </a:p>
        </p:txBody>
      </p:sp>
      <p:sp>
        <p:nvSpPr>
          <p:cNvPr id="15" name="Plan C karta"/>
          <p:cNvSpPr/>
          <p:nvPr/>
        </p:nvSpPr>
        <p:spPr>
          <a:xfrm>
            <a:off x="6126480" y="1143000"/>
            <a:ext cx="2560320" cy="2011680"/>
          </a:xfrm>
          <a:prstGeom prst="roundRect">
            <a:avLst>
              <a:gd name="adj" fmla="val 3636"/>
            </a:avLst>
          </a:prstGeom>
          <a:solidFill>
            <a:srgbClr val="F1EFEC"/>
          </a:solidFill>
          <a:ln/>
        </p:spPr>
      </p:sp>
      <p:sp>
        <p:nvSpPr>
          <p:cNvPr id="16" name="Plan C hex"/>
          <p:cNvSpPr/>
          <p:nvPr/>
        </p:nvSpPr>
        <p:spPr>
          <a:xfrm>
            <a:off x="6355080" y="1325880"/>
            <a:ext cx="658368" cy="579364"/>
          </a:xfrm>
          <a:prstGeom prst="hexagon">
            <a:avLst/>
          </a:prstGeom>
          <a:solidFill>
            <a:srgbClr val="6B5844"/>
          </a:solidFill>
          <a:ln/>
        </p:spPr>
      </p:sp>
      <p:pic>
        <p:nvPicPr>
          <p:cNvPr id="17" name="Plan C ikon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1450970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150608" y="13716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Plan C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7150608" y="162763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Manual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6355080" y="219456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Ręcznie skalibrowane wzmocnienia, zero uczenia. Gwarantowane demo.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Connectome zostaje nietknięty. Uczy się wyłącznie dekoder na wyjściu z motoneuronów.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84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godzin: najpierw pętla, potem uczenie</a:t>
            </a:r>
            <a:endParaRPr lang="en-US" sz="2800" dirty="0"/>
          </a:p>
        </p:txBody>
      </p:sp>
      <p:sp>
        <p:nvSpPr>
          <p:cNvPr id="3" name="faza 1"/>
          <p:cNvSpPr/>
          <p:nvPr/>
        </p:nvSpPr>
        <p:spPr>
          <a:xfrm>
            <a:off x="484632" y="1828800"/>
            <a:ext cx="2688336" cy="457200"/>
          </a:xfrm>
          <a:prstGeom prst="rect">
            <a:avLst/>
          </a:prstGeom>
          <a:solidFill>
            <a:srgbClr val="6B58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463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0–4 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468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Moduły równolegle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61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dane BANC, grupy neuronów, Plan C</a:t>
            </a:r>
            <a:endParaRPr lang="en-US" sz="1100" dirty="0"/>
          </a:p>
        </p:txBody>
      </p:sp>
      <p:sp>
        <p:nvSpPr>
          <p:cNvPr id="7" name="faza 1 łącznik"/>
          <p:cNvSpPr/>
          <p:nvPr/>
        </p:nvSpPr>
        <p:spPr>
          <a:xfrm>
            <a:off x="1828800" y="2286000"/>
            <a:ext cx="0" cy="137160"/>
          </a:xfrm>
          <a:prstGeom prst="line">
            <a:avLst/>
          </a:prstGeom>
          <a:noFill/>
          <a:ln w="9525">
            <a:solidFill>
              <a:srgbClr val="9C8E80"/>
            </a:solidFill>
            <a:prstDash val="solid"/>
          </a:ln>
        </p:spPr>
      </p:sp>
      <p:sp>
        <p:nvSpPr>
          <p:cNvPr id="8" name="faza 2"/>
          <p:cNvSpPr/>
          <p:nvPr/>
        </p:nvSpPr>
        <p:spPr>
          <a:xfrm>
            <a:off x="3227832" y="1828800"/>
            <a:ext cx="1316736" cy="45720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200400" y="1463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4–6 h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3246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Pełna pętla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35387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stuby → prawdziwy FlyVis i Gazebo</a:t>
            </a:r>
            <a:endParaRPr lang="en-US" sz="1100" dirty="0"/>
          </a:p>
        </p:txBody>
      </p:sp>
      <p:sp>
        <p:nvSpPr>
          <p:cNvPr id="12" name="faza 2 łącznik"/>
          <p:cNvSpPr/>
          <p:nvPr/>
        </p:nvSpPr>
        <p:spPr>
          <a:xfrm>
            <a:off x="3886200" y="2286000"/>
            <a:ext cx="0" cy="914400"/>
          </a:xfrm>
          <a:prstGeom prst="line">
            <a:avLst/>
          </a:prstGeom>
          <a:noFill/>
          <a:ln w="9525">
            <a:solidFill>
              <a:srgbClr val="9C8E80"/>
            </a:solidFill>
            <a:prstDash val="solid"/>
          </a:ln>
        </p:spPr>
      </p:sp>
      <p:sp>
        <p:nvSpPr>
          <p:cNvPr id="13" name="faza 3"/>
          <p:cNvSpPr/>
          <p:nvPr/>
        </p:nvSpPr>
        <p:spPr>
          <a:xfrm>
            <a:off x="4599432" y="1828800"/>
            <a:ext cx="2002536" cy="457200"/>
          </a:xfrm>
          <a:prstGeom prst="rect">
            <a:avLst/>
          </a:prstGeom>
          <a:solidFill>
            <a:srgbClr val="6B58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0" y="14630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6–9 h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468880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Plan 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276148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uczenie z nagrody</a:t>
            </a:r>
            <a:endParaRPr lang="en-US" sz="1100" dirty="0"/>
          </a:p>
        </p:txBody>
      </p:sp>
      <p:sp>
        <p:nvSpPr>
          <p:cNvPr id="17" name="faza 3 łącznik"/>
          <p:cNvSpPr/>
          <p:nvPr/>
        </p:nvSpPr>
        <p:spPr>
          <a:xfrm>
            <a:off x="5600700" y="2286000"/>
            <a:ext cx="0" cy="137160"/>
          </a:xfrm>
          <a:prstGeom prst="line">
            <a:avLst/>
          </a:prstGeom>
          <a:noFill/>
          <a:ln w="9525">
            <a:solidFill>
              <a:srgbClr val="9C8E80"/>
            </a:solidFill>
            <a:prstDash val="solid"/>
          </a:ln>
        </p:spPr>
      </p:sp>
      <p:sp>
        <p:nvSpPr>
          <p:cNvPr id="18" name="faza 4"/>
          <p:cNvSpPr/>
          <p:nvPr/>
        </p:nvSpPr>
        <p:spPr>
          <a:xfrm>
            <a:off x="6656832" y="1828800"/>
            <a:ext cx="630936" cy="45720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29400" y="146304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9–10 h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86500" y="3246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Fallback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86500" y="35387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Plan B lub C</a:t>
            </a:r>
            <a:endParaRPr lang="en-US" sz="1100" dirty="0"/>
          </a:p>
        </p:txBody>
      </p:sp>
      <p:sp>
        <p:nvSpPr>
          <p:cNvPr id="22" name="faza 4 łącznik"/>
          <p:cNvSpPr/>
          <p:nvPr/>
        </p:nvSpPr>
        <p:spPr>
          <a:xfrm>
            <a:off x="6972300" y="2286000"/>
            <a:ext cx="0" cy="914400"/>
          </a:xfrm>
          <a:prstGeom prst="line">
            <a:avLst/>
          </a:prstGeom>
          <a:noFill/>
          <a:ln w="9525">
            <a:solidFill>
              <a:srgbClr val="9C8E80"/>
            </a:solidFill>
            <a:prstDash val="solid"/>
          </a:ln>
        </p:spPr>
      </p:sp>
      <p:sp>
        <p:nvSpPr>
          <p:cNvPr id="23" name="faza 5"/>
          <p:cNvSpPr/>
          <p:nvPr/>
        </p:nvSpPr>
        <p:spPr>
          <a:xfrm>
            <a:off x="7342632" y="1828800"/>
            <a:ext cx="1316736" cy="457200"/>
          </a:xfrm>
          <a:prstGeom prst="rect">
            <a:avLst/>
          </a:prstGeom>
          <a:solidFill>
            <a:srgbClr val="B312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00" y="1463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10–12 h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0" y="24688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Demo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0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nagranie, logi, wizualizacja</a:t>
            </a:r>
            <a:endParaRPr lang="en-US" sz="1100" dirty="0"/>
          </a:p>
        </p:txBody>
      </p:sp>
      <p:sp>
        <p:nvSpPr>
          <p:cNvPr id="27" name="faza 5 łącznik"/>
          <p:cNvSpPr/>
          <p:nvPr/>
        </p:nvSpPr>
        <p:spPr>
          <a:xfrm>
            <a:off x="8001000" y="2286000"/>
            <a:ext cx="0" cy="137160"/>
          </a:xfrm>
          <a:prstGeom prst="line">
            <a:avLst/>
          </a:prstGeom>
          <a:noFill/>
          <a:ln w="9525">
            <a:solidFill>
              <a:srgbClr val="9C8E8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84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Ryzyka znamy i każde ma plan awaryjny</a:t>
            </a:r>
            <a:endParaRPr lang="en-US" sz="2800" dirty="0"/>
          </a:p>
        </p:txBody>
      </p:sp>
      <p:sp>
        <p:nvSpPr>
          <p:cNvPr id="3" name="ryzyko 1 tło"/>
          <p:cNvSpPr/>
          <p:nvPr/>
        </p:nvSpPr>
        <p:spPr>
          <a:xfrm>
            <a:off x="457200" y="114300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1EFEC"/>
          </a:solidFill>
          <a:ln/>
        </p:spPr>
      </p:sp>
      <p:sp>
        <p:nvSpPr>
          <p:cNvPr id="4" name="ryzyko 1 hex"/>
          <p:cNvSpPr/>
          <p:nvPr/>
        </p:nvSpPr>
        <p:spPr>
          <a:xfrm>
            <a:off x="658368" y="1371600"/>
            <a:ext cx="566928" cy="498897"/>
          </a:xfrm>
          <a:prstGeom prst="hexagon">
            <a:avLst/>
          </a:prstGeom>
          <a:solidFill>
            <a:srgbClr val="B3122E"/>
          </a:solidFill>
          <a:ln/>
        </p:spPr>
      </p:sp>
      <p:pic>
        <p:nvPicPr>
          <p:cNvPr id="5" name="ryzyko 1 ik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479316"/>
            <a:ext cx="283464" cy="2834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34416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Różne wersje root ID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746504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Jedna materializacja BANC dla Osoby 1 i 2. Logujemy unmatched_ids.</a:t>
            </a:r>
            <a:endParaRPr lang="en-US" sz="1300" dirty="0"/>
          </a:p>
        </p:txBody>
      </p:sp>
      <p:sp>
        <p:nvSpPr>
          <p:cNvPr id="8" name="ryzyko 2 tło"/>
          <p:cNvSpPr/>
          <p:nvPr/>
        </p:nvSpPr>
        <p:spPr>
          <a:xfrm>
            <a:off x="4663440" y="114300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1EFEC"/>
          </a:solidFill>
          <a:ln/>
        </p:spPr>
      </p:sp>
      <p:sp>
        <p:nvSpPr>
          <p:cNvPr id="9" name="ryzyko 2 hex"/>
          <p:cNvSpPr/>
          <p:nvPr/>
        </p:nvSpPr>
        <p:spPr>
          <a:xfrm>
            <a:off x="4864608" y="1371600"/>
            <a:ext cx="566928" cy="498897"/>
          </a:xfrm>
          <a:prstGeom prst="hexagon">
            <a:avLst/>
          </a:prstGeom>
          <a:solidFill>
            <a:srgbClr val="B3122E"/>
          </a:solidFill>
          <a:ln/>
        </p:spPr>
      </p:sp>
      <p:pic>
        <p:nvPicPr>
          <p:cNvPr id="10" name="ryzyko 2 ik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479316"/>
            <a:ext cx="283464" cy="2834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623560" y="134416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Które neurony sterują lotem?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5623560" y="1746504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Grupy bierzemy z adnotacji BANC (power, steering), nie zgadujemy nazw.</a:t>
            </a:r>
            <a:endParaRPr lang="en-US" sz="1300" dirty="0"/>
          </a:p>
        </p:txBody>
      </p:sp>
      <p:sp>
        <p:nvSpPr>
          <p:cNvPr id="13" name="ryzyko 3 tło"/>
          <p:cNvSpPr/>
          <p:nvPr/>
        </p:nvSpPr>
        <p:spPr>
          <a:xfrm>
            <a:off x="457200" y="283464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1EFEC"/>
          </a:solidFill>
          <a:ln/>
        </p:spPr>
      </p:sp>
      <p:sp>
        <p:nvSpPr>
          <p:cNvPr id="14" name="ryzyko 3 hex"/>
          <p:cNvSpPr/>
          <p:nvPr/>
        </p:nvSpPr>
        <p:spPr>
          <a:xfrm>
            <a:off x="658368" y="3063240"/>
            <a:ext cx="566928" cy="498897"/>
          </a:xfrm>
          <a:prstGeom prst="hexagon">
            <a:avLst/>
          </a:prstGeom>
          <a:solidFill>
            <a:srgbClr val="B3122E"/>
          </a:solidFill>
          <a:ln/>
        </p:spPr>
      </p:sp>
      <p:pic>
        <p:nvPicPr>
          <p:cNvPr id="15" name="ryzyko 3 ikon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3170956"/>
            <a:ext cx="283464" cy="28346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17320" y="303580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Czas kroku symulacji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417320" y="3438144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Mierzymy na pełnym grafie, w razie potrzeby tniemy do podgrafu wzrok → DN → VNC.</a:t>
            </a:r>
            <a:endParaRPr lang="en-US" sz="1300" dirty="0"/>
          </a:p>
        </p:txBody>
      </p:sp>
      <p:sp>
        <p:nvSpPr>
          <p:cNvPr id="18" name="ryzyko 4 tło"/>
          <p:cNvSpPr/>
          <p:nvPr/>
        </p:nvSpPr>
        <p:spPr>
          <a:xfrm>
            <a:off x="4663440" y="283464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1EFEC"/>
          </a:solidFill>
          <a:ln/>
        </p:spPr>
      </p:sp>
      <p:sp>
        <p:nvSpPr>
          <p:cNvPr id="19" name="ryzyko 4 hex"/>
          <p:cNvSpPr/>
          <p:nvPr/>
        </p:nvSpPr>
        <p:spPr>
          <a:xfrm>
            <a:off x="4864608" y="3063240"/>
            <a:ext cx="566928" cy="498897"/>
          </a:xfrm>
          <a:prstGeom prst="hexagon">
            <a:avLst/>
          </a:prstGeom>
          <a:solidFill>
            <a:srgbClr val="B3122E"/>
          </a:solidFill>
          <a:ln/>
        </p:spPr>
      </p:sp>
      <p:pic>
        <p:nvPicPr>
          <p:cNvPr id="20" name="ryzyko 4 ik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3170956"/>
            <a:ext cx="283464" cy="28346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623560" y="303580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Mapowanie jest umowne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5623560" y="3438144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Plan C musi latać, zanim zaczniemy cokolwiek uczyć.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84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Zawis i lot do beacona, sterowane przez connectome muszki</a:t>
            </a:r>
            <a:endParaRPr lang="en-US" sz="2000" dirty="0"/>
          </a:p>
        </p:txBody>
      </p:sp>
      <p:sp>
        <p:nvSpPr>
          <p:cNvPr id="4" name="punkt 1"/>
          <p:cNvSpPr/>
          <p:nvPr/>
        </p:nvSpPr>
        <p:spPr>
          <a:xfrm>
            <a:off x="5760720" y="1188720"/>
            <a:ext cx="457200" cy="402336"/>
          </a:xfrm>
          <a:prstGeom prst="hexagon">
            <a:avLst/>
          </a:prstGeom>
          <a:solidFill>
            <a:srgbClr val="B312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0" y="1143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Nagranie zawisu i lotu do beacona</a:t>
            </a:r>
            <a:endParaRPr lang="en-US" sz="1400" dirty="0"/>
          </a:p>
        </p:txBody>
      </p:sp>
      <p:sp>
        <p:nvSpPr>
          <p:cNvPr id="6" name="punkt 2"/>
          <p:cNvSpPr/>
          <p:nvPr/>
        </p:nvSpPr>
        <p:spPr>
          <a:xfrm>
            <a:off x="5760720" y="1965960"/>
            <a:ext cx="457200" cy="402336"/>
          </a:xfrm>
          <a:prstGeom prst="hexagon">
            <a:avLst/>
          </a:prstGeom>
          <a:solidFill>
            <a:srgbClr val="3E312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Logi aktywności motoneuronów na żywo</a:t>
            </a:r>
            <a:endParaRPr lang="en-US" sz="1400" dirty="0"/>
          </a:p>
        </p:txBody>
      </p:sp>
      <p:sp>
        <p:nvSpPr>
          <p:cNvPr id="8" name="punkt 3"/>
          <p:cNvSpPr/>
          <p:nvPr/>
        </p:nvSpPr>
        <p:spPr>
          <a:xfrm>
            <a:off x="5760720" y="2743200"/>
            <a:ext cx="457200" cy="402336"/>
          </a:xfrm>
          <a:prstGeom prst="hexagon">
            <a:avLst/>
          </a:prstGeom>
          <a:solidFill>
            <a:srgbClr val="3E312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0" y="2697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Wizualizacja ścieżki w BANC</a:t>
            </a:r>
            <a:endParaRPr lang="en-US" sz="1400" dirty="0"/>
          </a:p>
        </p:txBody>
      </p:sp>
      <p:sp>
        <p:nvSpPr>
          <p:cNvPr id="10" name="punkt 4"/>
          <p:cNvSpPr/>
          <p:nvPr/>
        </p:nvSpPr>
        <p:spPr>
          <a:xfrm>
            <a:off x="5760720" y="3520440"/>
            <a:ext cx="457200" cy="402336"/>
          </a:xfrm>
          <a:prstGeom prst="hexagon">
            <a:avLst/>
          </a:prstGeom>
          <a:solidFill>
            <a:srgbClr val="3E312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Kod: banc_control/ z testami pytest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roFly">
  <a:themeElements>
    <a:clrScheme name="NeuroFly">
      <a:dk1>
        <a:srgbClr val="2B2116"/>
      </a:dk1>
      <a:lt1>
        <a:srgbClr val="FFFFFF"/>
      </a:lt1>
      <a:dk2>
        <a:srgbClr val="6B5844"/>
      </a:dk2>
      <a:lt2>
        <a:srgbClr val="F1EFEC"/>
      </a:lt2>
      <a:accent1>
        <a:srgbClr val="B3122E"/>
      </a:accent1>
      <a:accent2>
        <a:srgbClr val="D9A441"/>
      </a:accent2>
      <a:accent3>
        <a:srgbClr val="8A6A44"/>
      </a:accent3>
      <a:accent4>
        <a:srgbClr val="4E6E58"/>
      </a:accent4>
      <a:accent5>
        <a:srgbClr val="E3C27E"/>
      </a:accent5>
      <a:accent6>
        <a:srgbClr val="9C8E80"/>
      </a:accent6>
      <a:hlink>
        <a:srgbClr val="B3122E"/>
      </a:hlink>
      <a:folHlink>
        <a:srgbClr val="8A6A44"/>
      </a:folHlink>
    </a:clrScheme>
    <a:fontScheme name="NeuroFl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NeuroFly</dc:title>
  <dc:subject>PptxGenJS Presentation</dc:subject>
  <dc:creator>Zespół NeuroFly</dc:creator>
  <cp:lastModifiedBy>Zespół NeuroFly</cp:lastModifiedBy>
  <cp:revision>1</cp:revision>
  <dcterms:created xsi:type="dcterms:W3CDTF">2026-10-03T09:14:11Z</dcterms:created>
  <dcterms:modified xsi:type="dcterms:W3CDTF">2026-10-03T09:14:11Z</dcterms:modified>
</cp:coreProperties>
</file>