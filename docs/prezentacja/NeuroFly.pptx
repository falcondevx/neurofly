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68f7fe0f-a481-696b-66e4-f772c0285493}">
          <p14:sldIdLst>
            <p14:sldId id="256"/>
          </p14:sldIdLst>
        </p14:section>
        <p14:section name="Idea" id="{a3f5f37e-4da1-5a93-f6e5-0870603cb87f}">
          <p14:sldIdLst>
            <p14:sldId id="257"/>
          </p14:sldIdLst>
        </p14:section>
        <p14:section name="Pipeline" id="{22c3f63c-357e-4928-c944-ef5b3c168646}">
          <p14:sldIdLst>
            <p14:sldId id="258"/>
            <p14:sldId id="259"/>
          </p14:sldIdLst>
        </p14:section>
        <p14:section name="Connectome" id="{b1857c81-55ef-e64f-7421-9e03763d4984}">
          <p14:sldIdLst>
            <p14:sldId id="260"/>
            <p14:sldId id="261"/>
            <p14:sldId id="262"/>
          </p14:sldIdLst>
        </p14:section>
        <p14:section name="Odczyt" id="{88936942-08af-69e1-440d-8e3da1e1e38b}">
          <p14:sldIdLst>
            <p14:sldId id="263"/>
            <p14:sldId id="264"/>
          </p14:sldIdLst>
        </p14:section>
        <p14:section name="Symulator" id="{edd1eef7-3060-f967-2459-3d4b3cf869b4}">
          <p14:sldIdLst>
            <p14:sldId id="265"/>
          </p14:sldIdLst>
        </p14:section>
        <p14:section name="Trening" id="{30a5e6e8-2cc5-f253-fd0e-7f640c2d5aeb}">
          <p14:sldIdLst>
            <p14:sldId id="266"/>
          </p14:sldIdLst>
        </p14:section>
        <p14:section name="Wyniki" id="{7d91245d-a040-047f-8c00-1498826f2aa7}">
          <p14:sldIdLst>
            <p14:sldId id="267"/>
            <p14:sldId id="268"/>
          </p14:sldIdLst>
        </p14:section>
        <p14:section name="Uczciwość" id="{20746417-9300-37f7-2188-81cfd79297ef}">
          <p14:sldIdLst>
            <p14:sldId id="269"/>
          </p14:sldIdLst>
        </p14:section>
        <p14:section name="Koniec" id="{2500c30d-143f-86be-4cd9-c3c4c682dc8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Trafność strony celu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2525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6 średnich MN</c:v>
                  </c:pt>
                  <c:pt idx="1">
                    <c:v>MN pojedynczo</c:v>
                  </c:pt>
                  <c:pt idx="2">
                    <c:v>wzrok (VPN)</c:v>
                  </c:pt>
                  <c:pt idx="3">
                    <c:v>DN lotu pojedynczo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84</c:v>
                </c:pt>
                <c:pt idx="2">
                  <c:v>94</c:v>
                </c:pt>
                <c:pt idx="3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AFA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przed treningiem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cel −60°</c:v>
                  </c:pt>
                  <c:pt idx="1">
                    <c:v>cel −30°</c:v>
                  </c:pt>
                  <c:pt idx="2">
                    <c:v>cel +30°</c:v>
                  </c:pt>
                  <c:pt idx="3">
                    <c:v>cel +60°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24.8</c:v>
                </c:pt>
                <c:pt idx="1">
                  <c:v>21.5</c:v>
                </c:pt>
                <c:pt idx="2">
                  <c:v>21.7</c:v>
                </c:pt>
                <c:pt idx="3">
                  <c:v>32.5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 treningu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AFAF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cel −60°</c:v>
                  </c:pt>
                  <c:pt idx="1">
                    <c:v>cel −30°</c:v>
                  </c:pt>
                  <c:pt idx="2">
                    <c:v>cel +30°</c:v>
                  </c:pt>
                  <c:pt idx="3">
                    <c:v>cel +60°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3.1</c:v>
                </c:pt>
                <c:pt idx="2">
                  <c:v>2.3</c:v>
                </c:pt>
                <c:pt idx="3">
                  <c:v>5.1</c:v>
                </c:pt>
              </c:numCache>
            </c:numRef>
          </c:val>
        </c:ser>
        <c:dLbls>
          <c:numFmt formatCode="0.0&quot;°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AFAF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1A1A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obraz z kamer drona przechodzi przez model oka muszki (FlyVis), potem przez prawdziwy connectome Drosophila (BANC v888, mózg + brzuszny łańcuch nerwowy), a aktywność neuronów lotu steruje dronem w symulatorze.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Każda klatka obrazu przechodzi przez całą pętlę ~30 razy na sekundę. Nic nie jest ręcznie zaprogramowanym regulatorem kursu: kierunek do celu odczytujemy z aktywności neuronów zstępujących (DN) w BANC.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Górny rząd: wszystko, co dzieje się przed connectomem. Dolny: connectome, odczyt neuronów lotu, dekoder i dron. Jedna klatka (FlyVis + 4 podkroki dynamiki BANC na GPU) to ~15–20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 (czarny słup) jest po prawej stronie: widać go tylko w prawym oku, jako ciemną kolumnę ommatidiów.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Oficjalny BANC v888 (Bates et al. 2026, publiczny bucket Lee Lab). Somy z kolumny position; kolory: wzrok teal, DN amber, motoneurony rose. Żadnych syntetycznych grafów.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Regresja grzbietowa kąt ~ aktywność, cel pod kątami −90…+90° w 3 odległościach, walidacja na odległości pominiętej w uczeniu (scripts/check_side_decoding.py).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euroFly\docs\prezentacja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90872"/>
            <a:ext cx="310896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4645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</a:rPr>
              <a:t>NeuroFly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AFAF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connectome" descr="C:\NeuroFly\docs\prezentacja\assets\connectome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097280" cy="649224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4864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AFAFA"/>
                </a:solidFill>
              </a:rPr>
              <a:t>NeuroFly</a:t>
            </a:r>
            <a:endParaRPr lang="en-US" sz="54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743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1A1AA"/>
                </a:solidFill>
              </a:rPr>
              <a:t>Mózg muszki owocowej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A1A1AA"/>
                </a:solidFill>
              </a:rPr>
              <a:t>pilotuje drona</a:t>
            </a:r>
            <a:endParaRPr lang="en-US" sz="200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</a:rPr>
              <a:t>Pełny connectome BANC v888 · 175 401 neuronów · pętla zamknięta w MuJoCo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Zamknięta pętla: wzrok → connectome → lot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3520440" y="94183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step-0-dot"/>
          <p:cNvSpPr/>
          <p:nvPr/>
        </p:nvSpPr>
        <p:spPr>
          <a:xfrm>
            <a:off x="3685032" y="1106424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tep-0-title"/>
          <p:cNvSpPr txBox="1"/>
          <p:nvPr/>
        </p:nvSpPr>
        <p:spPr>
          <a:xfrm>
            <a:off x="3931920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Obraz</a:t>
            </a:r>
            <a:endParaRPr lang="en-US" sz="1500" dirty="0"/>
          </a:p>
        </p:txBody>
      </p:sp>
      <p:sp>
        <p:nvSpPr>
          <p:cNvPr id="6" name="step-0-desc"/>
          <p:cNvSpPr txBox="1"/>
          <p:nvPr/>
        </p:nvSpPr>
        <p:spPr>
          <a:xfrm>
            <a:off x="3931920" y="1344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dwie kamery-oczy drona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5717286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8" name="step-1-dot"/>
          <p:cNvSpPr/>
          <p:nvPr/>
        </p:nvSpPr>
        <p:spPr>
          <a:xfrm>
            <a:off x="5881878" y="252374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step-1-title"/>
          <p:cNvSpPr txBox="1"/>
          <p:nvPr/>
        </p:nvSpPr>
        <p:spPr>
          <a:xfrm>
            <a:off x="6128766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Connectome</a:t>
            </a:r>
            <a:endParaRPr lang="en-US" sz="1500" dirty="0"/>
          </a:p>
        </p:txBody>
      </p:sp>
      <p:sp>
        <p:nvSpPr>
          <p:cNvPr id="10" name="step-1-desc"/>
          <p:cNvSpPr txBox="1"/>
          <p:nvPr/>
        </p:nvSpPr>
        <p:spPr>
          <a:xfrm>
            <a:off x="6128766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BANC v888 na GPU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3520440" y="377647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2" name="step-2-dot"/>
          <p:cNvSpPr/>
          <p:nvPr/>
        </p:nvSpPr>
        <p:spPr>
          <a:xfrm>
            <a:off x="3685032" y="3941064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tep-2-title"/>
          <p:cNvSpPr txBox="1"/>
          <p:nvPr/>
        </p:nvSpPr>
        <p:spPr>
          <a:xfrm>
            <a:off x="39319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Sterowanie</a:t>
            </a:r>
            <a:endParaRPr lang="en-US" sz="1500" dirty="0"/>
          </a:p>
        </p:txBody>
      </p:sp>
      <p:sp>
        <p:nvSpPr>
          <p:cNvPr id="14" name="step-2-desc"/>
          <p:cNvSpPr txBox="1"/>
          <p:nvPr/>
        </p:nvSpPr>
        <p:spPr>
          <a:xfrm>
            <a:off x="393192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neurony lotu → komendy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1323594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6" name="step-3-dot"/>
          <p:cNvSpPr/>
          <p:nvPr/>
        </p:nvSpPr>
        <p:spPr>
          <a:xfrm>
            <a:off x="1488186" y="2523744"/>
            <a:ext cx="146304" cy="146304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7" name="step-3-title"/>
          <p:cNvSpPr txBox="1"/>
          <p:nvPr/>
        </p:nvSpPr>
        <p:spPr>
          <a:xfrm>
            <a:off x="1735074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Ruch</a:t>
            </a:r>
            <a:endParaRPr lang="en-US" sz="1500" dirty="0"/>
          </a:p>
        </p:txBody>
      </p:sp>
      <p:sp>
        <p:nvSpPr>
          <p:cNvPr id="18" name="step-3-desc"/>
          <p:cNvSpPr txBox="1"/>
          <p:nvPr/>
        </p:nvSpPr>
        <p:spPr>
          <a:xfrm>
            <a:off x="1735074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dron w MuJoCo → nowy obraz</a:t>
            </a:r>
            <a:endParaRPr lang="en-US" sz="1100" dirty="0"/>
          </a:p>
        </p:txBody>
      </p:sp>
      <p:pic>
        <p:nvPicPr>
          <p:cNvPr id="19" name="logo-center" descr="C:\NeuroFly\docs\prezentacja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450592"/>
            <a:ext cx="100584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Pipeline: od piksela do śmigła</a:t>
            </a:r>
            <a:endParaRPr lang="en-US" sz="2800" dirty="0"/>
          </a:p>
        </p:txBody>
      </p:sp>
      <p:sp>
        <p:nvSpPr>
          <p:cNvPr id="3" name="node-0"/>
          <p:cNvSpPr/>
          <p:nvPr/>
        </p:nvSpPr>
        <p:spPr>
          <a:xfrm>
            <a:off x="457200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node-0-dot"/>
          <p:cNvSpPr/>
          <p:nvPr/>
        </p:nvSpPr>
        <p:spPr>
          <a:xfrm>
            <a:off x="603504" y="1508760"/>
            <a:ext cx="128016" cy="12801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node-0-title"/>
          <p:cNvSpPr txBox="1"/>
          <p:nvPr/>
        </p:nvSpPr>
        <p:spPr>
          <a:xfrm>
            <a:off x="804672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Kamera</a:t>
            </a:r>
            <a:endParaRPr lang="en-US" sz="1500" dirty="0"/>
          </a:p>
        </p:txBody>
      </p:sp>
      <p:sp>
        <p:nvSpPr>
          <p:cNvPr id="6" name="node-0-desc"/>
          <p:cNvSpPr txBox="1"/>
          <p:nvPr/>
        </p:nvSpPr>
        <p:spPr>
          <a:xfrm>
            <a:off x="603504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2 oczy MuJoCo, 157°, ±70°</a:t>
            </a:r>
            <a:endParaRPr lang="en-US" sz="1100" dirty="0"/>
          </a:p>
        </p:txBody>
      </p:sp>
      <p:sp>
        <p:nvSpPr>
          <p:cNvPr id="7" name="arrow-0"/>
          <p:cNvSpPr/>
          <p:nvPr/>
        </p:nvSpPr>
        <p:spPr>
          <a:xfrm>
            <a:off x="2249424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8" name="node-1"/>
          <p:cNvSpPr/>
          <p:nvPr/>
        </p:nvSpPr>
        <p:spPr>
          <a:xfrm>
            <a:off x="2551176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9" name="node-1-dot"/>
          <p:cNvSpPr/>
          <p:nvPr/>
        </p:nvSpPr>
        <p:spPr>
          <a:xfrm>
            <a:off x="2697480" y="1508760"/>
            <a:ext cx="128016" cy="12801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node-1-title"/>
          <p:cNvSpPr txBox="1"/>
          <p:nvPr/>
        </p:nvSpPr>
        <p:spPr>
          <a:xfrm>
            <a:off x="2898648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Siatkówka</a:t>
            </a:r>
            <a:endParaRPr lang="en-US" sz="1500" dirty="0"/>
          </a:p>
        </p:txBody>
      </p:sp>
      <p:sp>
        <p:nvSpPr>
          <p:cNvPr id="11" name="node-1-desc"/>
          <p:cNvSpPr txBox="1"/>
          <p:nvPr/>
        </p:nvSpPr>
        <p:spPr>
          <a:xfrm>
            <a:off x="2697480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FlyGym: 721 ommatidiów / oko</a:t>
            </a:r>
            <a:endParaRPr lang="en-US" sz="1100" dirty="0"/>
          </a:p>
        </p:txBody>
      </p:sp>
      <p:sp>
        <p:nvSpPr>
          <p:cNvPr id="12" name="arrow-1"/>
          <p:cNvSpPr/>
          <p:nvPr/>
        </p:nvSpPr>
        <p:spPr>
          <a:xfrm>
            <a:off x="4343400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3" name="node-2"/>
          <p:cNvSpPr/>
          <p:nvPr/>
        </p:nvSpPr>
        <p:spPr>
          <a:xfrm>
            <a:off x="4645152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4" name="node-2-dot"/>
          <p:cNvSpPr/>
          <p:nvPr/>
        </p:nvSpPr>
        <p:spPr>
          <a:xfrm>
            <a:off x="4791456" y="1508760"/>
            <a:ext cx="128016" cy="12801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5" name="node-2-title"/>
          <p:cNvSpPr txBox="1"/>
          <p:nvPr/>
        </p:nvSpPr>
        <p:spPr>
          <a:xfrm>
            <a:off x="4992624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FlyVis</a:t>
            </a:r>
            <a:endParaRPr lang="en-US" sz="1500" dirty="0"/>
          </a:p>
        </p:txBody>
      </p:sp>
      <p:sp>
        <p:nvSpPr>
          <p:cNvPr id="16" name="node-2-desc"/>
          <p:cNvSpPr txBox="1"/>
          <p:nvPr/>
        </p:nvSpPr>
        <p:spPr>
          <a:xfrm>
            <a:off x="4791456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model płata wzrokowego</a:t>
            </a:r>
            <a:endParaRPr lang="en-US" sz="1100" dirty="0"/>
          </a:p>
        </p:txBody>
      </p:sp>
      <p:sp>
        <p:nvSpPr>
          <p:cNvPr id="17" name="arrow-2"/>
          <p:cNvSpPr/>
          <p:nvPr/>
        </p:nvSpPr>
        <p:spPr>
          <a:xfrm>
            <a:off x="6437376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8" name="node-3"/>
          <p:cNvSpPr/>
          <p:nvPr/>
        </p:nvSpPr>
        <p:spPr>
          <a:xfrm>
            <a:off x="6739128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9" name="node-3-dot"/>
          <p:cNvSpPr/>
          <p:nvPr/>
        </p:nvSpPr>
        <p:spPr>
          <a:xfrm>
            <a:off x="6885432" y="1508760"/>
            <a:ext cx="128016" cy="12801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node-3-title"/>
          <p:cNvSpPr txBox="1"/>
          <p:nvPr/>
        </p:nvSpPr>
        <p:spPr>
          <a:xfrm>
            <a:off x="7086600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Mapa → BANC</a:t>
            </a:r>
            <a:endParaRPr lang="en-US" sz="1500" dirty="0"/>
          </a:p>
        </p:txBody>
      </p:sp>
      <p:sp>
        <p:nvSpPr>
          <p:cNvPr id="21" name="node-3-desc"/>
          <p:cNvSpPr txBox="1"/>
          <p:nvPr/>
        </p:nvSpPr>
        <p:spPr>
          <a:xfrm>
            <a:off x="6885432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22 462 neuronów v888</a:t>
            </a:r>
            <a:endParaRPr lang="en-US" sz="1100" dirty="0"/>
          </a:p>
        </p:txBody>
      </p:sp>
      <p:sp>
        <p:nvSpPr>
          <p:cNvPr id="22" name="node-4"/>
          <p:cNvSpPr/>
          <p:nvPr/>
        </p:nvSpPr>
        <p:spPr>
          <a:xfrm>
            <a:off x="6739128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3" name="node-4-dot"/>
          <p:cNvSpPr/>
          <p:nvPr/>
        </p:nvSpPr>
        <p:spPr>
          <a:xfrm>
            <a:off x="6885432" y="315468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node-4-title"/>
          <p:cNvSpPr txBox="1"/>
          <p:nvPr/>
        </p:nvSpPr>
        <p:spPr>
          <a:xfrm>
            <a:off x="7086600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BANC v888</a:t>
            </a:r>
            <a:endParaRPr lang="en-US" sz="1500" dirty="0"/>
          </a:p>
        </p:txBody>
      </p:sp>
      <p:sp>
        <p:nvSpPr>
          <p:cNvPr id="25" name="node-4-desc"/>
          <p:cNvSpPr txBox="1"/>
          <p:nvPr/>
        </p:nvSpPr>
        <p:spPr>
          <a:xfrm>
            <a:off x="6885432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175 401 neuronów, GPU</a:t>
            </a:r>
            <a:endParaRPr lang="en-US" sz="1100" dirty="0"/>
          </a:p>
        </p:txBody>
      </p:sp>
      <p:sp>
        <p:nvSpPr>
          <p:cNvPr id="26" name="arrow-4"/>
          <p:cNvSpPr/>
          <p:nvPr/>
        </p:nvSpPr>
        <p:spPr>
          <a:xfrm flipH="1">
            <a:off x="6437376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27" name="node-5"/>
          <p:cNvSpPr/>
          <p:nvPr/>
        </p:nvSpPr>
        <p:spPr>
          <a:xfrm>
            <a:off x="4645152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8" name="node-5-dot"/>
          <p:cNvSpPr/>
          <p:nvPr/>
        </p:nvSpPr>
        <p:spPr>
          <a:xfrm>
            <a:off x="4791456" y="3154680"/>
            <a:ext cx="128016" cy="12801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9" name="node-5-title"/>
          <p:cNvSpPr txBox="1"/>
          <p:nvPr/>
        </p:nvSpPr>
        <p:spPr>
          <a:xfrm>
            <a:off x="4992624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Odczyt</a:t>
            </a:r>
            <a:endParaRPr lang="en-US" sz="1500" dirty="0"/>
          </a:p>
        </p:txBody>
      </p:sp>
      <p:sp>
        <p:nvSpPr>
          <p:cNvPr id="30" name="node-5-desc"/>
          <p:cNvSpPr txBox="1"/>
          <p:nvPr/>
        </p:nvSpPr>
        <p:spPr>
          <a:xfrm>
            <a:off x="4791456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6 grup MN + 375 DN lotu</a:t>
            </a:r>
            <a:endParaRPr lang="en-US" sz="1100" dirty="0"/>
          </a:p>
        </p:txBody>
      </p:sp>
      <p:sp>
        <p:nvSpPr>
          <p:cNvPr id="31" name="arrow-5"/>
          <p:cNvSpPr/>
          <p:nvPr/>
        </p:nvSpPr>
        <p:spPr>
          <a:xfrm flipH="1">
            <a:off x="4343400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2" name="node-6"/>
          <p:cNvSpPr/>
          <p:nvPr/>
        </p:nvSpPr>
        <p:spPr>
          <a:xfrm>
            <a:off x="2551176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33" name="node-6-dot"/>
          <p:cNvSpPr/>
          <p:nvPr/>
        </p:nvSpPr>
        <p:spPr>
          <a:xfrm>
            <a:off x="2697480" y="3154680"/>
            <a:ext cx="128016" cy="128016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34" name="node-6-title"/>
          <p:cNvSpPr txBox="1"/>
          <p:nvPr/>
        </p:nvSpPr>
        <p:spPr>
          <a:xfrm>
            <a:off x="2898648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Dekoder</a:t>
            </a:r>
            <a:endParaRPr lang="en-US" sz="1500" dirty="0"/>
          </a:p>
        </p:txBody>
      </p:sp>
      <p:sp>
        <p:nvSpPr>
          <p:cNvPr id="35" name="node-6-desc"/>
          <p:cNvSpPr txBox="1"/>
          <p:nvPr/>
        </p:nvSpPr>
        <p:spPr>
          <a:xfrm>
            <a:off x="2697480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liniowy, uczony (DAgger)</a:t>
            </a:r>
            <a:endParaRPr lang="en-US" sz="1100" dirty="0"/>
          </a:p>
        </p:txBody>
      </p:sp>
      <p:sp>
        <p:nvSpPr>
          <p:cNvPr id="36" name="arrow-6"/>
          <p:cNvSpPr/>
          <p:nvPr/>
        </p:nvSpPr>
        <p:spPr>
          <a:xfrm flipH="1">
            <a:off x="2249424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7" name="node-7"/>
          <p:cNvSpPr/>
          <p:nvPr/>
        </p:nvSpPr>
        <p:spPr>
          <a:xfrm>
            <a:off x="457200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38" name="node-7-dot"/>
          <p:cNvSpPr/>
          <p:nvPr/>
        </p:nvSpPr>
        <p:spPr>
          <a:xfrm>
            <a:off x="603504" y="315468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9" name="node-7-title"/>
          <p:cNvSpPr txBox="1"/>
          <p:nvPr/>
        </p:nvSpPr>
        <p:spPr>
          <a:xfrm>
            <a:off x="804672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Dron</a:t>
            </a:r>
            <a:endParaRPr lang="en-US" sz="1500" dirty="0"/>
          </a:p>
        </p:txBody>
      </p:sp>
      <p:sp>
        <p:nvSpPr>
          <p:cNvPr id="40" name="node-7-desc"/>
          <p:cNvSpPr txBox="1"/>
          <p:nvPr/>
        </p:nvSpPr>
        <p:spPr>
          <a:xfrm>
            <a:off x="603504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thrust · roll · pitch · yaw</a:t>
            </a:r>
            <a:endParaRPr lang="en-US" sz="1100" dirty="0"/>
          </a:p>
        </p:txBody>
      </p:sp>
      <p:sp>
        <p:nvSpPr>
          <p:cNvPr id="41" name="arrow-down"/>
          <p:cNvSpPr/>
          <p:nvPr/>
        </p:nvSpPr>
        <p:spPr>
          <a:xfrm>
            <a:off x="7616952" y="2295144"/>
            <a:ext cx="0" cy="64008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42" name="loop-note"/>
          <p:cNvSpPr txBox="1"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</a:rPr>
              <a:t>następna klatka: nowy obraz z kamer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Zanim sygnał trafi do BANC: oko muszki</a:t>
            </a:r>
            <a:endParaRPr lang="en-US" sz="2800" dirty="0"/>
          </a:p>
        </p:txBody>
      </p:sp>
      <p:pic>
        <p:nvPicPr>
          <p:cNvPr id="3" name="img-0" descr="C:\NeuroFly\docs\prezentacja\assets\eye_le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4" name="cap-0"/>
          <p:cNvSpPr txBox="1"/>
          <p:nvPr/>
        </p:nvSpPr>
        <p:spPr>
          <a:xfrm>
            <a:off x="4572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lewa</a:t>
            </a:r>
            <a:endParaRPr lang="en-US" sz="1100" dirty="0"/>
          </a:p>
        </p:txBody>
      </p:sp>
      <p:pic>
        <p:nvPicPr>
          <p:cNvPr id="5" name="img-1" descr="C:\NeuroFly\docs\prezentacja\assets\retina_lef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6" name="cap-1"/>
          <p:cNvSpPr txBox="1"/>
          <p:nvPr/>
        </p:nvSpPr>
        <p:spPr>
          <a:xfrm>
            <a:off x="2532888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lewa</a:t>
            </a:r>
            <a:endParaRPr lang="en-US" sz="1100" dirty="0"/>
          </a:p>
        </p:txBody>
      </p:sp>
      <p:pic>
        <p:nvPicPr>
          <p:cNvPr id="7" name="img-2" descr="C:\NeuroFly\docs\prezentacja\assets\eye_righ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8" name="cap-2"/>
          <p:cNvSpPr txBox="1"/>
          <p:nvPr/>
        </p:nvSpPr>
        <p:spPr>
          <a:xfrm>
            <a:off x="4608576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prawa</a:t>
            </a:r>
            <a:endParaRPr lang="en-US" sz="1100" dirty="0"/>
          </a:p>
        </p:txBody>
      </p:sp>
      <p:pic>
        <p:nvPicPr>
          <p:cNvPr id="9" name="img-3" descr="C:\NeuroFly\docs\prezentacja\assets\retina_righ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1188720"/>
            <a:ext cx="1828800" cy="20848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10" name="cap-3"/>
          <p:cNvSpPr txBox="1"/>
          <p:nvPr/>
        </p:nvSpPr>
        <p:spPr>
          <a:xfrm>
            <a:off x="6684264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prawa</a:t>
            </a:r>
            <a:endParaRPr lang="en-US" sz="1100" dirty="0"/>
          </a:p>
        </p:txBody>
      </p:sp>
      <p:sp>
        <p:nvSpPr>
          <p:cNvPr id="11" name="explain"/>
          <p:cNvSpPr txBox="1"/>
          <p:nvPr/>
        </p:nvSpPr>
        <p:spPr>
          <a:xfrm>
            <a:off x="457200" y="37307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</a:rPr>
              <a:t>Kamery MuJoCo z polem widzenia oka muchy → korekcja rybiego oka → 721 heksagonalnych ommatidiów na oko (FlyGym) → FlyVis: wytrenowany model płata wzrokowego oparty na connectomie → aktywność typów komórek mapowana na neurony BANC v888.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BANC v888: mózg i brzuszny łańcuch nerwowy</a:t>
            </a:r>
            <a:endParaRPr lang="en-US" sz="2800" dirty="0"/>
          </a:p>
        </p:txBody>
      </p:sp>
      <p:pic>
        <p:nvPicPr>
          <p:cNvPr id="3" name="render-3d" descr="C:\NeuroFly\docs\prezentacja\assets\connectome_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s-neurons-value"/>
          <p:cNvSpPr txBox="1"/>
          <p:nvPr/>
        </p:nvSpPr>
        <p:spPr>
          <a:xfrm>
            <a:off x="393192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175 401</a:t>
            </a:r>
            <a:endParaRPr lang="en-US" sz="3600" dirty="0"/>
          </a:p>
        </p:txBody>
      </p:sp>
      <p:sp>
        <p:nvSpPr>
          <p:cNvPr id="5" name="s-neurons-label"/>
          <p:cNvSpPr txBox="1"/>
          <p:nvPr/>
        </p:nvSpPr>
        <p:spPr>
          <a:xfrm>
            <a:off x="393192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(bez glejów i tchawek)</a:t>
            </a:r>
            <a:endParaRPr lang="en-US" sz="1200" dirty="0"/>
          </a:p>
        </p:txBody>
      </p:sp>
      <p:sp>
        <p:nvSpPr>
          <p:cNvPr id="6" name="s-syn-value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18,6 mln</a:t>
            </a:r>
            <a:endParaRPr lang="en-US" sz="3600" dirty="0"/>
          </a:p>
        </p:txBody>
      </p:sp>
      <p:sp>
        <p:nvSpPr>
          <p:cNvPr id="7" name="s-syn-label"/>
          <p:cNvSpPr txBox="1"/>
          <p:nvPr/>
        </p:nvSpPr>
        <p:spPr>
          <a:xfrm>
            <a:off x="640080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synaps w połączeniach ≥ 5</a:t>
            </a:r>
            <a:endParaRPr lang="en-US" sz="1200" dirty="0"/>
          </a:p>
        </p:txBody>
      </p:sp>
      <p:sp>
        <p:nvSpPr>
          <p:cNvPr id="8" name="s-edges-value"/>
          <p:cNvSpPr txBox="1"/>
          <p:nvPr/>
        </p:nvSpPr>
        <p:spPr>
          <a:xfrm>
            <a:off x="393192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1,53 mln</a:t>
            </a:r>
            <a:endParaRPr lang="en-US" sz="3600" dirty="0"/>
          </a:p>
        </p:txBody>
      </p:sp>
      <p:sp>
        <p:nvSpPr>
          <p:cNvPr id="9" name="s-edges-label"/>
          <p:cNvSpPr txBox="1"/>
          <p:nvPr/>
        </p:nvSpPr>
        <p:spPr>
          <a:xfrm>
            <a:off x="393192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połączeń w grafie modelu</a:t>
            </a:r>
            <a:endParaRPr lang="en-US" sz="1200" dirty="0"/>
          </a:p>
        </p:txBody>
      </p:sp>
      <p:sp>
        <p:nvSpPr>
          <p:cNvPr id="10" name="s-skel-value"/>
          <p:cNvSpPr txBox="1"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863</a:t>
            </a:r>
            <a:endParaRPr lang="en-US" sz="3600" dirty="0"/>
          </a:p>
        </p:txBody>
      </p:sp>
      <p:sp>
        <p:nvSpPr>
          <p:cNvPr id="11" name="s-skel-label"/>
          <p:cNvSpPr txBox="1"/>
          <p:nvPr/>
        </p:nvSpPr>
        <p:spPr>
          <a:xfrm>
            <a:off x="640080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szkielety neuronów lotu (SWC)</a:t>
            </a:r>
            <a:endParaRPr lang="en-US" sz="1200" dirty="0"/>
          </a:p>
        </p:txBody>
      </p:sp>
      <p:sp>
        <p:nvSpPr>
          <p:cNvPr id="12" name="t-ol-dot"/>
          <p:cNvSpPr/>
          <p:nvPr/>
        </p:nvSpPr>
        <p:spPr>
          <a:xfrm>
            <a:off x="3931920" y="367588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-ol-label"/>
          <p:cNvSpPr txBox="1"/>
          <p:nvPr/>
        </p:nvSpPr>
        <p:spPr>
          <a:xfrm>
            <a:off x="411480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płaty wzrokowe · 105 646</a:t>
            </a:r>
            <a:endParaRPr lang="en-US" sz="1100" dirty="0"/>
          </a:p>
        </p:txBody>
      </p:sp>
      <p:sp>
        <p:nvSpPr>
          <p:cNvPr id="14" name="t-cb-dot"/>
          <p:cNvSpPr/>
          <p:nvPr/>
        </p:nvSpPr>
        <p:spPr>
          <a:xfrm>
            <a:off x="3931920" y="3968496"/>
            <a:ext cx="109728" cy="109728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15" name="t-cb-label"/>
          <p:cNvSpPr txBox="1"/>
          <p:nvPr/>
        </p:nvSpPr>
        <p:spPr>
          <a:xfrm>
            <a:off x="411480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mózg centralny · 42 620</a:t>
            </a:r>
            <a:endParaRPr lang="en-US" sz="1100" dirty="0"/>
          </a:p>
        </p:txBody>
      </p:sp>
      <p:sp>
        <p:nvSpPr>
          <p:cNvPr id="16" name="t-vnc-dot"/>
          <p:cNvSpPr/>
          <p:nvPr/>
        </p:nvSpPr>
        <p:spPr>
          <a:xfrm>
            <a:off x="6400800" y="3675888"/>
            <a:ext cx="109728" cy="10972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t-vnc-label"/>
          <p:cNvSpPr txBox="1"/>
          <p:nvPr/>
        </p:nvSpPr>
        <p:spPr>
          <a:xfrm>
            <a:off x="658368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VNC · 26 769</a:t>
            </a:r>
            <a:endParaRPr lang="en-US" sz="1100" dirty="0"/>
          </a:p>
        </p:txBody>
      </p:sp>
      <p:sp>
        <p:nvSpPr>
          <p:cNvPr id="18" name="t-dn-dot"/>
          <p:cNvSpPr/>
          <p:nvPr/>
        </p:nvSpPr>
        <p:spPr>
          <a:xfrm>
            <a:off x="6400800" y="39684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-dn-label"/>
          <p:cNvSpPr txBox="1"/>
          <p:nvPr/>
        </p:nvSpPr>
        <p:spPr>
          <a:xfrm>
            <a:off x="658368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DN / AN · 3 165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Jak liczymy aktywność na connectomie</a:t>
            </a:r>
            <a:endParaRPr lang="en-US" sz="2800" dirty="0"/>
          </a:p>
        </p:txBody>
      </p:sp>
      <p:sp>
        <p:nvSpPr>
          <p:cNvPr id="3" name="eq-card"/>
          <p:cNvSpPr/>
          <p:nvPr/>
        </p:nvSpPr>
        <p:spPr>
          <a:xfrm>
            <a:off x="457200" y="118872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eq"/>
          <p:cNvSpPr txBox="1"/>
          <p:nvPr/>
        </p:nvSpPr>
        <p:spPr>
          <a:xfrm>
            <a:off x="685800" y="14813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← r + dt/τ · (−r + tanh(relu(g · W r + I)))</a:t>
            </a:r>
            <a:endParaRPr lang="en-US" sz="2000" dirty="0"/>
          </a:p>
        </p:txBody>
      </p:sp>
      <p:sp>
        <p:nvSpPr>
          <p:cNvPr id="5" name="k-0"/>
          <p:cNvSpPr txBox="1"/>
          <p:nvPr/>
        </p:nvSpPr>
        <p:spPr>
          <a:xfrm>
            <a:off x="45720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W</a:t>
            </a:r>
            <a:endParaRPr lang="en-US" sz="1400" dirty="0"/>
          </a:p>
        </p:txBody>
      </p:sp>
      <p:sp>
        <p:nvSpPr>
          <p:cNvPr id="6" name="v-0"/>
          <p:cNvSpPr txBox="1"/>
          <p:nvPr/>
        </p:nvSpPr>
        <p:spPr>
          <a:xfrm>
            <a:off x="15087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liczby synaps z BANC, znak z przewidywanego neuroprzekaźnika, normalizacja wejść każdego neuronu</a:t>
            </a:r>
            <a:endParaRPr lang="en-US" sz="1200" dirty="0"/>
          </a:p>
        </p:txBody>
      </p:sp>
      <p:sp>
        <p:nvSpPr>
          <p:cNvPr id="7" name="k-1"/>
          <p:cNvSpPr txBox="1"/>
          <p:nvPr/>
        </p:nvSpPr>
        <p:spPr>
          <a:xfrm>
            <a:off x="45720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τ, dt, g</a:t>
            </a:r>
            <a:endParaRPr lang="en-US" sz="1400" dirty="0"/>
          </a:p>
        </p:txBody>
      </p:sp>
      <p:sp>
        <p:nvSpPr>
          <p:cNvPr id="8" name="v-1"/>
          <p:cNvSpPr txBox="1"/>
          <p:nvPr/>
        </p:nvSpPr>
        <p:spPr>
          <a:xfrm>
            <a:off x="1508760" y="3063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20 ms, 5 ms, 0,9 — 4 podkroki na klatkę obrazu</a:t>
            </a:r>
            <a:endParaRPr lang="en-US" sz="1200" dirty="0"/>
          </a:p>
        </p:txBody>
      </p:sp>
      <p:sp>
        <p:nvSpPr>
          <p:cNvPr id="9" name="k-2"/>
          <p:cNvSpPr txBox="1"/>
          <p:nvPr/>
        </p:nvSpPr>
        <p:spPr>
          <a:xfrm>
            <a:off x="45720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I</a:t>
            </a:r>
            <a:endParaRPr lang="en-US" sz="1400" dirty="0"/>
          </a:p>
        </p:txBody>
      </p:sp>
      <p:sp>
        <p:nvSpPr>
          <p:cNvPr id="10" name="v-2"/>
          <p:cNvSpPr txBox="1"/>
          <p:nvPr/>
        </p:nvSpPr>
        <p:spPr>
          <a:xfrm>
            <a:off x="1508760" y="3520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wejście: wzrok (FlyVis → BANC) + żyroskop drona na aferenty halter</a:t>
            </a:r>
            <a:endParaRPr lang="en-US" sz="1200" dirty="0"/>
          </a:p>
        </p:txBody>
      </p:sp>
      <p:sp>
        <p:nvSpPr>
          <p:cNvPr id="11" name="k-3"/>
          <p:cNvSpPr txBox="1"/>
          <p:nvPr/>
        </p:nvSpPr>
        <p:spPr>
          <a:xfrm>
            <a:off x="4572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GPU</a:t>
            </a:r>
            <a:endParaRPr lang="en-US" sz="1400" dirty="0"/>
          </a:p>
        </p:txBody>
      </p:sp>
      <p:sp>
        <p:nvSpPr>
          <p:cNvPr id="12" name="v-3"/>
          <p:cNvSpPr txBox="1"/>
          <p:nvPr/>
        </p:nvSpPr>
        <p:spPr>
          <a:xfrm>
            <a:off x="1508760" y="3977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</a:rPr>
              <a:t>macierz rzadka CSR w torch: ~2,6 ms na klatkę (RTX 4060)</a:t>
            </a:r>
            <a:endParaRPr lang="en-US" sz="1200" dirty="0"/>
          </a:p>
        </p:txBody>
      </p:sp>
      <p:sp>
        <p:nvSpPr>
          <p:cNvPr id="13" name="sign-card"/>
          <p:cNvSpPr/>
          <p:nvPr/>
        </p:nvSpPr>
        <p:spPr>
          <a:xfrm>
            <a:off x="5669280" y="1188720"/>
            <a:ext cx="3017520" cy="315468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4" name="sign-title"/>
          <p:cNvSpPr txBox="1"/>
          <p:nvPr/>
        </p:nvSpPr>
        <p:spPr>
          <a:xfrm>
            <a:off x="58978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</a:rPr>
              <a:t>Znaki synaps</a:t>
            </a:r>
            <a:endParaRPr lang="en-US" sz="1500" dirty="0"/>
          </a:p>
        </p:txBody>
      </p:sp>
      <p:sp>
        <p:nvSpPr>
          <p:cNvPr id="15" name="sg-ach-dot"/>
          <p:cNvSpPr/>
          <p:nvPr/>
        </p:nvSpPr>
        <p:spPr>
          <a:xfrm>
            <a:off x="5897880" y="18928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sg-ach-label"/>
          <p:cNvSpPr txBox="1"/>
          <p:nvPr/>
        </p:nvSpPr>
        <p:spPr>
          <a:xfrm>
            <a:off x="60807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ACh — pobudzenie</a:t>
            </a:r>
            <a:endParaRPr lang="en-US" sz="1100" dirty="0"/>
          </a:p>
        </p:txBody>
      </p:sp>
      <p:sp>
        <p:nvSpPr>
          <p:cNvPr id="17" name="sg-gaba-dot"/>
          <p:cNvSpPr/>
          <p:nvPr/>
        </p:nvSpPr>
        <p:spPr>
          <a:xfrm>
            <a:off x="5897880" y="2212848"/>
            <a:ext cx="109728" cy="10972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sg-gaba-label"/>
          <p:cNvSpPr txBox="1"/>
          <p:nvPr/>
        </p:nvSpPr>
        <p:spPr>
          <a:xfrm>
            <a:off x="6080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GABA — hamowanie</a:t>
            </a:r>
            <a:endParaRPr lang="en-US" sz="1100" dirty="0"/>
          </a:p>
        </p:txBody>
      </p:sp>
      <p:sp>
        <p:nvSpPr>
          <p:cNvPr id="19" name="sg-glu-dot"/>
          <p:cNvSpPr/>
          <p:nvPr/>
        </p:nvSpPr>
        <p:spPr>
          <a:xfrm>
            <a:off x="5897880" y="2532888"/>
            <a:ext cx="109728" cy="10972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0" name="sg-glu-label"/>
          <p:cNvSpPr txBox="1"/>
          <p:nvPr/>
        </p:nvSpPr>
        <p:spPr>
          <a:xfrm>
            <a:off x="6080760" y="2468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glutaminian — hamowanie</a:t>
            </a:r>
            <a:endParaRPr lang="en-US" sz="1100" dirty="0"/>
          </a:p>
        </p:txBody>
      </p:sp>
      <p:sp>
        <p:nvSpPr>
          <p:cNvPr id="21" name="sg-his-dot"/>
          <p:cNvSpPr/>
          <p:nvPr/>
        </p:nvSpPr>
        <p:spPr>
          <a:xfrm>
            <a:off x="5897880" y="2852928"/>
            <a:ext cx="109728" cy="10972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sg-his-label"/>
          <p:cNvSpPr txBox="1"/>
          <p:nvPr/>
        </p:nvSpPr>
        <p:spPr>
          <a:xfrm>
            <a:off x="6080760" y="2788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histamina — hamowanie</a:t>
            </a:r>
            <a:endParaRPr lang="en-US" sz="1100" dirty="0"/>
          </a:p>
        </p:txBody>
      </p:sp>
      <p:sp>
        <p:nvSpPr>
          <p:cNvPr id="23" name="sign-note"/>
          <p:cNvSpPr txBox="1"/>
          <p:nvPr/>
        </p:nvSpPr>
        <p:spPr>
          <a:xfrm>
            <a:off x="589788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Model dynamiki i znaki to nasze założenia; połączenia i liczby synaps są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Obwód lotu: tylko oficjalne adnotacje BANC</a:t>
            </a:r>
            <a:endParaRPr lang="en-US" sz="2800" dirty="0"/>
          </a:p>
        </p:txBody>
      </p:sp>
      <p:pic>
        <p:nvPicPr>
          <p:cNvPr id="3" name="render-circuit" descr="C:\NeuroFly\docs\prezentacja\assets\circuit_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g-0-dot"/>
          <p:cNvSpPr/>
          <p:nvPr/>
        </p:nvSpPr>
        <p:spPr>
          <a:xfrm>
            <a:off x="3931920" y="128016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" name="g-0-name"/>
          <p:cNvSpPr txBox="1"/>
          <p:nvPr/>
        </p:nvSpPr>
        <p:spPr>
          <a:xfrm>
            <a:off x="4206240" y="1188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power</a:t>
            </a:r>
            <a:endParaRPr lang="en-US" sz="1400" dirty="0"/>
          </a:p>
        </p:txBody>
      </p:sp>
      <p:sp>
        <p:nvSpPr>
          <p:cNvPr id="6" name="g-0-desc"/>
          <p:cNvSpPr txBox="1"/>
          <p:nvPr/>
        </p:nvSpPr>
        <p:spPr>
          <a:xfrm>
            <a:off x="4206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power</a:t>
            </a:r>
            <a:endParaRPr lang="en-US" sz="1100" dirty="0"/>
          </a:p>
        </p:txBody>
      </p:sp>
      <p:sp>
        <p:nvSpPr>
          <p:cNvPr id="7" name="g-0-count"/>
          <p:cNvSpPr txBox="1"/>
          <p:nvPr/>
        </p:nvSpPr>
        <p:spPr>
          <a:xfrm>
            <a:off x="768096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235</a:t>
            </a:r>
            <a:endParaRPr lang="en-US" sz="1600" dirty="0"/>
          </a:p>
        </p:txBody>
      </p:sp>
      <p:sp>
        <p:nvSpPr>
          <p:cNvPr id="8" name="g-1-dot"/>
          <p:cNvSpPr/>
          <p:nvPr/>
        </p:nvSpPr>
        <p:spPr>
          <a:xfrm>
            <a:off x="3931920" y="18288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g-1-name"/>
          <p:cNvSpPr txBox="1"/>
          <p:nvPr/>
        </p:nvSpPr>
        <p:spPr>
          <a:xfrm>
            <a:off x="4206240" y="1737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steering</a:t>
            </a:r>
            <a:endParaRPr lang="en-US" sz="1400" dirty="0"/>
          </a:p>
        </p:txBody>
      </p:sp>
      <p:sp>
        <p:nvSpPr>
          <p:cNvPr id="10" name="g-1-desc"/>
          <p:cNvSpPr txBox="1"/>
          <p:nvPr/>
        </p:nvSpPr>
        <p:spPr>
          <a:xfrm>
            <a:off x="4206240" y="20116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steering</a:t>
            </a:r>
            <a:endParaRPr lang="en-US" sz="1100" dirty="0"/>
          </a:p>
        </p:txBody>
      </p:sp>
      <p:sp>
        <p:nvSpPr>
          <p:cNvPr id="11" name="g-1-count"/>
          <p:cNvSpPr txBox="1"/>
          <p:nvPr/>
        </p:nvSpPr>
        <p:spPr>
          <a:xfrm>
            <a:off x="7680960" y="1737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140</a:t>
            </a:r>
            <a:endParaRPr lang="en-US" sz="1600" dirty="0"/>
          </a:p>
        </p:txBody>
      </p:sp>
      <p:sp>
        <p:nvSpPr>
          <p:cNvPr id="12" name="g-2-dot"/>
          <p:cNvSpPr/>
          <p:nvPr/>
        </p:nvSpPr>
        <p:spPr>
          <a:xfrm>
            <a:off x="3931920" y="2377440"/>
            <a:ext cx="128016" cy="12801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g-2-name"/>
          <p:cNvSpPr txBox="1"/>
          <p:nvPr/>
        </p:nvSpPr>
        <p:spPr>
          <a:xfrm>
            <a:off x="42062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power</a:t>
            </a:r>
            <a:endParaRPr lang="en-US" sz="1400" dirty="0"/>
          </a:p>
        </p:txBody>
      </p:sp>
      <p:sp>
        <p:nvSpPr>
          <p:cNvPr id="14" name="g-2-desc"/>
          <p:cNvSpPr txBox="1"/>
          <p:nvPr/>
        </p:nvSpPr>
        <p:spPr>
          <a:xfrm>
            <a:off x="420624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DLM / DVM — mięśnie mocy</a:t>
            </a:r>
            <a:endParaRPr lang="en-US" sz="1100" dirty="0"/>
          </a:p>
        </p:txBody>
      </p:sp>
      <p:sp>
        <p:nvSpPr>
          <p:cNvPr id="15" name="g-2-count"/>
          <p:cNvSpPr txBox="1"/>
          <p:nvPr/>
        </p:nvSpPr>
        <p:spPr>
          <a:xfrm>
            <a:off x="768096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16" name="g-3-dot"/>
          <p:cNvSpPr/>
          <p:nvPr/>
        </p:nvSpPr>
        <p:spPr>
          <a:xfrm>
            <a:off x="3931920" y="2926080"/>
            <a:ext cx="128016" cy="12801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g-3-name"/>
          <p:cNvSpPr txBox="1"/>
          <p:nvPr/>
        </p:nvSpPr>
        <p:spPr>
          <a:xfrm>
            <a:off x="420624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steering</a:t>
            </a:r>
            <a:endParaRPr lang="en-US" sz="1400" dirty="0"/>
          </a:p>
        </p:txBody>
      </p:sp>
      <p:sp>
        <p:nvSpPr>
          <p:cNvPr id="18" name="g-3-desc"/>
          <p:cNvSpPr txBox="1"/>
          <p:nvPr/>
        </p:nvSpPr>
        <p:spPr>
          <a:xfrm>
            <a:off x="4206240" y="3108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b1, i1, iii3… — mięśnie sterujące</a:t>
            </a:r>
            <a:endParaRPr lang="en-US" sz="1100" dirty="0"/>
          </a:p>
        </p:txBody>
      </p:sp>
      <p:sp>
        <p:nvSpPr>
          <p:cNvPr id="19" name="g-3-count"/>
          <p:cNvSpPr txBox="1"/>
          <p:nvPr/>
        </p:nvSpPr>
        <p:spPr>
          <a:xfrm>
            <a:off x="7680960" y="2834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20" name="g-4-dot"/>
          <p:cNvSpPr/>
          <p:nvPr/>
        </p:nvSpPr>
        <p:spPr>
          <a:xfrm>
            <a:off x="3931920" y="3474720"/>
            <a:ext cx="128016" cy="12801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1" name="g-4-name"/>
          <p:cNvSpPr txBox="1"/>
          <p:nvPr/>
        </p:nvSpPr>
        <p:spPr>
          <a:xfrm>
            <a:off x="420624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tension</a:t>
            </a:r>
            <a:endParaRPr lang="en-US" sz="1400" dirty="0"/>
          </a:p>
        </p:txBody>
      </p:sp>
      <p:sp>
        <p:nvSpPr>
          <p:cNvPr id="22" name="g-4-desc"/>
          <p:cNvSpPr txBox="1"/>
          <p:nvPr/>
        </p:nvSpPr>
        <p:spPr>
          <a:xfrm>
            <a:off x="4206240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napięcie skrzydła</a:t>
            </a:r>
            <a:endParaRPr lang="en-US" sz="1100" dirty="0"/>
          </a:p>
        </p:txBody>
      </p:sp>
      <p:sp>
        <p:nvSpPr>
          <p:cNvPr id="23" name="g-4-count"/>
          <p:cNvSpPr txBox="1"/>
          <p:nvPr/>
        </p:nvSpPr>
        <p:spPr>
          <a:xfrm>
            <a:off x="7680960" y="3383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12</a:t>
            </a:r>
            <a:endParaRPr lang="en-US" sz="1600" dirty="0"/>
          </a:p>
        </p:txBody>
      </p:sp>
      <p:sp>
        <p:nvSpPr>
          <p:cNvPr id="24" name="g-5-dot"/>
          <p:cNvSpPr/>
          <p:nvPr/>
        </p:nvSpPr>
        <p:spPr>
          <a:xfrm>
            <a:off x="3931920" y="402336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g-5-name"/>
          <p:cNvSpPr txBox="1"/>
          <p:nvPr/>
        </p:nvSpPr>
        <p:spPr>
          <a:xfrm>
            <a:off x="420624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Aferenty halter</a:t>
            </a:r>
            <a:endParaRPr lang="en-US" sz="1400" dirty="0"/>
          </a:p>
        </p:txBody>
      </p:sp>
      <p:sp>
        <p:nvSpPr>
          <p:cNvPr id="26" name="g-5-desc"/>
          <p:cNvSpPr txBox="1"/>
          <p:nvPr/>
        </p:nvSpPr>
        <p:spPr>
          <a:xfrm>
            <a:off x="4206240" y="42062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czujniki obrotu → żyroskop drona</a:t>
            </a:r>
            <a:endParaRPr lang="en-US" sz="1100" dirty="0"/>
          </a:p>
        </p:txBody>
      </p:sp>
      <p:sp>
        <p:nvSpPr>
          <p:cNvPr id="27" name="g-5-count"/>
          <p:cNvSpPr txBox="1"/>
          <p:nvPr/>
        </p:nvSpPr>
        <p:spPr>
          <a:xfrm>
            <a:off x="7680960" y="3931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AFAFA"/>
                </a:solidFill>
              </a:rPr>
              <a:t>428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Strona celu jest w pojedynczych DN, nie w średnich</a:t>
            </a:r>
            <a:endParaRPr lang="en-US" sz="2800" dirty="0"/>
          </a:p>
        </p:txBody>
      </p:sp>
      <p:graphicFrame>
        <p:nvGraphicFramePr>
          <p:cNvPr id="3" name="chart-side" descr=""/>
          <p:cNvGraphicFramePr/>
          <p:nvPr/>
        </p:nvGraphicFramePr>
        <p:xfrm>
          <a:off x="45720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-dn-value"/>
          <p:cNvSpPr txBox="1"/>
          <p:nvPr/>
        </p:nvSpPr>
        <p:spPr>
          <a:xfrm>
            <a:off x="6035040" y="1234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DD4BF"/>
                </a:solidFill>
              </a:rPr>
              <a:t>99%</a:t>
            </a:r>
            <a:endParaRPr lang="en-US" sz="3600" dirty="0"/>
          </a:p>
        </p:txBody>
      </p:sp>
      <p:sp>
        <p:nvSpPr>
          <p:cNvPr id="5" name="s-dn-label"/>
          <p:cNvSpPr txBox="1"/>
          <p:nvPr/>
        </p:nvSpPr>
        <p:spPr>
          <a:xfrm>
            <a:off x="603504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trafność strony celu z 375 pojedynczych DN lotu (walidacja: nieznana odległość)</a:t>
            </a:r>
            <a:endParaRPr lang="en-US" sz="1200" dirty="0"/>
          </a:p>
        </p:txBody>
      </p:sp>
      <p:sp>
        <p:nvSpPr>
          <p:cNvPr id="6" name="s-mn-value"/>
          <p:cNvSpPr txBox="1"/>
          <p:nvPr/>
        </p:nvSpPr>
        <p:spPr>
          <a:xfrm>
            <a:off x="6035040" y="2606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68%</a:t>
            </a:r>
            <a:endParaRPr lang="en-US" sz="3600" dirty="0"/>
          </a:p>
        </p:txBody>
      </p:sp>
      <p:sp>
        <p:nvSpPr>
          <p:cNvPr id="7" name="s-mn-label"/>
          <p:cNvSpPr txBox="1"/>
          <p:nvPr/>
        </p:nvSpPr>
        <p:spPr>
          <a:xfrm>
            <a:off x="6035040" y="3172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z 6 średnich grup MN — uśrednianie kasuje różnicę lewo / prawo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Ograniczenie v888: asymetria płatów wzrokowych</a:t>
            </a:r>
            <a:endParaRPr lang="en-US" sz="2800" dirty="0"/>
          </a:p>
        </p:txBody>
      </p:sp>
      <p:sp>
        <p:nvSpPr>
          <p:cNvPr id="3" name="left-card"/>
          <p:cNvSpPr/>
          <p:nvPr/>
        </p:nvSpPr>
        <p:spPr>
          <a:xfrm>
            <a:off x="45720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right-card"/>
          <p:cNvSpPr/>
          <p:nvPr/>
        </p:nvSpPr>
        <p:spPr>
          <a:xfrm>
            <a:off x="475488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s-l-value"/>
          <p:cNvSpPr txBox="1"/>
          <p:nvPr/>
        </p:nvSpPr>
        <p:spPr>
          <a:xfrm>
            <a:off x="77724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36%</a:t>
            </a:r>
            <a:endParaRPr lang="en-US" sz="3600" dirty="0"/>
          </a:p>
        </p:txBody>
      </p:sp>
      <p:sp>
        <p:nvSpPr>
          <p:cNvPr id="6" name="s-l-label"/>
          <p:cNvSpPr txBox="1"/>
          <p:nvPr/>
        </p:nvSpPr>
        <p:spPr>
          <a:xfrm>
            <a:off x="77724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lewego płata ma typ komórki</a:t>
            </a:r>
            <a:endParaRPr lang="en-US" sz="1200" dirty="0"/>
          </a:p>
        </p:txBody>
      </p:sp>
      <p:sp>
        <p:nvSpPr>
          <p:cNvPr id="7" name="s-l2-value"/>
          <p:cNvSpPr txBox="1"/>
          <p:nvPr/>
        </p:nvSpPr>
        <p:spPr>
          <a:xfrm>
            <a:off x="77724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5 535</a:t>
            </a:r>
            <a:endParaRPr lang="en-US" sz="3600" dirty="0"/>
          </a:p>
        </p:txBody>
      </p:sp>
      <p:sp>
        <p:nvSpPr>
          <p:cNvPr id="8" name="s-l2-label"/>
          <p:cNvSpPr txBox="1"/>
          <p:nvPr/>
        </p:nvSpPr>
        <p:spPr>
          <a:xfrm>
            <a:off x="77724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lewe oko</a:t>
            </a:r>
            <a:endParaRPr lang="en-US" sz="1200" dirty="0"/>
          </a:p>
        </p:txBody>
      </p:sp>
      <p:sp>
        <p:nvSpPr>
          <p:cNvPr id="9" name="s-r-value"/>
          <p:cNvSpPr txBox="1"/>
          <p:nvPr/>
        </p:nvSpPr>
        <p:spPr>
          <a:xfrm>
            <a:off x="507492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DD4BF"/>
                </a:solidFill>
              </a:rPr>
              <a:t>80%</a:t>
            </a:r>
            <a:endParaRPr lang="en-US" sz="3600" dirty="0"/>
          </a:p>
        </p:txBody>
      </p:sp>
      <p:sp>
        <p:nvSpPr>
          <p:cNvPr id="10" name="s-r-label"/>
          <p:cNvSpPr txBox="1"/>
          <p:nvPr/>
        </p:nvSpPr>
        <p:spPr>
          <a:xfrm>
            <a:off x="507492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prawego płata ma typ komórki</a:t>
            </a:r>
            <a:endParaRPr lang="en-US" sz="1200" dirty="0"/>
          </a:p>
        </p:txBody>
      </p:sp>
      <p:sp>
        <p:nvSpPr>
          <p:cNvPr id="11" name="s-r2-value"/>
          <p:cNvSpPr txBox="1"/>
          <p:nvPr/>
        </p:nvSpPr>
        <p:spPr>
          <a:xfrm>
            <a:off x="5074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DD4BF"/>
                </a:solidFill>
              </a:rPr>
              <a:t>16 927</a:t>
            </a:r>
            <a:endParaRPr lang="en-US" sz="3600" dirty="0"/>
          </a:p>
        </p:txBody>
      </p:sp>
      <p:sp>
        <p:nvSpPr>
          <p:cNvPr id="12" name="s-r2-label"/>
          <p:cNvSpPr txBox="1"/>
          <p:nvPr/>
        </p:nvSpPr>
        <p:spPr>
          <a:xfrm>
            <a:off x="507492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prawe oko</a:t>
            </a:r>
            <a:endParaRPr lang="en-US" sz="1200" dirty="0"/>
          </a:p>
        </p:txBody>
      </p:sp>
      <p:sp>
        <p:nvSpPr>
          <p:cNvPr id="13" name="not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Mapa FlyVis → BANC idzie po typach komórek, więc lewe oko dociera do ~3× mniej neuronów. Wyrównanie wejścia nie zmieniło wyniku; odczyt z pojedynczych DN i tak rozpoznaje obie strony.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Symulator: dron X2 w MuJoCo</a:t>
            </a:r>
            <a:endParaRPr lang="en-US" sz="2800" dirty="0"/>
          </a:p>
        </p:txBody>
      </p:sp>
      <p:pic>
        <p:nvPicPr>
          <p:cNvPr id="3" name="img-drone" descr="C:\NeuroFly\docs\prezentacja\assets\drone_ch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3931920" cy="2944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pic>
        <p:nvPicPr>
          <p:cNvPr id="4" name="img-world" descr="C:\NeuroFly\docs\prezentacja\assets\worl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3931920" cy="2944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5" name="cap-1"/>
          <p:cNvSpPr txBox="1"/>
          <p:nvPr/>
        </p:nvSpPr>
        <p:spPr>
          <a:xfrm>
            <a:off x="45720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Skydio X2 (MuJoCo Menagerie) z oczami na nosie · zawis i obrót na płaskiej scenie</a:t>
            </a:r>
            <a:endParaRPr lang="en-US" sz="1100" dirty="0"/>
          </a:p>
        </p:txBody>
      </p:sp>
      <p:sp>
        <p:nvSpPr>
          <p:cNvPr id="6" name="cap-2"/>
          <p:cNvSpPr txBox="1"/>
          <p:nvPr/>
        </p:nvSpPr>
        <p:spPr>
          <a:xfrm>
            <a:off x="475488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Losowy teren 60 × 60 m, bloki, cel z masztem · tryb angle: symulator utrzymuje zadany przechył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Trening: uczy się tylko dekoder, BANC się nie zmienia</a:t>
            </a:r>
            <a:endParaRPr lang="en-US" sz="2800" dirty="0"/>
          </a:p>
        </p:txBody>
      </p:sp>
      <p:sp>
        <p:nvSpPr>
          <p:cNvPr id="3" name="t-0"/>
          <p:cNvSpPr/>
          <p:nvPr/>
        </p:nvSpPr>
        <p:spPr>
          <a:xfrm>
            <a:off x="457200" y="1188720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t-0-n"/>
          <p:cNvSpPr txBox="1"/>
          <p:nvPr/>
        </p:nvSpPr>
        <p:spPr>
          <a:xfrm>
            <a:off x="658368" y="1335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-0-h"/>
          <p:cNvSpPr txBox="1"/>
          <p:nvPr/>
        </p:nvSpPr>
        <p:spPr>
          <a:xfrm>
            <a:off x="10972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Nauczyciel</a:t>
            </a:r>
            <a:endParaRPr lang="en-US" sz="1400" dirty="0"/>
          </a:p>
        </p:txBody>
      </p:sp>
      <p:sp>
        <p:nvSpPr>
          <p:cNvPr id="6" name="t-0-d"/>
          <p:cNvSpPr txBox="1"/>
          <p:nvPr/>
        </p:nvSpPr>
        <p:spPr>
          <a:xfrm>
            <a:off x="1097280" y="1545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zna prawdziwy stan: kąt do celu, wysokość, prędkość</a:t>
            </a:r>
            <a:endParaRPr lang="en-US" sz="1100" dirty="0"/>
          </a:p>
        </p:txBody>
      </p:sp>
      <p:sp>
        <p:nvSpPr>
          <p:cNvPr id="7" name="t-1"/>
          <p:cNvSpPr/>
          <p:nvPr/>
        </p:nvSpPr>
        <p:spPr>
          <a:xfrm>
            <a:off x="457200" y="1975104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8" name="t-1-n"/>
          <p:cNvSpPr txBox="1"/>
          <p:nvPr/>
        </p:nvSpPr>
        <p:spPr>
          <a:xfrm>
            <a:off x="658368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-1-h"/>
          <p:cNvSpPr txBox="1"/>
          <p:nvPr/>
        </p:nvSpPr>
        <p:spPr>
          <a:xfrm>
            <a:off x="109728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Lot mieszany</a:t>
            </a:r>
            <a:endParaRPr lang="en-US" sz="1400" dirty="0"/>
          </a:p>
        </p:txBody>
      </p:sp>
      <p:sp>
        <p:nvSpPr>
          <p:cNvPr id="10" name="t-1-d"/>
          <p:cNvSpPr txBox="1"/>
          <p:nvPr/>
        </p:nvSpPr>
        <p:spPr>
          <a:xfrm>
            <a:off x="109728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 prawdopodobieństwem β steruje nauczyciel, β: 1 → 0</a:t>
            </a:r>
            <a:endParaRPr lang="en-US" sz="1100" dirty="0"/>
          </a:p>
        </p:txBody>
      </p:sp>
      <p:sp>
        <p:nvSpPr>
          <p:cNvPr id="11" name="t-2"/>
          <p:cNvSpPr/>
          <p:nvPr/>
        </p:nvSpPr>
        <p:spPr>
          <a:xfrm>
            <a:off x="457200" y="2761488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2" name="t-2-n"/>
          <p:cNvSpPr txBox="1"/>
          <p:nvPr/>
        </p:nvSpPr>
        <p:spPr>
          <a:xfrm>
            <a:off x="658368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-2-h"/>
          <p:cNvSpPr txBox="1"/>
          <p:nvPr/>
        </p:nvSpPr>
        <p:spPr>
          <a:xfrm>
            <a:off x="10972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Dane</a:t>
            </a:r>
            <a:endParaRPr lang="en-US" sz="1400" dirty="0"/>
          </a:p>
        </p:txBody>
      </p:sp>
      <p:sp>
        <p:nvSpPr>
          <p:cNvPr id="14" name="t-2-d"/>
          <p:cNvSpPr txBox="1"/>
          <p:nvPr/>
        </p:nvSpPr>
        <p:spPr>
          <a:xfrm>
            <a:off x="1097280" y="3118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pary (cechy, komenda nauczyciela); trudne próbki ×3–7</a:t>
            </a:r>
            <a:endParaRPr lang="en-US" sz="1100" dirty="0"/>
          </a:p>
        </p:txBody>
      </p:sp>
      <p:sp>
        <p:nvSpPr>
          <p:cNvPr id="15" name="t-3"/>
          <p:cNvSpPr/>
          <p:nvPr/>
        </p:nvSpPr>
        <p:spPr>
          <a:xfrm>
            <a:off x="457200" y="3547872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6" name="t-3-n"/>
          <p:cNvSpPr txBox="1"/>
          <p:nvPr/>
        </p:nvSpPr>
        <p:spPr>
          <a:xfrm>
            <a:off x="65836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-3-h"/>
          <p:cNvSpPr txBox="1"/>
          <p:nvPr/>
        </p:nvSpPr>
        <p:spPr>
          <a:xfrm>
            <a:off x="10972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Regresja</a:t>
            </a:r>
            <a:endParaRPr lang="en-US" sz="1400" dirty="0"/>
          </a:p>
        </p:txBody>
      </p:sp>
      <p:sp>
        <p:nvSpPr>
          <p:cNvPr id="18" name="t-3-d"/>
          <p:cNvSpPr txBox="1"/>
          <p:nvPr/>
        </p:nvSpPr>
        <p:spPr>
          <a:xfrm>
            <a:off x="10972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wagi od nowa na wszystkich danych (DAgger + ridge)</a:t>
            </a:r>
            <a:endParaRPr lang="en-US" sz="1100" dirty="0"/>
          </a:p>
        </p:txBody>
      </p:sp>
      <p:sp>
        <p:nvSpPr>
          <p:cNvPr id="19" name="split"/>
          <p:cNvSpPr/>
          <p:nvPr/>
        </p:nvSpPr>
        <p:spPr>
          <a:xfrm>
            <a:off x="5303520" y="118872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0" name="split-h"/>
          <p:cNvSpPr txBox="1"/>
          <p:nvPr/>
        </p:nvSpPr>
        <p:spPr>
          <a:xfrm>
            <a:off x="55321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Podział osi</a:t>
            </a:r>
            <a:endParaRPr lang="en-US" sz="1400" dirty="0"/>
          </a:p>
        </p:txBody>
      </p:sp>
      <p:sp>
        <p:nvSpPr>
          <p:cNvPr id="21" name="sp-yaw-dot"/>
          <p:cNvSpPr/>
          <p:nvPr/>
        </p:nvSpPr>
        <p:spPr>
          <a:xfrm>
            <a:off x="5532120" y="1755648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sp-yaw-label"/>
          <p:cNvSpPr txBox="1"/>
          <p:nvPr/>
        </p:nvSpPr>
        <p:spPr>
          <a:xfrm>
            <a:off x="5715000" y="1691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yaw ← tylko BANC (DN)</a:t>
            </a:r>
            <a:endParaRPr lang="en-US" sz="1100" dirty="0"/>
          </a:p>
        </p:txBody>
      </p:sp>
      <p:sp>
        <p:nvSpPr>
          <p:cNvPr id="23" name="sp-ctl-dot"/>
          <p:cNvSpPr/>
          <p:nvPr/>
        </p:nvSpPr>
        <p:spPr>
          <a:xfrm>
            <a:off x="5532120" y="2075688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sp-ctl-label"/>
          <p:cNvSpPr txBox="1"/>
          <p:nvPr/>
        </p:nvSpPr>
        <p:spPr>
          <a:xfrm>
            <a:off x="571500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thrust/roll/pitch ← BANC + czujniki</a:t>
            </a:r>
            <a:endParaRPr lang="en-US" sz="1100" dirty="0"/>
          </a:p>
        </p:txBody>
      </p:sp>
      <p:sp>
        <p:nvSpPr>
          <p:cNvPr id="25" name="dist"/>
          <p:cNvSpPr/>
          <p:nvPr/>
        </p:nvSpPr>
        <p:spPr>
          <a:xfrm>
            <a:off x="5303520" y="278892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26" name="dist-h"/>
          <p:cNvSpPr txBox="1"/>
          <p:nvPr/>
        </p:nvSpPr>
        <p:spPr>
          <a:xfrm>
            <a:off x="5532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AFAFA"/>
                </a:solidFill>
              </a:rPr>
              <a:t>2 GPU w LAN</a:t>
            </a:r>
            <a:endParaRPr lang="en-US" sz="1400" dirty="0"/>
          </a:p>
        </p:txBody>
      </p:sp>
      <p:sp>
        <p:nvSpPr>
          <p:cNvPr id="27" name="dist-d"/>
          <p:cNvSpPr txBox="1"/>
          <p:nvPr/>
        </p:nvSpPr>
        <p:spPr>
          <a:xfrm>
            <a:off x="553212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Master rozdaje światy, workerzy (RTX 4060, RTX 3070 Ti) liczą epizody i odsyłają tylko statystyki XᵀX, Xᵀy — bez klatek wideo.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Wynik: skręt do celu z BANC</a:t>
            </a:r>
            <a:endParaRPr lang="en-US" sz="28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457200" y="109728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-err-value"/>
          <p:cNvSpPr txBox="1"/>
          <p:nvPr/>
        </p:nvSpPr>
        <p:spPr>
          <a:xfrm>
            <a:off x="621792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DD4BF"/>
                </a:solidFill>
              </a:rPr>
              <a:t>2,65°</a:t>
            </a:r>
            <a:endParaRPr lang="en-US" sz="3600" dirty="0"/>
          </a:p>
        </p:txBody>
      </p:sp>
      <p:sp>
        <p:nvSpPr>
          <p:cNvPr id="5" name="s-err-label"/>
          <p:cNvSpPr txBox="1"/>
          <p:nvPr/>
        </p:nvSpPr>
        <p:spPr>
          <a:xfrm>
            <a:off x="6217920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średni końcowy błąd kursu bez nauczyciela (przed treningiem 25,1°)</a:t>
            </a:r>
            <a:endParaRPr lang="en-US" sz="1200" dirty="0"/>
          </a:p>
        </p:txBody>
      </p:sp>
      <p:sp>
        <p:nvSpPr>
          <p:cNvPr id="6" name="s-ep-value"/>
          <p:cNvSpPr txBox="1"/>
          <p:nvPr/>
        </p:nvSpPr>
        <p:spPr>
          <a:xfrm>
            <a:off x="6217920" y="2514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1000</a:t>
            </a:r>
            <a:endParaRPr lang="en-US" sz="3600" dirty="0"/>
          </a:p>
        </p:txBody>
      </p:sp>
      <p:sp>
        <p:nvSpPr>
          <p:cNvPr id="7" name="s-ep-label"/>
          <p:cNvSpPr txBox="1"/>
          <p:nvPr/>
        </p:nvSpPr>
        <p:spPr>
          <a:xfrm>
            <a:off x="6217920" y="3081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epizodów na 2 GPU: 672 + 328</a:t>
            </a:r>
            <a:endParaRPr lang="en-US" sz="1200" dirty="0"/>
          </a:p>
        </p:txBody>
      </p:sp>
      <p:sp>
        <p:nvSpPr>
          <p:cNvPr id="8" name="s-note"/>
          <p:cNvSpPr txBox="1"/>
          <p:nvPr/>
        </p:nvSpPr>
        <p:spPr>
          <a:xfrm>
            <a:off x="62179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Zawis na płaskiej scenie, wysokość trzyma symulator. Kierunek: wyłącznie pojedyncze DN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Lot do celu w świecie: w toku</a:t>
            </a:r>
            <a:endParaRPr lang="en-US" sz="2800" dirty="0"/>
          </a:p>
        </p:txBody>
      </p:sp>
      <p:sp>
        <p:nvSpPr>
          <p:cNvPr id="3" name="c-teacher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c-before"/>
          <p:cNvSpPr/>
          <p:nvPr/>
        </p:nvSpPr>
        <p:spPr>
          <a:xfrm>
            <a:off x="3273552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c-model"/>
          <p:cNvSpPr/>
          <p:nvPr/>
        </p:nvSpPr>
        <p:spPr>
          <a:xfrm>
            <a:off x="608076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6" name="w-t-value"/>
          <p:cNvSpPr txBox="1"/>
          <p:nvPr/>
        </p:nvSpPr>
        <p:spPr>
          <a:xfrm>
            <a:off x="73152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</a:rPr>
              <a:t>6 / 6</a:t>
            </a:r>
            <a:endParaRPr lang="en-US" sz="3600" dirty="0"/>
          </a:p>
        </p:txBody>
      </p:sp>
      <p:sp>
        <p:nvSpPr>
          <p:cNvPr id="7" name="w-t-label"/>
          <p:cNvSpPr txBox="1"/>
          <p:nvPr/>
        </p:nvSpPr>
        <p:spPr>
          <a:xfrm>
            <a:off x="73152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nauczyciel dolatuje do celu — jest od kogo się uczyć</a:t>
            </a:r>
            <a:endParaRPr lang="en-US" sz="1200" dirty="0"/>
          </a:p>
        </p:txBody>
      </p:sp>
      <p:sp>
        <p:nvSpPr>
          <p:cNvPr id="8" name="w-b-value"/>
          <p:cNvSpPr txBox="1"/>
          <p:nvPr/>
        </p:nvSpPr>
        <p:spPr>
          <a:xfrm>
            <a:off x="3547872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1A1AA"/>
                </a:solidFill>
              </a:rPr>
              <a:t>18,1 m</a:t>
            </a:r>
            <a:endParaRPr lang="en-US" sz="3600" dirty="0"/>
          </a:p>
        </p:txBody>
      </p:sp>
      <p:sp>
        <p:nvSpPr>
          <p:cNvPr id="9" name="w-b-label"/>
          <p:cNvSpPr txBox="1"/>
          <p:nvPr/>
        </p:nvSpPr>
        <p:spPr>
          <a:xfrm>
            <a:off x="3547872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przed treningiem: średnio najbliżej celu</a:t>
            </a:r>
            <a:endParaRPr lang="en-US" sz="1200" dirty="0"/>
          </a:p>
        </p:txBody>
      </p:sp>
      <p:sp>
        <p:nvSpPr>
          <p:cNvPr id="10" name="w-m-value"/>
          <p:cNvSpPr txBox="1"/>
          <p:nvPr/>
        </p:nvSpPr>
        <p:spPr>
          <a:xfrm>
            <a:off x="63550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DD4BF"/>
                </a:solidFill>
              </a:rPr>
              <a:t>9,0 m</a:t>
            </a:r>
            <a:endParaRPr lang="en-US" sz="3600" dirty="0"/>
          </a:p>
        </p:txBody>
      </p:sp>
      <p:sp>
        <p:nvSpPr>
          <p:cNvPr id="11" name="w-m-label"/>
          <p:cNvSpPr txBox="1"/>
          <p:nvPr/>
        </p:nvSpPr>
        <p:spPr>
          <a:xfrm>
            <a:off x="635508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</a:rPr>
              <a:t>po 192 epizodach: 2× bliżej, 0 wywrotek, cel 0 / 6</a:t>
            </a:r>
            <a:endParaRPr lang="en-US" sz="1200" dirty="0"/>
          </a:p>
        </p:txBody>
      </p:sp>
      <p:sp>
        <p:nvSpPr>
          <p:cNvPr id="12" name="w-note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Uczciwie: model leci stabilnie i zbliża się do celu, ale jeszcze nie ląduje na polu. Kolejny trening: walidacja co 50 epizodów z zapisem najlepszych wag i doważenie trudnych próbek.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</a:rPr>
              <a:t>Co jest z BANC, a co jest naszym założeniem</a:t>
            </a:r>
            <a:endParaRPr lang="en-US" sz="2800" dirty="0"/>
          </a:p>
        </p:txBody>
      </p:sp>
      <p:sp>
        <p:nvSpPr>
          <p:cNvPr id="3" name="bank"/>
          <p:cNvSpPr/>
          <p:nvPr/>
        </p:nvSpPr>
        <p:spPr>
          <a:xfrm>
            <a:off x="45720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4" name="ours"/>
          <p:cNvSpPr/>
          <p:nvPr/>
        </p:nvSpPr>
        <p:spPr>
          <a:xfrm>
            <a:off x="475488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h-banc-dot"/>
          <p:cNvSpPr/>
          <p:nvPr/>
        </p:nvSpPr>
        <p:spPr>
          <a:xfrm>
            <a:off x="731520" y="14356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" name="h-banc-label"/>
          <p:cNvSpPr txBox="1"/>
          <p:nvPr/>
        </p:nvSpPr>
        <p:spPr>
          <a:xfrm>
            <a:off x="91440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z BANC v888</a:t>
            </a:r>
            <a:endParaRPr lang="en-US" sz="1100" dirty="0"/>
          </a:p>
        </p:txBody>
      </p:sp>
      <p:sp>
        <p:nvSpPr>
          <p:cNvPr id="7" name="h-ours-dot"/>
          <p:cNvSpPr/>
          <p:nvPr/>
        </p:nvSpPr>
        <p:spPr>
          <a:xfrm>
            <a:off x="5029200" y="1435608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h-ours-label"/>
          <p:cNvSpPr txBox="1"/>
          <p:nvPr/>
        </p:nvSpPr>
        <p:spPr>
          <a:xfrm>
            <a:off x="521208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</a:rPr>
              <a:t>nasze założenia</a:t>
            </a:r>
            <a:endParaRPr lang="en-US" sz="1100" dirty="0"/>
          </a:p>
        </p:txBody>
      </p:sp>
      <p:sp>
        <p:nvSpPr>
          <p:cNvPr id="9" name="list-banc"/>
          <p:cNvSpPr txBox="1"/>
          <p:nvPr/>
        </p:nvSpPr>
        <p:spPr>
          <a:xfrm>
            <a:off x="73152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neurony, połączenia, liczby synaps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przewidywany neuroprzekaźnik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grupy lotu z oficjalnych adnotacji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pozycje som i szkielety SWC</a:t>
            </a:r>
            <a:endParaRPr lang="en-US" sz="1400" dirty="0"/>
          </a:p>
        </p:txBody>
      </p:sp>
      <p:sp>
        <p:nvSpPr>
          <p:cNvPr id="10" name="list-ours"/>
          <p:cNvSpPr txBox="1"/>
          <p:nvPr/>
        </p:nvSpPr>
        <p:spPr>
          <a:xfrm>
            <a:off x="502920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model dynamiki i parametry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znaki neuroprzekaźników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mapa FlyVis → BANC po typach komórek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liniowy dekoder i podział osi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czujniki drona dla thrust/roll/pitch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bg" descr="C:\NeuroFly\docs\prezentacja\assets\connectome_wide.jp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914400" cy="539496"/>
          </a:xfrm>
          <a:prstGeom prst="rect">
            <a:avLst/>
          </a:prstGeom>
        </p:spPr>
      </p:pic>
      <p:sp>
        <p:nvSpPr>
          <p:cNvPr id="4" name="thanks"/>
          <p:cNvSpPr txBox="1"/>
          <p:nvPr/>
        </p:nvSpPr>
        <p:spPr>
          <a:xfrm>
            <a:off x="548640" y="1920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</a:rPr>
              <a:t>Dziękujemy</a:t>
            </a:r>
            <a:endParaRPr lang="en-US" sz="4400" dirty="0"/>
          </a:p>
        </p:txBody>
      </p:sp>
      <p:sp>
        <p:nvSpPr>
          <p:cNvPr id="5" name="demo"/>
          <p:cNvSpPr txBox="1"/>
          <p:nvPr/>
        </p:nvSpPr>
        <p:spPr>
          <a:xfrm>
            <a:off x="5486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</a:rPr>
              <a:t>Demo: lot z panelem BANC na żywo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</a:rPr>
              <a:t>i eksplorator 3D connectomu</a:t>
            </a:r>
            <a:endParaRPr lang="en-US" sz="1600" dirty="0"/>
          </a:p>
        </p:txBody>
      </p:sp>
      <p:sp>
        <p:nvSpPr>
          <p:cNvPr id="6" name="repo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D4BF"/>
                </a:solidFill>
              </a:rPr>
              <a:t>github.com/FalconDevX/neurofly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Fly">
  <a:themeElements>
    <a:clrScheme name="NeuroFly">
      <a:dk1>
        <a:srgbClr val="09090B"/>
      </a:dk1>
      <a:lt1>
        <a:srgbClr val="FAFAFA"/>
      </a:lt1>
      <a:dk2>
        <a:srgbClr val="18181B"/>
      </a:dk2>
      <a:lt2>
        <a:srgbClr val="A1A1AA"/>
      </a:lt2>
      <a:accent1>
        <a:srgbClr val="2DD4BF"/>
      </a:accent1>
      <a:accent2>
        <a:srgbClr val="FBBF24"/>
      </a:accent2>
      <a:accent3>
        <a:srgbClr val="FB7185"/>
      </a:accent3>
      <a:accent4>
        <a:srgbClr val="60A5FA"/>
      </a:accent4>
      <a:accent5>
        <a:srgbClr val="52525B"/>
      </a:accent5>
      <a:accent6>
        <a:srgbClr val="27272A"/>
      </a:accent6>
      <a:hlink>
        <a:srgbClr val="2DD4BF"/>
      </a:hlink>
      <a:folHlink>
        <a:srgbClr val="A1A1AA"/>
      </a:folHlink>
    </a:clrScheme>
    <a:fontScheme name="NeuroFl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 — mózg muszki pilotuje drona</dc:title>
  <dc:subject>PptxGenJS Presentation</dc:subject>
  <dc:creator>Zespół NeuroFly</dc:creator>
  <cp:lastModifiedBy>Zespół NeuroFly</cp:lastModifiedBy>
  <cp:revision>1</cp:revision>
  <dcterms:created xsi:type="dcterms:W3CDTF">2026-10-03T19:35:09Z</dcterms:created>
  <dcterms:modified xsi:type="dcterms:W3CDTF">2026-10-03T19:35:09Z</dcterms:modified>
</cp:coreProperties>
</file>