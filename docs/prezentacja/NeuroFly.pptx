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embeddedFontLst>
    <p:embeddedFont>
      <p:font typeface="Cambria" panose="02040503050406030204" pitchFamily="18" charset="0"/>
      <p:regular r:id="rId18"/>
      <p:bold r:id="rId19"/>
      <p:italic r:id="rId20"/>
      <p:boldItalic r:id="rId21"/>
    </p:embeddedFont>
    <p:embeddedFont>
      <p:font typeface="Michroma" pitchFamily="2" charset="-18"/>
      <p:regular r:id="rId22"/>
    </p:embeddedFont>
    <p:embeddedFont>
      <p:font typeface="Roboto" panose="02000000000000000000" pitchFamily="2" charset="0"/>
      <p:regular r:id="rId23"/>
      <p:bold r:id="rId24"/>
      <p:italic r:id="rId25"/>
      <p:boldItalic r:id="rId26"/>
    </p:embeddedFont>
    <p:embeddedFont>
      <p:font typeface="Roboto Light" panose="02000000000000000000" pitchFamily="2" charset="0"/>
      <p:regular r:id="rId27"/>
      <p:italic r:id="rId2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573820FA-5B93-0494-DC10-7ECFFEF6595C}">
          <p14:sldIdLst>
            <p14:sldId id="256"/>
          </p14:sldIdLst>
        </p14:section>
        <p14:section name="Idea" id="{22D4F942-DD6B-BD2D-9C22-D0518467C7CE}">
          <p14:sldIdLst>
            <p14:sldId id="257"/>
          </p14:sldIdLst>
        </p14:section>
        <p14:section name="Pipeline" id="{4247A437-3116-93E0-FD8A-29897642431B}">
          <p14:sldIdLst>
            <p14:sldId id="258"/>
            <p14:sldId id="259"/>
          </p14:sldIdLst>
        </p14:section>
        <p14:section name="Connectome" id="{A3831444-4CC0-1D5C-17BE-8216896E8036}">
          <p14:sldIdLst>
            <p14:sldId id="260"/>
            <p14:sldId id="261"/>
            <p14:sldId id="262"/>
          </p14:sldIdLst>
        </p14:section>
        <p14:section name="Readout" id="{B7F8CB6F-BE28-F902-A773-D0C2C14B9D1D}">
          <p14:sldIdLst>
            <p14:sldId id="263"/>
            <p14:sldId id="264"/>
          </p14:sldIdLst>
        </p14:section>
        <p14:section name="Simulator" id="{1CE081F1-F026-EF5F-7FA5-29423A14FF23}">
          <p14:sldIdLst>
            <p14:sldId id="265"/>
          </p14:sldIdLst>
        </p14:section>
        <p14:section name="Training" id="{BE7252F3-ECC3-303D-BFA8-4CC4096CE437}">
          <p14:sldIdLst>
            <p14:sldId id="266"/>
          </p14:sldIdLst>
        </p14:section>
        <p14:section name="Results" id="{0CB9DA72-8CDB-8AEB-9A18-31981BA63484}">
          <p14:sldIdLst>
            <p14:sldId id="267"/>
            <p14:sldId id="268"/>
          </p14:sldIdLst>
        </p14:section>
        <p14:section name="Honesty" id="{263AFCF0-05A5-C9AF-1039-C9CFBE387313}">
          <p14:sldIdLst>
            <p14:sldId id="269"/>
          </p14:sldIdLst>
        </p14:section>
        <p14:section name="End" id="{F6B167D5-0BF0-2699-EA22-75A571AF06EE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Target-side accuracy</c:v>
                </c:pt>
              </c:strCache>
            </c:strRef>
          </c:tx>
          <c:spPr>
            <a:solidFill>
              <a:srgbClr val="52525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313-4245-8AE6-ED095B3AA7DA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D313-4245-8AE6-ED095B3AA7DA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D313-4245-8AE6-ED095B3AA7DA}"/>
              </c:ext>
            </c:extLst>
          </c:dPt>
          <c:dPt>
            <c:idx val="3"/>
            <c:invertIfNegative val="0"/>
            <c:bubble3D val="0"/>
            <c:spPr>
              <a:solidFill>
                <a:srgbClr val="FF2D6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D313-4245-8AE6-ED095B3AA7DA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AFAFA"/>
                    </a:solidFill>
                    <a:latin typeface="+mn-lt"/>
                  </a:defRPr>
                </a:pPr>
                <a:endParaRPr lang="pl-P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6 MN averages</c:v>
                </c:pt>
                <c:pt idx="1">
                  <c:v>single MNs</c:v>
                </c:pt>
                <c:pt idx="2">
                  <c:v>vision (VPN)</c:v>
                </c:pt>
                <c:pt idx="3">
                  <c:v>single flight DNs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</c:v>
                </c:pt>
                <c:pt idx="1">
                  <c:v>84</c:v>
                </c:pt>
                <c:pt idx="2">
                  <c:v>94</c:v>
                </c:pt>
                <c:pt idx="3">
                  <c:v>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D313-4245-8AE6-ED095B3AA7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1A1A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training</c:v>
                </c:pt>
              </c:strCache>
            </c:strRef>
          </c:tx>
          <c:spPr>
            <a:solidFill>
              <a:srgbClr val="52525B"/>
            </a:solidFill>
            <a:effectLst/>
          </c:spPr>
          <c:invertIfNegative val="0"/>
          <c:dLbls>
            <c:numFmt formatCode="0.0&quot;°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FAFAFA"/>
                    </a:solidFill>
                    <a:latin typeface="+mn-lt"/>
                  </a:defRPr>
                </a:pPr>
                <a:endParaRPr lang="pl-P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target −60°</c:v>
                </c:pt>
                <c:pt idx="1">
                  <c:v>target −30°</c:v>
                </c:pt>
                <c:pt idx="2">
                  <c:v>target +30°</c:v>
                </c:pt>
                <c:pt idx="3">
                  <c:v>target +60°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24.8</c:v>
                </c:pt>
                <c:pt idx="1">
                  <c:v>21.5</c:v>
                </c:pt>
                <c:pt idx="2">
                  <c:v>21.7</c:v>
                </c:pt>
                <c:pt idx="3">
                  <c:v>32.5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0B6-41D5-9D28-A9B32F01928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training</c:v>
                </c:pt>
              </c:strCache>
            </c:strRef>
          </c:tx>
          <c:spPr>
            <a:solidFill>
              <a:srgbClr val="FF2D6F"/>
            </a:solidFill>
            <a:effectLst/>
          </c:spPr>
          <c:invertIfNegative val="0"/>
          <c:dLbls>
            <c:numFmt formatCode="0.0&quot;°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FAFAFA"/>
                    </a:solidFill>
                    <a:latin typeface="+mn-lt"/>
                  </a:defRPr>
                </a:pPr>
                <a:endParaRPr lang="pl-P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target −60°</c:v>
                </c:pt>
                <c:pt idx="1">
                  <c:v>target −30°</c:v>
                </c:pt>
                <c:pt idx="2">
                  <c:v>target +30°</c:v>
                </c:pt>
                <c:pt idx="3">
                  <c:v>target +60°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</c:v>
                </c:pt>
                <c:pt idx="1">
                  <c:v>3.1</c:v>
                </c:pt>
                <c:pt idx="2">
                  <c:v>2.2999999999999998</c:v>
                </c:pt>
                <c:pt idx="3">
                  <c:v>5.0999999999999996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0B6-41D5-9D28-A9B32F01928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1A1A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1A1A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5345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NeuroFly: the drone camera image goes through a model of the fly eye (FlyVis), then through the real Drosophila connectome (BANC v888, brain + ventral nerve cord), and flight-neuron activity steers the drone in simulation. Render: semi-transparent NeuroMechFly body (FlyGym) with the BANC connectome inside — body alignment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camera frame goes through the whole loop ~30 times per second. There is no hand-coded heading controller: the direction to the target is read out from descending-neuron (DN) activity in BANC.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row: everything that happens before the connectome. Bottom row: connectome, flight-neuron readout, decoder and drone. One frame (FlyVis + 4 BANC dynamics substeps on the GPU) takes ~15–20 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target (dark pole) is on the right: only the right eye sees it, as a dark column of ommatidia.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Official BANC v888 (Bates et al. 2026, public Lee Lab bucket). Somas from the position column; colors as in the explorer: vision teal, interneurons violet, DNs amber, motor neurons rose. No synthetic graphs.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Ridge regression angle ~ activity, target at −90…+90° at 3 distances, validated on the distance left out of training (scripts/check_side_decoding.py).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euroFly\docs\prezentacja\assets\acc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182880"/>
            <a:ext cx="36576" cy="749808"/>
          </a:xfrm>
          <a:prstGeom prst="rect">
            <a:avLst/>
          </a:prstGeom>
        </p:spPr>
      </p:pic>
      <p:pic>
        <p:nvPicPr>
          <p:cNvPr id="3" name="Image 1" descr="C:\NeuroFly\docs\prezentacja\assets\chev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256032"/>
            <a:ext cx="411480" cy="274320"/>
          </a:xfrm>
          <a:prstGeom prst="rect">
            <a:avLst/>
          </a:prstGeom>
        </p:spPr>
      </p:pic>
      <p:pic>
        <p:nvPicPr>
          <p:cNvPr id="4" name="Image 2" descr="C:\NeuroFly\docs\prezentacja\assets\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690872"/>
            <a:ext cx="310896" cy="18288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960" y="46451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1A1AA"/>
                </a:solidFill>
              </a:rPr>
              <a:t>NeuroFly</a:t>
            </a:r>
            <a:endParaRPr lang="en-US" sz="1000" dirty="0"/>
          </a:p>
        </p:txBody>
      </p:sp>
      <p:sp>
        <p:nvSpPr>
          <p:cNvPr id="6" name="Text 1"/>
          <p:cNvSpPr>
            <a:spLocks noGrp="1"/>
          </p:cNvSpPr>
          <p:nvPr>
            <p:ph type="title" idx="104" hasCustomPrompt="1"/>
          </p:nvPr>
        </p:nvSpPr>
        <p:spPr>
          <a:xfrm>
            <a:off x="566928" y="457200"/>
            <a:ext cx="75895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kern="0" spc="100" dirty="0">
                <a:solidFill>
                  <a:srgbClr val="FAFAFA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jpg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nder-fly-xray" descr="C:\NeuroFly\docs\prezentacja\assets\fly_xr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91440"/>
            <a:ext cx="5897880" cy="3401568"/>
          </a:xfrm>
          <a:prstGeom prst="rect">
            <a:avLst/>
          </a:prstGeom>
        </p:spPr>
      </p:pic>
      <p:pic>
        <p:nvPicPr>
          <p:cNvPr id="3" name="logo" descr="C:\NeuroFly\docs\prezentacja\assets\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868680"/>
            <a:ext cx="914400" cy="539496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548640" y="1627632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0" dirty="0">
                <a:solidFill>
                  <a:srgbClr val="FF2D6F"/>
                </a:solidFill>
              </a:rPr>
              <a:t>BANC V888 CONNECTOME</a:t>
            </a:r>
            <a:endParaRPr lang="en-US" sz="90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187452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kern="0" spc="200" dirty="0">
                <a:solidFill>
                  <a:srgbClr val="FAFAFA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NEUROFLY</a:t>
            </a:r>
            <a:endParaRPr lang="en-US" sz="4000" dirty="0"/>
          </a:p>
        </p:txBody>
      </p:sp>
      <p:pic>
        <p:nvPicPr>
          <p:cNvPr id="6" name="accent-line" descr="C:\NeuroFly\docs\prezentacja\assets\accent_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788920"/>
            <a:ext cx="45720" cy="868680"/>
          </a:xfrm>
          <a:prstGeom prst="rect">
            <a:avLst/>
          </a:prstGeom>
        </p:spPr>
      </p:pic>
      <p:pic>
        <p:nvPicPr>
          <p:cNvPr id="7" name="chevron" descr="C:\NeuroFly\docs\prezentacja\assets\chevr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2834640"/>
            <a:ext cx="384048" cy="256032"/>
          </a:xfrm>
          <a:prstGeom prst="rect">
            <a:avLst/>
          </a:prstGeom>
        </p:spPr>
      </p:pic>
      <p:sp>
        <p:nvSpPr>
          <p:cNvPr id="8" name="subtitle"/>
          <p:cNvSpPr txBox="1"/>
          <p:nvPr/>
        </p:nvSpPr>
        <p:spPr>
          <a:xfrm>
            <a:off x="1234440" y="27889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A1A1AA"/>
                </a:solidFill>
              </a:rPr>
              <a:t>A fruit-fly brain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A1A1AA"/>
                </a:solidFill>
              </a:rPr>
              <a:t>flies a drone</a:t>
            </a:r>
            <a:endParaRPr lang="en-US" sz="1800" dirty="0"/>
          </a:p>
        </p:txBody>
      </p:sp>
      <p:sp>
        <p:nvSpPr>
          <p:cNvPr id="9" name="footer"/>
          <p:cNvSpPr txBox="1"/>
          <p:nvPr/>
        </p:nvSpPr>
        <p:spPr>
          <a:xfrm>
            <a:off x="548640" y="4343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400" dirty="0">
                <a:solidFill>
                  <a:srgbClr val="A1A1AA"/>
                </a:solidFill>
              </a:rPr>
              <a:t>FULL BANC V888 CONNECTOME  ·  175,401 NEURONS  ·  CLOSED LOOP IN MUJOCO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66928" y="219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600" dirty="0">
                <a:solidFill>
                  <a:srgbClr val="FF2D6F"/>
                </a:solidFill>
              </a:rPr>
              <a:t>IDEA</a:t>
            </a:r>
            <a:endParaRPr lang="en-US" sz="800" dirty="0"/>
          </a:p>
        </p:txBody>
      </p:sp>
      <p:sp>
        <p:nvSpPr>
          <p:cNvPr id="3" name="Text 1"/>
          <p:cNvSpPr>
            <a:spLocks noGrp="1"/>
          </p:cNvSpPr>
          <p:nvPr>
            <p:ph type="title" idx="104" hasCustomPrompt="1"/>
          </p:nvPr>
        </p:nvSpPr>
        <p:spPr>
          <a:xfrm>
            <a:off x="566928" y="4572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kern="0" spc="100" dirty="0">
                <a:solidFill>
                  <a:srgbClr val="FAFAFA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CLOSED LOOP: VISION → FLIGHT</a:t>
            </a:r>
            <a:endParaRPr lang="en-US" sz="1600" dirty="0"/>
          </a:p>
        </p:txBody>
      </p:sp>
      <p:sp>
        <p:nvSpPr>
          <p:cNvPr id="4" name="step-0"/>
          <p:cNvSpPr/>
          <p:nvPr/>
        </p:nvSpPr>
        <p:spPr>
          <a:xfrm>
            <a:off x="3520440" y="941832"/>
            <a:ext cx="2103120" cy="768096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5" name="step-0-dot"/>
          <p:cNvSpPr/>
          <p:nvPr/>
        </p:nvSpPr>
        <p:spPr>
          <a:xfrm>
            <a:off x="3685032" y="1106424"/>
            <a:ext cx="146304" cy="146304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6" name="step-0-title"/>
          <p:cNvSpPr txBox="1"/>
          <p:nvPr/>
        </p:nvSpPr>
        <p:spPr>
          <a:xfrm>
            <a:off x="3931920" y="10332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Image</a:t>
            </a:r>
            <a:endParaRPr lang="en-US" sz="1500" dirty="0"/>
          </a:p>
        </p:txBody>
      </p:sp>
      <p:sp>
        <p:nvSpPr>
          <p:cNvPr id="7" name="step-0-desc"/>
          <p:cNvSpPr txBox="1"/>
          <p:nvPr/>
        </p:nvSpPr>
        <p:spPr>
          <a:xfrm>
            <a:off x="3931920" y="13441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two eye cameras on the drone</a:t>
            </a:r>
            <a:endParaRPr lang="en-US" sz="1100" dirty="0"/>
          </a:p>
        </p:txBody>
      </p:sp>
      <p:sp>
        <p:nvSpPr>
          <p:cNvPr id="8" name="step-1"/>
          <p:cNvSpPr/>
          <p:nvPr/>
        </p:nvSpPr>
        <p:spPr>
          <a:xfrm>
            <a:off x="5717286" y="2359152"/>
            <a:ext cx="2103120" cy="768096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9" name="step-1-dot"/>
          <p:cNvSpPr/>
          <p:nvPr/>
        </p:nvSpPr>
        <p:spPr>
          <a:xfrm>
            <a:off x="5881878" y="2523744"/>
            <a:ext cx="146304" cy="146304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0" name="step-1-title"/>
          <p:cNvSpPr txBox="1"/>
          <p:nvPr/>
        </p:nvSpPr>
        <p:spPr>
          <a:xfrm>
            <a:off x="6128766" y="245059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Connectome</a:t>
            </a:r>
            <a:endParaRPr lang="en-US" sz="1500" dirty="0"/>
          </a:p>
        </p:txBody>
      </p:sp>
      <p:sp>
        <p:nvSpPr>
          <p:cNvPr id="11" name="step-1-desc"/>
          <p:cNvSpPr txBox="1"/>
          <p:nvPr/>
        </p:nvSpPr>
        <p:spPr>
          <a:xfrm>
            <a:off x="6128766" y="27614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BANC v888 on the GPU</a:t>
            </a:r>
            <a:endParaRPr lang="en-US" sz="1100" dirty="0"/>
          </a:p>
        </p:txBody>
      </p:sp>
      <p:sp>
        <p:nvSpPr>
          <p:cNvPr id="12" name="step-2"/>
          <p:cNvSpPr/>
          <p:nvPr/>
        </p:nvSpPr>
        <p:spPr>
          <a:xfrm>
            <a:off x="3520440" y="3776472"/>
            <a:ext cx="2103120" cy="768096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3" name="step-2-dot"/>
          <p:cNvSpPr/>
          <p:nvPr/>
        </p:nvSpPr>
        <p:spPr>
          <a:xfrm>
            <a:off x="3685032" y="3941064"/>
            <a:ext cx="146304" cy="146304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4" name="step-2-title"/>
          <p:cNvSpPr txBox="1"/>
          <p:nvPr/>
        </p:nvSpPr>
        <p:spPr>
          <a:xfrm>
            <a:off x="3931920" y="386791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Control</a:t>
            </a:r>
            <a:endParaRPr lang="en-US" sz="1500" dirty="0"/>
          </a:p>
        </p:txBody>
      </p:sp>
      <p:sp>
        <p:nvSpPr>
          <p:cNvPr id="15" name="step-2-desc"/>
          <p:cNvSpPr txBox="1"/>
          <p:nvPr/>
        </p:nvSpPr>
        <p:spPr>
          <a:xfrm>
            <a:off x="3931920" y="41788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flight neurons → commands</a:t>
            </a:r>
            <a:endParaRPr lang="en-US" sz="1100" dirty="0"/>
          </a:p>
        </p:txBody>
      </p:sp>
      <p:sp>
        <p:nvSpPr>
          <p:cNvPr id="16" name="step-3"/>
          <p:cNvSpPr/>
          <p:nvPr/>
        </p:nvSpPr>
        <p:spPr>
          <a:xfrm>
            <a:off x="1323594" y="2359152"/>
            <a:ext cx="2103120" cy="768096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7" name="step-3-dot"/>
          <p:cNvSpPr/>
          <p:nvPr/>
        </p:nvSpPr>
        <p:spPr>
          <a:xfrm>
            <a:off x="1488186" y="2523744"/>
            <a:ext cx="146304" cy="146304"/>
          </a:xfrm>
          <a:prstGeom prst="ellipse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8" name="step-3-title"/>
          <p:cNvSpPr txBox="1"/>
          <p:nvPr/>
        </p:nvSpPr>
        <p:spPr>
          <a:xfrm>
            <a:off x="1735074" y="245059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Motion</a:t>
            </a:r>
            <a:endParaRPr lang="en-US" sz="1500" dirty="0"/>
          </a:p>
        </p:txBody>
      </p:sp>
      <p:sp>
        <p:nvSpPr>
          <p:cNvPr id="19" name="step-3-desc"/>
          <p:cNvSpPr txBox="1"/>
          <p:nvPr/>
        </p:nvSpPr>
        <p:spPr>
          <a:xfrm>
            <a:off x="1735074" y="27614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drone in MuJoCo → new image</a:t>
            </a:r>
            <a:endParaRPr lang="en-US" sz="1100" dirty="0"/>
          </a:p>
        </p:txBody>
      </p:sp>
      <p:pic>
        <p:nvPicPr>
          <p:cNvPr id="20" name="logo-center" descr="C:\NeuroFly\docs\prezentacja\assets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2450592"/>
            <a:ext cx="1005840" cy="594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66928" y="219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600" dirty="0">
                <a:solidFill>
                  <a:srgbClr val="FF2D6F"/>
                </a:solidFill>
              </a:rPr>
              <a:t>PIPELINE</a:t>
            </a:r>
            <a:endParaRPr lang="en-US" sz="800" dirty="0"/>
          </a:p>
        </p:txBody>
      </p:sp>
      <p:sp>
        <p:nvSpPr>
          <p:cNvPr id="3" name="Text 1"/>
          <p:cNvSpPr>
            <a:spLocks noGrp="1"/>
          </p:cNvSpPr>
          <p:nvPr>
            <p:ph type="title" idx="104" hasCustomPrompt="1"/>
          </p:nvPr>
        </p:nvSpPr>
        <p:spPr>
          <a:xfrm>
            <a:off x="566928" y="4572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kern="0" spc="100" dirty="0">
                <a:solidFill>
                  <a:srgbClr val="FAFAFA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PIPELINE: FROM PIXEL TO PROPELLER</a:t>
            </a:r>
            <a:endParaRPr lang="en-US" sz="1600" dirty="0"/>
          </a:p>
        </p:txBody>
      </p:sp>
      <p:sp>
        <p:nvSpPr>
          <p:cNvPr id="4" name="node-0"/>
          <p:cNvSpPr/>
          <p:nvPr/>
        </p:nvSpPr>
        <p:spPr>
          <a:xfrm>
            <a:off x="457200" y="1325880"/>
            <a:ext cx="1755648" cy="932688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5" name="node-0-dot"/>
          <p:cNvSpPr/>
          <p:nvPr/>
        </p:nvSpPr>
        <p:spPr>
          <a:xfrm>
            <a:off x="603504" y="1508760"/>
            <a:ext cx="128016" cy="128016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6" name="node-0-title"/>
          <p:cNvSpPr txBox="1"/>
          <p:nvPr/>
        </p:nvSpPr>
        <p:spPr>
          <a:xfrm>
            <a:off x="804672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Camera</a:t>
            </a:r>
            <a:endParaRPr lang="en-US" sz="1500" dirty="0"/>
          </a:p>
        </p:txBody>
      </p:sp>
      <p:sp>
        <p:nvSpPr>
          <p:cNvPr id="7" name="node-0-desc"/>
          <p:cNvSpPr txBox="1"/>
          <p:nvPr/>
        </p:nvSpPr>
        <p:spPr>
          <a:xfrm>
            <a:off x="603504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2 MuJoCo eyes, 157°, ±70°</a:t>
            </a:r>
            <a:endParaRPr lang="en-US" sz="1100" dirty="0"/>
          </a:p>
        </p:txBody>
      </p:sp>
      <p:sp>
        <p:nvSpPr>
          <p:cNvPr id="8" name="arrow-0"/>
          <p:cNvSpPr/>
          <p:nvPr/>
        </p:nvSpPr>
        <p:spPr>
          <a:xfrm>
            <a:off x="2249424" y="179222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9" name="node-1"/>
          <p:cNvSpPr/>
          <p:nvPr/>
        </p:nvSpPr>
        <p:spPr>
          <a:xfrm>
            <a:off x="2551176" y="1325880"/>
            <a:ext cx="1755648" cy="932688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0" name="node-1-dot"/>
          <p:cNvSpPr/>
          <p:nvPr/>
        </p:nvSpPr>
        <p:spPr>
          <a:xfrm>
            <a:off x="2697480" y="1508760"/>
            <a:ext cx="128016" cy="128016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11" name="node-1-title"/>
          <p:cNvSpPr txBox="1"/>
          <p:nvPr/>
        </p:nvSpPr>
        <p:spPr>
          <a:xfrm>
            <a:off x="2898648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Retina</a:t>
            </a:r>
            <a:endParaRPr lang="en-US" sz="1500" dirty="0"/>
          </a:p>
        </p:txBody>
      </p:sp>
      <p:sp>
        <p:nvSpPr>
          <p:cNvPr id="12" name="node-1-desc"/>
          <p:cNvSpPr txBox="1"/>
          <p:nvPr/>
        </p:nvSpPr>
        <p:spPr>
          <a:xfrm>
            <a:off x="2697480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FlyGym: 721 ommatidia / eye</a:t>
            </a:r>
            <a:endParaRPr lang="en-US" sz="1100" dirty="0"/>
          </a:p>
        </p:txBody>
      </p:sp>
      <p:sp>
        <p:nvSpPr>
          <p:cNvPr id="13" name="arrow-1"/>
          <p:cNvSpPr/>
          <p:nvPr/>
        </p:nvSpPr>
        <p:spPr>
          <a:xfrm>
            <a:off x="4343400" y="179222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14" name="node-2"/>
          <p:cNvSpPr/>
          <p:nvPr/>
        </p:nvSpPr>
        <p:spPr>
          <a:xfrm>
            <a:off x="4645152" y="1325880"/>
            <a:ext cx="1755648" cy="932688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5" name="node-2-dot"/>
          <p:cNvSpPr/>
          <p:nvPr/>
        </p:nvSpPr>
        <p:spPr>
          <a:xfrm>
            <a:off x="4791456" y="1508760"/>
            <a:ext cx="128016" cy="128016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16" name="node-2-title"/>
          <p:cNvSpPr txBox="1"/>
          <p:nvPr/>
        </p:nvSpPr>
        <p:spPr>
          <a:xfrm>
            <a:off x="4992624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FlyVis</a:t>
            </a:r>
            <a:endParaRPr lang="en-US" sz="1500" dirty="0"/>
          </a:p>
        </p:txBody>
      </p:sp>
      <p:sp>
        <p:nvSpPr>
          <p:cNvPr id="17" name="node-2-desc"/>
          <p:cNvSpPr txBox="1"/>
          <p:nvPr/>
        </p:nvSpPr>
        <p:spPr>
          <a:xfrm>
            <a:off x="4791456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optic lobe model</a:t>
            </a:r>
            <a:endParaRPr lang="en-US" sz="1100" dirty="0"/>
          </a:p>
        </p:txBody>
      </p:sp>
      <p:sp>
        <p:nvSpPr>
          <p:cNvPr id="18" name="arrow-2"/>
          <p:cNvSpPr/>
          <p:nvPr/>
        </p:nvSpPr>
        <p:spPr>
          <a:xfrm>
            <a:off x="6437376" y="179222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19" name="node-3"/>
          <p:cNvSpPr/>
          <p:nvPr/>
        </p:nvSpPr>
        <p:spPr>
          <a:xfrm>
            <a:off x="6739128" y="1325880"/>
            <a:ext cx="1755648" cy="932688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20" name="node-3-dot"/>
          <p:cNvSpPr/>
          <p:nvPr/>
        </p:nvSpPr>
        <p:spPr>
          <a:xfrm>
            <a:off x="6885432" y="1508760"/>
            <a:ext cx="128016" cy="128016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21" name="node-3-title"/>
          <p:cNvSpPr txBox="1"/>
          <p:nvPr/>
        </p:nvSpPr>
        <p:spPr>
          <a:xfrm>
            <a:off x="7086600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Map → BANC</a:t>
            </a:r>
            <a:endParaRPr lang="en-US" sz="1500" dirty="0"/>
          </a:p>
        </p:txBody>
      </p:sp>
      <p:sp>
        <p:nvSpPr>
          <p:cNvPr id="22" name="node-3-desc"/>
          <p:cNvSpPr txBox="1"/>
          <p:nvPr/>
        </p:nvSpPr>
        <p:spPr>
          <a:xfrm>
            <a:off x="6885432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22,462 v888 neurons</a:t>
            </a:r>
            <a:endParaRPr lang="en-US" sz="1100" dirty="0"/>
          </a:p>
        </p:txBody>
      </p:sp>
      <p:sp>
        <p:nvSpPr>
          <p:cNvPr id="23" name="node-4"/>
          <p:cNvSpPr/>
          <p:nvPr/>
        </p:nvSpPr>
        <p:spPr>
          <a:xfrm>
            <a:off x="6739128" y="2971800"/>
            <a:ext cx="1755648" cy="932688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24" name="node-4-dot"/>
          <p:cNvSpPr/>
          <p:nvPr/>
        </p:nvSpPr>
        <p:spPr>
          <a:xfrm>
            <a:off x="6885432" y="3154680"/>
            <a:ext cx="128016" cy="128016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25" name="node-4-title"/>
          <p:cNvSpPr txBox="1"/>
          <p:nvPr/>
        </p:nvSpPr>
        <p:spPr>
          <a:xfrm>
            <a:off x="7086600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BANC v888</a:t>
            </a:r>
            <a:endParaRPr lang="en-US" sz="1500" dirty="0"/>
          </a:p>
        </p:txBody>
      </p:sp>
      <p:sp>
        <p:nvSpPr>
          <p:cNvPr id="26" name="node-4-desc"/>
          <p:cNvSpPr txBox="1"/>
          <p:nvPr/>
        </p:nvSpPr>
        <p:spPr>
          <a:xfrm>
            <a:off x="6885432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175,401 neurons, GPU</a:t>
            </a:r>
            <a:endParaRPr lang="en-US" sz="1100" dirty="0"/>
          </a:p>
        </p:txBody>
      </p:sp>
      <p:sp>
        <p:nvSpPr>
          <p:cNvPr id="27" name="arrow-4"/>
          <p:cNvSpPr/>
          <p:nvPr/>
        </p:nvSpPr>
        <p:spPr>
          <a:xfrm flipH="1">
            <a:off x="6437376" y="343814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28" name="node-5"/>
          <p:cNvSpPr/>
          <p:nvPr/>
        </p:nvSpPr>
        <p:spPr>
          <a:xfrm>
            <a:off x="4645152" y="2971800"/>
            <a:ext cx="1755648" cy="932688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29" name="node-5-dot"/>
          <p:cNvSpPr/>
          <p:nvPr/>
        </p:nvSpPr>
        <p:spPr>
          <a:xfrm>
            <a:off x="4791456" y="3154680"/>
            <a:ext cx="128016" cy="128016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30" name="node-5-title"/>
          <p:cNvSpPr txBox="1"/>
          <p:nvPr/>
        </p:nvSpPr>
        <p:spPr>
          <a:xfrm>
            <a:off x="4992624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Readout</a:t>
            </a:r>
            <a:endParaRPr lang="en-US" sz="1500" dirty="0"/>
          </a:p>
        </p:txBody>
      </p:sp>
      <p:sp>
        <p:nvSpPr>
          <p:cNvPr id="31" name="node-5-desc"/>
          <p:cNvSpPr txBox="1"/>
          <p:nvPr/>
        </p:nvSpPr>
        <p:spPr>
          <a:xfrm>
            <a:off x="4791456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6 MN groups + 375 flight DNs</a:t>
            </a:r>
            <a:endParaRPr lang="en-US" sz="1100" dirty="0"/>
          </a:p>
        </p:txBody>
      </p:sp>
      <p:sp>
        <p:nvSpPr>
          <p:cNvPr id="32" name="arrow-5"/>
          <p:cNvSpPr/>
          <p:nvPr/>
        </p:nvSpPr>
        <p:spPr>
          <a:xfrm flipH="1">
            <a:off x="4343400" y="343814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33" name="node-6"/>
          <p:cNvSpPr/>
          <p:nvPr/>
        </p:nvSpPr>
        <p:spPr>
          <a:xfrm>
            <a:off x="2551176" y="2971800"/>
            <a:ext cx="1755648" cy="932688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34" name="node-6-dot"/>
          <p:cNvSpPr/>
          <p:nvPr/>
        </p:nvSpPr>
        <p:spPr>
          <a:xfrm>
            <a:off x="2697480" y="3154680"/>
            <a:ext cx="128016" cy="128016"/>
          </a:xfrm>
          <a:prstGeom prst="ellipse">
            <a:avLst/>
          </a:prstGeom>
          <a:solidFill>
            <a:srgbClr val="A1A1AA"/>
          </a:solidFill>
          <a:ln w="12700">
            <a:solidFill>
              <a:srgbClr val="A1A1AA"/>
            </a:solidFill>
            <a:prstDash val="solid"/>
          </a:ln>
        </p:spPr>
      </p:sp>
      <p:sp>
        <p:nvSpPr>
          <p:cNvPr id="35" name="node-6-title"/>
          <p:cNvSpPr txBox="1"/>
          <p:nvPr/>
        </p:nvSpPr>
        <p:spPr>
          <a:xfrm>
            <a:off x="2898648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Decoder</a:t>
            </a:r>
            <a:endParaRPr lang="en-US" sz="1500" dirty="0"/>
          </a:p>
        </p:txBody>
      </p:sp>
      <p:sp>
        <p:nvSpPr>
          <p:cNvPr id="36" name="node-6-desc"/>
          <p:cNvSpPr txBox="1"/>
          <p:nvPr/>
        </p:nvSpPr>
        <p:spPr>
          <a:xfrm>
            <a:off x="2697480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linear, trained (DAgger)</a:t>
            </a:r>
            <a:endParaRPr lang="en-US" sz="1100" dirty="0"/>
          </a:p>
        </p:txBody>
      </p:sp>
      <p:sp>
        <p:nvSpPr>
          <p:cNvPr id="37" name="arrow-6"/>
          <p:cNvSpPr/>
          <p:nvPr/>
        </p:nvSpPr>
        <p:spPr>
          <a:xfrm flipH="1">
            <a:off x="2249424" y="343814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38" name="node-7"/>
          <p:cNvSpPr/>
          <p:nvPr/>
        </p:nvSpPr>
        <p:spPr>
          <a:xfrm>
            <a:off x="457200" y="2971800"/>
            <a:ext cx="1755648" cy="932688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39" name="node-7-dot"/>
          <p:cNvSpPr/>
          <p:nvPr/>
        </p:nvSpPr>
        <p:spPr>
          <a:xfrm>
            <a:off x="603504" y="3154680"/>
            <a:ext cx="128016" cy="128016"/>
          </a:xfrm>
          <a:prstGeom prst="ellipse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0" name="node-7-title"/>
          <p:cNvSpPr txBox="1"/>
          <p:nvPr/>
        </p:nvSpPr>
        <p:spPr>
          <a:xfrm>
            <a:off x="804672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Drone</a:t>
            </a:r>
            <a:endParaRPr lang="en-US" sz="1500" dirty="0"/>
          </a:p>
        </p:txBody>
      </p:sp>
      <p:sp>
        <p:nvSpPr>
          <p:cNvPr id="41" name="node-7-desc"/>
          <p:cNvSpPr txBox="1"/>
          <p:nvPr/>
        </p:nvSpPr>
        <p:spPr>
          <a:xfrm>
            <a:off x="603504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thrust · roll · pitch · yaw</a:t>
            </a:r>
            <a:endParaRPr lang="en-US" sz="1100" dirty="0"/>
          </a:p>
        </p:txBody>
      </p:sp>
      <p:sp>
        <p:nvSpPr>
          <p:cNvPr id="42" name="arrow-down"/>
          <p:cNvSpPr/>
          <p:nvPr/>
        </p:nvSpPr>
        <p:spPr>
          <a:xfrm>
            <a:off x="7616952" y="2295144"/>
            <a:ext cx="0" cy="64008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43" name="loop-note"/>
          <p:cNvSpPr txBox="1"/>
          <p:nvPr/>
        </p:nvSpPr>
        <p:spPr>
          <a:xfrm>
            <a:off x="457200" y="4069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2525B"/>
                </a:solidFill>
              </a:rPr>
              <a:t>next frame: new camera image</a:t>
            </a:r>
            <a:endParaRPr lang="en-US" sz="110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66928" y="219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600" dirty="0">
                <a:solidFill>
                  <a:srgbClr val="FF2D6F"/>
                </a:solidFill>
              </a:rPr>
              <a:t>PIPELINE</a:t>
            </a:r>
            <a:endParaRPr lang="en-US" sz="800" dirty="0"/>
          </a:p>
        </p:txBody>
      </p:sp>
      <p:sp>
        <p:nvSpPr>
          <p:cNvPr id="3" name="Text 1"/>
          <p:cNvSpPr>
            <a:spLocks noGrp="1"/>
          </p:cNvSpPr>
          <p:nvPr>
            <p:ph type="title" idx="104" hasCustomPrompt="1"/>
          </p:nvPr>
        </p:nvSpPr>
        <p:spPr>
          <a:xfrm>
            <a:off x="566928" y="4572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kern="0" spc="100" dirty="0">
                <a:solidFill>
                  <a:srgbClr val="FAFAFA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BEFORE BANC: THE FLY EYE</a:t>
            </a:r>
            <a:endParaRPr lang="en-US" sz="1600" dirty="0"/>
          </a:p>
        </p:txBody>
      </p:sp>
      <p:pic>
        <p:nvPicPr>
          <p:cNvPr id="4" name="img-0" descr="C:\NeuroFly\docs\prezentacja\assets\eye_le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1828800" cy="2084832"/>
          </a:xfrm>
          <a:prstGeom prst="rect">
            <a:avLst/>
          </a:prstGeom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5" name="cap-0"/>
          <p:cNvSpPr txBox="1"/>
          <p:nvPr/>
        </p:nvSpPr>
        <p:spPr>
          <a:xfrm>
            <a:off x="457200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Left camera</a:t>
            </a:r>
            <a:endParaRPr lang="en-US" sz="1100" dirty="0"/>
          </a:p>
        </p:txBody>
      </p:sp>
      <p:pic>
        <p:nvPicPr>
          <p:cNvPr id="6" name="img-1" descr="C:\NeuroFly\docs\prezentacja\assets\retina_lef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2888" y="1188720"/>
            <a:ext cx="1828800" cy="2084832"/>
          </a:xfrm>
          <a:prstGeom prst="rect">
            <a:avLst/>
          </a:prstGeom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7" name="cap-1"/>
          <p:cNvSpPr txBox="1"/>
          <p:nvPr/>
        </p:nvSpPr>
        <p:spPr>
          <a:xfrm>
            <a:off x="2532888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Left retina</a:t>
            </a:r>
            <a:endParaRPr lang="en-US" sz="1100" dirty="0"/>
          </a:p>
        </p:txBody>
      </p:sp>
      <p:pic>
        <p:nvPicPr>
          <p:cNvPr id="8" name="img-2" descr="C:\NeuroFly\docs\prezentacja\assets\eye_righ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8576" y="1188720"/>
            <a:ext cx="1828800" cy="2084832"/>
          </a:xfrm>
          <a:prstGeom prst="rect">
            <a:avLst/>
          </a:prstGeom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9" name="cap-2"/>
          <p:cNvSpPr txBox="1"/>
          <p:nvPr/>
        </p:nvSpPr>
        <p:spPr>
          <a:xfrm>
            <a:off x="4608576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Right camera</a:t>
            </a:r>
            <a:endParaRPr lang="en-US" sz="1100" dirty="0"/>
          </a:p>
        </p:txBody>
      </p:sp>
      <p:pic>
        <p:nvPicPr>
          <p:cNvPr id="10" name="img-3" descr="C:\NeuroFly\docs\prezentacja\assets\retina_righ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1188720"/>
            <a:ext cx="1828800" cy="2084832"/>
          </a:xfrm>
          <a:prstGeom prst="rect">
            <a:avLst/>
          </a:prstGeom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11" name="cap-3"/>
          <p:cNvSpPr txBox="1"/>
          <p:nvPr/>
        </p:nvSpPr>
        <p:spPr>
          <a:xfrm>
            <a:off x="6684264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Right retina</a:t>
            </a:r>
            <a:endParaRPr lang="en-US" sz="1100" dirty="0"/>
          </a:p>
        </p:txBody>
      </p:sp>
      <p:sp>
        <p:nvSpPr>
          <p:cNvPr id="12" name="explain"/>
          <p:cNvSpPr txBox="1"/>
          <p:nvPr/>
        </p:nvSpPr>
        <p:spPr>
          <a:xfrm>
            <a:off x="457200" y="37307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AFAFA"/>
                </a:solidFill>
              </a:rPr>
              <a:t>MuJoCo cameras with a fly-eye field of view → fisheye correction → 721 hexagonal ommatidia per eye (FlyGym) → FlyVis: a trained, connectome-constrained optic lobe model → cell-type activity mapped onto BANC v888 neurons.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66928" y="219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600" dirty="0">
                <a:solidFill>
                  <a:srgbClr val="FF2D6F"/>
                </a:solidFill>
              </a:rPr>
              <a:t>CONNECTOME</a:t>
            </a:r>
            <a:endParaRPr lang="en-US" sz="800" dirty="0"/>
          </a:p>
        </p:txBody>
      </p:sp>
      <p:sp>
        <p:nvSpPr>
          <p:cNvPr id="3" name="Text 1"/>
          <p:cNvSpPr>
            <a:spLocks noGrp="1"/>
          </p:cNvSpPr>
          <p:nvPr>
            <p:ph type="title" idx="104" hasCustomPrompt="1"/>
          </p:nvPr>
        </p:nvSpPr>
        <p:spPr>
          <a:xfrm>
            <a:off x="566928" y="4572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kern="0" spc="100" dirty="0">
                <a:solidFill>
                  <a:srgbClr val="FAFAFA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BANC V888: BRAIN + NERVE CORD</a:t>
            </a:r>
            <a:endParaRPr lang="en-US" sz="1600" dirty="0"/>
          </a:p>
        </p:txBody>
      </p:sp>
      <p:pic>
        <p:nvPicPr>
          <p:cNvPr id="4" name="render-3d" descr="C:\NeuroFly\docs\prezentacja\assets\connectome_3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60120"/>
            <a:ext cx="3063240" cy="3721608"/>
          </a:xfrm>
          <a:prstGeom prst="rect">
            <a:avLst/>
          </a:prstGeom>
        </p:spPr>
      </p:pic>
      <p:sp>
        <p:nvSpPr>
          <p:cNvPr id="5" name="s-neurons-value"/>
          <p:cNvSpPr txBox="1"/>
          <p:nvPr/>
        </p:nvSpPr>
        <p:spPr>
          <a:xfrm>
            <a:off x="3931920" y="1143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FAFAFA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175,401</a:t>
            </a:r>
            <a:endParaRPr lang="en-US" sz="3200" dirty="0"/>
          </a:p>
        </p:txBody>
      </p:sp>
      <p:sp>
        <p:nvSpPr>
          <p:cNvPr id="6" name="s-neurons-label"/>
          <p:cNvSpPr txBox="1"/>
          <p:nvPr/>
        </p:nvSpPr>
        <p:spPr>
          <a:xfrm>
            <a:off x="3931920" y="1709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neurons (glia and trachea excluded)</a:t>
            </a:r>
            <a:endParaRPr lang="en-US" sz="1200" dirty="0"/>
          </a:p>
        </p:txBody>
      </p:sp>
      <p:sp>
        <p:nvSpPr>
          <p:cNvPr id="7" name="s-syn-value"/>
          <p:cNvSpPr txBox="1"/>
          <p:nvPr/>
        </p:nvSpPr>
        <p:spPr>
          <a:xfrm>
            <a:off x="6400800" y="1143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FAFAFA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18.6 M</a:t>
            </a:r>
            <a:endParaRPr lang="en-US" sz="3200" dirty="0"/>
          </a:p>
        </p:txBody>
      </p:sp>
      <p:sp>
        <p:nvSpPr>
          <p:cNvPr id="8" name="s-syn-label"/>
          <p:cNvSpPr txBox="1"/>
          <p:nvPr/>
        </p:nvSpPr>
        <p:spPr>
          <a:xfrm>
            <a:off x="6400800" y="1709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synapses in connections ≥ 5</a:t>
            </a:r>
            <a:endParaRPr lang="en-US" sz="1200" dirty="0"/>
          </a:p>
        </p:txBody>
      </p:sp>
      <p:sp>
        <p:nvSpPr>
          <p:cNvPr id="9" name="s-edges-value"/>
          <p:cNvSpPr txBox="1"/>
          <p:nvPr/>
        </p:nvSpPr>
        <p:spPr>
          <a:xfrm>
            <a:off x="393192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FAFAFA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1.53 M</a:t>
            </a:r>
            <a:endParaRPr lang="en-US" sz="3200" dirty="0"/>
          </a:p>
        </p:txBody>
      </p:sp>
      <p:sp>
        <p:nvSpPr>
          <p:cNvPr id="10" name="s-edges-label"/>
          <p:cNvSpPr txBox="1"/>
          <p:nvPr/>
        </p:nvSpPr>
        <p:spPr>
          <a:xfrm>
            <a:off x="3931920" y="2898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connections in the model graph</a:t>
            </a:r>
            <a:endParaRPr lang="en-US" sz="1200" dirty="0"/>
          </a:p>
        </p:txBody>
      </p:sp>
      <p:sp>
        <p:nvSpPr>
          <p:cNvPr id="11" name="s-skel-value"/>
          <p:cNvSpPr txBox="1"/>
          <p:nvPr/>
        </p:nvSpPr>
        <p:spPr>
          <a:xfrm>
            <a:off x="640080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FAFAFA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863</a:t>
            </a:r>
            <a:endParaRPr lang="en-US" sz="3200" dirty="0"/>
          </a:p>
        </p:txBody>
      </p:sp>
      <p:sp>
        <p:nvSpPr>
          <p:cNvPr id="12" name="s-skel-label"/>
          <p:cNvSpPr txBox="1"/>
          <p:nvPr/>
        </p:nvSpPr>
        <p:spPr>
          <a:xfrm>
            <a:off x="6400800" y="2898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flight-neuron skeletons (SWC)</a:t>
            </a:r>
            <a:endParaRPr lang="en-US" sz="1200" dirty="0"/>
          </a:p>
        </p:txBody>
      </p:sp>
      <p:sp>
        <p:nvSpPr>
          <p:cNvPr id="13" name="t-ol-dot"/>
          <p:cNvSpPr/>
          <p:nvPr/>
        </p:nvSpPr>
        <p:spPr>
          <a:xfrm>
            <a:off x="3931920" y="3675888"/>
            <a:ext cx="109728" cy="109728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14" name="t-ol-label"/>
          <p:cNvSpPr txBox="1"/>
          <p:nvPr/>
        </p:nvSpPr>
        <p:spPr>
          <a:xfrm>
            <a:off x="4114800" y="3611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optic lobes · 105,646</a:t>
            </a:r>
            <a:endParaRPr lang="en-US" sz="1100" dirty="0"/>
          </a:p>
        </p:txBody>
      </p:sp>
      <p:sp>
        <p:nvSpPr>
          <p:cNvPr id="15" name="t-cb-dot"/>
          <p:cNvSpPr/>
          <p:nvPr/>
        </p:nvSpPr>
        <p:spPr>
          <a:xfrm>
            <a:off x="3931920" y="3968496"/>
            <a:ext cx="109728" cy="10972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6" name="t-cb-label"/>
          <p:cNvSpPr txBox="1"/>
          <p:nvPr/>
        </p:nvSpPr>
        <p:spPr>
          <a:xfrm>
            <a:off x="4114800" y="39044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central brain · 42,620</a:t>
            </a:r>
            <a:endParaRPr lang="en-US" sz="1100" dirty="0"/>
          </a:p>
        </p:txBody>
      </p:sp>
      <p:sp>
        <p:nvSpPr>
          <p:cNvPr id="17" name="t-vnc-dot"/>
          <p:cNvSpPr/>
          <p:nvPr/>
        </p:nvSpPr>
        <p:spPr>
          <a:xfrm>
            <a:off x="6400800" y="3675888"/>
            <a:ext cx="109728" cy="109728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8" name="t-vnc-label"/>
          <p:cNvSpPr txBox="1"/>
          <p:nvPr/>
        </p:nvSpPr>
        <p:spPr>
          <a:xfrm>
            <a:off x="6583680" y="3611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VNC · 26,769</a:t>
            </a:r>
            <a:endParaRPr lang="en-US" sz="1100" dirty="0"/>
          </a:p>
        </p:txBody>
      </p:sp>
      <p:sp>
        <p:nvSpPr>
          <p:cNvPr id="19" name="t-dn-dot"/>
          <p:cNvSpPr/>
          <p:nvPr/>
        </p:nvSpPr>
        <p:spPr>
          <a:xfrm>
            <a:off x="6400800" y="3968496"/>
            <a:ext cx="109728" cy="109728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20" name="t-dn-label"/>
          <p:cNvSpPr txBox="1"/>
          <p:nvPr/>
        </p:nvSpPr>
        <p:spPr>
          <a:xfrm>
            <a:off x="6583680" y="39044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DN / AN · 3,165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66928" y="219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600" dirty="0">
                <a:solidFill>
                  <a:srgbClr val="FF2D6F"/>
                </a:solidFill>
              </a:rPr>
              <a:t>CONNECTOME</a:t>
            </a:r>
            <a:endParaRPr lang="en-US" sz="800" dirty="0"/>
          </a:p>
        </p:txBody>
      </p:sp>
      <p:sp>
        <p:nvSpPr>
          <p:cNvPr id="3" name="Text 1"/>
          <p:cNvSpPr>
            <a:spLocks noGrp="1"/>
          </p:cNvSpPr>
          <p:nvPr>
            <p:ph type="title" idx="104" hasCustomPrompt="1"/>
          </p:nvPr>
        </p:nvSpPr>
        <p:spPr>
          <a:xfrm>
            <a:off x="566928" y="4572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kern="0" spc="100" dirty="0">
                <a:solidFill>
                  <a:srgbClr val="FAFAFA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ACTIVITY ON THE CONNECTOME</a:t>
            </a:r>
            <a:endParaRPr lang="en-US" sz="1600" dirty="0"/>
          </a:p>
        </p:txBody>
      </p:sp>
      <p:sp>
        <p:nvSpPr>
          <p:cNvPr id="4" name="eq-card"/>
          <p:cNvSpPr/>
          <p:nvPr/>
        </p:nvSpPr>
        <p:spPr>
          <a:xfrm>
            <a:off x="457200" y="1188720"/>
            <a:ext cx="4846320" cy="1143000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5" name="eq"/>
          <p:cNvSpPr txBox="1"/>
          <p:nvPr/>
        </p:nvSpPr>
        <p:spPr>
          <a:xfrm>
            <a:off x="685800" y="148132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← r + dt/τ · (−r + tanh(relu(g · W r + I)))</a:t>
            </a:r>
            <a:endParaRPr lang="en-US" sz="2000" dirty="0"/>
          </a:p>
        </p:txBody>
      </p:sp>
      <p:sp>
        <p:nvSpPr>
          <p:cNvPr id="6" name="k-0"/>
          <p:cNvSpPr txBox="1"/>
          <p:nvPr/>
        </p:nvSpPr>
        <p:spPr>
          <a:xfrm>
            <a:off x="457200" y="26060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2D6F"/>
                </a:solidFill>
              </a:rPr>
              <a:t>W</a:t>
            </a:r>
            <a:endParaRPr lang="en-US" sz="1400" dirty="0"/>
          </a:p>
        </p:txBody>
      </p:sp>
      <p:sp>
        <p:nvSpPr>
          <p:cNvPr id="7" name="v-0"/>
          <p:cNvSpPr txBox="1"/>
          <p:nvPr/>
        </p:nvSpPr>
        <p:spPr>
          <a:xfrm>
            <a:off x="1508760" y="2606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AFAFA"/>
                </a:solidFill>
              </a:rPr>
              <a:t>synapse counts from BANC, sign from the predicted neurotransmitter, inputs normalized per neuron</a:t>
            </a:r>
            <a:endParaRPr lang="en-US" sz="1200" dirty="0"/>
          </a:p>
        </p:txBody>
      </p:sp>
      <p:sp>
        <p:nvSpPr>
          <p:cNvPr id="8" name="k-1"/>
          <p:cNvSpPr txBox="1"/>
          <p:nvPr/>
        </p:nvSpPr>
        <p:spPr>
          <a:xfrm>
            <a:off x="457200" y="30632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2D6F"/>
                </a:solidFill>
              </a:rPr>
              <a:t>τ, dt, g</a:t>
            </a:r>
            <a:endParaRPr lang="en-US" sz="1400" dirty="0"/>
          </a:p>
        </p:txBody>
      </p:sp>
      <p:sp>
        <p:nvSpPr>
          <p:cNvPr id="9" name="v-1"/>
          <p:cNvSpPr txBox="1"/>
          <p:nvPr/>
        </p:nvSpPr>
        <p:spPr>
          <a:xfrm>
            <a:off x="1508760" y="30632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AFAFA"/>
                </a:solidFill>
              </a:rPr>
              <a:t>20 ms, 5 ms, 0.9 — 4 substeps per camera frame</a:t>
            </a:r>
            <a:endParaRPr lang="en-US" sz="1200" dirty="0"/>
          </a:p>
        </p:txBody>
      </p:sp>
      <p:sp>
        <p:nvSpPr>
          <p:cNvPr id="10" name="k-2"/>
          <p:cNvSpPr txBox="1"/>
          <p:nvPr/>
        </p:nvSpPr>
        <p:spPr>
          <a:xfrm>
            <a:off x="457200" y="3520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2D6F"/>
                </a:solidFill>
              </a:rPr>
              <a:t>I</a:t>
            </a:r>
            <a:endParaRPr lang="en-US" sz="1400" dirty="0"/>
          </a:p>
        </p:txBody>
      </p:sp>
      <p:sp>
        <p:nvSpPr>
          <p:cNvPr id="11" name="v-2"/>
          <p:cNvSpPr txBox="1"/>
          <p:nvPr/>
        </p:nvSpPr>
        <p:spPr>
          <a:xfrm>
            <a:off x="1508760" y="3520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AFAFA"/>
                </a:solidFill>
              </a:rPr>
              <a:t>input: vision (FlyVis → BANC) + drone gyroscope onto haltere afferents</a:t>
            </a:r>
            <a:endParaRPr lang="en-US" sz="1200" dirty="0"/>
          </a:p>
        </p:txBody>
      </p:sp>
      <p:sp>
        <p:nvSpPr>
          <p:cNvPr id="12" name="k-3"/>
          <p:cNvSpPr txBox="1"/>
          <p:nvPr/>
        </p:nvSpPr>
        <p:spPr>
          <a:xfrm>
            <a:off x="457200" y="39776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2D6F"/>
                </a:solidFill>
              </a:rPr>
              <a:t>GPU</a:t>
            </a:r>
            <a:endParaRPr lang="en-US" sz="1400" dirty="0"/>
          </a:p>
        </p:txBody>
      </p:sp>
      <p:sp>
        <p:nvSpPr>
          <p:cNvPr id="13" name="v-3"/>
          <p:cNvSpPr txBox="1"/>
          <p:nvPr/>
        </p:nvSpPr>
        <p:spPr>
          <a:xfrm>
            <a:off x="1508760" y="39776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AFAFA"/>
                </a:solidFill>
              </a:rPr>
              <a:t>sparse CSR matrix in torch: ~2.6 ms per frame (RTX 4060)</a:t>
            </a:r>
            <a:endParaRPr lang="en-US" sz="1200" dirty="0"/>
          </a:p>
        </p:txBody>
      </p:sp>
      <p:sp>
        <p:nvSpPr>
          <p:cNvPr id="14" name="sign-card"/>
          <p:cNvSpPr/>
          <p:nvPr/>
        </p:nvSpPr>
        <p:spPr>
          <a:xfrm>
            <a:off x="5669280" y="1188720"/>
            <a:ext cx="3017520" cy="3154680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5" name="sign-title"/>
          <p:cNvSpPr txBox="1"/>
          <p:nvPr/>
        </p:nvSpPr>
        <p:spPr>
          <a:xfrm>
            <a:off x="5897880" y="1371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Synapse signs</a:t>
            </a:r>
            <a:endParaRPr lang="en-US" sz="1500" dirty="0"/>
          </a:p>
        </p:txBody>
      </p:sp>
      <p:sp>
        <p:nvSpPr>
          <p:cNvPr id="16" name="sg-ach-dot"/>
          <p:cNvSpPr/>
          <p:nvPr/>
        </p:nvSpPr>
        <p:spPr>
          <a:xfrm>
            <a:off x="5897880" y="1892808"/>
            <a:ext cx="109728" cy="109728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17" name="sg-ach-label"/>
          <p:cNvSpPr txBox="1"/>
          <p:nvPr/>
        </p:nvSpPr>
        <p:spPr>
          <a:xfrm>
            <a:off x="6080760" y="18288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ACh — excitatory</a:t>
            </a:r>
            <a:endParaRPr lang="en-US" sz="1100" dirty="0"/>
          </a:p>
        </p:txBody>
      </p:sp>
      <p:sp>
        <p:nvSpPr>
          <p:cNvPr id="18" name="sg-gaba-dot"/>
          <p:cNvSpPr/>
          <p:nvPr/>
        </p:nvSpPr>
        <p:spPr>
          <a:xfrm>
            <a:off x="5897880" y="2212848"/>
            <a:ext cx="109728" cy="109728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9" name="sg-gaba-label"/>
          <p:cNvSpPr txBox="1"/>
          <p:nvPr/>
        </p:nvSpPr>
        <p:spPr>
          <a:xfrm>
            <a:off x="608076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GABA — inhibitory</a:t>
            </a:r>
            <a:endParaRPr lang="en-US" sz="1100" dirty="0"/>
          </a:p>
        </p:txBody>
      </p:sp>
      <p:sp>
        <p:nvSpPr>
          <p:cNvPr id="20" name="sg-glu-dot"/>
          <p:cNvSpPr/>
          <p:nvPr/>
        </p:nvSpPr>
        <p:spPr>
          <a:xfrm>
            <a:off x="5897880" y="2532888"/>
            <a:ext cx="109728" cy="109728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21" name="sg-glu-label"/>
          <p:cNvSpPr txBox="1"/>
          <p:nvPr/>
        </p:nvSpPr>
        <p:spPr>
          <a:xfrm>
            <a:off x="6080760" y="2468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glutamate — inhibitory</a:t>
            </a:r>
            <a:endParaRPr lang="en-US" sz="1100" dirty="0"/>
          </a:p>
        </p:txBody>
      </p:sp>
      <p:sp>
        <p:nvSpPr>
          <p:cNvPr id="22" name="sg-his-dot"/>
          <p:cNvSpPr/>
          <p:nvPr/>
        </p:nvSpPr>
        <p:spPr>
          <a:xfrm>
            <a:off x="5897880" y="2852928"/>
            <a:ext cx="109728" cy="109728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23" name="sg-his-label"/>
          <p:cNvSpPr txBox="1"/>
          <p:nvPr/>
        </p:nvSpPr>
        <p:spPr>
          <a:xfrm>
            <a:off x="6080760" y="27889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histamine — inhibitory</a:t>
            </a:r>
            <a:endParaRPr lang="en-US" sz="1100" dirty="0"/>
          </a:p>
        </p:txBody>
      </p:sp>
      <p:sp>
        <p:nvSpPr>
          <p:cNvPr id="24" name="sign-note"/>
          <p:cNvSpPr txBox="1"/>
          <p:nvPr/>
        </p:nvSpPr>
        <p:spPr>
          <a:xfrm>
            <a:off x="5897880" y="324612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The dynamics model and signs are our assumptions; connections and synapse counts come from BANC.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66928" y="219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600" dirty="0">
                <a:solidFill>
                  <a:srgbClr val="FF2D6F"/>
                </a:solidFill>
              </a:rPr>
              <a:t>CONNECTOME</a:t>
            </a:r>
            <a:endParaRPr lang="en-US" sz="800" dirty="0"/>
          </a:p>
        </p:txBody>
      </p:sp>
      <p:sp>
        <p:nvSpPr>
          <p:cNvPr id="3" name="Text 1"/>
          <p:cNvSpPr>
            <a:spLocks noGrp="1"/>
          </p:cNvSpPr>
          <p:nvPr>
            <p:ph type="title" idx="104" hasCustomPrompt="1"/>
          </p:nvPr>
        </p:nvSpPr>
        <p:spPr>
          <a:xfrm>
            <a:off x="566928" y="4572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kern="0" spc="100" dirty="0">
                <a:solidFill>
                  <a:srgbClr val="FAFAFA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FLIGHT CIRCUIT: OFFICIAL ANNOTATIONS</a:t>
            </a:r>
            <a:endParaRPr lang="en-US" sz="1600" dirty="0"/>
          </a:p>
        </p:txBody>
      </p:sp>
      <p:pic>
        <p:nvPicPr>
          <p:cNvPr id="4" name="render-circuit" descr="C:\NeuroFly\docs\prezentacja\assets\circuit_3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60120"/>
            <a:ext cx="3063240" cy="3721608"/>
          </a:xfrm>
          <a:prstGeom prst="rect">
            <a:avLst/>
          </a:prstGeom>
        </p:spPr>
      </p:pic>
      <p:sp>
        <p:nvSpPr>
          <p:cNvPr id="5" name="g-0-dot"/>
          <p:cNvSpPr/>
          <p:nvPr/>
        </p:nvSpPr>
        <p:spPr>
          <a:xfrm>
            <a:off x="3931920" y="1280160"/>
            <a:ext cx="128016" cy="128016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6" name="g-0-name"/>
          <p:cNvSpPr txBox="1"/>
          <p:nvPr/>
        </p:nvSpPr>
        <p:spPr>
          <a:xfrm>
            <a:off x="4206240" y="11887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DN flight power</a:t>
            </a:r>
            <a:endParaRPr lang="en-US" sz="1400" dirty="0"/>
          </a:p>
        </p:txBody>
      </p:sp>
      <p:sp>
        <p:nvSpPr>
          <p:cNvPr id="7" name="g-0-desc"/>
          <p:cNvSpPr txBox="1"/>
          <p:nvPr/>
        </p:nvSpPr>
        <p:spPr>
          <a:xfrm>
            <a:off x="4206240" y="14630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super_cluster: flight power</a:t>
            </a:r>
            <a:endParaRPr lang="en-US" sz="1100" dirty="0"/>
          </a:p>
        </p:txBody>
      </p:sp>
      <p:sp>
        <p:nvSpPr>
          <p:cNvPr id="8" name="g-0-count"/>
          <p:cNvSpPr txBox="1"/>
          <p:nvPr/>
        </p:nvSpPr>
        <p:spPr>
          <a:xfrm>
            <a:off x="7680960" y="11887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AFAFA"/>
                </a:solidFill>
              </a:rPr>
              <a:t>235</a:t>
            </a:r>
            <a:endParaRPr lang="en-US" sz="1600" dirty="0"/>
          </a:p>
        </p:txBody>
      </p:sp>
      <p:sp>
        <p:nvSpPr>
          <p:cNvPr id="9" name="g-1-dot"/>
          <p:cNvSpPr/>
          <p:nvPr/>
        </p:nvSpPr>
        <p:spPr>
          <a:xfrm>
            <a:off x="3931920" y="1828800"/>
            <a:ext cx="128016" cy="128016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0" name="g-1-name"/>
          <p:cNvSpPr txBox="1"/>
          <p:nvPr/>
        </p:nvSpPr>
        <p:spPr>
          <a:xfrm>
            <a:off x="4206240" y="1737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DN flight steering</a:t>
            </a:r>
            <a:endParaRPr lang="en-US" sz="1400" dirty="0"/>
          </a:p>
        </p:txBody>
      </p:sp>
      <p:sp>
        <p:nvSpPr>
          <p:cNvPr id="11" name="g-1-desc"/>
          <p:cNvSpPr txBox="1"/>
          <p:nvPr/>
        </p:nvSpPr>
        <p:spPr>
          <a:xfrm>
            <a:off x="4206240" y="20116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super_cluster: flight steering</a:t>
            </a:r>
            <a:endParaRPr lang="en-US" sz="1100" dirty="0"/>
          </a:p>
        </p:txBody>
      </p:sp>
      <p:sp>
        <p:nvSpPr>
          <p:cNvPr id="12" name="g-1-count"/>
          <p:cNvSpPr txBox="1"/>
          <p:nvPr/>
        </p:nvSpPr>
        <p:spPr>
          <a:xfrm>
            <a:off x="7680960" y="17373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AFAFA"/>
                </a:solidFill>
              </a:rPr>
              <a:t>140</a:t>
            </a:r>
            <a:endParaRPr lang="en-US" sz="1600" dirty="0"/>
          </a:p>
        </p:txBody>
      </p:sp>
      <p:sp>
        <p:nvSpPr>
          <p:cNvPr id="13" name="g-2-dot"/>
          <p:cNvSpPr/>
          <p:nvPr/>
        </p:nvSpPr>
        <p:spPr>
          <a:xfrm>
            <a:off x="3931920" y="2377440"/>
            <a:ext cx="128016" cy="128016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4" name="g-2-name"/>
          <p:cNvSpPr txBox="1"/>
          <p:nvPr/>
        </p:nvSpPr>
        <p:spPr>
          <a:xfrm>
            <a:off x="4206240" y="2286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MN wing power</a:t>
            </a:r>
            <a:endParaRPr lang="en-US" sz="1400" dirty="0"/>
          </a:p>
        </p:txBody>
      </p:sp>
      <p:sp>
        <p:nvSpPr>
          <p:cNvPr id="15" name="g-2-desc"/>
          <p:cNvSpPr txBox="1"/>
          <p:nvPr/>
        </p:nvSpPr>
        <p:spPr>
          <a:xfrm>
            <a:off x="4206240" y="2560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DLM / DVM — power muscles</a:t>
            </a:r>
            <a:endParaRPr lang="en-US" sz="1100" dirty="0"/>
          </a:p>
        </p:txBody>
      </p:sp>
      <p:sp>
        <p:nvSpPr>
          <p:cNvPr id="16" name="g-2-count"/>
          <p:cNvSpPr txBox="1"/>
          <p:nvPr/>
        </p:nvSpPr>
        <p:spPr>
          <a:xfrm>
            <a:off x="7680960" y="22860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AFAFA"/>
                </a:solidFill>
              </a:rPr>
              <a:t>24</a:t>
            </a:r>
            <a:endParaRPr lang="en-US" sz="1600" dirty="0"/>
          </a:p>
        </p:txBody>
      </p:sp>
      <p:sp>
        <p:nvSpPr>
          <p:cNvPr id="17" name="g-3-dot"/>
          <p:cNvSpPr/>
          <p:nvPr/>
        </p:nvSpPr>
        <p:spPr>
          <a:xfrm>
            <a:off x="3931920" y="2926080"/>
            <a:ext cx="128016" cy="128016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8" name="g-3-name"/>
          <p:cNvSpPr txBox="1"/>
          <p:nvPr/>
        </p:nvSpPr>
        <p:spPr>
          <a:xfrm>
            <a:off x="4206240" y="28346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MN wing steering</a:t>
            </a:r>
            <a:endParaRPr lang="en-US" sz="1400" dirty="0"/>
          </a:p>
        </p:txBody>
      </p:sp>
      <p:sp>
        <p:nvSpPr>
          <p:cNvPr id="19" name="g-3-desc"/>
          <p:cNvSpPr txBox="1"/>
          <p:nvPr/>
        </p:nvSpPr>
        <p:spPr>
          <a:xfrm>
            <a:off x="4206240" y="31089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b1, i1, iii3… — steering muscles</a:t>
            </a:r>
            <a:endParaRPr lang="en-US" sz="1100" dirty="0"/>
          </a:p>
        </p:txBody>
      </p:sp>
      <p:sp>
        <p:nvSpPr>
          <p:cNvPr id="20" name="g-3-count"/>
          <p:cNvSpPr txBox="1"/>
          <p:nvPr/>
        </p:nvSpPr>
        <p:spPr>
          <a:xfrm>
            <a:off x="7680960" y="28346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AFAFA"/>
                </a:solidFill>
              </a:rPr>
              <a:t>24</a:t>
            </a:r>
            <a:endParaRPr lang="en-US" sz="1600" dirty="0"/>
          </a:p>
        </p:txBody>
      </p:sp>
      <p:sp>
        <p:nvSpPr>
          <p:cNvPr id="21" name="g-4-dot"/>
          <p:cNvSpPr/>
          <p:nvPr/>
        </p:nvSpPr>
        <p:spPr>
          <a:xfrm>
            <a:off x="3931920" y="3474720"/>
            <a:ext cx="128016" cy="128016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22" name="g-4-name"/>
          <p:cNvSpPr txBox="1"/>
          <p:nvPr/>
        </p:nvSpPr>
        <p:spPr>
          <a:xfrm>
            <a:off x="4206240" y="33832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MN wing tension</a:t>
            </a:r>
            <a:endParaRPr lang="en-US" sz="1400" dirty="0"/>
          </a:p>
        </p:txBody>
      </p:sp>
      <p:sp>
        <p:nvSpPr>
          <p:cNvPr id="23" name="g-4-desc"/>
          <p:cNvSpPr txBox="1"/>
          <p:nvPr/>
        </p:nvSpPr>
        <p:spPr>
          <a:xfrm>
            <a:off x="4206240" y="3657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wing tension</a:t>
            </a:r>
            <a:endParaRPr lang="en-US" sz="1100" dirty="0"/>
          </a:p>
        </p:txBody>
      </p:sp>
      <p:sp>
        <p:nvSpPr>
          <p:cNvPr id="24" name="g-4-count"/>
          <p:cNvSpPr txBox="1"/>
          <p:nvPr/>
        </p:nvSpPr>
        <p:spPr>
          <a:xfrm>
            <a:off x="7680960" y="33832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AFAFA"/>
                </a:solidFill>
              </a:rPr>
              <a:t>12</a:t>
            </a:r>
            <a:endParaRPr lang="en-US" sz="1600" dirty="0"/>
          </a:p>
        </p:txBody>
      </p:sp>
      <p:sp>
        <p:nvSpPr>
          <p:cNvPr id="25" name="g-5-dot"/>
          <p:cNvSpPr/>
          <p:nvPr/>
        </p:nvSpPr>
        <p:spPr>
          <a:xfrm>
            <a:off x="3931920" y="4023360"/>
            <a:ext cx="128016" cy="128016"/>
          </a:xfrm>
          <a:prstGeom prst="ellipse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6" name="g-5-name"/>
          <p:cNvSpPr txBox="1"/>
          <p:nvPr/>
        </p:nvSpPr>
        <p:spPr>
          <a:xfrm>
            <a:off x="4206240" y="39319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Haltere afferents</a:t>
            </a:r>
            <a:endParaRPr lang="en-US" sz="1400" dirty="0"/>
          </a:p>
        </p:txBody>
      </p:sp>
      <p:sp>
        <p:nvSpPr>
          <p:cNvPr id="27" name="g-5-desc"/>
          <p:cNvSpPr txBox="1"/>
          <p:nvPr/>
        </p:nvSpPr>
        <p:spPr>
          <a:xfrm>
            <a:off x="4206240" y="42062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rotation sensors ← drone gyroscope</a:t>
            </a:r>
            <a:endParaRPr lang="en-US" sz="1100" dirty="0"/>
          </a:p>
        </p:txBody>
      </p:sp>
      <p:sp>
        <p:nvSpPr>
          <p:cNvPr id="28" name="g-5-count"/>
          <p:cNvSpPr txBox="1"/>
          <p:nvPr/>
        </p:nvSpPr>
        <p:spPr>
          <a:xfrm>
            <a:off x="7680960" y="39319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AFAFA"/>
                </a:solidFill>
              </a:rPr>
              <a:t>428</a:t>
            </a:r>
            <a:endParaRPr lang="en-US" sz="16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66928" y="219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600" dirty="0">
                <a:solidFill>
                  <a:srgbClr val="FF2D6F"/>
                </a:solidFill>
              </a:rPr>
              <a:t>READOUT</a:t>
            </a:r>
            <a:endParaRPr lang="en-US" sz="800" dirty="0"/>
          </a:p>
        </p:txBody>
      </p:sp>
      <p:sp>
        <p:nvSpPr>
          <p:cNvPr id="3" name="Text 1"/>
          <p:cNvSpPr>
            <a:spLocks noGrp="1"/>
          </p:cNvSpPr>
          <p:nvPr>
            <p:ph type="title" idx="104" hasCustomPrompt="1"/>
          </p:nvPr>
        </p:nvSpPr>
        <p:spPr>
          <a:xfrm>
            <a:off x="566928" y="4572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kern="0" spc="100" dirty="0">
                <a:solidFill>
                  <a:srgbClr val="FAFAFA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TARGET SIDE LIVES IN SINGLE DNS</a:t>
            </a:r>
            <a:endParaRPr lang="en-US" sz="1600" dirty="0"/>
          </a:p>
        </p:txBody>
      </p:sp>
      <p:graphicFrame>
        <p:nvGraphicFramePr>
          <p:cNvPr id="4" name="chart-side"/>
          <p:cNvGraphicFramePr/>
          <p:nvPr/>
        </p:nvGraphicFramePr>
        <p:xfrm>
          <a:off x="457200" y="1097280"/>
          <a:ext cx="51206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-dn-value"/>
          <p:cNvSpPr txBox="1"/>
          <p:nvPr/>
        </p:nvSpPr>
        <p:spPr>
          <a:xfrm>
            <a:off x="6035040" y="1234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FF2D6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99%</a:t>
            </a:r>
            <a:endParaRPr lang="en-US" sz="3200" dirty="0"/>
          </a:p>
        </p:txBody>
      </p:sp>
      <p:sp>
        <p:nvSpPr>
          <p:cNvPr id="6" name="s-dn-label"/>
          <p:cNvSpPr txBox="1"/>
          <p:nvPr/>
        </p:nvSpPr>
        <p:spPr>
          <a:xfrm>
            <a:off x="6035040" y="18013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target-side accuracy from 375 single flight DNs (validated on an unseen distance)</a:t>
            </a:r>
            <a:endParaRPr lang="en-US" sz="1200" dirty="0"/>
          </a:p>
        </p:txBody>
      </p:sp>
      <p:sp>
        <p:nvSpPr>
          <p:cNvPr id="7" name="s-mn-value"/>
          <p:cNvSpPr txBox="1"/>
          <p:nvPr/>
        </p:nvSpPr>
        <p:spPr>
          <a:xfrm>
            <a:off x="6035040" y="2606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A1A1AA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68%</a:t>
            </a:r>
            <a:endParaRPr lang="en-US" sz="3200" dirty="0"/>
          </a:p>
        </p:txBody>
      </p:sp>
      <p:sp>
        <p:nvSpPr>
          <p:cNvPr id="8" name="s-mn-label"/>
          <p:cNvSpPr txBox="1"/>
          <p:nvPr/>
        </p:nvSpPr>
        <p:spPr>
          <a:xfrm>
            <a:off x="6035040" y="31729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from 6 MN group averages — averaging cancels the left / right difference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66928" y="219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600" dirty="0">
                <a:solidFill>
                  <a:srgbClr val="FF2D6F"/>
                </a:solidFill>
              </a:rPr>
              <a:t>READOUT</a:t>
            </a:r>
            <a:endParaRPr lang="en-US" sz="800" dirty="0"/>
          </a:p>
        </p:txBody>
      </p:sp>
      <p:sp>
        <p:nvSpPr>
          <p:cNvPr id="3" name="Text 1"/>
          <p:cNvSpPr>
            <a:spLocks noGrp="1"/>
          </p:cNvSpPr>
          <p:nvPr>
            <p:ph type="title" idx="104" hasCustomPrompt="1"/>
          </p:nvPr>
        </p:nvSpPr>
        <p:spPr>
          <a:xfrm>
            <a:off x="566928" y="4572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kern="0" spc="100" dirty="0">
                <a:solidFill>
                  <a:srgbClr val="FAFAFA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V888 LIMIT: OPTIC LOBE ASYMMETRY</a:t>
            </a:r>
            <a:endParaRPr lang="en-US" sz="1600" dirty="0"/>
          </a:p>
        </p:txBody>
      </p:sp>
      <p:sp>
        <p:nvSpPr>
          <p:cNvPr id="4" name="left-card"/>
          <p:cNvSpPr/>
          <p:nvPr/>
        </p:nvSpPr>
        <p:spPr>
          <a:xfrm>
            <a:off x="457200" y="1188720"/>
            <a:ext cx="3931920" cy="2651760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5" name="right-card"/>
          <p:cNvSpPr/>
          <p:nvPr/>
        </p:nvSpPr>
        <p:spPr>
          <a:xfrm>
            <a:off x="4754880" y="1188720"/>
            <a:ext cx="3931920" cy="2651760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6" name="s-l-value"/>
          <p:cNvSpPr txBox="1"/>
          <p:nvPr/>
        </p:nvSpPr>
        <p:spPr>
          <a:xfrm>
            <a:off x="777240" y="1417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FAFAFA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36%</a:t>
            </a:r>
            <a:endParaRPr lang="en-US" sz="3200" dirty="0"/>
          </a:p>
        </p:txBody>
      </p:sp>
      <p:sp>
        <p:nvSpPr>
          <p:cNvPr id="7" name="s-l-label"/>
          <p:cNvSpPr txBox="1"/>
          <p:nvPr/>
        </p:nvSpPr>
        <p:spPr>
          <a:xfrm>
            <a:off x="777240" y="19842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of left-lobe neurons have a cell type</a:t>
            </a:r>
            <a:endParaRPr lang="en-US" sz="1200" dirty="0"/>
          </a:p>
        </p:txBody>
      </p:sp>
      <p:sp>
        <p:nvSpPr>
          <p:cNvPr id="8" name="s-l2-value"/>
          <p:cNvSpPr txBox="1"/>
          <p:nvPr/>
        </p:nvSpPr>
        <p:spPr>
          <a:xfrm>
            <a:off x="777240" y="2606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A1A1AA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5,535</a:t>
            </a:r>
            <a:endParaRPr lang="en-US" sz="3200" dirty="0"/>
          </a:p>
        </p:txBody>
      </p:sp>
      <p:sp>
        <p:nvSpPr>
          <p:cNvPr id="9" name="s-l2-label"/>
          <p:cNvSpPr txBox="1"/>
          <p:nvPr/>
        </p:nvSpPr>
        <p:spPr>
          <a:xfrm>
            <a:off x="777240" y="31729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neurons driven by the left eye</a:t>
            </a:r>
            <a:endParaRPr lang="en-US" sz="1200" dirty="0"/>
          </a:p>
        </p:txBody>
      </p:sp>
      <p:sp>
        <p:nvSpPr>
          <p:cNvPr id="10" name="s-r-value"/>
          <p:cNvSpPr txBox="1"/>
          <p:nvPr/>
        </p:nvSpPr>
        <p:spPr>
          <a:xfrm>
            <a:off x="5074920" y="1417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FF2D6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80%</a:t>
            </a:r>
            <a:endParaRPr lang="en-US" sz="3200" dirty="0"/>
          </a:p>
        </p:txBody>
      </p:sp>
      <p:sp>
        <p:nvSpPr>
          <p:cNvPr id="11" name="s-r-label"/>
          <p:cNvSpPr txBox="1"/>
          <p:nvPr/>
        </p:nvSpPr>
        <p:spPr>
          <a:xfrm>
            <a:off x="5074920" y="19842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of right-lobe neurons have a cell type</a:t>
            </a:r>
            <a:endParaRPr lang="en-US" sz="1200" dirty="0"/>
          </a:p>
        </p:txBody>
      </p:sp>
      <p:sp>
        <p:nvSpPr>
          <p:cNvPr id="12" name="s-r2-value"/>
          <p:cNvSpPr txBox="1"/>
          <p:nvPr/>
        </p:nvSpPr>
        <p:spPr>
          <a:xfrm>
            <a:off x="5074920" y="2606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FF2D6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16,927</a:t>
            </a:r>
            <a:endParaRPr lang="en-US" sz="3200" dirty="0"/>
          </a:p>
        </p:txBody>
      </p:sp>
      <p:sp>
        <p:nvSpPr>
          <p:cNvPr id="13" name="s-r2-label"/>
          <p:cNvSpPr txBox="1"/>
          <p:nvPr/>
        </p:nvSpPr>
        <p:spPr>
          <a:xfrm>
            <a:off x="5074920" y="31729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neurons driven by the right eye</a:t>
            </a:r>
            <a:endParaRPr lang="en-US" sz="1200" dirty="0"/>
          </a:p>
        </p:txBody>
      </p:sp>
      <p:sp>
        <p:nvSpPr>
          <p:cNvPr id="14" name="note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The FlyVis → BANC map goes by cell type, so the left eye reaches ~3× fewer neurons. Equalizing the input did not change the result; the single-DN readout still recognizes both sides.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66928" y="219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600" dirty="0">
                <a:solidFill>
                  <a:srgbClr val="FF2D6F"/>
                </a:solidFill>
              </a:rPr>
              <a:t>SIMULATOR</a:t>
            </a:r>
            <a:endParaRPr lang="en-US" sz="800" dirty="0"/>
          </a:p>
        </p:txBody>
      </p:sp>
      <p:sp>
        <p:nvSpPr>
          <p:cNvPr id="3" name="Text 1"/>
          <p:cNvSpPr>
            <a:spLocks noGrp="1"/>
          </p:cNvSpPr>
          <p:nvPr>
            <p:ph type="title" idx="104" hasCustomPrompt="1"/>
          </p:nvPr>
        </p:nvSpPr>
        <p:spPr>
          <a:xfrm>
            <a:off x="566928" y="4572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kern="0" spc="100" dirty="0">
                <a:solidFill>
                  <a:srgbClr val="FAFAFA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SIMULATOR: X2 DRONE IN MUJOCO</a:t>
            </a:r>
            <a:endParaRPr lang="en-US" sz="1600" dirty="0"/>
          </a:p>
        </p:txBody>
      </p:sp>
      <p:pic>
        <p:nvPicPr>
          <p:cNvPr id="4" name="img-drone" descr="C:\NeuroFly\docs\prezentacja\assets\drone_ch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3000"/>
            <a:ext cx="3931920" cy="2944368"/>
          </a:xfrm>
          <a:prstGeom prst="rect">
            <a:avLst/>
          </a:prstGeom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pic>
      <p:pic>
        <p:nvPicPr>
          <p:cNvPr id="5" name="img-world" descr="C:\NeuroFly\docs\prezentacja\assets\wor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143000"/>
            <a:ext cx="3931920" cy="2944368"/>
          </a:xfrm>
          <a:prstGeom prst="rect">
            <a:avLst/>
          </a:prstGeom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6" name="cap-1"/>
          <p:cNvSpPr txBox="1"/>
          <p:nvPr/>
        </p:nvSpPr>
        <p:spPr>
          <a:xfrm>
            <a:off x="457200" y="41605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Skydio X2 (MuJoCo Menagerie) with eyes on the nose · hover and turn on a flat scene</a:t>
            </a:r>
            <a:endParaRPr lang="en-US" sz="1100" dirty="0"/>
          </a:p>
        </p:txBody>
      </p:sp>
      <p:sp>
        <p:nvSpPr>
          <p:cNvPr id="7" name="cap-2"/>
          <p:cNvSpPr txBox="1"/>
          <p:nvPr/>
        </p:nvSpPr>
        <p:spPr>
          <a:xfrm>
            <a:off x="4754880" y="41605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Random 60 × 60 m terrain, blocks, target · angle mode: the simulator holds the commanded tilt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66928" y="219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600" dirty="0">
                <a:solidFill>
                  <a:srgbClr val="FF2D6F"/>
                </a:solidFill>
              </a:rPr>
              <a:t>TRAINING</a:t>
            </a:r>
            <a:endParaRPr lang="en-US" sz="800" dirty="0"/>
          </a:p>
        </p:txBody>
      </p:sp>
      <p:sp>
        <p:nvSpPr>
          <p:cNvPr id="3" name="Text 1"/>
          <p:cNvSpPr>
            <a:spLocks noGrp="1"/>
          </p:cNvSpPr>
          <p:nvPr>
            <p:ph type="title" idx="104" hasCustomPrompt="1"/>
          </p:nvPr>
        </p:nvSpPr>
        <p:spPr>
          <a:xfrm>
            <a:off x="566928" y="4572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kern="0" spc="100" dirty="0">
                <a:solidFill>
                  <a:srgbClr val="FAFAFA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TRAINING: ONLY THE DECODER LEARNS</a:t>
            </a:r>
            <a:endParaRPr lang="en-US" sz="1600" dirty="0"/>
          </a:p>
        </p:txBody>
      </p:sp>
      <p:sp>
        <p:nvSpPr>
          <p:cNvPr id="4" name="t-0"/>
          <p:cNvSpPr/>
          <p:nvPr/>
        </p:nvSpPr>
        <p:spPr>
          <a:xfrm>
            <a:off x="457200" y="1188720"/>
            <a:ext cx="4480560" cy="658368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5" name="t-0-n"/>
          <p:cNvSpPr txBox="1"/>
          <p:nvPr/>
        </p:nvSpPr>
        <p:spPr>
          <a:xfrm>
            <a:off x="658368" y="1335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2D6F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-0-h"/>
          <p:cNvSpPr txBox="1"/>
          <p:nvPr/>
        </p:nvSpPr>
        <p:spPr>
          <a:xfrm>
            <a:off x="109728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Teacher</a:t>
            </a:r>
            <a:endParaRPr lang="en-US" sz="1400" dirty="0"/>
          </a:p>
        </p:txBody>
      </p:sp>
      <p:sp>
        <p:nvSpPr>
          <p:cNvPr id="7" name="t-0-d"/>
          <p:cNvSpPr txBox="1"/>
          <p:nvPr/>
        </p:nvSpPr>
        <p:spPr>
          <a:xfrm>
            <a:off x="1097280" y="15453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knows the true state: target bearing, height, speed</a:t>
            </a:r>
            <a:endParaRPr lang="en-US" sz="1100" dirty="0"/>
          </a:p>
        </p:txBody>
      </p:sp>
      <p:sp>
        <p:nvSpPr>
          <p:cNvPr id="8" name="t-1"/>
          <p:cNvSpPr/>
          <p:nvPr/>
        </p:nvSpPr>
        <p:spPr>
          <a:xfrm>
            <a:off x="457200" y="1975104"/>
            <a:ext cx="4480560" cy="658368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9" name="t-1-n"/>
          <p:cNvSpPr txBox="1"/>
          <p:nvPr/>
        </p:nvSpPr>
        <p:spPr>
          <a:xfrm>
            <a:off x="658368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2D6F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-1-h"/>
          <p:cNvSpPr txBox="1"/>
          <p:nvPr/>
        </p:nvSpPr>
        <p:spPr>
          <a:xfrm>
            <a:off x="1097280" y="2066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Mixed flight</a:t>
            </a:r>
            <a:endParaRPr lang="en-US" sz="1400" dirty="0"/>
          </a:p>
        </p:txBody>
      </p:sp>
      <p:sp>
        <p:nvSpPr>
          <p:cNvPr id="11" name="t-1-d"/>
          <p:cNvSpPr txBox="1"/>
          <p:nvPr/>
        </p:nvSpPr>
        <p:spPr>
          <a:xfrm>
            <a:off x="1097280" y="2331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the teacher flies with probability β, β: 1 → 0</a:t>
            </a:r>
            <a:endParaRPr lang="en-US" sz="1100" dirty="0"/>
          </a:p>
        </p:txBody>
      </p:sp>
      <p:sp>
        <p:nvSpPr>
          <p:cNvPr id="12" name="t-2"/>
          <p:cNvSpPr/>
          <p:nvPr/>
        </p:nvSpPr>
        <p:spPr>
          <a:xfrm>
            <a:off x="457200" y="2761488"/>
            <a:ext cx="4480560" cy="658368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3" name="t-2-n"/>
          <p:cNvSpPr txBox="1"/>
          <p:nvPr/>
        </p:nvSpPr>
        <p:spPr>
          <a:xfrm>
            <a:off x="658368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2D6F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-2-h"/>
          <p:cNvSpPr txBox="1"/>
          <p:nvPr/>
        </p:nvSpPr>
        <p:spPr>
          <a:xfrm>
            <a:off x="1097280" y="2852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Data</a:t>
            </a:r>
            <a:endParaRPr lang="en-US" sz="1400" dirty="0"/>
          </a:p>
        </p:txBody>
      </p:sp>
      <p:sp>
        <p:nvSpPr>
          <p:cNvPr id="15" name="t-2-d"/>
          <p:cNvSpPr txBox="1"/>
          <p:nvPr/>
        </p:nvSpPr>
        <p:spPr>
          <a:xfrm>
            <a:off x="1097280" y="311810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pairs (features, teacher command); hard samples ×3–7</a:t>
            </a:r>
            <a:endParaRPr lang="en-US" sz="1100" dirty="0"/>
          </a:p>
        </p:txBody>
      </p:sp>
      <p:sp>
        <p:nvSpPr>
          <p:cNvPr id="16" name="t-3"/>
          <p:cNvSpPr/>
          <p:nvPr/>
        </p:nvSpPr>
        <p:spPr>
          <a:xfrm>
            <a:off x="457200" y="3547872"/>
            <a:ext cx="4480560" cy="658368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7" name="t-3-n"/>
          <p:cNvSpPr txBox="1"/>
          <p:nvPr/>
        </p:nvSpPr>
        <p:spPr>
          <a:xfrm>
            <a:off x="658368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2D6F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-3-h"/>
          <p:cNvSpPr txBox="1"/>
          <p:nvPr/>
        </p:nvSpPr>
        <p:spPr>
          <a:xfrm>
            <a:off x="109728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Regression</a:t>
            </a:r>
            <a:endParaRPr lang="en-US" sz="1400" dirty="0"/>
          </a:p>
        </p:txBody>
      </p:sp>
      <p:sp>
        <p:nvSpPr>
          <p:cNvPr id="19" name="t-3-d"/>
          <p:cNvSpPr txBox="1"/>
          <p:nvPr/>
        </p:nvSpPr>
        <p:spPr>
          <a:xfrm>
            <a:off x="1097280" y="39044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weights refit on all data (DAgger + ridge)</a:t>
            </a:r>
            <a:endParaRPr lang="en-US" sz="1100" dirty="0"/>
          </a:p>
        </p:txBody>
      </p:sp>
      <p:sp>
        <p:nvSpPr>
          <p:cNvPr id="20" name="split"/>
          <p:cNvSpPr/>
          <p:nvPr/>
        </p:nvSpPr>
        <p:spPr>
          <a:xfrm>
            <a:off x="5303520" y="1188720"/>
            <a:ext cx="3383280" cy="1417320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21" name="split-h"/>
          <p:cNvSpPr txBox="1"/>
          <p:nvPr/>
        </p:nvSpPr>
        <p:spPr>
          <a:xfrm>
            <a:off x="5532120" y="1325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Axis split</a:t>
            </a:r>
            <a:endParaRPr lang="en-US" sz="1400" dirty="0"/>
          </a:p>
        </p:txBody>
      </p:sp>
      <p:sp>
        <p:nvSpPr>
          <p:cNvPr id="22" name="sp-yaw-dot"/>
          <p:cNvSpPr/>
          <p:nvPr/>
        </p:nvSpPr>
        <p:spPr>
          <a:xfrm>
            <a:off x="5532120" y="1755648"/>
            <a:ext cx="109728" cy="109728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23" name="sp-yaw-label"/>
          <p:cNvSpPr txBox="1"/>
          <p:nvPr/>
        </p:nvSpPr>
        <p:spPr>
          <a:xfrm>
            <a:off x="5715000" y="16916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yaw ← BANC only (DNs)</a:t>
            </a:r>
            <a:endParaRPr lang="en-US" sz="1100" dirty="0"/>
          </a:p>
        </p:txBody>
      </p:sp>
      <p:sp>
        <p:nvSpPr>
          <p:cNvPr id="24" name="sp-ctl-dot"/>
          <p:cNvSpPr/>
          <p:nvPr/>
        </p:nvSpPr>
        <p:spPr>
          <a:xfrm>
            <a:off x="5532120" y="2075688"/>
            <a:ext cx="109728" cy="109728"/>
          </a:xfrm>
          <a:prstGeom prst="ellipse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5" name="sp-ctl-label"/>
          <p:cNvSpPr txBox="1"/>
          <p:nvPr/>
        </p:nvSpPr>
        <p:spPr>
          <a:xfrm>
            <a:off x="5715000" y="20116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thrust/roll/pitch ← BANC + sensors</a:t>
            </a:r>
            <a:endParaRPr lang="en-US" sz="1100" dirty="0"/>
          </a:p>
        </p:txBody>
      </p:sp>
      <p:sp>
        <p:nvSpPr>
          <p:cNvPr id="26" name="dist"/>
          <p:cNvSpPr/>
          <p:nvPr/>
        </p:nvSpPr>
        <p:spPr>
          <a:xfrm>
            <a:off x="5303520" y="2788920"/>
            <a:ext cx="3383280" cy="1463040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27" name="dist-h"/>
          <p:cNvSpPr txBox="1"/>
          <p:nvPr/>
        </p:nvSpPr>
        <p:spPr>
          <a:xfrm>
            <a:off x="5532120" y="2926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2 GPUs over LAN</a:t>
            </a:r>
            <a:endParaRPr lang="en-US" sz="1400" dirty="0"/>
          </a:p>
        </p:txBody>
      </p:sp>
      <p:sp>
        <p:nvSpPr>
          <p:cNvPr id="28" name="dist-d"/>
          <p:cNvSpPr txBox="1"/>
          <p:nvPr/>
        </p:nvSpPr>
        <p:spPr>
          <a:xfrm>
            <a:off x="5532120" y="32461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The master hands out worlds, workers (RTX 4060, RTX 3070 Ti) run episodes and send back only the XᵀX, Xᵀy statistics — no video frames.</a:t>
            </a:r>
            <a:endParaRPr lang="en-US" sz="11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66928" y="219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600" dirty="0">
                <a:solidFill>
                  <a:srgbClr val="FF2D6F"/>
                </a:solidFill>
              </a:rPr>
              <a:t>RESULTS</a:t>
            </a:r>
            <a:endParaRPr lang="en-US" sz="800" dirty="0"/>
          </a:p>
        </p:txBody>
      </p:sp>
      <p:sp>
        <p:nvSpPr>
          <p:cNvPr id="3" name="Text 1"/>
          <p:cNvSpPr>
            <a:spLocks noGrp="1"/>
          </p:cNvSpPr>
          <p:nvPr>
            <p:ph type="title" idx="104" hasCustomPrompt="1"/>
          </p:nvPr>
        </p:nvSpPr>
        <p:spPr>
          <a:xfrm>
            <a:off x="566928" y="4572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kern="0" spc="100" dirty="0">
                <a:solidFill>
                  <a:srgbClr val="FAFAFA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RESULT: TURNING TO THE TARGET</a:t>
            </a:r>
            <a:endParaRPr lang="en-US" sz="1600" dirty="0"/>
          </a:p>
        </p:txBody>
      </p:sp>
      <p:graphicFrame>
        <p:nvGraphicFramePr>
          <p:cNvPr id="4" name="chart-eval"/>
          <p:cNvGraphicFramePr/>
          <p:nvPr/>
        </p:nvGraphicFramePr>
        <p:xfrm>
          <a:off x="457200" y="1097280"/>
          <a:ext cx="53035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-err-value"/>
          <p:cNvSpPr txBox="1"/>
          <p:nvPr/>
        </p:nvSpPr>
        <p:spPr>
          <a:xfrm>
            <a:off x="6217920" y="12344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FF2D6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2.65°</a:t>
            </a:r>
            <a:endParaRPr lang="en-US" sz="3200" dirty="0"/>
          </a:p>
        </p:txBody>
      </p:sp>
      <p:sp>
        <p:nvSpPr>
          <p:cNvPr id="6" name="s-err-label"/>
          <p:cNvSpPr txBox="1"/>
          <p:nvPr/>
        </p:nvSpPr>
        <p:spPr>
          <a:xfrm>
            <a:off x="6217920" y="1801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mean final heading error without the teacher (25.1° before training)</a:t>
            </a:r>
            <a:endParaRPr lang="en-US" sz="1200" dirty="0"/>
          </a:p>
        </p:txBody>
      </p:sp>
      <p:sp>
        <p:nvSpPr>
          <p:cNvPr id="7" name="s-ep-value"/>
          <p:cNvSpPr txBox="1"/>
          <p:nvPr/>
        </p:nvSpPr>
        <p:spPr>
          <a:xfrm>
            <a:off x="6217920" y="2514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FAFAFA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1,000</a:t>
            </a:r>
            <a:endParaRPr lang="en-US" sz="3200" dirty="0"/>
          </a:p>
        </p:txBody>
      </p:sp>
      <p:sp>
        <p:nvSpPr>
          <p:cNvPr id="8" name="s-ep-label"/>
          <p:cNvSpPr txBox="1"/>
          <p:nvPr/>
        </p:nvSpPr>
        <p:spPr>
          <a:xfrm>
            <a:off x="6217920" y="30815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episodes on 2 GPUs: 672 + 328</a:t>
            </a:r>
            <a:endParaRPr lang="en-US" sz="1200" dirty="0"/>
          </a:p>
        </p:txBody>
      </p:sp>
      <p:sp>
        <p:nvSpPr>
          <p:cNvPr id="9" name="s-note"/>
          <p:cNvSpPr txBox="1"/>
          <p:nvPr/>
        </p:nvSpPr>
        <p:spPr>
          <a:xfrm>
            <a:off x="6217920" y="37033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Hover on a flat scene, height held by the simulator. Heading: single BANC DNs only.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66928" y="219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600" dirty="0">
                <a:solidFill>
                  <a:srgbClr val="FF2D6F"/>
                </a:solidFill>
              </a:rPr>
              <a:t>RESULTS</a:t>
            </a:r>
            <a:endParaRPr lang="en-US" sz="800" dirty="0"/>
          </a:p>
        </p:txBody>
      </p:sp>
      <p:sp>
        <p:nvSpPr>
          <p:cNvPr id="3" name="Text 1"/>
          <p:cNvSpPr>
            <a:spLocks noGrp="1"/>
          </p:cNvSpPr>
          <p:nvPr>
            <p:ph type="title" idx="104" hasCustomPrompt="1"/>
          </p:nvPr>
        </p:nvSpPr>
        <p:spPr>
          <a:xfrm>
            <a:off x="566928" y="4572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kern="0" spc="100" dirty="0">
                <a:solidFill>
                  <a:srgbClr val="FAFAFA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WORLD FLIGHT: IN PROGRESS</a:t>
            </a:r>
            <a:endParaRPr lang="en-US" sz="1600" dirty="0"/>
          </a:p>
        </p:txBody>
      </p:sp>
      <p:sp>
        <p:nvSpPr>
          <p:cNvPr id="4" name="c-teacher"/>
          <p:cNvSpPr/>
          <p:nvPr/>
        </p:nvSpPr>
        <p:spPr>
          <a:xfrm>
            <a:off x="457200" y="1188720"/>
            <a:ext cx="2606040" cy="1600200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5" name="c-before"/>
          <p:cNvSpPr/>
          <p:nvPr/>
        </p:nvSpPr>
        <p:spPr>
          <a:xfrm>
            <a:off x="3273552" y="1188720"/>
            <a:ext cx="2606040" cy="1600200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6" name="c-model"/>
          <p:cNvSpPr/>
          <p:nvPr/>
        </p:nvSpPr>
        <p:spPr>
          <a:xfrm>
            <a:off x="6080760" y="1188720"/>
            <a:ext cx="2606040" cy="1600200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7" name="w-t-value"/>
          <p:cNvSpPr txBox="1"/>
          <p:nvPr/>
        </p:nvSpPr>
        <p:spPr>
          <a:xfrm>
            <a:off x="731520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FAFAFA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6 / 6</a:t>
            </a:r>
            <a:endParaRPr lang="en-US" sz="3200" dirty="0"/>
          </a:p>
        </p:txBody>
      </p:sp>
      <p:sp>
        <p:nvSpPr>
          <p:cNvPr id="8" name="w-t-label"/>
          <p:cNvSpPr txBox="1"/>
          <p:nvPr/>
        </p:nvSpPr>
        <p:spPr>
          <a:xfrm>
            <a:off x="731520" y="1984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the teacher reaches the target — there is something to learn from</a:t>
            </a:r>
            <a:endParaRPr lang="en-US" sz="1200" dirty="0"/>
          </a:p>
        </p:txBody>
      </p:sp>
      <p:sp>
        <p:nvSpPr>
          <p:cNvPr id="9" name="w-b-value"/>
          <p:cNvSpPr txBox="1"/>
          <p:nvPr/>
        </p:nvSpPr>
        <p:spPr>
          <a:xfrm>
            <a:off x="3547872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A1A1AA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18.1 m</a:t>
            </a:r>
            <a:endParaRPr lang="en-US" sz="3200" dirty="0"/>
          </a:p>
        </p:txBody>
      </p:sp>
      <p:sp>
        <p:nvSpPr>
          <p:cNvPr id="10" name="w-b-label"/>
          <p:cNvSpPr txBox="1"/>
          <p:nvPr/>
        </p:nvSpPr>
        <p:spPr>
          <a:xfrm>
            <a:off x="3547872" y="1984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before training: mean closest distance to the target</a:t>
            </a:r>
            <a:endParaRPr lang="en-US" sz="1200" dirty="0"/>
          </a:p>
        </p:txBody>
      </p:sp>
      <p:sp>
        <p:nvSpPr>
          <p:cNvPr id="11" name="w-m-value"/>
          <p:cNvSpPr txBox="1"/>
          <p:nvPr/>
        </p:nvSpPr>
        <p:spPr>
          <a:xfrm>
            <a:off x="6355080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FF2D6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9.0 m</a:t>
            </a:r>
            <a:endParaRPr lang="en-US" sz="3200" dirty="0"/>
          </a:p>
        </p:txBody>
      </p:sp>
      <p:sp>
        <p:nvSpPr>
          <p:cNvPr id="12" name="w-m-label"/>
          <p:cNvSpPr txBox="1"/>
          <p:nvPr/>
        </p:nvSpPr>
        <p:spPr>
          <a:xfrm>
            <a:off x="6355080" y="1984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after 192 episodes: 2× closer, 0 crashes, target 0 / 6</a:t>
            </a:r>
            <a:endParaRPr lang="en-US" sz="1200" dirty="0"/>
          </a:p>
        </p:txBody>
      </p:sp>
      <p:sp>
        <p:nvSpPr>
          <p:cNvPr id="13" name="w-note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1A1AA"/>
                </a:solidFill>
              </a:rPr>
              <a:t>Honestly: the model flies stably and gets closer to the target, but does not reach it yet. Next run: validation every 50 episodes keeping the best weights, harder samples weighted up, GPS for long-range heading.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66928" y="2194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600" dirty="0">
                <a:solidFill>
                  <a:srgbClr val="FF2D6F"/>
                </a:solidFill>
              </a:rPr>
              <a:t>HONESTY</a:t>
            </a:r>
            <a:endParaRPr lang="en-US" sz="800" dirty="0"/>
          </a:p>
        </p:txBody>
      </p:sp>
      <p:sp>
        <p:nvSpPr>
          <p:cNvPr id="3" name="Text 1"/>
          <p:cNvSpPr>
            <a:spLocks noGrp="1"/>
          </p:cNvSpPr>
          <p:nvPr>
            <p:ph type="title" idx="104" hasCustomPrompt="1"/>
          </p:nvPr>
        </p:nvSpPr>
        <p:spPr>
          <a:xfrm>
            <a:off x="566928" y="4572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kern="0" spc="100" dirty="0">
                <a:solidFill>
                  <a:srgbClr val="FAFAFA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FROM BANC VS. OUR ASSUMPTIONS</a:t>
            </a:r>
            <a:endParaRPr lang="en-US" sz="1600" dirty="0"/>
          </a:p>
        </p:txBody>
      </p:sp>
      <p:sp>
        <p:nvSpPr>
          <p:cNvPr id="4" name="bank"/>
          <p:cNvSpPr/>
          <p:nvPr/>
        </p:nvSpPr>
        <p:spPr>
          <a:xfrm>
            <a:off x="457200" y="1188720"/>
            <a:ext cx="3931920" cy="2514600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5" name="ours"/>
          <p:cNvSpPr/>
          <p:nvPr/>
        </p:nvSpPr>
        <p:spPr>
          <a:xfrm>
            <a:off x="4754880" y="1188720"/>
            <a:ext cx="3931920" cy="2514600"/>
          </a:xfrm>
          <a:prstGeom prst="rect">
            <a:avLst/>
          </a:prstGeom>
          <a:solidFill>
            <a:srgbClr val="18181B">
              <a:alpha val="88000"/>
            </a:srgbClr>
          </a:solidFill>
          <a:ln w="9525">
            <a:solidFill>
              <a:srgbClr val="3F3F46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6" name="h-banc-dot"/>
          <p:cNvSpPr/>
          <p:nvPr/>
        </p:nvSpPr>
        <p:spPr>
          <a:xfrm>
            <a:off x="731520" y="1435608"/>
            <a:ext cx="109728" cy="109728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7" name="h-banc-label"/>
          <p:cNvSpPr txBox="1"/>
          <p:nvPr/>
        </p:nvSpPr>
        <p:spPr>
          <a:xfrm>
            <a:off x="914400" y="1371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from BANC v888</a:t>
            </a:r>
            <a:endParaRPr lang="en-US" sz="1100" dirty="0"/>
          </a:p>
        </p:txBody>
      </p:sp>
      <p:sp>
        <p:nvSpPr>
          <p:cNvPr id="8" name="h-ours-dot"/>
          <p:cNvSpPr/>
          <p:nvPr/>
        </p:nvSpPr>
        <p:spPr>
          <a:xfrm>
            <a:off x="5029200" y="1435608"/>
            <a:ext cx="109728" cy="109728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9" name="h-ours-label"/>
          <p:cNvSpPr txBox="1"/>
          <p:nvPr/>
        </p:nvSpPr>
        <p:spPr>
          <a:xfrm>
            <a:off x="5212080" y="1371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our assumptions</a:t>
            </a:r>
            <a:endParaRPr lang="en-US" sz="1100" dirty="0"/>
          </a:p>
        </p:txBody>
      </p:sp>
      <p:sp>
        <p:nvSpPr>
          <p:cNvPr id="10" name="list-banc"/>
          <p:cNvSpPr txBox="1"/>
          <p:nvPr/>
        </p:nvSpPr>
        <p:spPr>
          <a:xfrm>
            <a:off x="731520" y="182880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neurons, connections, synapse counts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predicted neurotransmitter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flight groups from official annotations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soma positions and SWC skeletons</a:t>
            </a:r>
            <a:endParaRPr lang="en-US" sz="1400" dirty="0"/>
          </a:p>
        </p:txBody>
      </p:sp>
      <p:sp>
        <p:nvSpPr>
          <p:cNvPr id="11" name="list-ours"/>
          <p:cNvSpPr txBox="1"/>
          <p:nvPr/>
        </p:nvSpPr>
        <p:spPr>
          <a:xfrm>
            <a:off x="5029200" y="182880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dynamics model and parameters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neurotransmitter signs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FlyVis → BANC map by cell type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linear decoder and axis split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drone sensors for thrust/roll/pitch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nder-bg" descr="C:\NeuroFly\docs\prezentacja\assets\connectome_wide.jpg"/>
          <p:cNvPicPr>
            <a:picLocks noChangeAspect="1"/>
          </p:cNvPicPr>
          <p:nvPr/>
        </p:nvPicPr>
        <p:blipFill>
          <a:blip r:embed="rId3">
            <a:alphaModFix amt="65000"/>
          </a:blip>
          <a:stretch>
            <a:fillRect/>
          </a:stretch>
        </p:blipFill>
        <p:spPr>
          <a:xfrm>
            <a:off x="3749040" y="685800"/>
            <a:ext cx="5394960" cy="2697480"/>
          </a:xfrm>
          <a:prstGeom prst="rect">
            <a:avLst/>
          </a:prstGeom>
        </p:spPr>
      </p:pic>
      <p:pic>
        <p:nvPicPr>
          <p:cNvPr id="3" name="logo" descr="C:\NeuroFly\docs\prezentacja\assets\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05840"/>
            <a:ext cx="914400" cy="539496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548640" y="16916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FF2D6F"/>
                </a:solidFill>
              </a:rPr>
              <a:t>NEUROFLY  ·  HACKYEAH</a:t>
            </a:r>
            <a:endParaRPr lang="en-US" sz="900" dirty="0"/>
          </a:p>
        </p:txBody>
      </p:sp>
      <p:sp>
        <p:nvSpPr>
          <p:cNvPr id="5" name="thanks"/>
          <p:cNvSpPr txBox="1"/>
          <p:nvPr/>
        </p:nvSpPr>
        <p:spPr>
          <a:xfrm>
            <a:off x="548640" y="193852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kern="0" spc="200" dirty="0">
                <a:solidFill>
                  <a:srgbClr val="FAFAFA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THANK YOU</a:t>
            </a:r>
            <a:endParaRPr lang="en-US" sz="3600" dirty="0"/>
          </a:p>
        </p:txBody>
      </p:sp>
      <p:pic>
        <p:nvPicPr>
          <p:cNvPr id="6" name="accent-line" descr="C:\NeuroFly\docs\prezentacja\assets\accent_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697480"/>
            <a:ext cx="45720" cy="731520"/>
          </a:xfrm>
          <a:prstGeom prst="rect">
            <a:avLst/>
          </a:prstGeom>
        </p:spPr>
      </p:pic>
      <p:sp>
        <p:nvSpPr>
          <p:cNvPr id="7" name="demo"/>
          <p:cNvSpPr txBox="1"/>
          <p:nvPr/>
        </p:nvSpPr>
        <p:spPr>
          <a:xfrm>
            <a:off x="77724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A1A1AA"/>
                </a:solidFill>
              </a:rPr>
              <a:t>Live demo: BANC panel in flight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A1A1AA"/>
                </a:solidFill>
              </a:rPr>
              <a:t>3D connectome explorer</a:t>
            </a:r>
            <a:endParaRPr lang="en-US" sz="1500" dirty="0"/>
          </a:p>
        </p:txBody>
      </p:sp>
      <p:sp>
        <p:nvSpPr>
          <p:cNvPr id="8" name="repo"/>
          <p:cNvSpPr txBox="1"/>
          <p:nvPr/>
        </p:nvSpPr>
        <p:spPr>
          <a:xfrm>
            <a:off x="5486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FF2D6F"/>
                </a:solidFill>
              </a:rPr>
              <a:t>GITHUB.COM/FALCONDEVX/NEUROFLY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roFly">
  <a:themeElements>
    <a:clrScheme name="NeuroFly">
      <a:dk1>
        <a:srgbClr val="09090B"/>
      </a:dk1>
      <a:lt1>
        <a:srgbClr val="FAFAFA"/>
      </a:lt1>
      <a:dk2>
        <a:srgbClr val="18181B"/>
      </a:dk2>
      <a:lt2>
        <a:srgbClr val="A1A1AA"/>
      </a:lt2>
      <a:accent1>
        <a:srgbClr val="2FD3C4"/>
      </a:accent1>
      <a:accent2>
        <a:srgbClr val="FFB547"/>
      </a:accent2>
      <a:accent3>
        <a:srgbClr val="FF4FB0"/>
      </a:accent3>
      <a:accent4>
        <a:srgbClr val="4F8CFF"/>
      </a:accent4>
      <a:accent5>
        <a:srgbClr val="52525B"/>
      </a:accent5>
      <a:accent6>
        <a:srgbClr val="27272A"/>
      </a:accent6>
      <a:hlink>
        <a:srgbClr val="2FD3C4"/>
      </a:hlink>
      <a:folHlink>
        <a:srgbClr val="A1A1AA"/>
      </a:folHlink>
    </a:clrScheme>
    <a:fontScheme name="NeuroFly">
      <a:majorFont>
        <a:latin typeface="Michr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1181</Words>
  <Application>Microsoft Office PowerPoint</Application>
  <PresentationFormat>On-screen Show (16:9)</PresentationFormat>
  <Paragraphs>200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Roboto Light</vt:lpstr>
      <vt:lpstr>Roboto</vt:lpstr>
      <vt:lpstr>Cambria</vt:lpstr>
      <vt:lpstr>Arial</vt:lpstr>
      <vt:lpstr>Michroma</vt:lpstr>
      <vt:lpstr>NeuroFly</vt:lpstr>
      <vt:lpstr>PowerPoint Presentation</vt:lpstr>
      <vt:lpstr>CLOSED LOOP: VISION → FLIGHT</vt:lpstr>
      <vt:lpstr>PIPELINE: FROM PIXEL TO PROPELLER</vt:lpstr>
      <vt:lpstr>BEFORE BANC: THE FLY EYE</vt:lpstr>
      <vt:lpstr>BANC V888: BRAIN + NERVE CORD</vt:lpstr>
      <vt:lpstr>ACTIVITY ON THE CONNECTOME</vt:lpstr>
      <vt:lpstr>FLIGHT CIRCUIT: OFFICIAL ANNOTATIONS</vt:lpstr>
      <vt:lpstr>TARGET SIDE LIVES IN SINGLE DNS</vt:lpstr>
      <vt:lpstr>V888 LIMIT: OPTIC LOBE ASYMMETRY</vt:lpstr>
      <vt:lpstr>SIMULATOR: X2 DRONE IN MUJOCO</vt:lpstr>
      <vt:lpstr>TRAINING: ONLY THE DECODER LEARNS</vt:lpstr>
      <vt:lpstr>RESULT: TURNING TO THE TARGET</vt:lpstr>
      <vt:lpstr>WORLD FLIGHT: IN PROGRESS</vt:lpstr>
      <vt:lpstr>FROM BANC VS. OUR ASSUMPTIONS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NeuroFly — a fruit-fly brain flies a drone</dc:title>
  <dc:subject>PptxGenJS Presentation</dc:subject>
  <dc:creator>NeuroFly team</dc:creator>
  <cp:lastModifiedBy>Mateusz Nowaczek</cp:lastModifiedBy>
  <cp:revision>2</cp:revision>
  <dcterms:created xsi:type="dcterms:W3CDTF">2026-10-03T21:19:59Z</dcterms:created>
  <dcterms:modified xsi:type="dcterms:W3CDTF">2026-10-03T21:20:01Z</dcterms:modified>
</cp:coreProperties>
</file>