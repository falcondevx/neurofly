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notesSlides/notesSlide28.xml" ContentType="application/vnd.openxmlformats-officedocument.presentationml.notesSlide+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embeddedFontLst>
    <p:embeddedFont>
      <p:font typeface="Cambria Math" panose="02040503050406030204" pitchFamily="18" charset="0"/>
      <p:regular r:id="rId31"/>
    </p:embeddedFont>
    <p:embeddedFont>
      <p:font typeface="Consolas" panose="020B0609020204030204" pitchFamily="49" charset="0"/>
      <p:regular r:id="rId32"/>
      <p:bold r:id="rId33"/>
      <p:italic r:id="rId34"/>
      <p:boldItalic r:id="rId35"/>
    </p:embeddedFont>
    <p:embeddedFont>
      <p:font typeface="Michroma" pitchFamily="2" charset="-18"/>
      <p:regular r:id="rId36"/>
    </p:embeddedFont>
    <p:embeddedFont>
      <p:font typeface="Roboto" panose="02000000000000000000" pitchFamily="2" charset="0"/>
      <p:regular r:id="rId37"/>
      <p:bold r:id="rId38"/>
      <p:italic r:id="rId39"/>
      <p:boldItalic r:id="rId40"/>
    </p:embeddedFont>
    <p:embeddedFont>
      <p:font typeface="Roboto Light" panose="02000000000000000000" pitchFamily="2" charset="0"/>
      <p:regular r:id="rId41"/>
      <p:italic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C0440BE3-E535-3DF4-2AD0-EE308B188D64}">
          <p14:sldIdLst>
            <p14:sldId id="256"/>
          </p14:sldIdLst>
        </p14:section>
        <p14:section name="Idea" id="{E110B5A7-75AF-7634-68DB-C3ABA9EE012F}">
          <p14:sldIdLst>
            <p14:sldId id="257"/>
            <p14:sldId id="258"/>
            <p14:sldId id="259"/>
          </p14:sldIdLst>
        </p14:section>
        <p14:section name="How it works" id="{4354F4E0-2296-9C49-8CF1-DCC53BF61ABC}">
          <p14:sldIdLst>
            <p14:sldId id="260"/>
            <p14:sldId id="261"/>
            <p14:sldId id="262"/>
            <p14:sldId id="263"/>
            <p14:sldId id="264"/>
            <p14:sldId id="265"/>
            <p14:sldId id="266"/>
          </p14:sldIdLst>
        </p14:section>
        <p14:section name="Results" id="{F60A02A5-5D7A-799A-8F4F-2547638EDAED}">
          <p14:sldIdLst>
            <p14:sldId id="267"/>
            <p14:sldId id="268"/>
            <p14:sldId id="269"/>
          </p14:sldIdLst>
        </p14:section>
        <p14:section name="Honesty" id="{2C9CA8DF-A7A7-FB8B-D1BA-C10654FE7031}">
          <p14:sldIdLst>
            <p14:sldId id="270"/>
            <p14:sldId id="271"/>
          </p14:sldIdLst>
        </p14:section>
        <p14:section name="Next" id="{4DAC8B4F-8835-10EE-3E9F-C544FB4A3B0A}">
          <p14:sldIdLst>
            <p14:sldId id="272"/>
            <p14:sldId id="273"/>
            <p14:sldId id="274"/>
            <p14:sldId id="275"/>
            <p14:sldId id="276"/>
          </p14:sldIdLst>
        </p14:section>
        <p14:section name="Appendix" id="{C67507B2-5A32-5426-A0BF-12061B4C7F05}">
          <p14:sldIdLst>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Target-side accuracy</c:v>
                </c:pt>
              </c:strCache>
            </c:strRef>
          </c:tx>
          <c:spPr>
            <a:solidFill>
              <a:srgbClr val="52525B"/>
            </a:solidFill>
            <a:effectLst/>
          </c:spPr>
          <c:invertIfNegative val="0"/>
          <c:dPt>
            <c:idx val="0"/>
            <c:invertIfNegative val="0"/>
            <c:bubble3D val="0"/>
            <c:extLst>
              <c:ext xmlns:c16="http://schemas.microsoft.com/office/drawing/2014/chart" uri="{C3380CC4-5D6E-409C-BE32-E72D297353CC}">
                <c16:uniqueId val="{00000001-6A71-40A9-879E-C288852D79EF}"/>
              </c:ext>
            </c:extLst>
          </c:dPt>
          <c:dPt>
            <c:idx val="1"/>
            <c:invertIfNegative val="0"/>
            <c:bubble3D val="0"/>
            <c:extLst>
              <c:ext xmlns:c16="http://schemas.microsoft.com/office/drawing/2014/chart" uri="{C3380CC4-5D6E-409C-BE32-E72D297353CC}">
                <c16:uniqueId val="{00000003-6A71-40A9-879E-C288852D79EF}"/>
              </c:ext>
            </c:extLst>
          </c:dPt>
          <c:dPt>
            <c:idx val="2"/>
            <c:invertIfNegative val="0"/>
            <c:bubble3D val="0"/>
            <c:extLst>
              <c:ext xmlns:c16="http://schemas.microsoft.com/office/drawing/2014/chart" uri="{C3380CC4-5D6E-409C-BE32-E72D297353CC}">
                <c16:uniqueId val="{00000005-6A71-40A9-879E-C288852D79EF}"/>
              </c:ext>
            </c:extLst>
          </c:dPt>
          <c:dPt>
            <c:idx val="3"/>
            <c:invertIfNegative val="0"/>
            <c:bubble3D val="0"/>
            <c:spPr>
              <a:solidFill>
                <a:srgbClr val="FF2D6F"/>
              </a:solidFill>
              <a:effectLst/>
            </c:spPr>
            <c:extLst>
              <c:ext xmlns:c16="http://schemas.microsoft.com/office/drawing/2014/chart" uri="{C3380CC4-5D6E-409C-BE32-E72D297353CC}">
                <c16:uniqueId val="{00000007-6A71-40A9-879E-C288852D79EF}"/>
              </c:ext>
            </c:extLst>
          </c:dPt>
          <c:dLbls>
            <c:numFmt formatCode="0&quot;%&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wing muscle neurons, averaged</c:v>
                </c:pt>
                <c:pt idx="1">
                  <c:v>wing muscle neurons, one by one</c:v>
                </c:pt>
                <c:pt idx="2">
                  <c:v>vision neurons</c:v>
                </c:pt>
                <c:pt idx="3">
                  <c:v>flight neurons, one by one</c:v>
                </c:pt>
              </c:strCache>
            </c:strRef>
          </c:cat>
          <c:val>
            <c:numRef>
              <c:f>Sheet1!$B$2:$B$5</c:f>
              <c:numCache>
                <c:formatCode>General</c:formatCode>
                <c:ptCount val="4"/>
                <c:pt idx="0">
                  <c:v>68</c:v>
                </c:pt>
                <c:pt idx="1">
                  <c:v>84</c:v>
                </c:pt>
                <c:pt idx="2">
                  <c:v>94</c:v>
                </c:pt>
                <c:pt idx="3">
                  <c:v>99</c:v>
                </c:pt>
              </c:numCache>
            </c:numRef>
          </c:val>
          <c:extLst>
            <c:ext xmlns:c16="http://schemas.microsoft.com/office/drawing/2014/chart" uri="{C3380CC4-5D6E-409C-BE32-E72D297353CC}">
              <c16:uniqueId val="{00000008-6A71-40A9-879E-C288852D79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before training</c:v>
                </c:pt>
              </c:strCache>
            </c:strRef>
          </c:tx>
          <c:spPr>
            <a:solidFill>
              <a:srgbClr val="52525B"/>
            </a:solidFill>
            <a:effectLst/>
          </c:spPr>
          <c:invertIfNegative val="0"/>
          <c:dLbls>
            <c:numFmt formatCode="0.0&quot;°&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target −60°</c:v>
                </c:pt>
                <c:pt idx="1">
                  <c:v>target −30°</c:v>
                </c:pt>
                <c:pt idx="2">
                  <c:v>target +30°</c:v>
                </c:pt>
                <c:pt idx="3">
                  <c:v>target +60°</c:v>
                </c:pt>
              </c:strCache>
            </c:strRef>
          </c:cat>
          <c:val>
            <c:numRef>
              <c:f>Sheet1!$B$2:$B$5</c:f>
              <c:numCache>
                <c:formatCode>General</c:formatCode>
                <c:ptCount val="4"/>
                <c:pt idx="0">
                  <c:v>24.8</c:v>
                </c:pt>
                <c:pt idx="1">
                  <c:v>21.5</c:v>
                </c:pt>
                <c:pt idx="2">
                  <c:v>21.7</c:v>
                </c:pt>
                <c:pt idx="3">
                  <c:v>32.5</c:v>
                </c:pt>
              </c:numCache>
            </c:numRef>
          </c:val>
          <c:extLst>
            <c:ext xmlns:c16="http://schemas.microsoft.com/office/drawing/2014/chart" uri="{C3380CC4-5D6E-409C-BE32-E72D297353CC}">
              <c16:uniqueId val="{00000000-74F8-4EFE-BA24-5DFCC8011B0F}"/>
            </c:ext>
          </c:extLst>
        </c:ser>
        <c:ser>
          <c:idx val="1"/>
          <c:order val="1"/>
          <c:tx>
            <c:strRef>
              <c:f>Sheet1!$C$1</c:f>
              <c:strCache>
                <c:ptCount val="1"/>
                <c:pt idx="0">
                  <c:v>after training</c:v>
                </c:pt>
              </c:strCache>
            </c:strRef>
          </c:tx>
          <c:spPr>
            <a:solidFill>
              <a:srgbClr val="FF2D6F"/>
            </a:solidFill>
            <a:effectLst/>
          </c:spPr>
          <c:invertIfNegative val="0"/>
          <c:dLbls>
            <c:numFmt formatCode="0.0&quot;°&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target −60°</c:v>
                </c:pt>
                <c:pt idx="1">
                  <c:v>target −30°</c:v>
                </c:pt>
                <c:pt idx="2">
                  <c:v>target +30°</c:v>
                </c:pt>
                <c:pt idx="3">
                  <c:v>target +60°</c:v>
                </c:pt>
              </c:strCache>
            </c:strRef>
          </c:cat>
          <c:val>
            <c:numRef>
              <c:f>Sheet1!$C$2:$C$5</c:f>
              <c:numCache>
                <c:formatCode>General</c:formatCode>
                <c:ptCount val="4"/>
                <c:pt idx="0">
                  <c:v>0.1</c:v>
                </c:pt>
                <c:pt idx="1">
                  <c:v>3.1</c:v>
                </c:pt>
                <c:pt idx="2">
                  <c:v>2.2999999999999998</c:v>
                </c:pt>
                <c:pt idx="3">
                  <c:v>5.0999999999999996</c:v>
                </c:pt>
              </c:numCache>
            </c:numRef>
          </c:val>
          <c:extLst>
            <c:ext xmlns:c16="http://schemas.microsoft.com/office/drawing/2014/chart" uri="{C3380CC4-5D6E-409C-BE32-E72D297353CC}">
              <c16:uniqueId val="{00000001-74F8-4EFE-BA24-5DFCC8011B0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100">
              <a:solidFill>
                <a:srgbClr val="A1A1A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targets reached (of 6)</c:v>
                </c:pt>
              </c:strCache>
            </c:strRef>
          </c:tx>
          <c:spPr>
            <a:solidFill>
              <a:srgbClr val="52525B"/>
            </a:solidFill>
            <a:effectLst/>
          </c:spPr>
          <c:invertIfNegative val="0"/>
          <c:dPt>
            <c:idx val="0"/>
            <c:invertIfNegative val="0"/>
            <c:bubble3D val="0"/>
            <c:extLst>
              <c:ext xmlns:c16="http://schemas.microsoft.com/office/drawing/2014/chart" uri="{C3380CC4-5D6E-409C-BE32-E72D297353CC}">
                <c16:uniqueId val="{00000001-B38F-4EA9-B0FD-33CD8D6984C5}"/>
              </c:ext>
            </c:extLst>
          </c:dPt>
          <c:dPt>
            <c:idx val="1"/>
            <c:invertIfNegative val="0"/>
            <c:bubble3D val="0"/>
            <c:extLst>
              <c:ext xmlns:c16="http://schemas.microsoft.com/office/drawing/2014/chart" uri="{C3380CC4-5D6E-409C-BE32-E72D297353CC}">
                <c16:uniqueId val="{00000003-B38F-4EA9-B0FD-33CD8D6984C5}"/>
              </c:ext>
            </c:extLst>
          </c:dPt>
          <c:dPt>
            <c:idx val="2"/>
            <c:invertIfNegative val="0"/>
            <c:bubble3D val="0"/>
            <c:spPr>
              <a:solidFill>
                <a:srgbClr val="FF2D6F"/>
              </a:solidFill>
              <a:effectLst/>
            </c:spPr>
            <c:extLst>
              <c:ext xmlns:c16="http://schemas.microsoft.com/office/drawing/2014/chart" uri="{C3380CC4-5D6E-409C-BE32-E72D297353CC}">
                <c16:uniqueId val="{00000005-B38F-4EA9-B0FD-33CD8D6984C5}"/>
              </c:ext>
            </c:extLst>
          </c:dPt>
          <c:dPt>
            <c:idx val="3"/>
            <c:invertIfNegative val="0"/>
            <c:bubble3D val="0"/>
            <c:extLst>
              <c:ext xmlns:c16="http://schemas.microsoft.com/office/drawing/2014/chart" uri="{C3380CC4-5D6E-409C-BE32-E72D297353CC}">
                <c16:uniqueId val="{00000007-B38F-4EA9-B0FD-33CD8D6984C5}"/>
              </c:ext>
            </c:extLst>
          </c:dPt>
          <c:dPt>
            <c:idx val="4"/>
            <c:invertIfNegative val="0"/>
            <c:bubble3D val="0"/>
            <c:extLst>
              <c:ext xmlns:c16="http://schemas.microsoft.com/office/drawing/2014/chart" uri="{C3380CC4-5D6E-409C-BE32-E72D297353CC}">
                <c16:uniqueId val="{00000009-B38F-4EA9-B0FD-33CD8D6984C5}"/>
              </c:ext>
            </c:extLst>
          </c:dPt>
          <c:dPt>
            <c:idx val="5"/>
            <c:invertIfNegative val="0"/>
            <c:bubble3D val="0"/>
            <c:extLst>
              <c:ext xmlns:c16="http://schemas.microsoft.com/office/drawing/2014/chart" uri="{C3380CC4-5D6E-409C-BE32-E72D297353CC}">
                <c16:uniqueId val="{0000000B-B38F-4EA9-B0FD-33CD8D6984C5}"/>
              </c:ext>
            </c:extLst>
          </c:dPt>
          <c:dPt>
            <c:idx val="6"/>
            <c:invertIfNegative val="0"/>
            <c:bubble3D val="0"/>
            <c:extLst>
              <c:ext xmlns:c16="http://schemas.microsoft.com/office/drawing/2014/chart" uri="{C3380CC4-5D6E-409C-BE32-E72D297353CC}">
                <c16:uniqueId val="{0000000D-B38F-4EA9-B0FD-33CD8D6984C5}"/>
              </c:ext>
            </c:extLst>
          </c:dPt>
          <c:dLbls>
            <c:numFmt formatCode="0&quot; / 6&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c:v>
                </c:pt>
                <c:pt idx="1">
                  <c:v>50</c:v>
                </c:pt>
                <c:pt idx="2">
                  <c:v>100</c:v>
                </c:pt>
                <c:pt idx="3">
                  <c:v>150</c:v>
                </c:pt>
                <c:pt idx="4">
                  <c:v>200</c:v>
                </c:pt>
                <c:pt idx="5">
                  <c:v>250</c:v>
                </c:pt>
                <c:pt idx="6">
                  <c:v>300</c:v>
                </c:pt>
              </c:strCache>
            </c:strRef>
          </c:cat>
          <c:val>
            <c:numRef>
              <c:f>Sheet1!$B$2:$B$8</c:f>
              <c:numCache>
                <c:formatCode>General</c:formatCode>
                <c:ptCount val="7"/>
                <c:pt idx="0">
                  <c:v>0</c:v>
                </c:pt>
                <c:pt idx="1">
                  <c:v>3</c:v>
                </c:pt>
                <c:pt idx="2">
                  <c:v>5</c:v>
                </c:pt>
                <c:pt idx="3">
                  <c:v>3</c:v>
                </c:pt>
                <c:pt idx="4">
                  <c:v>5</c:v>
                </c:pt>
                <c:pt idx="5">
                  <c:v>5</c:v>
                </c:pt>
                <c:pt idx="6">
                  <c:v>4</c:v>
                </c:pt>
              </c:numCache>
            </c:numRef>
          </c:val>
          <c:extLst>
            <c:ext xmlns:c16="http://schemas.microsoft.com/office/drawing/2014/chart" uri="{C3380CC4-5D6E-409C-BE32-E72D297353CC}">
              <c16:uniqueId val="{0000000E-B38F-4EA9-B0FD-33CD8D6984C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target reached</c:v>
                </c:pt>
              </c:strCache>
            </c:strRef>
          </c:tx>
          <c:spPr>
            <a:solidFill>
              <a:srgbClr val="52525B"/>
            </a:solidFill>
            <a:effectLst/>
          </c:spPr>
          <c:invertIfNegative val="0"/>
          <c:dPt>
            <c:idx val="0"/>
            <c:invertIfNegative val="0"/>
            <c:bubble3D val="0"/>
            <c:extLst>
              <c:ext xmlns:c16="http://schemas.microsoft.com/office/drawing/2014/chart" uri="{C3380CC4-5D6E-409C-BE32-E72D297353CC}">
                <c16:uniqueId val="{00000001-FE84-43F6-A9B0-CCCF5DF5BDB9}"/>
              </c:ext>
            </c:extLst>
          </c:dPt>
          <c:dPt>
            <c:idx val="1"/>
            <c:invertIfNegative val="0"/>
            <c:bubble3D val="0"/>
            <c:extLst>
              <c:ext xmlns:c16="http://schemas.microsoft.com/office/drawing/2014/chart" uri="{C3380CC4-5D6E-409C-BE32-E72D297353CC}">
                <c16:uniqueId val="{00000003-FE84-43F6-A9B0-CCCF5DF5BDB9}"/>
              </c:ext>
            </c:extLst>
          </c:dPt>
          <c:dPt>
            <c:idx val="2"/>
            <c:invertIfNegative val="0"/>
            <c:bubble3D val="0"/>
            <c:extLst>
              <c:ext xmlns:c16="http://schemas.microsoft.com/office/drawing/2014/chart" uri="{C3380CC4-5D6E-409C-BE32-E72D297353CC}">
                <c16:uniqueId val="{00000005-FE84-43F6-A9B0-CCCF5DF5BDB9}"/>
              </c:ext>
            </c:extLst>
          </c:dPt>
          <c:dPt>
            <c:idx val="3"/>
            <c:invertIfNegative val="0"/>
            <c:bubble3D val="0"/>
            <c:spPr>
              <a:solidFill>
                <a:srgbClr val="FF2D6F"/>
              </a:solidFill>
              <a:effectLst/>
            </c:spPr>
            <c:extLst>
              <c:ext xmlns:c16="http://schemas.microsoft.com/office/drawing/2014/chart" uri="{C3380CC4-5D6E-409C-BE32-E72D297353CC}">
                <c16:uniqueId val="{00000007-FE84-43F6-A9B0-CCCF5DF5BDB9}"/>
              </c:ext>
            </c:extLst>
          </c:dPt>
          <c:dPt>
            <c:idx val="4"/>
            <c:invertIfNegative val="0"/>
            <c:bubble3D val="0"/>
            <c:spPr>
              <a:solidFill>
                <a:srgbClr val="FF2D6F"/>
              </a:solidFill>
              <a:effectLst/>
            </c:spPr>
            <c:extLst>
              <c:ext xmlns:c16="http://schemas.microsoft.com/office/drawing/2014/chart" uri="{C3380CC4-5D6E-409C-BE32-E72D297353CC}">
                <c16:uniqueId val="{00000009-FE84-43F6-A9B0-CCCF5DF5BDB9}"/>
              </c:ext>
            </c:extLst>
          </c:dPt>
          <c:dPt>
            <c:idx val="5"/>
            <c:invertIfNegative val="0"/>
            <c:bubble3D val="0"/>
            <c:spPr>
              <a:solidFill>
                <a:srgbClr val="FF2D6F"/>
              </a:solidFill>
              <a:effectLst/>
            </c:spPr>
            <c:extLst>
              <c:ext xmlns:c16="http://schemas.microsoft.com/office/drawing/2014/chart" uri="{C3380CC4-5D6E-409C-BE32-E72D297353CC}">
                <c16:uniqueId val="{0000000B-FE84-43F6-A9B0-CCCF5DF5BDB9}"/>
              </c:ext>
            </c:extLst>
          </c:dPt>
          <c:dLbls>
            <c:numFmt formatCode="0&quot;%&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1–50</c:v>
                </c:pt>
                <c:pt idx="1">
                  <c:v>51–100</c:v>
                </c:pt>
                <c:pt idx="2">
                  <c:v>101–150</c:v>
                </c:pt>
                <c:pt idx="3">
                  <c:v>151–200</c:v>
                </c:pt>
                <c:pt idx="4">
                  <c:v>201–250</c:v>
                </c:pt>
                <c:pt idx="5">
                  <c:v>251–300</c:v>
                </c:pt>
              </c:strCache>
            </c:strRef>
          </c:cat>
          <c:val>
            <c:numRef>
              <c:f>Sheet1!$B$2:$B$7</c:f>
              <c:numCache>
                <c:formatCode>General</c:formatCode>
                <c:ptCount val="6"/>
                <c:pt idx="0">
                  <c:v>96</c:v>
                </c:pt>
                <c:pt idx="1">
                  <c:v>96</c:v>
                </c:pt>
                <c:pt idx="2">
                  <c:v>96</c:v>
                </c:pt>
                <c:pt idx="3">
                  <c:v>88</c:v>
                </c:pt>
                <c:pt idx="4">
                  <c:v>94</c:v>
                </c:pt>
                <c:pt idx="5">
                  <c:v>94</c:v>
                </c:pt>
              </c:numCache>
            </c:numRef>
          </c:val>
          <c:extLst>
            <c:ext xmlns:c16="http://schemas.microsoft.com/office/drawing/2014/chart" uri="{C3380CC4-5D6E-409C-BE32-E72D297353CC}">
              <c16:uniqueId val="{0000000C-FE84-43F6-A9B0-CCCF5DF5BDB9}"/>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11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ms per camera frame</c:v>
                </c:pt>
              </c:strCache>
            </c:strRef>
          </c:tx>
          <c:spPr>
            <a:solidFill>
              <a:srgbClr val="52525B"/>
            </a:solidFill>
            <a:effectLst/>
          </c:spPr>
          <c:invertIfNegative val="0"/>
          <c:dPt>
            <c:idx val="0"/>
            <c:invertIfNegative val="0"/>
            <c:bubble3D val="0"/>
            <c:extLst>
              <c:ext xmlns:c16="http://schemas.microsoft.com/office/drawing/2014/chart" uri="{C3380CC4-5D6E-409C-BE32-E72D297353CC}">
                <c16:uniqueId val="{00000001-719A-4908-9A20-E4F36B67F323}"/>
              </c:ext>
            </c:extLst>
          </c:dPt>
          <c:dPt>
            <c:idx val="1"/>
            <c:invertIfNegative val="0"/>
            <c:bubble3D val="0"/>
            <c:spPr>
              <a:solidFill>
                <a:srgbClr val="FF2D6F"/>
              </a:solidFill>
              <a:effectLst/>
            </c:spPr>
            <c:extLst>
              <c:ext xmlns:c16="http://schemas.microsoft.com/office/drawing/2014/chart" uri="{C3380CC4-5D6E-409C-BE32-E72D297353CC}">
                <c16:uniqueId val="{00000003-719A-4908-9A20-E4F36B67F323}"/>
              </c:ext>
            </c:extLst>
          </c:dPt>
          <c:dLbls>
            <c:numFmt formatCode="0.0&quot; ms&quot;" sourceLinked="0"/>
            <c:spPr>
              <a:noFill/>
              <a:ln>
                <a:noFill/>
              </a:ln>
              <a:effectLst/>
            </c:spPr>
            <c:txPr>
              <a:bodyPr/>
              <a:lstStyle/>
              <a:p>
                <a:pPr>
                  <a:defRPr sz="1100" b="0" i="0" u="none" strike="noStrike">
                    <a:solidFill>
                      <a:srgbClr val="FAFAFA"/>
                    </a:solidFill>
                    <a:latin typeface="+mn-lt"/>
                  </a:defRPr>
                </a:pPr>
                <a:endParaRPr lang="pl-P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processor</c:v>
                </c:pt>
                <c:pt idx="1">
                  <c:v>graphics card</c:v>
                </c:pt>
              </c:strCache>
            </c:strRef>
          </c:cat>
          <c:val>
            <c:numRef>
              <c:f>Sheet1!$B$2:$B$3</c:f>
              <c:numCache>
                <c:formatCode>General</c:formatCode>
                <c:ptCount val="2"/>
                <c:pt idx="0">
                  <c:v>24</c:v>
                </c:pt>
                <c:pt idx="1">
                  <c:v>2.6</c:v>
                </c:pt>
              </c:numCache>
            </c:numRef>
          </c:val>
          <c:extLst>
            <c:ext xmlns:c16="http://schemas.microsoft.com/office/drawing/2014/chart" uri="{C3380CC4-5D6E-409C-BE32-E72D297353CC}">
              <c16:uniqueId val="{00000004-719A-4908-9A20-E4F36B67F32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A1A1AA"/>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84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NeuroFly: the drone camera image goes through a model of the fly eye (FlyVis), then through the real Drosophila connectome (BANC v888, brain + ventral nerve cord), and flight-neuron activity steers the drone in simulation. Render: semi-transparent NeuroMechFly body (FlyGym) with the BANC connectome inside — body alignment is illustrative — next to the X2 drone from MuJoCo. The threads from flight neurons to the drone are an illustration of the loop, not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sentence to remember. We take the actual wiring of a fruit fly — mapped synapse by synapse in the BANC connectome — and put it in the loop. The only thing we train is a small linear readout from flight neurons to drone commands. Render: 863 flight neurons from BANC skeletons.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Hundreds of projects call themselves brain-inspired. Almost all use an artificial network that borrows only the word 'neuron', or a tiny hand-built circuit. We use the real, complete wiring of a fruit fly, we never train it, and we built the system so that the most important decision — where to turn — is made by the fly's own descending neurons. Drone sensors get zero weight on heading by construction. When an early prototype used a made-up network, we threw it away.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camera frame goes once around this loop, steps 1 to 8. Steps 1–4 happen before the connectome; 5–8 are the connectome, the flight-neuron readout, the decoder and the drone. One frame (FlyVis + 4 BANC substeps on the GPU) takes ~15–20 ms. There is no hand-coded heading controller near the target: the direction is read out from descending-neuron (DN) activity in BANC. Decoder thumbnail: the real yaw weights of the best world decoder, sorted.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(dark pole) is on the right: only the right eye sees it, as a dark column of facets.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BANC v888 (Bates et al. 2026, public Lee Lab bucket). Dots are somas from the position column; lines are real edges from the v888 edge list, sampled with probability proportional to synapse count and coloured by the presynaptic class. The amber bundle through the neck is descending neurons. Lines are straight for drawing only — real axons take other paths.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groups come from official BANC v888 annotation columns (super_cluster, cell_function, body_part_sensory). We never guess cell-type names.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Ridge regression angle ~ activity, target from −90° to +90° at 3 distances, validated on the distance left out of training (scripts/check_side_decoding.py). A finding about the connectome: direction is carried by individual descending neurons and is lost if you average motor neurons.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moments: big angle to the target (&gt; 20°), height error &gt; 0.3 m, fast rotation (&gt; 1 rad/s). Most frames are 'target straight ahead, do nothing', so the hard ones are weighted up. Workers send XᵀX and Xᵀy, enough to compute the regression on the master.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assumption, said out loud: BANC is perception and direction, the drone's sensors do stabilisation, much like a fly whose wings have their own fast reflexes. GPS only brings the drone into view of the target; inside 4 m the heading is decided by the connectome.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at ±30° and ±60°, model flying alone. Bars: before vs after training.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fly_banc.py --local --decoder data/decoders/planB_dn.npz --thrust hold. Thrust is held by the simulator; the connectome decides the heading and, through the halteres, damps the rotation after the gust.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every 50 episodes on the same 6 worlds (seeds 101–106). Before training the drone did not even get going (0/6, 18.2 m). The best checkpoint reaches 5 of 6 targets; the final one 4 of 6. Run it: python -m sim.run_env --banc data/decoders/world_distributed_best.npz --beacon-scale 4 --vision-range 4 --sensors real --motor-tau 0.04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show the limits than hide them. Each of these is a concrete next step.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Neuroscientists get a closed-loop test bench: the connectome has to produce behaviour, and we can ask which neurons matter. Robot builders get a working example of insect-style visual homing; this is a direction, not a product. Students get something they can see. Everything is open and runs on a gaming laptop.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what is shown and what is a direction. Today: simulation only, but with noisy sensors, wind and motor lag. Next step is hardware. The applications column is potential, not something we tested.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owned one part of the loop and one hand-over: eyes give the brain neuron activity, the brain gives the body four numbers, the body gives the eyes a new image. In the code: visual_pipeline/, banc_control/, sim/; linked by a small message protocol (ZMQ) and shared BANC v888 neuron IDs.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FlyVis + MuJoCo scenes change motor-neuron activity by only about 1% of the resting level, so the readout has to be calibrated against the network's own rest state. Without the haltere gain step the gyroscope input dominated: raw yaw ~6000 per 1 rad/s.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trained on perfect values leans on them instead of on BANC and breaks in real conditions. So the simulator adds noise, drift, dropouts and delay to every sensor, and the final world training ran with these real sensors.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episodes: 194 on RTX 4060, 106 on RTX 3070 Ti. As the teacher's share β drops to zero, the success rate per 50 episodes stays at 88–96%.</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NeuroFly\docs\prezentacja\assets\accent_line.png"/>
          <p:cNvPicPr>
            <a:picLocks noChangeAspect="1"/>
          </p:cNvPicPr>
          <p:nvPr/>
        </p:nvPicPr>
        <p:blipFill>
          <a:blip r:embed="rId3"/>
          <a:stretch>
            <a:fillRect/>
          </a:stretch>
        </p:blipFill>
        <p:spPr>
          <a:xfrm>
            <a:off x="402336" y="182880"/>
            <a:ext cx="36576" cy="749808"/>
          </a:xfrm>
          <a:prstGeom prst="rect">
            <a:avLst/>
          </a:prstGeom>
        </p:spPr>
      </p:pic>
      <p:pic>
        <p:nvPicPr>
          <p:cNvPr id="3" name="Image 1" descr="C:\NeuroFly\docs\prezentacja\assets\logo.png"/>
          <p:cNvPicPr>
            <a:picLocks noChangeAspect="1"/>
          </p:cNvPicPr>
          <p:nvPr/>
        </p:nvPicPr>
        <p:blipFill>
          <a:blip r:embed="rId4"/>
          <a:stretch>
            <a:fillRect/>
          </a:stretch>
        </p:blipFill>
        <p:spPr>
          <a:xfrm>
            <a:off x="457200" y="4690872"/>
            <a:ext cx="310896" cy="182880"/>
          </a:xfrm>
          <a:prstGeom prst="rect">
            <a:avLst/>
          </a:prstGeom>
        </p:spPr>
      </p:pic>
      <p:sp>
        <p:nvSpPr>
          <p:cNvPr id="4" name="Text 0"/>
          <p:cNvSpPr/>
          <p:nvPr/>
        </p:nvSpPr>
        <p:spPr>
          <a:xfrm>
            <a:off x="822960" y="4645152"/>
            <a:ext cx="1828800" cy="274320"/>
          </a:xfrm>
          <a:prstGeom prst="rect">
            <a:avLst/>
          </a:prstGeom>
          <a:noFill/>
          <a:ln/>
        </p:spPr>
        <p:txBody>
          <a:bodyPr wrap="square" lIns="0" tIns="0" rIns="0" bIns="0" rtlCol="0" anchor="ctr"/>
          <a:lstStyle/>
          <a:p>
            <a:pPr marL="0" indent="0">
              <a:buNone/>
            </a:pPr>
            <a:r>
              <a:rPr lang="en-US" sz="1000" dirty="0">
                <a:solidFill>
                  <a:srgbClr val="A1A1AA"/>
                </a:solidFill>
              </a:rPr>
              <a:t>NeuroFly</a:t>
            </a:r>
            <a:endParaRPr lang="en-US" sz="1000" dirty="0"/>
          </a:p>
        </p:txBody>
      </p:sp>
      <p:sp>
        <p:nvSpPr>
          <p:cNvPr id="5" name="Text 1"/>
          <p:cNvSpPr>
            <a:spLocks noGrp="1"/>
          </p:cNvSpPr>
          <p:nvPr>
            <p:ph type="title" idx="103" hasCustomPrompt="1"/>
          </p:nvPr>
        </p:nvSpPr>
        <p:spPr>
          <a:xfrm>
            <a:off x="566928" y="457200"/>
            <a:ext cx="7589520" cy="365760"/>
          </a:xfrm>
          <a:prstGeom prst="rect">
            <a:avLst/>
          </a:prstGeom>
          <a:noFill/>
          <a:ln/>
        </p:spPr>
        <p:txBody>
          <a:bodyPr wrap="square" rtlCol="0"/>
          <a:lstStyle>
            <a:lvl1pPr marL="0" indent="0" algn="l">
              <a:buNone/>
              <a:defRPr lang="en-US" sz="1600" kern="0" spc="100" dirty="0">
                <a:solidFill>
                  <a:srgbClr val="FAFAFA"/>
                </a:solidFill>
                <a:latin typeface="Michroma" pitchFamily="34" charset="0"/>
                <a:ea typeface="Michroma" pitchFamily="34" charset="-122"/>
                <a:cs typeface="Michroma" pitchFamily="34" charset="-120"/>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jpg"/><Relationship Id="rId5" Type="http://schemas.openxmlformats.org/officeDocument/2006/relationships/image" Target="../media/image9.jpg"/><Relationship Id="rId10" Type="http://schemas.openxmlformats.org/officeDocument/2006/relationships/image" Target="../media/image14.jpg"/><Relationship Id="rId4" Type="http://schemas.openxmlformats.org/officeDocument/2006/relationships/image" Target="../media/image8.jpg"/><Relationship Id="rId9" Type="http://schemas.openxmlformats.org/officeDocument/2006/relationships/image" Target="../media/image13.jpg"/></Relationships>
</file>

<file path=ppt/slides/_rels/slide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16.jpg"/></Relationships>
</file>

<file path=ppt/slides/_rels/slide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ender-fly-drone" descr="C:\NeuroFly\docs\prezentacja\assets\fly_drone.jpg"/>
          <p:cNvPicPr>
            <a:picLocks noChangeAspect="1"/>
          </p:cNvPicPr>
          <p:nvPr/>
        </p:nvPicPr>
        <p:blipFill>
          <a:blip r:embed="rId3"/>
          <a:stretch>
            <a:fillRect/>
          </a:stretch>
        </p:blipFill>
        <p:spPr>
          <a:xfrm>
            <a:off x="3291840" y="91440"/>
            <a:ext cx="5852160" cy="4009644"/>
          </a:xfrm>
          <a:prstGeom prst="rect">
            <a:avLst/>
          </a:prstGeom>
        </p:spPr>
      </p:pic>
      <p:pic>
        <p:nvPicPr>
          <p:cNvPr id="3" name="logo" descr="C:\NeuroFly\docs\prezentacja\assets\logo.png"/>
          <p:cNvPicPr>
            <a:picLocks noChangeAspect="1"/>
          </p:cNvPicPr>
          <p:nvPr/>
        </p:nvPicPr>
        <p:blipFill>
          <a:blip r:embed="rId4"/>
          <a:stretch>
            <a:fillRect/>
          </a:stretch>
        </p:blipFill>
        <p:spPr>
          <a:xfrm>
            <a:off x="548640" y="868680"/>
            <a:ext cx="914400" cy="539496"/>
          </a:xfrm>
          <a:prstGeom prst="rect">
            <a:avLst/>
          </a:prstGeom>
        </p:spPr>
      </p:pic>
      <p:sp>
        <p:nvSpPr>
          <p:cNvPr id="4" name="eyebrow"/>
          <p:cNvSpPr txBox="1"/>
          <p:nvPr/>
        </p:nvSpPr>
        <p:spPr>
          <a:xfrm>
            <a:off x="548640" y="1627632"/>
            <a:ext cx="4754880" cy="201168"/>
          </a:xfrm>
          <a:prstGeom prst="rect">
            <a:avLst/>
          </a:prstGeom>
          <a:noFill/>
          <a:ln/>
        </p:spPr>
        <p:txBody>
          <a:bodyPr wrap="square" lIns="0" tIns="0" rIns="0" bIns="0" rtlCol="0" anchor="t"/>
          <a:lstStyle/>
          <a:p>
            <a:pPr marL="0" indent="0">
              <a:buNone/>
            </a:pPr>
            <a:r>
              <a:rPr lang="en-US" sz="800" kern="0" spc="500" dirty="0">
                <a:solidFill>
                  <a:srgbClr val="FF2D6F"/>
                </a:solidFill>
              </a:rPr>
              <a:t>BANC V888 CONNECTOME</a:t>
            </a:r>
            <a:endParaRPr lang="en-US" sz="800" dirty="0"/>
          </a:p>
        </p:txBody>
      </p:sp>
      <p:sp>
        <p:nvSpPr>
          <p:cNvPr id="5" name="title"/>
          <p:cNvSpPr txBox="1"/>
          <p:nvPr/>
        </p:nvSpPr>
        <p:spPr>
          <a:xfrm>
            <a:off x="548640" y="1874520"/>
            <a:ext cx="4754880" cy="777240"/>
          </a:xfrm>
          <a:prstGeom prst="rect">
            <a:avLst/>
          </a:prstGeom>
          <a:noFill/>
          <a:ln/>
        </p:spPr>
        <p:txBody>
          <a:bodyPr wrap="square" lIns="0" tIns="0" rIns="0" bIns="0" rtlCol="0" anchor="t"/>
          <a:lstStyle/>
          <a:p>
            <a:pPr marL="0" indent="0">
              <a:buNone/>
            </a:pPr>
            <a:r>
              <a:rPr lang="en-US" sz="4000" kern="0" spc="200" dirty="0">
                <a:solidFill>
                  <a:srgbClr val="FAFAFA"/>
                </a:solidFill>
                <a:latin typeface="Michroma" pitchFamily="34" charset="0"/>
                <a:ea typeface="Michroma" pitchFamily="34" charset="-122"/>
                <a:cs typeface="Michroma" pitchFamily="34" charset="-120"/>
              </a:rPr>
              <a:t>NEUROFLY</a:t>
            </a:r>
            <a:endParaRPr lang="en-US" sz="4000" dirty="0"/>
          </a:p>
        </p:txBody>
      </p:sp>
      <p:pic>
        <p:nvPicPr>
          <p:cNvPr id="6" name="accent-line" descr="C:\NeuroFly\docs\prezentacja\assets\accent_line.png"/>
          <p:cNvPicPr>
            <a:picLocks noChangeAspect="1"/>
          </p:cNvPicPr>
          <p:nvPr/>
        </p:nvPicPr>
        <p:blipFill>
          <a:blip r:embed="rId5"/>
          <a:stretch>
            <a:fillRect/>
          </a:stretch>
        </p:blipFill>
        <p:spPr>
          <a:xfrm>
            <a:off x="548640" y="2788920"/>
            <a:ext cx="45720" cy="868680"/>
          </a:xfrm>
          <a:prstGeom prst="rect">
            <a:avLst/>
          </a:prstGeom>
        </p:spPr>
      </p:pic>
      <p:sp>
        <p:nvSpPr>
          <p:cNvPr id="7" name="subtitle"/>
          <p:cNvSpPr txBox="1"/>
          <p:nvPr/>
        </p:nvSpPr>
        <p:spPr>
          <a:xfrm>
            <a:off x="777240" y="2788920"/>
            <a:ext cx="2743200" cy="731520"/>
          </a:xfrm>
          <a:prstGeom prst="rect">
            <a:avLst/>
          </a:prstGeom>
          <a:noFill/>
          <a:ln/>
        </p:spPr>
        <p:txBody>
          <a:bodyPr wrap="square" lIns="0" tIns="0" rIns="0" bIns="0" rtlCol="0" anchor="t"/>
          <a:lstStyle/>
          <a:p>
            <a:pPr marL="0" indent="0">
              <a:buNone/>
            </a:pPr>
            <a:r>
              <a:rPr lang="en-US" sz="1800" dirty="0">
                <a:solidFill>
                  <a:srgbClr val="A1A1AA"/>
                </a:solidFill>
              </a:rPr>
              <a:t>A fruit-fly brain</a:t>
            </a:r>
            <a:endParaRPr lang="en-US" sz="1800" dirty="0"/>
          </a:p>
          <a:p>
            <a:pPr marL="0" indent="0">
              <a:buNone/>
            </a:pPr>
            <a:r>
              <a:rPr lang="en-US" sz="1800" dirty="0">
                <a:solidFill>
                  <a:srgbClr val="A1A1AA"/>
                </a:solidFill>
              </a:rPr>
              <a:t>flies a drone</a:t>
            </a:r>
            <a:endParaRPr lang="en-US" sz="1800" dirty="0"/>
          </a:p>
        </p:txBody>
      </p:sp>
      <p:sp>
        <p:nvSpPr>
          <p:cNvPr id="8" name="footer"/>
          <p:cNvSpPr txBox="1"/>
          <p:nvPr/>
        </p:nvSpPr>
        <p:spPr>
          <a:xfrm>
            <a:off x="548640" y="4343400"/>
            <a:ext cx="8046720" cy="274320"/>
          </a:xfrm>
          <a:prstGeom prst="rect">
            <a:avLst/>
          </a:prstGeom>
          <a:noFill/>
          <a:ln/>
        </p:spPr>
        <p:txBody>
          <a:bodyPr wrap="square" lIns="0" tIns="0" rIns="0" bIns="0" rtlCol="0" anchor="t"/>
          <a:lstStyle/>
          <a:p>
            <a:pPr marL="0" indent="0">
              <a:buNone/>
            </a:pPr>
            <a:r>
              <a:rPr lang="en-US" sz="800" kern="0" spc="400" dirty="0">
                <a:solidFill>
                  <a:srgbClr val="A1A1AA"/>
                </a:solidFill>
              </a:rPr>
              <a:t>FULL BANC V888 CONNECTOME      175,401 NEURONS      CLOSED LOOP IN MUJOCO</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IDEA</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THE IDEA</a:t>
            </a:r>
            <a:endParaRPr lang="en-US" sz="1600" dirty="0"/>
          </a:p>
        </p:txBody>
      </p:sp>
      <p:sp>
        <p:nvSpPr>
          <p:cNvPr id="4" name="big-idea"/>
          <p:cNvSpPr txBox="1"/>
          <p:nvPr/>
        </p:nvSpPr>
        <p:spPr>
          <a:xfrm>
            <a:off x="566928" y="1051560"/>
            <a:ext cx="5120640" cy="1234440"/>
          </a:xfrm>
          <a:prstGeom prst="rect">
            <a:avLst/>
          </a:prstGeom>
          <a:noFill/>
          <a:ln/>
        </p:spPr>
        <p:txBody>
          <a:bodyPr wrap="square" lIns="0" tIns="0" rIns="0" bIns="0" rtlCol="0" anchor="t"/>
          <a:lstStyle/>
          <a:p>
            <a:pPr marL="0" indent="0">
              <a:buNone/>
            </a:pPr>
            <a:r>
              <a:rPr lang="en-US" sz="2400" dirty="0">
                <a:solidFill>
                  <a:srgbClr val="FAFAFA"/>
                </a:solidFill>
                <a:latin typeface="Roboto Light" pitchFamily="34" charset="0"/>
                <a:ea typeface="Roboto Light" pitchFamily="34" charset="-122"/>
                <a:cs typeface="Roboto Light" pitchFamily="34" charset="-120"/>
              </a:rPr>
              <a:t>What if a </a:t>
            </a:r>
            <a:r>
              <a:rPr lang="en-US" sz="2400" dirty="0">
                <a:solidFill>
                  <a:srgbClr val="FF2D6F"/>
                </a:solidFill>
                <a:latin typeface="Roboto Light" pitchFamily="34" charset="0"/>
                <a:ea typeface="Roboto Light" pitchFamily="34" charset="-122"/>
                <a:cs typeface="Roboto Light" pitchFamily="34" charset="-120"/>
              </a:rPr>
              <a:t>real brain wiring diagram</a:t>
            </a:r>
            <a:r>
              <a:rPr lang="en-US" sz="2400" dirty="0">
                <a:solidFill>
                  <a:srgbClr val="FAFAFA"/>
                </a:solidFill>
                <a:latin typeface="Roboto Light" pitchFamily="34" charset="0"/>
                <a:ea typeface="Roboto Light" pitchFamily="34" charset="-122"/>
                <a:cs typeface="Roboto Light" pitchFamily="34" charset="-120"/>
              </a:rPr>
              <a:t> — not an artificial network — decided where a drone flies?</a:t>
            </a:r>
            <a:endParaRPr lang="en-US" sz="2400" dirty="0"/>
          </a:p>
        </p:txBody>
      </p:sp>
      <p:sp>
        <p:nvSpPr>
          <p:cNvPr id="5" name="p-0-h"/>
          <p:cNvSpPr txBox="1"/>
          <p:nvPr/>
        </p:nvSpPr>
        <p:spPr>
          <a:xfrm>
            <a:off x="566928" y="2423160"/>
            <a:ext cx="1645920" cy="274320"/>
          </a:xfrm>
          <a:prstGeom prst="rect">
            <a:avLst/>
          </a:prstGeom>
          <a:noFill/>
          <a:ln/>
        </p:spPr>
        <p:txBody>
          <a:bodyPr wrap="square" lIns="0" tIns="0" rIns="0" bIns="0" rtlCol="0" anchor="t"/>
          <a:lstStyle/>
          <a:p>
            <a:pPr marL="0" indent="0">
              <a:buNone/>
            </a:pPr>
            <a:r>
              <a:rPr lang="en-US" sz="1400" b="1" dirty="0">
                <a:solidFill>
                  <a:srgbClr val="FFB547"/>
                </a:solidFill>
              </a:rPr>
              <a:t>Real wiring</a:t>
            </a:r>
            <a:endParaRPr lang="en-US" sz="1400" dirty="0"/>
          </a:p>
        </p:txBody>
      </p:sp>
      <p:sp>
        <p:nvSpPr>
          <p:cNvPr id="6" name="p-0-d"/>
          <p:cNvSpPr txBox="1"/>
          <p:nvPr/>
        </p:nvSpPr>
        <p:spPr>
          <a:xfrm>
            <a:off x="2286000" y="2423160"/>
            <a:ext cx="3566160" cy="530352"/>
          </a:xfrm>
          <a:prstGeom prst="rect">
            <a:avLst/>
          </a:prstGeom>
          <a:noFill/>
          <a:ln/>
        </p:spPr>
        <p:txBody>
          <a:bodyPr wrap="square" lIns="0" tIns="0" rIns="0" bIns="0" rtlCol="0" anchor="t"/>
          <a:lstStyle/>
          <a:p>
            <a:pPr marL="0" indent="0">
              <a:buNone/>
            </a:pPr>
            <a:r>
              <a:rPr lang="en-US" sz="1100" dirty="0">
                <a:solidFill>
                  <a:srgbClr val="A1A1AA"/>
                </a:solidFill>
              </a:rPr>
              <a:t>175,401 neurons and their synapses from the BANC v888 fly connectome. We invent no connections and no weights.</a:t>
            </a:r>
            <a:endParaRPr lang="en-US" sz="1100" dirty="0"/>
          </a:p>
        </p:txBody>
      </p:sp>
      <p:sp>
        <p:nvSpPr>
          <p:cNvPr id="7" name="p-1-h"/>
          <p:cNvSpPr txBox="1"/>
          <p:nvPr/>
        </p:nvSpPr>
        <p:spPr>
          <a:xfrm>
            <a:off x="566928" y="2990088"/>
            <a:ext cx="1645920" cy="274320"/>
          </a:xfrm>
          <a:prstGeom prst="rect">
            <a:avLst/>
          </a:prstGeom>
          <a:noFill/>
          <a:ln/>
        </p:spPr>
        <p:txBody>
          <a:bodyPr wrap="square" lIns="0" tIns="0" rIns="0" bIns="0" rtlCol="0" anchor="t"/>
          <a:lstStyle/>
          <a:p>
            <a:pPr marL="0" indent="0">
              <a:buNone/>
            </a:pPr>
            <a:r>
              <a:rPr lang="en-US" sz="1400" b="1" dirty="0">
                <a:solidFill>
                  <a:srgbClr val="2FD3C4"/>
                </a:solidFill>
              </a:rPr>
              <a:t>Real loop</a:t>
            </a:r>
            <a:endParaRPr lang="en-US" sz="1400" dirty="0"/>
          </a:p>
        </p:txBody>
      </p:sp>
      <p:sp>
        <p:nvSpPr>
          <p:cNvPr id="8" name="p-1-d"/>
          <p:cNvSpPr txBox="1"/>
          <p:nvPr/>
        </p:nvSpPr>
        <p:spPr>
          <a:xfrm>
            <a:off x="2286000" y="2990088"/>
            <a:ext cx="3566160" cy="530352"/>
          </a:xfrm>
          <a:prstGeom prst="rect">
            <a:avLst/>
          </a:prstGeom>
          <a:noFill/>
          <a:ln/>
        </p:spPr>
        <p:txBody>
          <a:bodyPr wrap="square" lIns="0" tIns="0" rIns="0" bIns="0" rtlCol="0" anchor="t"/>
          <a:lstStyle/>
          <a:p>
            <a:pPr marL="0" indent="0">
              <a:buNone/>
            </a:pPr>
            <a:r>
              <a:rPr lang="en-US" sz="1100" dirty="0">
                <a:solidFill>
                  <a:srgbClr val="A1A1AA"/>
                </a:solidFill>
              </a:rPr>
              <a:t>Camera, fly eye, brain, wing neurons, drone, new image: frame after frame.</a:t>
            </a:r>
            <a:endParaRPr lang="en-US" sz="1100" dirty="0"/>
          </a:p>
        </p:txBody>
      </p:sp>
      <p:sp>
        <p:nvSpPr>
          <p:cNvPr id="9" name="p-2-h"/>
          <p:cNvSpPr txBox="1"/>
          <p:nvPr/>
        </p:nvSpPr>
        <p:spPr>
          <a:xfrm>
            <a:off x="566928" y="3557016"/>
            <a:ext cx="1645920" cy="274320"/>
          </a:xfrm>
          <a:prstGeom prst="rect">
            <a:avLst/>
          </a:prstGeom>
          <a:noFill/>
          <a:ln/>
        </p:spPr>
        <p:txBody>
          <a:bodyPr wrap="square" lIns="0" tIns="0" rIns="0" bIns="0" rtlCol="0" anchor="t"/>
          <a:lstStyle/>
          <a:p>
            <a:pPr marL="0" indent="0">
              <a:buNone/>
            </a:pPr>
            <a:r>
              <a:rPr lang="en-US" sz="1400" b="1" dirty="0">
                <a:solidFill>
                  <a:srgbClr val="FF4FB0"/>
                </a:solidFill>
              </a:rPr>
              <a:t>Real test</a:t>
            </a:r>
            <a:endParaRPr lang="en-US" sz="1400" dirty="0"/>
          </a:p>
        </p:txBody>
      </p:sp>
      <p:sp>
        <p:nvSpPr>
          <p:cNvPr id="10" name="p-2-d"/>
          <p:cNvSpPr txBox="1"/>
          <p:nvPr/>
        </p:nvSpPr>
        <p:spPr>
          <a:xfrm>
            <a:off x="2286000" y="3557016"/>
            <a:ext cx="3566160" cy="530352"/>
          </a:xfrm>
          <a:prstGeom prst="rect">
            <a:avLst/>
          </a:prstGeom>
          <a:noFill/>
          <a:ln/>
        </p:spPr>
        <p:txBody>
          <a:bodyPr wrap="square" lIns="0" tIns="0" rIns="0" bIns="0" rtlCol="0" anchor="t"/>
          <a:lstStyle/>
          <a:p>
            <a:pPr marL="0" indent="0">
              <a:buNone/>
            </a:pPr>
            <a:r>
              <a:rPr lang="en-US" sz="1100" dirty="0">
                <a:solidFill>
                  <a:srgbClr val="A1A1AA"/>
                </a:solidFill>
              </a:rPr>
              <a:t>The connectome is judged by behaviour: does the drone turn to the target and reach it?</a:t>
            </a:r>
            <a:endParaRPr lang="en-US" sz="1100" dirty="0"/>
          </a:p>
        </p:txBody>
      </p:sp>
      <p:pic>
        <p:nvPicPr>
          <p:cNvPr id="11" name="render-circuit" descr="C:\NeuroFly\docs\prezentacja\assets\circuit_3d.jpg"/>
          <p:cNvPicPr>
            <a:picLocks noChangeAspect="1"/>
          </p:cNvPicPr>
          <p:nvPr/>
        </p:nvPicPr>
        <p:blipFill>
          <a:blip r:embed="rId3"/>
          <a:stretch>
            <a:fillRect/>
          </a:stretch>
        </p:blipFill>
        <p:spPr>
          <a:xfrm>
            <a:off x="6172200" y="868680"/>
            <a:ext cx="2743200" cy="3328416"/>
          </a:xfrm>
          <a:prstGeom prst="rect">
            <a:avLst/>
          </a:prstGeom>
        </p:spPr>
      </p:pic>
      <p:sp>
        <p:nvSpPr>
          <p:cNvPr id="12" name="glossary-0"/>
          <p:cNvSpPr txBox="1"/>
          <p:nvPr/>
        </p:nvSpPr>
        <p:spPr>
          <a:xfrm>
            <a:off x="566928" y="4206240"/>
            <a:ext cx="5524181" cy="411480"/>
          </a:xfrm>
          <a:prstGeom prst="rect">
            <a:avLst/>
          </a:prstGeom>
          <a:noFill/>
          <a:ln/>
        </p:spPr>
        <p:txBody>
          <a:bodyPr wrap="square" lIns="0" tIns="0" rIns="0" bIns="0" rtlCol="0" anchor="t"/>
          <a:lstStyle/>
          <a:p>
            <a:pPr marL="0" indent="0">
              <a:buNone/>
            </a:pPr>
            <a:r>
              <a:rPr lang="en-US" sz="900" b="1" dirty="0">
                <a:solidFill>
                  <a:srgbClr val="A1A1AA"/>
                </a:solidFill>
              </a:rPr>
              <a:t>BANC:</a:t>
            </a:r>
            <a:r>
              <a:rPr lang="en-US" sz="900" dirty="0">
                <a:solidFill>
                  <a:srgbClr val="71717A"/>
                </a:solidFill>
              </a:rPr>
              <a:t> Brain And Nerve Cord, the first connectome of a whole fly brain plus nerve cord (Bates et al. 2026)</a:t>
            </a:r>
            <a:endParaRPr lang="en-US" sz="900" dirty="0"/>
          </a:p>
        </p:txBody>
      </p:sp>
      <p:sp>
        <p:nvSpPr>
          <p:cNvPr id="13" name="glossary-1"/>
          <p:cNvSpPr txBox="1"/>
          <p:nvPr/>
        </p:nvSpPr>
        <p:spPr>
          <a:xfrm>
            <a:off x="6365429" y="4206240"/>
            <a:ext cx="2293939" cy="411480"/>
          </a:xfrm>
          <a:prstGeom prst="rect">
            <a:avLst/>
          </a:prstGeom>
          <a:noFill/>
          <a:ln/>
        </p:spPr>
        <p:txBody>
          <a:bodyPr wrap="square" lIns="0" tIns="0" rIns="0" bIns="0" rtlCol="0" anchor="t"/>
          <a:lstStyle/>
          <a:p>
            <a:pPr marL="0" indent="0">
              <a:buNone/>
            </a:pPr>
            <a:r>
              <a:rPr lang="en-US" sz="900" b="1" dirty="0">
                <a:solidFill>
                  <a:srgbClr val="A1A1AA"/>
                </a:solidFill>
              </a:rPr>
              <a:t>v888:</a:t>
            </a:r>
            <a:r>
              <a:rPr lang="en-US" sz="900" dirty="0">
                <a:solidFill>
                  <a:srgbClr val="71717A"/>
                </a:solidFill>
              </a:rPr>
              <a:t> the public data release we use</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IDEA</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WHAT MAKES NEUROFLY DIFFERENT</a:t>
            </a:r>
            <a:endParaRPr lang="en-US" sz="1600" dirty="0"/>
          </a:p>
        </p:txBody>
      </p:sp>
      <p:sp>
        <p:nvSpPr>
          <p:cNvPr id="4" name="glossary-0"/>
          <p:cNvSpPr txBox="1"/>
          <p:nvPr/>
        </p:nvSpPr>
        <p:spPr>
          <a:xfrm>
            <a:off x="566928" y="987552"/>
            <a:ext cx="4533584" cy="411480"/>
          </a:xfrm>
          <a:prstGeom prst="rect">
            <a:avLst/>
          </a:prstGeom>
          <a:noFill/>
          <a:ln/>
        </p:spPr>
        <p:txBody>
          <a:bodyPr wrap="square" lIns="0" tIns="0" rIns="0" bIns="0" rtlCol="0" anchor="t"/>
          <a:lstStyle/>
          <a:p>
            <a:pPr marL="0" indent="0">
              <a:buNone/>
            </a:pPr>
            <a:r>
              <a:rPr lang="en-US" sz="900" b="1" dirty="0">
                <a:solidFill>
                  <a:srgbClr val="A1A1AA"/>
                </a:solidFill>
              </a:rPr>
              <a:t>Connectome:</a:t>
            </a:r>
            <a:r>
              <a:rPr lang="en-US" sz="900" dirty="0">
                <a:solidFill>
                  <a:srgbClr val="71717A"/>
                </a:solidFill>
              </a:rPr>
              <a:t> the complete wiring diagram of a nervous system, every neuron and synapse</a:t>
            </a:r>
            <a:endParaRPr lang="en-US" sz="900" dirty="0"/>
          </a:p>
        </p:txBody>
      </p:sp>
      <p:sp>
        <p:nvSpPr>
          <p:cNvPr id="5" name="glossary-1"/>
          <p:cNvSpPr txBox="1"/>
          <p:nvPr/>
        </p:nvSpPr>
        <p:spPr>
          <a:xfrm>
            <a:off x="5374832" y="987552"/>
            <a:ext cx="3284536" cy="411480"/>
          </a:xfrm>
          <a:prstGeom prst="rect">
            <a:avLst/>
          </a:prstGeom>
          <a:noFill/>
          <a:ln/>
        </p:spPr>
        <p:txBody>
          <a:bodyPr wrap="square" lIns="0" tIns="0" rIns="0" bIns="0" rtlCol="0" anchor="t"/>
          <a:lstStyle/>
          <a:p>
            <a:pPr marL="0" indent="0">
              <a:buNone/>
            </a:pPr>
            <a:r>
              <a:rPr lang="en-US" sz="900" b="1" dirty="0">
                <a:solidFill>
                  <a:srgbClr val="A1A1AA"/>
                </a:solidFill>
              </a:rPr>
              <a:t>PID:</a:t>
            </a:r>
            <a:r>
              <a:rPr lang="en-US" sz="900" dirty="0">
                <a:solidFill>
                  <a:srgbClr val="71717A"/>
                </a:solidFill>
              </a:rPr>
              <a:t> the classic hand-tuned controller used in most drones</a:t>
            </a:r>
            <a:endParaRPr lang="en-US" sz="900" dirty="0"/>
          </a:p>
        </p:txBody>
      </p:sp>
      <p:sp>
        <p:nvSpPr>
          <p:cNvPr id="6" name="th-a"/>
          <p:cNvSpPr txBox="1"/>
          <p:nvPr/>
        </p:nvSpPr>
        <p:spPr>
          <a:xfrm>
            <a:off x="1527048" y="1463040"/>
            <a:ext cx="2148840" cy="201168"/>
          </a:xfrm>
          <a:prstGeom prst="rect">
            <a:avLst/>
          </a:prstGeom>
          <a:noFill/>
          <a:ln/>
        </p:spPr>
        <p:txBody>
          <a:bodyPr wrap="square" lIns="0" tIns="0" rIns="0" bIns="0" rtlCol="0" anchor="t"/>
          <a:lstStyle/>
          <a:p>
            <a:pPr marL="0" indent="0">
              <a:buNone/>
            </a:pPr>
            <a:r>
              <a:rPr lang="en-US" sz="800" kern="0" spc="500" dirty="0">
                <a:solidFill>
                  <a:srgbClr val="71717A"/>
                </a:solidFill>
              </a:rPr>
              <a:t>TYPICAL APPROACH</a:t>
            </a:r>
            <a:endParaRPr lang="en-US" sz="800" dirty="0"/>
          </a:p>
        </p:txBody>
      </p:sp>
      <p:sp>
        <p:nvSpPr>
          <p:cNvPr id="7" name="th-b"/>
          <p:cNvSpPr txBox="1"/>
          <p:nvPr/>
        </p:nvSpPr>
        <p:spPr>
          <a:xfrm>
            <a:off x="3767328" y="1463040"/>
            <a:ext cx="2331720" cy="201168"/>
          </a:xfrm>
          <a:prstGeom prst="rect">
            <a:avLst/>
          </a:prstGeom>
          <a:noFill/>
          <a:ln/>
        </p:spPr>
        <p:txBody>
          <a:bodyPr wrap="square" lIns="0" tIns="0" rIns="0" bIns="0" rtlCol="0" anchor="t"/>
          <a:lstStyle/>
          <a:p>
            <a:pPr marL="0" indent="0">
              <a:buNone/>
            </a:pPr>
            <a:r>
              <a:rPr lang="en-US" sz="800" kern="0" spc="500" dirty="0">
                <a:solidFill>
                  <a:srgbClr val="FF2D6F"/>
                </a:solidFill>
              </a:rPr>
              <a:t>NEUROFLY</a:t>
            </a:r>
            <a:endParaRPr lang="en-US" sz="800" dirty="0"/>
          </a:p>
        </p:txBody>
      </p:sp>
      <p:sp>
        <p:nvSpPr>
          <p:cNvPr id="8" name="row-0-line"/>
          <p:cNvSpPr/>
          <p:nvPr/>
        </p:nvSpPr>
        <p:spPr>
          <a:xfrm>
            <a:off x="566928" y="1719072"/>
            <a:ext cx="5532120" cy="0"/>
          </a:xfrm>
          <a:prstGeom prst="line">
            <a:avLst/>
          </a:prstGeom>
          <a:noFill/>
          <a:ln w="6350">
            <a:solidFill>
              <a:srgbClr val="3F3F46"/>
            </a:solidFill>
            <a:prstDash val="solid"/>
          </a:ln>
        </p:spPr>
      </p:sp>
      <p:sp>
        <p:nvSpPr>
          <p:cNvPr id="9" name="row-0-k"/>
          <p:cNvSpPr txBox="1"/>
          <p:nvPr/>
        </p:nvSpPr>
        <p:spPr>
          <a:xfrm>
            <a:off x="566928" y="1810512"/>
            <a:ext cx="960120" cy="365760"/>
          </a:xfrm>
          <a:prstGeom prst="rect">
            <a:avLst/>
          </a:prstGeom>
          <a:noFill/>
          <a:ln/>
        </p:spPr>
        <p:txBody>
          <a:bodyPr wrap="square" lIns="0" tIns="0" rIns="0" bIns="0" rtlCol="0" anchor="t"/>
          <a:lstStyle/>
          <a:p>
            <a:pPr marL="0" indent="0">
              <a:buNone/>
            </a:pPr>
            <a:r>
              <a:rPr lang="en-US" sz="1200" b="1" dirty="0">
                <a:solidFill>
                  <a:srgbClr val="A1A1AA"/>
                </a:solidFill>
              </a:rPr>
              <a:t>Brain</a:t>
            </a:r>
            <a:endParaRPr lang="en-US" sz="1200" dirty="0"/>
          </a:p>
        </p:txBody>
      </p:sp>
      <p:sp>
        <p:nvSpPr>
          <p:cNvPr id="10" name="row-0-a"/>
          <p:cNvSpPr txBox="1"/>
          <p:nvPr/>
        </p:nvSpPr>
        <p:spPr>
          <a:xfrm>
            <a:off x="1527048" y="1810512"/>
            <a:ext cx="2011680" cy="411480"/>
          </a:xfrm>
          <a:prstGeom prst="rect">
            <a:avLst/>
          </a:prstGeom>
          <a:noFill/>
          <a:ln/>
        </p:spPr>
        <p:txBody>
          <a:bodyPr wrap="square" lIns="0" tIns="0" rIns="0" bIns="0" rtlCol="0" anchor="t"/>
          <a:lstStyle/>
          <a:p>
            <a:pPr marL="0" indent="0">
              <a:buNone/>
            </a:pPr>
            <a:r>
              <a:rPr lang="en-US" sz="1100" dirty="0">
                <a:solidFill>
                  <a:srgbClr val="71717A"/>
                </a:solidFill>
              </a:rPr>
              <a:t>artificial network, trained end-to-end</a:t>
            </a:r>
            <a:endParaRPr lang="en-US" sz="1100" dirty="0"/>
          </a:p>
        </p:txBody>
      </p:sp>
      <p:sp>
        <p:nvSpPr>
          <p:cNvPr id="11" name="row-0-b"/>
          <p:cNvSpPr txBox="1"/>
          <p:nvPr/>
        </p:nvSpPr>
        <p:spPr>
          <a:xfrm>
            <a:off x="3767328" y="1810512"/>
            <a:ext cx="2331720" cy="411480"/>
          </a:xfrm>
          <a:prstGeom prst="rect">
            <a:avLst/>
          </a:prstGeom>
          <a:noFill/>
          <a:ln/>
        </p:spPr>
        <p:txBody>
          <a:bodyPr wrap="square" lIns="0" tIns="0" rIns="0" bIns="0" rtlCol="0" anchor="t"/>
          <a:lstStyle/>
          <a:p>
            <a:pPr marL="0" indent="0">
              <a:buNone/>
            </a:pPr>
            <a:r>
              <a:rPr lang="en-US" sz="1200" dirty="0">
                <a:solidFill>
                  <a:srgbClr val="FAFAFA"/>
                </a:solidFill>
              </a:rPr>
              <a:t>the real fly wiring diagram, kept frozen</a:t>
            </a:r>
            <a:endParaRPr lang="en-US" sz="1200" dirty="0"/>
          </a:p>
        </p:txBody>
      </p:sp>
      <p:sp>
        <p:nvSpPr>
          <p:cNvPr id="12" name="row-1-line"/>
          <p:cNvSpPr/>
          <p:nvPr/>
        </p:nvSpPr>
        <p:spPr>
          <a:xfrm>
            <a:off x="566928" y="2176272"/>
            <a:ext cx="5532120" cy="0"/>
          </a:xfrm>
          <a:prstGeom prst="line">
            <a:avLst/>
          </a:prstGeom>
          <a:noFill/>
          <a:ln w="6350">
            <a:solidFill>
              <a:srgbClr val="3F3F46"/>
            </a:solidFill>
            <a:prstDash val="solid"/>
          </a:ln>
        </p:spPr>
      </p:sp>
      <p:sp>
        <p:nvSpPr>
          <p:cNvPr id="13" name="row-1-k"/>
          <p:cNvSpPr txBox="1"/>
          <p:nvPr/>
        </p:nvSpPr>
        <p:spPr>
          <a:xfrm>
            <a:off x="566928" y="2267712"/>
            <a:ext cx="960120" cy="365760"/>
          </a:xfrm>
          <a:prstGeom prst="rect">
            <a:avLst/>
          </a:prstGeom>
          <a:noFill/>
          <a:ln/>
        </p:spPr>
        <p:txBody>
          <a:bodyPr wrap="square" lIns="0" tIns="0" rIns="0" bIns="0" rtlCol="0" anchor="t"/>
          <a:lstStyle/>
          <a:p>
            <a:pPr marL="0" indent="0">
              <a:buNone/>
            </a:pPr>
            <a:r>
              <a:rPr lang="en-US" sz="1200" b="1" dirty="0">
                <a:solidFill>
                  <a:srgbClr val="A1A1AA"/>
                </a:solidFill>
              </a:rPr>
              <a:t>Scale</a:t>
            </a:r>
            <a:endParaRPr lang="en-US" sz="1200" dirty="0"/>
          </a:p>
        </p:txBody>
      </p:sp>
      <p:sp>
        <p:nvSpPr>
          <p:cNvPr id="14" name="row-1-a"/>
          <p:cNvSpPr txBox="1"/>
          <p:nvPr/>
        </p:nvSpPr>
        <p:spPr>
          <a:xfrm>
            <a:off x="1527048" y="2267712"/>
            <a:ext cx="2011680" cy="411480"/>
          </a:xfrm>
          <a:prstGeom prst="rect">
            <a:avLst/>
          </a:prstGeom>
          <a:noFill/>
          <a:ln/>
        </p:spPr>
        <p:txBody>
          <a:bodyPr wrap="square" lIns="0" tIns="0" rIns="0" bIns="0" rtlCol="0" anchor="t"/>
          <a:lstStyle/>
          <a:p>
            <a:pPr marL="0" indent="0">
              <a:buNone/>
            </a:pPr>
            <a:r>
              <a:rPr lang="en-US" sz="1100" dirty="0">
                <a:solidFill>
                  <a:srgbClr val="71717A"/>
                </a:solidFill>
              </a:rPr>
              <a:t>a small, hand-picked circuit</a:t>
            </a:r>
            <a:endParaRPr lang="en-US" sz="1100" dirty="0"/>
          </a:p>
        </p:txBody>
      </p:sp>
      <p:sp>
        <p:nvSpPr>
          <p:cNvPr id="15" name="row-1-b"/>
          <p:cNvSpPr txBox="1"/>
          <p:nvPr/>
        </p:nvSpPr>
        <p:spPr>
          <a:xfrm>
            <a:off x="3767328" y="2267712"/>
            <a:ext cx="2331720" cy="411480"/>
          </a:xfrm>
          <a:prstGeom prst="rect">
            <a:avLst/>
          </a:prstGeom>
          <a:noFill/>
          <a:ln/>
        </p:spPr>
        <p:txBody>
          <a:bodyPr wrap="square" lIns="0" tIns="0" rIns="0" bIns="0" rtlCol="0" anchor="t"/>
          <a:lstStyle/>
          <a:p>
            <a:pPr marL="0" indent="0">
              <a:buNone/>
            </a:pPr>
            <a:r>
              <a:rPr lang="en-US" sz="1200" dirty="0">
                <a:solidFill>
                  <a:srgbClr val="FAFAFA"/>
                </a:solidFill>
              </a:rPr>
              <a:t>whole brain and nerve cord: 175,401 neurons</a:t>
            </a:r>
            <a:endParaRPr lang="en-US" sz="1200" dirty="0"/>
          </a:p>
        </p:txBody>
      </p:sp>
      <p:sp>
        <p:nvSpPr>
          <p:cNvPr id="16" name="row-2-line"/>
          <p:cNvSpPr/>
          <p:nvPr/>
        </p:nvSpPr>
        <p:spPr>
          <a:xfrm>
            <a:off x="566928" y="2633472"/>
            <a:ext cx="5532120" cy="0"/>
          </a:xfrm>
          <a:prstGeom prst="line">
            <a:avLst/>
          </a:prstGeom>
          <a:noFill/>
          <a:ln w="6350">
            <a:solidFill>
              <a:srgbClr val="3F3F46"/>
            </a:solidFill>
            <a:prstDash val="solid"/>
          </a:ln>
        </p:spPr>
      </p:sp>
      <p:sp>
        <p:nvSpPr>
          <p:cNvPr id="17" name="row-2-k"/>
          <p:cNvSpPr txBox="1"/>
          <p:nvPr/>
        </p:nvSpPr>
        <p:spPr>
          <a:xfrm>
            <a:off x="566928" y="2724912"/>
            <a:ext cx="960120" cy="365760"/>
          </a:xfrm>
          <a:prstGeom prst="rect">
            <a:avLst/>
          </a:prstGeom>
          <a:noFill/>
          <a:ln/>
        </p:spPr>
        <p:txBody>
          <a:bodyPr wrap="square" lIns="0" tIns="0" rIns="0" bIns="0" rtlCol="0" anchor="t"/>
          <a:lstStyle/>
          <a:p>
            <a:pPr marL="0" indent="0">
              <a:buNone/>
            </a:pPr>
            <a:r>
              <a:rPr lang="en-US" sz="1200" b="1" dirty="0">
                <a:solidFill>
                  <a:srgbClr val="A1A1AA"/>
                </a:solidFill>
              </a:rPr>
              <a:t>Heading</a:t>
            </a:r>
            <a:endParaRPr lang="en-US" sz="1200" dirty="0"/>
          </a:p>
        </p:txBody>
      </p:sp>
      <p:sp>
        <p:nvSpPr>
          <p:cNvPr id="18" name="row-2-a"/>
          <p:cNvSpPr txBox="1"/>
          <p:nvPr/>
        </p:nvSpPr>
        <p:spPr>
          <a:xfrm>
            <a:off x="1527048" y="2724912"/>
            <a:ext cx="2011680" cy="411480"/>
          </a:xfrm>
          <a:prstGeom prst="rect">
            <a:avLst/>
          </a:prstGeom>
          <a:noFill/>
          <a:ln/>
        </p:spPr>
        <p:txBody>
          <a:bodyPr wrap="square" lIns="0" tIns="0" rIns="0" bIns="0" rtlCol="0" anchor="t"/>
          <a:lstStyle/>
          <a:p>
            <a:pPr marL="0" indent="0">
              <a:buNone/>
            </a:pPr>
            <a:r>
              <a:rPr lang="en-US" sz="1100" dirty="0">
                <a:solidFill>
                  <a:srgbClr val="71717A"/>
                </a:solidFill>
              </a:rPr>
              <a:t>decided by the trained net or a PID loop</a:t>
            </a:r>
            <a:endParaRPr lang="en-US" sz="1100" dirty="0"/>
          </a:p>
        </p:txBody>
      </p:sp>
      <p:sp>
        <p:nvSpPr>
          <p:cNvPr id="19" name="row-2-b"/>
          <p:cNvSpPr txBox="1"/>
          <p:nvPr/>
        </p:nvSpPr>
        <p:spPr>
          <a:xfrm>
            <a:off x="3767328" y="2724912"/>
            <a:ext cx="2331720" cy="411480"/>
          </a:xfrm>
          <a:prstGeom prst="rect">
            <a:avLst/>
          </a:prstGeom>
          <a:noFill/>
          <a:ln/>
        </p:spPr>
        <p:txBody>
          <a:bodyPr wrap="square" lIns="0" tIns="0" rIns="0" bIns="0" rtlCol="0" anchor="t"/>
          <a:lstStyle/>
          <a:p>
            <a:pPr marL="0" indent="0">
              <a:buNone/>
            </a:pPr>
            <a:r>
              <a:rPr lang="en-US" sz="1200" dirty="0">
                <a:solidFill>
                  <a:srgbClr val="FAFAFA"/>
                </a:solidFill>
              </a:rPr>
              <a:t>decided by the fly's own flight neurons</a:t>
            </a:r>
            <a:endParaRPr lang="en-US" sz="1200" dirty="0"/>
          </a:p>
        </p:txBody>
      </p:sp>
      <p:sp>
        <p:nvSpPr>
          <p:cNvPr id="20" name="row-3-line"/>
          <p:cNvSpPr/>
          <p:nvPr/>
        </p:nvSpPr>
        <p:spPr>
          <a:xfrm>
            <a:off x="566928" y="3090672"/>
            <a:ext cx="5532120" cy="0"/>
          </a:xfrm>
          <a:prstGeom prst="line">
            <a:avLst/>
          </a:prstGeom>
          <a:noFill/>
          <a:ln w="6350">
            <a:solidFill>
              <a:srgbClr val="3F3F46"/>
            </a:solidFill>
            <a:prstDash val="solid"/>
          </a:ln>
        </p:spPr>
      </p:sp>
      <p:sp>
        <p:nvSpPr>
          <p:cNvPr id="21" name="row-3-k"/>
          <p:cNvSpPr txBox="1"/>
          <p:nvPr/>
        </p:nvSpPr>
        <p:spPr>
          <a:xfrm>
            <a:off x="566928" y="3182112"/>
            <a:ext cx="960120" cy="365760"/>
          </a:xfrm>
          <a:prstGeom prst="rect">
            <a:avLst/>
          </a:prstGeom>
          <a:noFill/>
          <a:ln/>
        </p:spPr>
        <p:txBody>
          <a:bodyPr wrap="square" lIns="0" tIns="0" rIns="0" bIns="0" rtlCol="0" anchor="t"/>
          <a:lstStyle/>
          <a:p>
            <a:pPr marL="0" indent="0">
              <a:buNone/>
            </a:pPr>
            <a:r>
              <a:rPr lang="en-US" sz="1200" b="1" dirty="0">
                <a:solidFill>
                  <a:srgbClr val="A1A1AA"/>
                </a:solidFill>
              </a:rPr>
              <a:t>Learned</a:t>
            </a:r>
            <a:endParaRPr lang="en-US" sz="1200" dirty="0"/>
          </a:p>
        </p:txBody>
      </p:sp>
      <p:sp>
        <p:nvSpPr>
          <p:cNvPr id="22" name="row-3-a"/>
          <p:cNvSpPr txBox="1"/>
          <p:nvPr/>
        </p:nvSpPr>
        <p:spPr>
          <a:xfrm>
            <a:off x="1527048" y="3182112"/>
            <a:ext cx="2011680" cy="411480"/>
          </a:xfrm>
          <a:prstGeom prst="rect">
            <a:avLst/>
          </a:prstGeom>
          <a:noFill/>
          <a:ln/>
        </p:spPr>
        <p:txBody>
          <a:bodyPr wrap="square" lIns="0" tIns="0" rIns="0" bIns="0" rtlCol="0" anchor="t"/>
          <a:lstStyle/>
          <a:p>
            <a:pPr marL="0" indent="0">
              <a:buNone/>
            </a:pPr>
            <a:r>
              <a:rPr lang="en-US" sz="1100" dirty="0">
                <a:solidFill>
                  <a:srgbClr val="71717A"/>
                </a:solidFill>
              </a:rPr>
              <a:t>everything</a:t>
            </a:r>
            <a:endParaRPr lang="en-US" sz="1100" dirty="0"/>
          </a:p>
        </p:txBody>
      </p:sp>
      <p:sp>
        <p:nvSpPr>
          <p:cNvPr id="23" name="row-3-b"/>
          <p:cNvSpPr txBox="1"/>
          <p:nvPr/>
        </p:nvSpPr>
        <p:spPr>
          <a:xfrm>
            <a:off x="3767328" y="3182112"/>
            <a:ext cx="2331720" cy="411480"/>
          </a:xfrm>
          <a:prstGeom prst="rect">
            <a:avLst/>
          </a:prstGeom>
          <a:noFill/>
          <a:ln/>
        </p:spPr>
        <p:txBody>
          <a:bodyPr wrap="square" lIns="0" tIns="0" rIns="0" bIns="0" rtlCol="0" anchor="t"/>
          <a:lstStyle/>
          <a:p>
            <a:pPr marL="0" indent="0">
              <a:buNone/>
            </a:pPr>
            <a:r>
              <a:rPr lang="en-US" sz="1200" dirty="0">
                <a:solidFill>
                  <a:srgbClr val="FAFAFA"/>
                </a:solidFill>
              </a:rPr>
              <a:t>only a simple readout of flight neurons</a:t>
            </a:r>
            <a:endParaRPr lang="en-US" sz="1200" dirty="0"/>
          </a:p>
        </p:txBody>
      </p:sp>
      <p:sp>
        <p:nvSpPr>
          <p:cNvPr id="24" name="row-4-line"/>
          <p:cNvSpPr/>
          <p:nvPr/>
        </p:nvSpPr>
        <p:spPr>
          <a:xfrm>
            <a:off x="566928" y="3547872"/>
            <a:ext cx="5532120" cy="0"/>
          </a:xfrm>
          <a:prstGeom prst="line">
            <a:avLst/>
          </a:prstGeom>
          <a:noFill/>
          <a:ln w="6350">
            <a:solidFill>
              <a:srgbClr val="3F3F46"/>
            </a:solidFill>
            <a:prstDash val="solid"/>
          </a:ln>
        </p:spPr>
      </p:sp>
      <p:sp>
        <p:nvSpPr>
          <p:cNvPr id="25" name="row-4-k"/>
          <p:cNvSpPr txBox="1"/>
          <p:nvPr/>
        </p:nvSpPr>
        <p:spPr>
          <a:xfrm>
            <a:off x="566928" y="3639312"/>
            <a:ext cx="960120" cy="365760"/>
          </a:xfrm>
          <a:prstGeom prst="rect">
            <a:avLst/>
          </a:prstGeom>
          <a:noFill/>
          <a:ln/>
        </p:spPr>
        <p:txBody>
          <a:bodyPr wrap="square" lIns="0" tIns="0" rIns="0" bIns="0" rtlCol="0" anchor="t"/>
          <a:lstStyle/>
          <a:p>
            <a:pPr marL="0" indent="0">
              <a:buNone/>
            </a:pPr>
            <a:r>
              <a:rPr lang="en-US" sz="1200" b="1" dirty="0">
                <a:solidFill>
                  <a:srgbClr val="A1A1AA"/>
                </a:solidFill>
              </a:rPr>
              <a:t>Eyes</a:t>
            </a:r>
            <a:endParaRPr lang="en-US" sz="1200" dirty="0"/>
          </a:p>
        </p:txBody>
      </p:sp>
      <p:sp>
        <p:nvSpPr>
          <p:cNvPr id="26" name="row-4-a"/>
          <p:cNvSpPr txBox="1"/>
          <p:nvPr/>
        </p:nvSpPr>
        <p:spPr>
          <a:xfrm>
            <a:off x="1527048" y="3639312"/>
            <a:ext cx="2011680" cy="411480"/>
          </a:xfrm>
          <a:prstGeom prst="rect">
            <a:avLst/>
          </a:prstGeom>
          <a:noFill/>
          <a:ln/>
        </p:spPr>
        <p:txBody>
          <a:bodyPr wrap="square" lIns="0" tIns="0" rIns="0" bIns="0" rtlCol="0" anchor="t"/>
          <a:lstStyle/>
          <a:p>
            <a:pPr marL="0" indent="0">
              <a:buNone/>
            </a:pPr>
            <a:r>
              <a:rPr lang="en-US" sz="1100" dirty="0">
                <a:solidFill>
                  <a:srgbClr val="71717A"/>
                </a:solidFill>
              </a:rPr>
              <a:t>a standard image network</a:t>
            </a:r>
            <a:endParaRPr lang="en-US" sz="1100" dirty="0"/>
          </a:p>
        </p:txBody>
      </p:sp>
      <p:sp>
        <p:nvSpPr>
          <p:cNvPr id="27" name="row-4-b"/>
          <p:cNvSpPr txBox="1"/>
          <p:nvPr/>
        </p:nvSpPr>
        <p:spPr>
          <a:xfrm>
            <a:off x="3767328" y="3639312"/>
            <a:ext cx="2331720" cy="411480"/>
          </a:xfrm>
          <a:prstGeom prst="rect">
            <a:avLst/>
          </a:prstGeom>
          <a:noFill/>
          <a:ln/>
        </p:spPr>
        <p:txBody>
          <a:bodyPr wrap="square" lIns="0" tIns="0" rIns="0" bIns="0" rtlCol="0" anchor="t"/>
          <a:lstStyle/>
          <a:p>
            <a:pPr marL="0" indent="0">
              <a:buNone/>
            </a:pPr>
            <a:r>
              <a:rPr lang="en-US" sz="1200" dirty="0">
                <a:solidFill>
                  <a:srgbClr val="FAFAFA"/>
                </a:solidFill>
              </a:rPr>
              <a:t>a fly-eye model: 721 facets per eye</a:t>
            </a:r>
            <a:endParaRPr lang="en-US" sz="1200" dirty="0"/>
          </a:p>
        </p:txBody>
      </p:sp>
      <p:sp>
        <p:nvSpPr>
          <p:cNvPr id="28" name="row-end-line"/>
          <p:cNvSpPr/>
          <p:nvPr/>
        </p:nvSpPr>
        <p:spPr>
          <a:xfrm>
            <a:off x="566928" y="4005072"/>
            <a:ext cx="5532120" cy="0"/>
          </a:xfrm>
          <a:prstGeom prst="line">
            <a:avLst/>
          </a:prstGeom>
          <a:noFill/>
          <a:ln w="6350">
            <a:solidFill>
              <a:srgbClr val="3F3F46"/>
            </a:solidFill>
            <a:prstDash val="solid"/>
          </a:ln>
        </p:spPr>
      </p:sp>
      <p:sp>
        <p:nvSpPr>
          <p:cNvPr id="29" name="rule-card"/>
          <p:cNvSpPr/>
          <p:nvPr/>
        </p:nvSpPr>
        <p:spPr>
          <a:xfrm>
            <a:off x="6263640" y="1463040"/>
            <a:ext cx="2423160" cy="2542032"/>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sp>
      <p:sp>
        <p:nvSpPr>
          <p:cNvPr id="30" name="rule-k"/>
          <p:cNvSpPr txBox="1"/>
          <p:nvPr/>
        </p:nvSpPr>
        <p:spPr>
          <a:xfrm>
            <a:off x="6446520" y="1609344"/>
            <a:ext cx="2103120" cy="201168"/>
          </a:xfrm>
          <a:prstGeom prst="rect">
            <a:avLst/>
          </a:prstGeom>
          <a:noFill/>
          <a:ln/>
        </p:spPr>
        <p:txBody>
          <a:bodyPr wrap="square" lIns="0" tIns="0" rIns="0" bIns="0" rtlCol="0" anchor="t"/>
          <a:lstStyle/>
          <a:p>
            <a:pPr marL="0" indent="0">
              <a:buNone/>
            </a:pPr>
            <a:r>
              <a:rPr lang="en-US" sz="800" kern="0" spc="500" dirty="0">
                <a:solidFill>
                  <a:srgbClr val="FF2D6F"/>
                </a:solidFill>
              </a:rPr>
              <a:t>OUR RULE NO. 1</a:t>
            </a:r>
            <a:endParaRPr lang="en-US" sz="800" dirty="0"/>
          </a:p>
        </p:txBody>
      </p:sp>
      <p:sp>
        <p:nvSpPr>
          <p:cNvPr id="31" name="rule-h"/>
          <p:cNvSpPr txBox="1"/>
          <p:nvPr/>
        </p:nvSpPr>
        <p:spPr>
          <a:xfrm>
            <a:off x="6446520" y="1828800"/>
            <a:ext cx="2103120" cy="457200"/>
          </a:xfrm>
          <a:prstGeom prst="rect">
            <a:avLst/>
          </a:prstGeom>
          <a:noFill/>
          <a:ln/>
        </p:spPr>
        <p:txBody>
          <a:bodyPr wrap="square" lIns="0" tIns="0" rIns="0" bIns="0" rtlCol="0" anchor="t"/>
          <a:lstStyle/>
          <a:p>
            <a:pPr marL="0" indent="0">
              <a:buNone/>
            </a:pPr>
            <a:r>
              <a:rPr lang="en-US" sz="1300" b="1" dirty="0">
                <a:solidFill>
                  <a:srgbClr val="FAFAFA"/>
                </a:solidFill>
              </a:rPr>
              <a:t>The connectome makes the key decision</a:t>
            </a:r>
            <a:endParaRPr lang="en-US" sz="1300" dirty="0"/>
          </a:p>
        </p:txBody>
      </p:sp>
      <p:sp>
        <p:nvSpPr>
          <p:cNvPr id="32" name="rule-s-value"/>
          <p:cNvSpPr txBox="1"/>
          <p:nvPr/>
        </p:nvSpPr>
        <p:spPr>
          <a:xfrm>
            <a:off x="6446520" y="2286000"/>
            <a:ext cx="2103120" cy="548640"/>
          </a:xfrm>
          <a:prstGeom prst="rect">
            <a:avLst/>
          </a:prstGeom>
          <a:noFill/>
          <a:ln/>
        </p:spPr>
        <p:txBody>
          <a:bodyPr wrap="square" lIns="0" tIns="0" rIns="0" bIns="0" rtlCol="0" anchor="t"/>
          <a:lstStyle/>
          <a:p>
            <a:pPr marL="0" indent="0">
              <a:buNone/>
            </a:pPr>
            <a:r>
              <a:rPr lang="en-US" sz="2600" dirty="0">
                <a:solidFill>
                  <a:srgbClr val="FF2D6F"/>
                </a:solidFill>
                <a:latin typeface="Roboto Light" pitchFamily="34" charset="0"/>
                <a:ea typeface="Roboto Light" pitchFamily="34" charset="-122"/>
                <a:cs typeface="Roboto Light" pitchFamily="34" charset="-120"/>
              </a:rPr>
              <a:t>100%</a:t>
            </a:r>
            <a:endParaRPr lang="en-US" sz="2600" dirty="0"/>
          </a:p>
        </p:txBody>
      </p:sp>
      <p:sp>
        <p:nvSpPr>
          <p:cNvPr id="33" name="rule-s-label"/>
          <p:cNvSpPr txBox="1"/>
          <p:nvPr/>
        </p:nvSpPr>
        <p:spPr>
          <a:xfrm>
            <a:off x="6446520" y="2852928"/>
            <a:ext cx="2103120" cy="457200"/>
          </a:xfrm>
          <a:prstGeom prst="rect">
            <a:avLst/>
          </a:prstGeom>
          <a:noFill/>
          <a:ln/>
        </p:spPr>
        <p:txBody>
          <a:bodyPr wrap="square" lIns="0" tIns="0" rIns="0" bIns="0" rtlCol="0" anchor="t"/>
          <a:lstStyle/>
          <a:p>
            <a:pPr marL="0" indent="0">
              <a:buNone/>
            </a:pPr>
            <a:r>
              <a:rPr lang="en-US" sz="1200" dirty="0">
                <a:solidFill>
                  <a:srgbClr val="A1A1AA"/>
                </a:solidFill>
              </a:rPr>
              <a:t>of the heading near the target comes from BANC neurons</a:t>
            </a:r>
            <a:endParaRPr lang="en-US" sz="1200" dirty="0"/>
          </a:p>
        </p:txBody>
      </p:sp>
      <p:sp>
        <p:nvSpPr>
          <p:cNvPr id="34" name="rule-note"/>
          <p:cNvSpPr txBox="1"/>
          <p:nvPr/>
        </p:nvSpPr>
        <p:spPr>
          <a:xfrm>
            <a:off x="6446520" y="3520440"/>
            <a:ext cx="2103120" cy="457200"/>
          </a:xfrm>
          <a:prstGeom prst="rect">
            <a:avLst/>
          </a:prstGeom>
          <a:noFill/>
          <a:ln/>
        </p:spPr>
        <p:txBody>
          <a:bodyPr wrap="square" lIns="0" tIns="0" rIns="0" bIns="0" rtlCol="0" anchor="t"/>
          <a:lstStyle/>
          <a:p>
            <a:pPr marL="0" indent="0">
              <a:buNone/>
            </a:pPr>
            <a:r>
              <a:rPr lang="en-US" sz="900" i="1" dirty="0">
                <a:solidFill>
                  <a:srgbClr val="A1A1AA"/>
                </a:solidFill>
              </a:rPr>
              <a:t>We dropped an early synthetic network the moment it stopped looking like BANC.</a:t>
            </a:r>
            <a:endParaRPr lang="en-US" sz="900" dirty="0"/>
          </a:p>
        </p:txBody>
      </p:sp>
      <p:sp>
        <p:nvSpPr>
          <p:cNvPr id="3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IDEA</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HOW IT WORKS: ONE LOOP, 8 STEPS</a:t>
            </a:r>
            <a:endParaRPr lang="en-US" sz="1600" dirty="0"/>
          </a:p>
        </p:txBody>
      </p:sp>
      <p:sp>
        <p:nvSpPr>
          <p:cNvPr id="4" name="node-0"/>
          <p:cNvSpPr/>
          <p:nvPr/>
        </p:nvSpPr>
        <p:spPr>
          <a:xfrm>
            <a:off x="50292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5" name="node-0-img" descr="C:\NeuroFly\docs\prezentacja\assets\eye_right.jpg"/>
          <p:cNvPicPr>
            <a:picLocks noChangeAspect="1"/>
          </p:cNvPicPr>
          <p:nvPr/>
        </p:nvPicPr>
        <p:blipFill>
          <a:blip r:embed="rId3"/>
          <a:srcRect/>
          <a:stretch/>
        </p:blipFill>
        <p:spPr>
          <a:xfrm>
            <a:off x="566928" y="1069848"/>
            <a:ext cx="1655064" cy="694944"/>
          </a:xfrm>
          <a:prstGeom prst="rect">
            <a:avLst/>
          </a:prstGeom>
        </p:spPr>
      </p:pic>
      <p:sp>
        <p:nvSpPr>
          <p:cNvPr id="6" name="node-0-title"/>
          <p:cNvSpPr txBox="1"/>
          <p:nvPr/>
        </p:nvSpPr>
        <p:spPr>
          <a:xfrm>
            <a:off x="63093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1  </a:t>
            </a:r>
            <a:r>
              <a:rPr lang="en-US" sz="1300" b="1" dirty="0">
                <a:solidFill>
                  <a:srgbClr val="FAFAFA"/>
                </a:solidFill>
              </a:rPr>
              <a:t>Camera</a:t>
            </a:r>
            <a:endParaRPr lang="en-US" sz="1300" dirty="0"/>
          </a:p>
        </p:txBody>
      </p:sp>
      <p:sp>
        <p:nvSpPr>
          <p:cNvPr id="7" name="node-0-desc"/>
          <p:cNvSpPr txBox="1"/>
          <p:nvPr/>
        </p:nvSpPr>
        <p:spPr>
          <a:xfrm>
            <a:off x="63093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2 eyes, 157° view each</a:t>
            </a:r>
            <a:endParaRPr lang="en-US" sz="1000" dirty="0"/>
          </a:p>
        </p:txBody>
      </p:sp>
      <p:sp>
        <p:nvSpPr>
          <p:cNvPr id="8" name="node-1"/>
          <p:cNvSpPr/>
          <p:nvPr/>
        </p:nvSpPr>
        <p:spPr>
          <a:xfrm>
            <a:off x="260604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9" name="node-1-img" descr="C:\NeuroFly\docs\prezentacja\assets\retina_right.jpg"/>
          <p:cNvPicPr>
            <a:picLocks noChangeAspect="1"/>
          </p:cNvPicPr>
          <p:nvPr/>
        </p:nvPicPr>
        <p:blipFill>
          <a:blip r:embed="rId4"/>
          <a:srcRect/>
          <a:stretch/>
        </p:blipFill>
        <p:spPr>
          <a:xfrm>
            <a:off x="2670048" y="1069848"/>
            <a:ext cx="1655064" cy="694944"/>
          </a:xfrm>
          <a:prstGeom prst="rect">
            <a:avLst/>
          </a:prstGeom>
        </p:spPr>
      </p:pic>
      <p:sp>
        <p:nvSpPr>
          <p:cNvPr id="10" name="node-1-title"/>
          <p:cNvSpPr txBox="1"/>
          <p:nvPr/>
        </p:nvSpPr>
        <p:spPr>
          <a:xfrm>
            <a:off x="273405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2  </a:t>
            </a:r>
            <a:r>
              <a:rPr lang="en-US" sz="1300" b="1" dirty="0">
                <a:solidFill>
                  <a:srgbClr val="FAFAFA"/>
                </a:solidFill>
              </a:rPr>
              <a:t>Retina</a:t>
            </a:r>
            <a:endParaRPr lang="en-US" sz="1300" dirty="0"/>
          </a:p>
        </p:txBody>
      </p:sp>
      <p:sp>
        <p:nvSpPr>
          <p:cNvPr id="11" name="node-1-desc"/>
          <p:cNvSpPr txBox="1"/>
          <p:nvPr/>
        </p:nvSpPr>
        <p:spPr>
          <a:xfrm>
            <a:off x="273405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721 facets per eye</a:t>
            </a:r>
            <a:endParaRPr lang="en-US" sz="1000" dirty="0"/>
          </a:p>
        </p:txBody>
      </p:sp>
      <p:sp>
        <p:nvSpPr>
          <p:cNvPr id="12" name="node-2"/>
          <p:cNvSpPr/>
          <p:nvPr/>
        </p:nvSpPr>
        <p:spPr>
          <a:xfrm>
            <a:off x="470916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13" name="node-2-img" descr="C:\NeuroFly\docs\prezentacja\assets\thumb_flyvis.jpg"/>
          <p:cNvPicPr>
            <a:picLocks noChangeAspect="1"/>
          </p:cNvPicPr>
          <p:nvPr/>
        </p:nvPicPr>
        <p:blipFill>
          <a:blip r:embed="rId5"/>
          <a:srcRect/>
          <a:stretch/>
        </p:blipFill>
        <p:spPr>
          <a:xfrm>
            <a:off x="4773168" y="1069848"/>
            <a:ext cx="1655064" cy="694944"/>
          </a:xfrm>
          <a:prstGeom prst="rect">
            <a:avLst/>
          </a:prstGeom>
        </p:spPr>
      </p:pic>
      <p:sp>
        <p:nvSpPr>
          <p:cNvPr id="14" name="node-2-title"/>
          <p:cNvSpPr txBox="1"/>
          <p:nvPr/>
        </p:nvSpPr>
        <p:spPr>
          <a:xfrm>
            <a:off x="483717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3  </a:t>
            </a:r>
            <a:r>
              <a:rPr lang="en-US" sz="1300" b="1" dirty="0">
                <a:solidFill>
                  <a:srgbClr val="FAFAFA"/>
                </a:solidFill>
              </a:rPr>
              <a:t>FlyVis</a:t>
            </a:r>
            <a:endParaRPr lang="en-US" sz="1300" dirty="0"/>
          </a:p>
        </p:txBody>
      </p:sp>
      <p:sp>
        <p:nvSpPr>
          <p:cNvPr id="15" name="node-2-desc"/>
          <p:cNvSpPr txBox="1"/>
          <p:nvPr/>
        </p:nvSpPr>
        <p:spPr>
          <a:xfrm>
            <a:off x="483717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fly vision model</a:t>
            </a:r>
            <a:endParaRPr lang="en-US" sz="1000" dirty="0"/>
          </a:p>
        </p:txBody>
      </p:sp>
      <p:sp>
        <p:nvSpPr>
          <p:cNvPr id="16" name="node-3"/>
          <p:cNvSpPr/>
          <p:nvPr/>
        </p:nvSpPr>
        <p:spPr>
          <a:xfrm>
            <a:off x="6812280" y="1005840"/>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17" name="node-3-img" descr="C:\NeuroFly\docs\prezentacja\assets\thumb_map.jpg"/>
          <p:cNvPicPr>
            <a:picLocks noChangeAspect="1"/>
          </p:cNvPicPr>
          <p:nvPr/>
        </p:nvPicPr>
        <p:blipFill>
          <a:blip r:embed="rId6"/>
          <a:srcRect/>
          <a:stretch/>
        </p:blipFill>
        <p:spPr>
          <a:xfrm>
            <a:off x="6876288" y="1069848"/>
            <a:ext cx="1655064" cy="694944"/>
          </a:xfrm>
          <a:prstGeom prst="rect">
            <a:avLst/>
          </a:prstGeom>
        </p:spPr>
      </p:pic>
      <p:sp>
        <p:nvSpPr>
          <p:cNvPr id="18" name="node-3-title"/>
          <p:cNvSpPr txBox="1"/>
          <p:nvPr/>
        </p:nvSpPr>
        <p:spPr>
          <a:xfrm>
            <a:off x="6940296" y="1828800"/>
            <a:ext cx="1563624" cy="256032"/>
          </a:xfrm>
          <a:prstGeom prst="rect">
            <a:avLst/>
          </a:prstGeom>
          <a:noFill/>
          <a:ln/>
        </p:spPr>
        <p:txBody>
          <a:bodyPr wrap="square" lIns="0" tIns="0" rIns="0" bIns="0" rtlCol="0" anchor="t"/>
          <a:lstStyle/>
          <a:p>
            <a:pPr marL="0" indent="0">
              <a:buNone/>
            </a:pPr>
            <a:r>
              <a:rPr lang="en-US" sz="1100" dirty="0">
                <a:solidFill>
                  <a:srgbClr val="2FD3C4"/>
                </a:solidFill>
                <a:latin typeface="Michroma" pitchFamily="34" charset="0"/>
                <a:ea typeface="Michroma" pitchFamily="34" charset="-122"/>
                <a:cs typeface="Michroma" pitchFamily="34" charset="-120"/>
              </a:rPr>
              <a:t>4  </a:t>
            </a:r>
            <a:r>
              <a:rPr lang="en-US" sz="1300" b="1" dirty="0">
                <a:solidFill>
                  <a:srgbClr val="FAFAFA"/>
                </a:solidFill>
              </a:rPr>
              <a:t>Into the brain</a:t>
            </a:r>
            <a:endParaRPr lang="en-US" sz="1300" dirty="0"/>
          </a:p>
        </p:txBody>
      </p:sp>
      <p:sp>
        <p:nvSpPr>
          <p:cNvPr id="19" name="node-3-desc"/>
          <p:cNvSpPr txBox="1"/>
          <p:nvPr/>
        </p:nvSpPr>
        <p:spPr>
          <a:xfrm>
            <a:off x="6940296" y="2084832"/>
            <a:ext cx="1563624" cy="256032"/>
          </a:xfrm>
          <a:prstGeom prst="rect">
            <a:avLst/>
          </a:prstGeom>
          <a:noFill/>
          <a:ln/>
        </p:spPr>
        <p:txBody>
          <a:bodyPr wrap="square" lIns="0" tIns="0" rIns="0" bIns="0" rtlCol="0" anchor="t"/>
          <a:lstStyle/>
          <a:p>
            <a:pPr marL="0" indent="0">
              <a:buNone/>
            </a:pPr>
            <a:r>
              <a:rPr lang="en-US" sz="1000" dirty="0">
                <a:solidFill>
                  <a:srgbClr val="A1A1AA"/>
                </a:solidFill>
              </a:rPr>
              <a:t>22,462 neurons get input</a:t>
            </a:r>
            <a:endParaRPr lang="en-US" sz="1000" dirty="0"/>
          </a:p>
        </p:txBody>
      </p:sp>
      <p:sp>
        <p:nvSpPr>
          <p:cNvPr id="20" name="node-4"/>
          <p:cNvSpPr/>
          <p:nvPr/>
        </p:nvSpPr>
        <p:spPr>
          <a:xfrm>
            <a:off x="50292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21" name="node-4-img" descr="C:\NeuroFly\docs\prezentacja\assets\thumb_wiring.jpg"/>
          <p:cNvPicPr>
            <a:picLocks noChangeAspect="1"/>
          </p:cNvPicPr>
          <p:nvPr/>
        </p:nvPicPr>
        <p:blipFill>
          <a:blip r:embed="rId7"/>
          <a:srcRect/>
          <a:stretch/>
        </p:blipFill>
        <p:spPr>
          <a:xfrm>
            <a:off x="566928" y="2734056"/>
            <a:ext cx="1655064" cy="694944"/>
          </a:xfrm>
          <a:prstGeom prst="rect">
            <a:avLst/>
          </a:prstGeom>
        </p:spPr>
      </p:pic>
      <p:sp>
        <p:nvSpPr>
          <p:cNvPr id="22" name="node-4-title"/>
          <p:cNvSpPr txBox="1"/>
          <p:nvPr/>
        </p:nvSpPr>
        <p:spPr>
          <a:xfrm>
            <a:off x="630936" y="3493008"/>
            <a:ext cx="1563624" cy="256032"/>
          </a:xfrm>
          <a:prstGeom prst="rect">
            <a:avLst/>
          </a:prstGeom>
          <a:noFill/>
          <a:ln/>
        </p:spPr>
        <p:txBody>
          <a:bodyPr wrap="square" lIns="0" tIns="0" rIns="0" bIns="0" rtlCol="0" anchor="t"/>
          <a:lstStyle/>
          <a:p>
            <a:pPr marL="0" indent="0">
              <a:buNone/>
            </a:pPr>
            <a:r>
              <a:rPr lang="en-US" sz="1100" dirty="0">
                <a:solidFill>
                  <a:srgbClr val="FFB547"/>
                </a:solidFill>
                <a:latin typeface="Michroma" pitchFamily="34" charset="0"/>
                <a:ea typeface="Michroma" pitchFamily="34" charset="-122"/>
                <a:cs typeface="Michroma" pitchFamily="34" charset="-120"/>
              </a:rPr>
              <a:t>5  </a:t>
            </a:r>
            <a:r>
              <a:rPr lang="en-US" sz="1300" b="1" dirty="0">
                <a:solidFill>
                  <a:srgbClr val="FAFAFA"/>
                </a:solidFill>
              </a:rPr>
              <a:t>Fly brain</a:t>
            </a:r>
            <a:endParaRPr lang="en-US" sz="1300" dirty="0"/>
          </a:p>
        </p:txBody>
      </p:sp>
      <p:sp>
        <p:nvSpPr>
          <p:cNvPr id="23" name="node-4-desc"/>
          <p:cNvSpPr txBox="1"/>
          <p:nvPr/>
        </p:nvSpPr>
        <p:spPr>
          <a:xfrm>
            <a:off x="63093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175,401 neurons</a:t>
            </a:r>
            <a:endParaRPr lang="en-US" sz="1000" dirty="0"/>
          </a:p>
        </p:txBody>
      </p:sp>
      <p:sp>
        <p:nvSpPr>
          <p:cNvPr id="24" name="node-5"/>
          <p:cNvSpPr/>
          <p:nvPr/>
        </p:nvSpPr>
        <p:spPr>
          <a:xfrm>
            <a:off x="260604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25" name="node-5-img" descr="C:\NeuroFly\docs\prezentacja\assets\thumb_circuit.jpg"/>
          <p:cNvPicPr>
            <a:picLocks noChangeAspect="1"/>
          </p:cNvPicPr>
          <p:nvPr/>
        </p:nvPicPr>
        <p:blipFill>
          <a:blip r:embed="rId8"/>
          <a:srcRect/>
          <a:stretch/>
        </p:blipFill>
        <p:spPr>
          <a:xfrm>
            <a:off x="2670048" y="2734056"/>
            <a:ext cx="1655064" cy="694944"/>
          </a:xfrm>
          <a:prstGeom prst="rect">
            <a:avLst/>
          </a:prstGeom>
        </p:spPr>
      </p:pic>
      <p:sp>
        <p:nvSpPr>
          <p:cNvPr id="26" name="node-5-title"/>
          <p:cNvSpPr txBox="1"/>
          <p:nvPr/>
        </p:nvSpPr>
        <p:spPr>
          <a:xfrm>
            <a:off x="2734056" y="3493008"/>
            <a:ext cx="1563624" cy="256032"/>
          </a:xfrm>
          <a:prstGeom prst="rect">
            <a:avLst/>
          </a:prstGeom>
          <a:noFill/>
          <a:ln/>
        </p:spPr>
        <p:txBody>
          <a:bodyPr wrap="square" lIns="0" tIns="0" rIns="0" bIns="0" rtlCol="0" anchor="t"/>
          <a:lstStyle/>
          <a:p>
            <a:pPr marL="0" indent="0">
              <a:buNone/>
            </a:pPr>
            <a:r>
              <a:rPr lang="en-US" sz="1100" dirty="0">
                <a:solidFill>
                  <a:srgbClr val="FF4FB0"/>
                </a:solidFill>
                <a:latin typeface="Michroma" pitchFamily="34" charset="0"/>
                <a:ea typeface="Michroma" pitchFamily="34" charset="-122"/>
                <a:cs typeface="Michroma" pitchFamily="34" charset="-120"/>
              </a:rPr>
              <a:t>6  </a:t>
            </a:r>
            <a:r>
              <a:rPr lang="en-US" sz="1300" b="1" dirty="0">
                <a:solidFill>
                  <a:srgbClr val="FAFAFA"/>
                </a:solidFill>
              </a:rPr>
              <a:t>Flight neurons</a:t>
            </a:r>
            <a:endParaRPr lang="en-US" sz="1300" dirty="0"/>
          </a:p>
        </p:txBody>
      </p:sp>
      <p:sp>
        <p:nvSpPr>
          <p:cNvPr id="27" name="node-5-desc"/>
          <p:cNvSpPr txBox="1"/>
          <p:nvPr/>
        </p:nvSpPr>
        <p:spPr>
          <a:xfrm>
            <a:off x="273405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the brain's flight commands</a:t>
            </a:r>
            <a:endParaRPr lang="en-US" sz="1000" dirty="0"/>
          </a:p>
        </p:txBody>
      </p:sp>
      <p:sp>
        <p:nvSpPr>
          <p:cNvPr id="28" name="node-6"/>
          <p:cNvSpPr/>
          <p:nvPr/>
        </p:nvSpPr>
        <p:spPr>
          <a:xfrm>
            <a:off x="470916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29" name="node-6-img" descr="C:\NeuroFly\docs\prezentacja\assets\thumb_decoder.jpg"/>
          <p:cNvPicPr>
            <a:picLocks noChangeAspect="1"/>
          </p:cNvPicPr>
          <p:nvPr/>
        </p:nvPicPr>
        <p:blipFill>
          <a:blip r:embed="rId9"/>
          <a:srcRect/>
          <a:stretch/>
        </p:blipFill>
        <p:spPr>
          <a:xfrm>
            <a:off x="4773168" y="2734056"/>
            <a:ext cx="1655064" cy="694944"/>
          </a:xfrm>
          <a:prstGeom prst="rect">
            <a:avLst/>
          </a:prstGeom>
        </p:spPr>
      </p:pic>
      <p:sp>
        <p:nvSpPr>
          <p:cNvPr id="30" name="node-6-title"/>
          <p:cNvSpPr txBox="1"/>
          <p:nvPr/>
        </p:nvSpPr>
        <p:spPr>
          <a:xfrm>
            <a:off x="4837176" y="3493008"/>
            <a:ext cx="1563624" cy="256032"/>
          </a:xfrm>
          <a:prstGeom prst="rect">
            <a:avLst/>
          </a:prstGeom>
          <a:noFill/>
          <a:ln/>
        </p:spPr>
        <p:txBody>
          <a:bodyPr wrap="square" lIns="0" tIns="0" rIns="0" bIns="0" rtlCol="0" anchor="t"/>
          <a:lstStyle/>
          <a:p>
            <a:pPr marL="0" indent="0">
              <a:buNone/>
            </a:pPr>
            <a:r>
              <a:rPr lang="en-US" sz="1100" dirty="0">
                <a:solidFill>
                  <a:srgbClr val="A1A1AA"/>
                </a:solidFill>
                <a:latin typeface="Michroma" pitchFamily="34" charset="0"/>
                <a:ea typeface="Michroma" pitchFamily="34" charset="-122"/>
                <a:cs typeface="Michroma" pitchFamily="34" charset="-120"/>
              </a:rPr>
              <a:t>7  </a:t>
            </a:r>
            <a:r>
              <a:rPr lang="en-US" sz="1300" b="1" dirty="0">
                <a:solidFill>
                  <a:srgbClr val="FAFAFA"/>
                </a:solidFill>
              </a:rPr>
              <a:t>Decoder</a:t>
            </a:r>
            <a:endParaRPr lang="en-US" sz="1300" dirty="0"/>
          </a:p>
        </p:txBody>
      </p:sp>
      <p:sp>
        <p:nvSpPr>
          <p:cNvPr id="31" name="node-6-desc"/>
          <p:cNvSpPr txBox="1"/>
          <p:nvPr/>
        </p:nvSpPr>
        <p:spPr>
          <a:xfrm>
            <a:off x="483717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turns them into 4 numbers</a:t>
            </a:r>
            <a:endParaRPr lang="en-US" sz="1000" dirty="0"/>
          </a:p>
        </p:txBody>
      </p:sp>
      <p:sp>
        <p:nvSpPr>
          <p:cNvPr id="32" name="node-7"/>
          <p:cNvSpPr/>
          <p:nvPr/>
        </p:nvSpPr>
        <p:spPr>
          <a:xfrm>
            <a:off x="6812280" y="2670048"/>
            <a:ext cx="1783080" cy="13716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pic>
        <p:nvPicPr>
          <p:cNvPr id="33" name="node-7-img" descr="C:\NeuroFly\docs\prezentacja\assets\drone_chase.jpg"/>
          <p:cNvPicPr>
            <a:picLocks noChangeAspect="1"/>
          </p:cNvPicPr>
          <p:nvPr/>
        </p:nvPicPr>
        <p:blipFill>
          <a:blip r:embed="rId10"/>
          <a:srcRect/>
          <a:stretch/>
        </p:blipFill>
        <p:spPr>
          <a:xfrm>
            <a:off x="6876288" y="2734056"/>
            <a:ext cx="1655064" cy="694944"/>
          </a:xfrm>
          <a:prstGeom prst="rect">
            <a:avLst/>
          </a:prstGeom>
        </p:spPr>
      </p:pic>
      <p:sp>
        <p:nvSpPr>
          <p:cNvPr id="34" name="node-7-title"/>
          <p:cNvSpPr txBox="1"/>
          <p:nvPr/>
        </p:nvSpPr>
        <p:spPr>
          <a:xfrm>
            <a:off x="6940296" y="3493008"/>
            <a:ext cx="1563624" cy="256032"/>
          </a:xfrm>
          <a:prstGeom prst="rect">
            <a:avLst/>
          </a:prstGeom>
          <a:noFill/>
          <a:ln/>
        </p:spPr>
        <p:txBody>
          <a:bodyPr wrap="square" lIns="0" tIns="0" rIns="0" bIns="0" rtlCol="0" anchor="t"/>
          <a:lstStyle/>
          <a:p>
            <a:pPr marL="0" indent="0">
              <a:buNone/>
            </a:pPr>
            <a:r>
              <a:rPr lang="en-US" sz="1100" dirty="0">
                <a:solidFill>
                  <a:srgbClr val="4F8CFF"/>
                </a:solidFill>
                <a:latin typeface="Michroma" pitchFamily="34" charset="0"/>
                <a:ea typeface="Michroma" pitchFamily="34" charset="-122"/>
                <a:cs typeface="Michroma" pitchFamily="34" charset="-120"/>
              </a:rPr>
              <a:t>8  </a:t>
            </a:r>
            <a:r>
              <a:rPr lang="en-US" sz="1300" b="1" dirty="0">
                <a:solidFill>
                  <a:srgbClr val="FAFAFA"/>
                </a:solidFill>
              </a:rPr>
              <a:t>Drone</a:t>
            </a:r>
            <a:endParaRPr lang="en-US" sz="1300" dirty="0"/>
          </a:p>
        </p:txBody>
      </p:sp>
      <p:sp>
        <p:nvSpPr>
          <p:cNvPr id="35" name="node-7-desc"/>
          <p:cNvSpPr txBox="1"/>
          <p:nvPr/>
        </p:nvSpPr>
        <p:spPr>
          <a:xfrm>
            <a:off x="6940296" y="3749040"/>
            <a:ext cx="1563624" cy="256032"/>
          </a:xfrm>
          <a:prstGeom prst="rect">
            <a:avLst/>
          </a:prstGeom>
          <a:noFill/>
          <a:ln/>
        </p:spPr>
        <p:txBody>
          <a:bodyPr wrap="square" lIns="0" tIns="0" rIns="0" bIns="0" rtlCol="0" anchor="t"/>
          <a:lstStyle/>
          <a:p>
            <a:pPr marL="0" indent="0">
              <a:buNone/>
            </a:pPr>
            <a:r>
              <a:rPr lang="en-US" sz="1000" dirty="0">
                <a:solidFill>
                  <a:srgbClr val="A1A1AA"/>
                </a:solidFill>
              </a:rPr>
              <a:t>moves, then back to 1</a:t>
            </a:r>
            <a:endParaRPr lang="en-US" sz="1000" dirty="0"/>
          </a:p>
        </p:txBody>
      </p:sp>
      <p:sp>
        <p:nvSpPr>
          <p:cNvPr id="36" name="glossary-0"/>
          <p:cNvSpPr txBox="1"/>
          <p:nvPr/>
        </p:nvSpPr>
        <p:spPr>
          <a:xfrm>
            <a:off x="566928" y="4206240"/>
            <a:ext cx="2542540" cy="411480"/>
          </a:xfrm>
          <a:prstGeom prst="rect">
            <a:avLst/>
          </a:prstGeom>
          <a:noFill/>
          <a:ln/>
        </p:spPr>
        <p:txBody>
          <a:bodyPr wrap="square" lIns="0" tIns="0" rIns="0" bIns="0" rtlCol="0" anchor="t"/>
          <a:lstStyle/>
          <a:p>
            <a:pPr marL="0" indent="0">
              <a:buNone/>
            </a:pPr>
            <a:r>
              <a:rPr lang="en-US" sz="900" b="1" dirty="0">
                <a:solidFill>
                  <a:srgbClr val="A1A1AA"/>
                </a:solidFill>
              </a:rPr>
              <a:t>FlyVis:</a:t>
            </a:r>
            <a:r>
              <a:rPr lang="en-US" sz="900" dirty="0">
                <a:solidFill>
                  <a:srgbClr val="71717A"/>
                </a:solidFill>
              </a:rPr>
              <a:t> a published model of how the fly eye and visual brain process an image</a:t>
            </a:r>
            <a:endParaRPr lang="en-US" sz="900" dirty="0"/>
          </a:p>
        </p:txBody>
      </p:sp>
      <p:sp>
        <p:nvSpPr>
          <p:cNvPr id="37" name="glossary-1"/>
          <p:cNvSpPr txBox="1"/>
          <p:nvPr/>
        </p:nvSpPr>
        <p:spPr>
          <a:xfrm>
            <a:off x="3383788" y="4206240"/>
            <a:ext cx="2542540" cy="411480"/>
          </a:xfrm>
          <a:prstGeom prst="rect">
            <a:avLst/>
          </a:prstGeom>
          <a:noFill/>
          <a:ln/>
        </p:spPr>
        <p:txBody>
          <a:bodyPr wrap="square" lIns="0" tIns="0" rIns="0" bIns="0" rtlCol="0" anchor="t"/>
          <a:lstStyle/>
          <a:p>
            <a:pPr marL="0" indent="0">
              <a:buNone/>
            </a:pPr>
            <a:r>
              <a:rPr lang="en-US" sz="900" b="1" dirty="0">
                <a:solidFill>
                  <a:srgbClr val="A1A1AA"/>
                </a:solidFill>
              </a:rPr>
              <a:t>Flight neurons:</a:t>
            </a:r>
            <a:r>
              <a:rPr lang="en-US" sz="900" dirty="0">
                <a:solidFill>
                  <a:srgbClr val="71717A"/>
                </a:solidFill>
              </a:rPr>
              <a:t> neurons that carry flight commands from the brain to the wings</a:t>
            </a:r>
            <a:endParaRPr lang="en-US" sz="900" dirty="0"/>
          </a:p>
        </p:txBody>
      </p:sp>
      <p:sp>
        <p:nvSpPr>
          <p:cNvPr id="38" name="glossary-2"/>
          <p:cNvSpPr txBox="1"/>
          <p:nvPr/>
        </p:nvSpPr>
        <p:spPr>
          <a:xfrm>
            <a:off x="6200648" y="4206240"/>
            <a:ext cx="2458720" cy="411480"/>
          </a:xfrm>
          <a:prstGeom prst="rect">
            <a:avLst/>
          </a:prstGeom>
          <a:noFill/>
          <a:ln/>
        </p:spPr>
        <p:txBody>
          <a:bodyPr wrap="square" lIns="0" tIns="0" rIns="0" bIns="0" rtlCol="0" anchor="t"/>
          <a:lstStyle/>
          <a:p>
            <a:pPr marL="0" indent="0">
              <a:buNone/>
            </a:pPr>
            <a:r>
              <a:rPr lang="en-US" sz="900" b="1" dirty="0">
                <a:solidFill>
                  <a:srgbClr val="A1A1AA"/>
                </a:solidFill>
              </a:rPr>
              <a:t>Thrust, roll, pitch, yaw:</a:t>
            </a:r>
            <a:r>
              <a:rPr lang="en-US" sz="900" dirty="0">
                <a:solidFill>
                  <a:srgbClr val="71717A"/>
                </a:solidFill>
              </a:rPr>
              <a:t> total power, tilt sideways, nose up or down, turn</a:t>
            </a:r>
            <a:endParaRPr lang="en-US" sz="900" dirty="0"/>
          </a:p>
        </p:txBody>
      </p:sp>
      <p:sp>
        <p:nvSpPr>
          <p:cNvPr id="39"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STEPS 1–3: SEEING LIKE A FLY</a:t>
            </a:r>
            <a:endParaRPr lang="en-US" sz="1600" dirty="0"/>
          </a:p>
        </p:txBody>
      </p:sp>
      <p:pic>
        <p:nvPicPr>
          <p:cNvPr id="4" name="img-0" descr="C:\NeuroFly\docs\prezentacja\assets\eye_left.jpg"/>
          <p:cNvPicPr>
            <a:picLocks noChangeAspect="1"/>
          </p:cNvPicPr>
          <p:nvPr/>
        </p:nvPicPr>
        <p:blipFill>
          <a:blip r:embed="rId3"/>
          <a:stretch>
            <a:fillRect/>
          </a:stretch>
        </p:blipFill>
        <p:spPr>
          <a:xfrm>
            <a:off x="502920" y="1097280"/>
            <a:ext cx="1828800" cy="2084832"/>
          </a:xfrm>
          <a:prstGeom prst="rect">
            <a:avLst/>
          </a:prstGeom>
          <a:effectLst>
            <a:outerShdw blurRad="228600" dist="76200" dir="5400000" algn="bl" rotWithShape="0">
              <a:srgbClr val="000000">
                <a:alpha val="55000"/>
              </a:srgbClr>
            </a:outerShdw>
          </a:effectLst>
        </p:spPr>
      </p:pic>
      <p:sp>
        <p:nvSpPr>
          <p:cNvPr id="5" name="cap-0"/>
          <p:cNvSpPr txBox="1"/>
          <p:nvPr/>
        </p:nvSpPr>
        <p:spPr>
          <a:xfrm>
            <a:off x="502920" y="3246120"/>
            <a:ext cx="1828800" cy="256032"/>
          </a:xfrm>
          <a:prstGeom prst="rect">
            <a:avLst/>
          </a:prstGeom>
          <a:noFill/>
          <a:ln/>
        </p:spPr>
        <p:txBody>
          <a:bodyPr wrap="square" lIns="0" tIns="0" rIns="0" bIns="0" rtlCol="0" anchor="t"/>
          <a:lstStyle/>
          <a:p>
            <a:pPr marL="0" indent="0">
              <a:buNone/>
            </a:pPr>
            <a:r>
              <a:rPr lang="en-US" sz="1100" dirty="0">
                <a:solidFill>
                  <a:srgbClr val="A1A1AA"/>
                </a:solidFill>
              </a:rPr>
              <a:t>Left camera</a:t>
            </a:r>
            <a:endParaRPr lang="en-US" sz="1100" dirty="0"/>
          </a:p>
        </p:txBody>
      </p:sp>
      <p:pic>
        <p:nvPicPr>
          <p:cNvPr id="6" name="img-1" descr="C:\NeuroFly\docs\prezentacja\assets\retina_left.jpg"/>
          <p:cNvPicPr>
            <a:picLocks noChangeAspect="1"/>
          </p:cNvPicPr>
          <p:nvPr/>
        </p:nvPicPr>
        <p:blipFill>
          <a:blip r:embed="rId4"/>
          <a:stretch>
            <a:fillRect/>
          </a:stretch>
        </p:blipFill>
        <p:spPr>
          <a:xfrm>
            <a:off x="2578608" y="1097280"/>
            <a:ext cx="1828800" cy="2084832"/>
          </a:xfrm>
          <a:prstGeom prst="rect">
            <a:avLst/>
          </a:prstGeom>
          <a:effectLst>
            <a:outerShdw blurRad="228600" dist="76200" dir="5400000" algn="bl" rotWithShape="0">
              <a:srgbClr val="000000">
                <a:alpha val="55000"/>
              </a:srgbClr>
            </a:outerShdw>
          </a:effectLst>
        </p:spPr>
      </p:pic>
      <p:sp>
        <p:nvSpPr>
          <p:cNvPr id="7" name="cap-1"/>
          <p:cNvSpPr txBox="1"/>
          <p:nvPr/>
        </p:nvSpPr>
        <p:spPr>
          <a:xfrm>
            <a:off x="2578608" y="3246120"/>
            <a:ext cx="1828800" cy="256032"/>
          </a:xfrm>
          <a:prstGeom prst="rect">
            <a:avLst/>
          </a:prstGeom>
          <a:noFill/>
          <a:ln/>
        </p:spPr>
        <p:txBody>
          <a:bodyPr wrap="square" lIns="0" tIns="0" rIns="0" bIns="0" rtlCol="0" anchor="t"/>
          <a:lstStyle/>
          <a:p>
            <a:pPr marL="0" indent="0">
              <a:buNone/>
            </a:pPr>
            <a:r>
              <a:rPr lang="en-US" sz="1100" dirty="0">
                <a:solidFill>
                  <a:srgbClr val="A1A1AA"/>
                </a:solidFill>
              </a:rPr>
              <a:t>Left retina</a:t>
            </a:r>
            <a:endParaRPr lang="en-US" sz="1100" dirty="0"/>
          </a:p>
        </p:txBody>
      </p:sp>
      <p:pic>
        <p:nvPicPr>
          <p:cNvPr id="8" name="img-2" descr="C:\NeuroFly\docs\prezentacja\assets\eye_right.jpg"/>
          <p:cNvPicPr>
            <a:picLocks noChangeAspect="1"/>
          </p:cNvPicPr>
          <p:nvPr/>
        </p:nvPicPr>
        <p:blipFill>
          <a:blip r:embed="rId5"/>
          <a:stretch>
            <a:fillRect/>
          </a:stretch>
        </p:blipFill>
        <p:spPr>
          <a:xfrm>
            <a:off x="4654296" y="1097280"/>
            <a:ext cx="1828800" cy="2084832"/>
          </a:xfrm>
          <a:prstGeom prst="rect">
            <a:avLst/>
          </a:prstGeom>
          <a:effectLst>
            <a:outerShdw blurRad="228600" dist="76200" dir="5400000" algn="bl" rotWithShape="0">
              <a:srgbClr val="000000">
                <a:alpha val="55000"/>
              </a:srgbClr>
            </a:outerShdw>
          </a:effectLst>
        </p:spPr>
      </p:pic>
      <p:sp>
        <p:nvSpPr>
          <p:cNvPr id="9" name="cap-2"/>
          <p:cNvSpPr txBox="1"/>
          <p:nvPr/>
        </p:nvSpPr>
        <p:spPr>
          <a:xfrm>
            <a:off x="4654296" y="3246120"/>
            <a:ext cx="1828800" cy="256032"/>
          </a:xfrm>
          <a:prstGeom prst="rect">
            <a:avLst/>
          </a:prstGeom>
          <a:noFill/>
          <a:ln/>
        </p:spPr>
        <p:txBody>
          <a:bodyPr wrap="square" lIns="0" tIns="0" rIns="0" bIns="0" rtlCol="0" anchor="t"/>
          <a:lstStyle/>
          <a:p>
            <a:pPr marL="0" indent="0">
              <a:buNone/>
            </a:pPr>
            <a:r>
              <a:rPr lang="en-US" sz="1100" dirty="0">
                <a:solidFill>
                  <a:srgbClr val="A1A1AA"/>
                </a:solidFill>
              </a:rPr>
              <a:t>Right camera</a:t>
            </a:r>
            <a:endParaRPr lang="en-US" sz="1100" dirty="0"/>
          </a:p>
        </p:txBody>
      </p:sp>
      <p:pic>
        <p:nvPicPr>
          <p:cNvPr id="10" name="img-3" descr="C:\NeuroFly\docs\prezentacja\assets\retina_right.jpg"/>
          <p:cNvPicPr>
            <a:picLocks noChangeAspect="1"/>
          </p:cNvPicPr>
          <p:nvPr/>
        </p:nvPicPr>
        <p:blipFill>
          <a:blip r:embed="rId6"/>
          <a:stretch>
            <a:fillRect/>
          </a:stretch>
        </p:blipFill>
        <p:spPr>
          <a:xfrm>
            <a:off x="6729984" y="1097280"/>
            <a:ext cx="1828800" cy="2084832"/>
          </a:xfrm>
          <a:prstGeom prst="rect">
            <a:avLst/>
          </a:prstGeom>
          <a:effectLst>
            <a:outerShdw blurRad="228600" dist="76200" dir="5400000" algn="bl" rotWithShape="0">
              <a:srgbClr val="000000">
                <a:alpha val="55000"/>
              </a:srgbClr>
            </a:outerShdw>
          </a:effectLst>
        </p:spPr>
      </p:pic>
      <p:sp>
        <p:nvSpPr>
          <p:cNvPr id="11" name="cap-3"/>
          <p:cNvSpPr txBox="1"/>
          <p:nvPr/>
        </p:nvSpPr>
        <p:spPr>
          <a:xfrm>
            <a:off x="6729984" y="3246120"/>
            <a:ext cx="1828800" cy="256032"/>
          </a:xfrm>
          <a:prstGeom prst="rect">
            <a:avLst/>
          </a:prstGeom>
          <a:noFill/>
          <a:ln/>
        </p:spPr>
        <p:txBody>
          <a:bodyPr wrap="square" lIns="0" tIns="0" rIns="0" bIns="0" rtlCol="0" anchor="t"/>
          <a:lstStyle/>
          <a:p>
            <a:pPr marL="0" indent="0">
              <a:buNone/>
            </a:pPr>
            <a:r>
              <a:rPr lang="en-US" sz="1100" dirty="0">
                <a:solidFill>
                  <a:srgbClr val="A1A1AA"/>
                </a:solidFill>
              </a:rPr>
              <a:t>Right retina</a:t>
            </a:r>
            <a:endParaRPr lang="en-US" sz="1100" dirty="0"/>
          </a:p>
        </p:txBody>
      </p:sp>
      <p:sp>
        <p:nvSpPr>
          <p:cNvPr id="12" name="explain"/>
          <p:cNvSpPr txBox="1"/>
          <p:nvPr/>
        </p:nvSpPr>
        <p:spPr>
          <a:xfrm>
            <a:off x="502920" y="3566160"/>
            <a:ext cx="8138160" cy="594360"/>
          </a:xfrm>
          <a:prstGeom prst="rect">
            <a:avLst/>
          </a:prstGeom>
          <a:noFill/>
          <a:ln/>
        </p:spPr>
        <p:txBody>
          <a:bodyPr wrap="square" lIns="0" tIns="0" rIns="0" bIns="0" rtlCol="0" anchor="t"/>
          <a:lstStyle/>
          <a:p>
            <a:pPr marL="0" indent="0">
              <a:buNone/>
            </a:pPr>
            <a:r>
              <a:rPr lang="en-US" sz="1200" dirty="0">
                <a:solidFill>
                  <a:srgbClr val="FAFAFA"/>
                </a:solidFill>
              </a:rPr>
              <a:t>Each drone camera sees as wide as a fly eye. The picture is cut into 721 small hexagons, like the lenses of a fly eye, then FlyVis works out how the fly's visual neurons react, and that signal goes into the matching BANC neurons.</a:t>
            </a:r>
            <a:endParaRPr lang="en-US" sz="1200" dirty="0"/>
          </a:p>
        </p:txBody>
      </p:sp>
      <p:sp>
        <p:nvSpPr>
          <p:cNvPr id="13" name="glossary-0"/>
          <p:cNvSpPr txBox="1"/>
          <p:nvPr/>
        </p:nvSpPr>
        <p:spPr>
          <a:xfrm>
            <a:off x="566928" y="4206240"/>
            <a:ext cx="4221785" cy="411480"/>
          </a:xfrm>
          <a:prstGeom prst="rect">
            <a:avLst/>
          </a:prstGeom>
          <a:noFill/>
          <a:ln/>
        </p:spPr>
        <p:txBody>
          <a:bodyPr wrap="square" lIns="0" tIns="0" rIns="0" bIns="0" rtlCol="0" anchor="t"/>
          <a:lstStyle/>
          <a:p>
            <a:pPr marL="0" indent="0">
              <a:buNone/>
            </a:pPr>
            <a:r>
              <a:rPr lang="en-US" sz="900" b="1" dirty="0">
                <a:solidFill>
                  <a:srgbClr val="A1A1AA"/>
                </a:solidFill>
              </a:rPr>
              <a:t>Facet:</a:t>
            </a:r>
            <a:r>
              <a:rPr lang="en-US" sz="900" dirty="0">
                <a:solidFill>
                  <a:srgbClr val="71717A"/>
                </a:solidFill>
              </a:rPr>
              <a:t> one of the small lenses of a fly eye, one pixel of fly vision</a:t>
            </a:r>
            <a:endParaRPr lang="en-US" sz="900" dirty="0"/>
          </a:p>
        </p:txBody>
      </p:sp>
      <p:sp>
        <p:nvSpPr>
          <p:cNvPr id="14" name="glossary-1"/>
          <p:cNvSpPr txBox="1"/>
          <p:nvPr/>
        </p:nvSpPr>
        <p:spPr>
          <a:xfrm>
            <a:off x="5063033" y="4206240"/>
            <a:ext cx="3596335" cy="411480"/>
          </a:xfrm>
          <a:prstGeom prst="rect">
            <a:avLst/>
          </a:prstGeom>
          <a:noFill/>
          <a:ln/>
        </p:spPr>
        <p:txBody>
          <a:bodyPr wrap="square" lIns="0" tIns="0" rIns="0" bIns="0" rtlCol="0" anchor="t"/>
          <a:lstStyle/>
          <a:p>
            <a:pPr marL="0" indent="0">
              <a:buNone/>
            </a:pPr>
            <a:r>
              <a:rPr lang="en-US" sz="900" b="1" dirty="0">
                <a:solidFill>
                  <a:srgbClr val="A1A1AA"/>
                </a:solidFill>
              </a:rPr>
              <a:t>Optic lobe:</a:t>
            </a:r>
            <a:r>
              <a:rPr lang="en-US" sz="900" dirty="0">
                <a:solidFill>
                  <a:srgbClr val="71717A"/>
                </a:solidFill>
              </a:rPr>
              <a:t> the visual part of the brain behind each eye</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STEPS 4–5: THE FLY BRAIN</a:t>
            </a:r>
            <a:endParaRPr lang="en-US" sz="1600" dirty="0"/>
          </a:p>
        </p:txBody>
      </p:sp>
      <p:pic>
        <p:nvPicPr>
          <p:cNvPr id="4" name="render-wiring" descr="C:\NeuroFly\docs\prezentacja\assets\connectome_wiring.jpg"/>
          <p:cNvPicPr>
            <a:picLocks noChangeAspect="1"/>
          </p:cNvPicPr>
          <p:nvPr/>
        </p:nvPicPr>
        <p:blipFill>
          <a:blip r:embed="rId3"/>
          <a:stretch>
            <a:fillRect/>
          </a:stretch>
        </p:blipFill>
        <p:spPr>
          <a:xfrm>
            <a:off x="365760" y="914400"/>
            <a:ext cx="2743200" cy="3328416"/>
          </a:xfrm>
          <a:prstGeom prst="rect">
            <a:avLst/>
          </a:prstGeom>
        </p:spPr>
      </p:pic>
      <p:sp>
        <p:nvSpPr>
          <p:cNvPr id="5" name="s-neurons-value"/>
          <p:cNvSpPr txBox="1"/>
          <p:nvPr/>
        </p:nvSpPr>
        <p:spPr>
          <a:xfrm>
            <a:off x="3566160" y="1051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175,401</a:t>
            </a:r>
            <a:endParaRPr lang="en-US" sz="3200" dirty="0"/>
          </a:p>
        </p:txBody>
      </p:sp>
      <p:sp>
        <p:nvSpPr>
          <p:cNvPr id="6" name="s-neurons-label"/>
          <p:cNvSpPr txBox="1"/>
          <p:nvPr/>
        </p:nvSpPr>
        <p:spPr>
          <a:xfrm>
            <a:off x="3566160" y="1618488"/>
            <a:ext cx="2468880" cy="457200"/>
          </a:xfrm>
          <a:prstGeom prst="rect">
            <a:avLst/>
          </a:prstGeom>
          <a:noFill/>
          <a:ln/>
        </p:spPr>
        <p:txBody>
          <a:bodyPr wrap="square" lIns="0" tIns="0" rIns="0" bIns="0" rtlCol="0" anchor="t"/>
          <a:lstStyle/>
          <a:p>
            <a:pPr marL="0" indent="0">
              <a:buNone/>
            </a:pPr>
            <a:r>
              <a:rPr lang="en-US" sz="1200" dirty="0">
                <a:solidFill>
                  <a:srgbClr val="A1A1AA"/>
                </a:solidFill>
              </a:rPr>
              <a:t>neurons in the fly brain and nerve cord</a:t>
            </a:r>
            <a:endParaRPr lang="en-US" sz="1200" dirty="0"/>
          </a:p>
        </p:txBody>
      </p:sp>
      <p:sp>
        <p:nvSpPr>
          <p:cNvPr id="7" name="s-syn-value"/>
          <p:cNvSpPr txBox="1"/>
          <p:nvPr/>
        </p:nvSpPr>
        <p:spPr>
          <a:xfrm>
            <a:off x="6172200" y="1051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18.6 M</a:t>
            </a:r>
            <a:endParaRPr lang="en-US" sz="3200" dirty="0"/>
          </a:p>
        </p:txBody>
      </p:sp>
      <p:sp>
        <p:nvSpPr>
          <p:cNvPr id="8" name="s-syn-label"/>
          <p:cNvSpPr txBox="1"/>
          <p:nvPr/>
        </p:nvSpPr>
        <p:spPr>
          <a:xfrm>
            <a:off x="6172200" y="1618488"/>
            <a:ext cx="2468880" cy="457200"/>
          </a:xfrm>
          <a:prstGeom prst="rect">
            <a:avLst/>
          </a:prstGeom>
          <a:noFill/>
          <a:ln/>
        </p:spPr>
        <p:txBody>
          <a:bodyPr wrap="square" lIns="0" tIns="0" rIns="0" bIns="0" rtlCol="0" anchor="t"/>
          <a:lstStyle/>
          <a:p>
            <a:pPr marL="0" indent="0">
              <a:buNone/>
            </a:pPr>
            <a:r>
              <a:rPr lang="en-US" sz="1200" dirty="0">
                <a:solidFill>
                  <a:srgbClr val="A1A1AA"/>
                </a:solidFill>
              </a:rPr>
              <a:t>synapses, the contacts between neurons</a:t>
            </a:r>
            <a:endParaRPr lang="en-US" sz="1200" dirty="0"/>
          </a:p>
        </p:txBody>
      </p:sp>
      <p:sp>
        <p:nvSpPr>
          <p:cNvPr id="9" name="s-edges-value"/>
          <p:cNvSpPr txBox="1"/>
          <p:nvPr/>
        </p:nvSpPr>
        <p:spPr>
          <a:xfrm>
            <a:off x="3566160" y="2194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1.53 M</a:t>
            </a:r>
            <a:endParaRPr lang="en-US" sz="3200" dirty="0"/>
          </a:p>
        </p:txBody>
      </p:sp>
      <p:sp>
        <p:nvSpPr>
          <p:cNvPr id="10" name="s-edges-label"/>
          <p:cNvSpPr txBox="1"/>
          <p:nvPr/>
        </p:nvSpPr>
        <p:spPr>
          <a:xfrm>
            <a:off x="3566160" y="2761488"/>
            <a:ext cx="2468880" cy="457200"/>
          </a:xfrm>
          <a:prstGeom prst="rect">
            <a:avLst/>
          </a:prstGeom>
          <a:noFill/>
          <a:ln/>
        </p:spPr>
        <p:txBody>
          <a:bodyPr wrap="square" lIns="0" tIns="0" rIns="0" bIns="0" rtlCol="0" anchor="t"/>
          <a:lstStyle/>
          <a:p>
            <a:pPr marL="0" indent="0">
              <a:buNone/>
            </a:pPr>
            <a:r>
              <a:rPr lang="en-US" sz="1200" dirty="0">
                <a:solidFill>
                  <a:srgbClr val="A1A1AA"/>
                </a:solidFill>
              </a:rPr>
              <a:t>neuron-to-neuron connections we use</a:t>
            </a:r>
            <a:endParaRPr lang="en-US" sz="1200" dirty="0"/>
          </a:p>
        </p:txBody>
      </p:sp>
      <p:sp>
        <p:nvSpPr>
          <p:cNvPr id="11" name="s-skel-value"/>
          <p:cNvSpPr txBox="1"/>
          <p:nvPr/>
        </p:nvSpPr>
        <p:spPr>
          <a:xfrm>
            <a:off x="6172200" y="2194560"/>
            <a:ext cx="24688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863</a:t>
            </a:r>
            <a:endParaRPr lang="en-US" sz="3200" dirty="0"/>
          </a:p>
        </p:txBody>
      </p:sp>
      <p:sp>
        <p:nvSpPr>
          <p:cNvPr id="12" name="s-skel-label"/>
          <p:cNvSpPr txBox="1"/>
          <p:nvPr/>
        </p:nvSpPr>
        <p:spPr>
          <a:xfrm>
            <a:off x="6172200" y="2761488"/>
            <a:ext cx="2468880" cy="457200"/>
          </a:xfrm>
          <a:prstGeom prst="rect">
            <a:avLst/>
          </a:prstGeom>
          <a:noFill/>
          <a:ln/>
        </p:spPr>
        <p:txBody>
          <a:bodyPr wrap="square" lIns="0" tIns="0" rIns="0" bIns="0" rtlCol="0" anchor="t"/>
          <a:lstStyle/>
          <a:p>
            <a:pPr marL="0" indent="0">
              <a:buNone/>
            </a:pPr>
            <a:r>
              <a:rPr lang="en-US" sz="1200" dirty="0">
                <a:solidFill>
                  <a:srgbClr val="A1A1AA"/>
                </a:solidFill>
              </a:rPr>
              <a:t>flight neurons drawn in full 3D shape</a:t>
            </a:r>
            <a:endParaRPr lang="en-US" sz="1200" dirty="0"/>
          </a:p>
        </p:txBody>
      </p:sp>
      <p:sp>
        <p:nvSpPr>
          <p:cNvPr id="13" name="t-ol-label"/>
          <p:cNvSpPr txBox="1"/>
          <p:nvPr/>
        </p:nvSpPr>
        <p:spPr>
          <a:xfrm>
            <a:off x="3566160" y="3291840"/>
            <a:ext cx="2743200" cy="237744"/>
          </a:xfrm>
          <a:prstGeom prst="rect">
            <a:avLst/>
          </a:prstGeom>
          <a:noFill/>
          <a:ln/>
        </p:spPr>
        <p:txBody>
          <a:bodyPr wrap="square" lIns="0" tIns="0" rIns="0" bIns="0" rtlCol="0" anchor="t"/>
          <a:lstStyle/>
          <a:p>
            <a:pPr marL="0" indent="0">
              <a:buNone/>
            </a:pPr>
            <a:r>
              <a:rPr lang="en-US" sz="1100" b="1" dirty="0">
                <a:solidFill>
                  <a:srgbClr val="2FD3C4"/>
                </a:solidFill>
              </a:rPr>
              <a:t>optic lobes: 105,646</a:t>
            </a:r>
            <a:endParaRPr lang="en-US" sz="1100" dirty="0"/>
          </a:p>
        </p:txBody>
      </p:sp>
      <p:sp>
        <p:nvSpPr>
          <p:cNvPr id="14" name="t-cb-label"/>
          <p:cNvSpPr txBox="1"/>
          <p:nvPr/>
        </p:nvSpPr>
        <p:spPr>
          <a:xfrm>
            <a:off x="3566160" y="3566160"/>
            <a:ext cx="2743200" cy="237744"/>
          </a:xfrm>
          <a:prstGeom prst="rect">
            <a:avLst/>
          </a:prstGeom>
          <a:noFill/>
          <a:ln/>
        </p:spPr>
        <p:txBody>
          <a:bodyPr wrap="square" lIns="0" tIns="0" rIns="0" bIns="0" rtlCol="0" anchor="t"/>
          <a:lstStyle/>
          <a:p>
            <a:pPr marL="0" indent="0">
              <a:buNone/>
            </a:pPr>
            <a:r>
              <a:rPr lang="en-US" sz="1100" b="1" dirty="0">
                <a:solidFill>
                  <a:srgbClr val="A98BFF"/>
                </a:solidFill>
              </a:rPr>
              <a:t>central brain: 42,620</a:t>
            </a:r>
            <a:endParaRPr lang="en-US" sz="1100" dirty="0"/>
          </a:p>
        </p:txBody>
      </p:sp>
      <p:sp>
        <p:nvSpPr>
          <p:cNvPr id="15" name="t-vnc-label"/>
          <p:cNvSpPr txBox="1"/>
          <p:nvPr/>
        </p:nvSpPr>
        <p:spPr>
          <a:xfrm>
            <a:off x="6172200" y="3291840"/>
            <a:ext cx="2743200" cy="237744"/>
          </a:xfrm>
          <a:prstGeom prst="rect">
            <a:avLst/>
          </a:prstGeom>
          <a:noFill/>
          <a:ln/>
        </p:spPr>
        <p:txBody>
          <a:bodyPr wrap="square" lIns="0" tIns="0" rIns="0" bIns="0" rtlCol="0" anchor="t"/>
          <a:lstStyle/>
          <a:p>
            <a:pPr marL="0" indent="0">
              <a:buNone/>
            </a:pPr>
            <a:r>
              <a:rPr lang="en-US" sz="1100" b="1" dirty="0">
                <a:solidFill>
                  <a:srgbClr val="FF4FB0"/>
                </a:solidFill>
              </a:rPr>
              <a:t>VNC: 26,769</a:t>
            </a:r>
            <a:endParaRPr lang="en-US" sz="1100" dirty="0"/>
          </a:p>
        </p:txBody>
      </p:sp>
      <p:sp>
        <p:nvSpPr>
          <p:cNvPr id="16" name="t-dn-label"/>
          <p:cNvSpPr txBox="1"/>
          <p:nvPr/>
        </p:nvSpPr>
        <p:spPr>
          <a:xfrm>
            <a:off x="6172200" y="3566160"/>
            <a:ext cx="2743200" cy="237744"/>
          </a:xfrm>
          <a:prstGeom prst="rect">
            <a:avLst/>
          </a:prstGeom>
          <a:noFill/>
          <a:ln/>
        </p:spPr>
        <p:txBody>
          <a:bodyPr wrap="square" lIns="0" tIns="0" rIns="0" bIns="0" rtlCol="0" anchor="t"/>
          <a:lstStyle/>
          <a:p>
            <a:pPr marL="0" indent="0">
              <a:buNone/>
            </a:pPr>
            <a:r>
              <a:rPr lang="en-US" sz="1100" b="1" dirty="0">
                <a:solidFill>
                  <a:srgbClr val="FFB547"/>
                </a:solidFill>
              </a:rPr>
              <a:t>DN / AN: 3,165</a:t>
            </a:r>
            <a:endParaRPr lang="en-US" sz="1100" dirty="0"/>
          </a:p>
        </p:txBody>
      </p:sp>
      <p:sp>
        <p:nvSpPr>
          <p:cNvPr id="17" name="wiring-note"/>
          <p:cNvSpPr txBox="1"/>
          <p:nvPr/>
        </p:nvSpPr>
        <p:spPr>
          <a:xfrm>
            <a:off x="3566160" y="3886200"/>
            <a:ext cx="5029200" cy="274320"/>
          </a:xfrm>
          <a:prstGeom prst="rect">
            <a:avLst/>
          </a:prstGeom>
          <a:noFill/>
          <a:ln/>
        </p:spPr>
        <p:txBody>
          <a:bodyPr wrap="square" lIns="0" tIns="0" rIns="0" bIns="0" rtlCol="0" anchor="t"/>
          <a:lstStyle/>
          <a:p>
            <a:pPr marL="0" indent="0">
              <a:buNone/>
            </a:pPr>
            <a:r>
              <a:rPr lang="en-US" sz="1000" i="1" dirty="0">
                <a:solidFill>
                  <a:srgbClr val="A1A1AA"/>
                </a:solidFill>
              </a:rPr>
              <a:t>Lines: 60,000 real connections from BANC, drawn as straight lines between neurons.</a:t>
            </a:r>
            <a:endParaRPr lang="en-US" sz="1000" dirty="0"/>
          </a:p>
        </p:txBody>
      </p:sp>
      <p:sp>
        <p:nvSpPr>
          <p:cNvPr id="18" name="glossary-0"/>
          <p:cNvSpPr txBox="1"/>
          <p:nvPr/>
        </p:nvSpPr>
        <p:spPr>
          <a:xfrm>
            <a:off x="3566160" y="4206240"/>
            <a:ext cx="1467311" cy="411480"/>
          </a:xfrm>
          <a:prstGeom prst="rect">
            <a:avLst/>
          </a:prstGeom>
          <a:noFill/>
          <a:ln/>
        </p:spPr>
        <p:txBody>
          <a:bodyPr wrap="square" lIns="0" tIns="0" rIns="0" bIns="0" rtlCol="0" anchor="t"/>
          <a:lstStyle/>
          <a:p>
            <a:pPr marL="0" indent="0">
              <a:buNone/>
            </a:pPr>
            <a:r>
              <a:rPr lang="en-US" sz="900" b="1" dirty="0">
                <a:solidFill>
                  <a:srgbClr val="A1A1AA"/>
                </a:solidFill>
              </a:rPr>
              <a:t>VNC:</a:t>
            </a:r>
            <a:r>
              <a:rPr lang="en-US" sz="900" dirty="0">
                <a:solidFill>
                  <a:srgbClr val="71717A"/>
                </a:solidFill>
              </a:rPr>
              <a:t> ventral nerve cord, the fly's spinal cord</a:t>
            </a:r>
            <a:endParaRPr lang="en-US" sz="900" dirty="0"/>
          </a:p>
        </p:txBody>
      </p:sp>
      <p:sp>
        <p:nvSpPr>
          <p:cNvPr id="19" name="glossary-1"/>
          <p:cNvSpPr txBox="1"/>
          <p:nvPr/>
        </p:nvSpPr>
        <p:spPr>
          <a:xfrm>
            <a:off x="5307791" y="4206240"/>
            <a:ext cx="1716007" cy="411480"/>
          </a:xfrm>
          <a:prstGeom prst="rect">
            <a:avLst/>
          </a:prstGeom>
          <a:noFill/>
          <a:ln/>
        </p:spPr>
        <p:txBody>
          <a:bodyPr wrap="square" lIns="0" tIns="0" rIns="0" bIns="0" rtlCol="0" anchor="t"/>
          <a:lstStyle/>
          <a:p>
            <a:pPr marL="0" indent="0">
              <a:buNone/>
            </a:pPr>
            <a:r>
              <a:rPr lang="en-US" sz="900" b="1" dirty="0">
                <a:solidFill>
                  <a:srgbClr val="A1A1AA"/>
                </a:solidFill>
              </a:rPr>
              <a:t>DN / AN:</a:t>
            </a:r>
            <a:r>
              <a:rPr lang="en-US" sz="900" dirty="0">
                <a:solidFill>
                  <a:srgbClr val="71717A"/>
                </a:solidFill>
              </a:rPr>
              <a:t> neurons linking brain and nerve cord, down / up</a:t>
            </a:r>
            <a:endParaRPr lang="en-US" sz="900" dirty="0"/>
          </a:p>
        </p:txBody>
      </p:sp>
      <p:sp>
        <p:nvSpPr>
          <p:cNvPr id="20" name="glossary-2"/>
          <p:cNvSpPr txBox="1"/>
          <p:nvPr/>
        </p:nvSpPr>
        <p:spPr>
          <a:xfrm>
            <a:off x="7298118" y="4206240"/>
            <a:ext cx="1342962" cy="411480"/>
          </a:xfrm>
          <a:prstGeom prst="rect">
            <a:avLst/>
          </a:prstGeom>
          <a:noFill/>
          <a:ln/>
        </p:spPr>
        <p:txBody>
          <a:bodyPr wrap="square" lIns="0" tIns="0" rIns="0" bIns="0" rtlCol="0" anchor="t"/>
          <a:lstStyle/>
          <a:p>
            <a:pPr marL="0" indent="0">
              <a:buNone/>
            </a:pPr>
            <a:r>
              <a:rPr lang="en-US" sz="900" b="1" dirty="0">
                <a:solidFill>
                  <a:srgbClr val="A1A1AA"/>
                </a:solidFill>
              </a:rPr>
              <a:t>Optic lobes:</a:t>
            </a:r>
            <a:r>
              <a:rPr lang="en-US" sz="900" dirty="0">
                <a:solidFill>
                  <a:srgbClr val="71717A"/>
                </a:solidFill>
              </a:rPr>
              <a:t> the visual part of the brain</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 6: THE FLIGHT NEURONS</a:t>
            </a:r>
            <a:endParaRPr lang="en-US" sz="1600" dirty="0"/>
          </a:p>
        </p:txBody>
      </p:sp>
      <p:pic>
        <p:nvPicPr>
          <p:cNvPr id="4" name="render-circuit" descr="C:\NeuroFly\docs\prezentacja\assets\circuit_3d.jpg"/>
          <p:cNvPicPr>
            <a:picLocks noChangeAspect="1"/>
          </p:cNvPicPr>
          <p:nvPr/>
        </p:nvPicPr>
        <p:blipFill>
          <a:blip r:embed="rId3"/>
          <a:stretch>
            <a:fillRect/>
          </a:stretch>
        </p:blipFill>
        <p:spPr>
          <a:xfrm>
            <a:off x="365760" y="914400"/>
            <a:ext cx="2743200" cy="3328416"/>
          </a:xfrm>
          <a:prstGeom prst="rect">
            <a:avLst/>
          </a:prstGeom>
        </p:spPr>
      </p:pic>
      <p:sp>
        <p:nvSpPr>
          <p:cNvPr id="5" name="g-0-name"/>
          <p:cNvSpPr txBox="1"/>
          <p:nvPr/>
        </p:nvSpPr>
        <p:spPr>
          <a:xfrm>
            <a:off x="3566160" y="1051560"/>
            <a:ext cx="2651760" cy="274320"/>
          </a:xfrm>
          <a:prstGeom prst="rect">
            <a:avLst/>
          </a:prstGeom>
          <a:noFill/>
          <a:ln/>
        </p:spPr>
        <p:txBody>
          <a:bodyPr wrap="square" lIns="0" tIns="0" rIns="0" bIns="0" rtlCol="0" anchor="t"/>
          <a:lstStyle/>
          <a:p>
            <a:pPr marL="0" indent="0">
              <a:buNone/>
            </a:pPr>
            <a:r>
              <a:rPr lang="en-US" sz="1300" b="1" dirty="0">
                <a:solidFill>
                  <a:srgbClr val="FFB547"/>
                </a:solidFill>
              </a:rPr>
              <a:t>DN flight power</a:t>
            </a:r>
            <a:endParaRPr lang="en-US" sz="1300" dirty="0"/>
          </a:p>
        </p:txBody>
      </p:sp>
      <p:sp>
        <p:nvSpPr>
          <p:cNvPr id="6" name="g-0-desc"/>
          <p:cNvSpPr txBox="1"/>
          <p:nvPr/>
        </p:nvSpPr>
        <p:spPr>
          <a:xfrm>
            <a:off x="3566160" y="1298448"/>
            <a:ext cx="4114800" cy="237744"/>
          </a:xfrm>
          <a:prstGeom prst="rect">
            <a:avLst/>
          </a:prstGeom>
          <a:noFill/>
          <a:ln/>
        </p:spPr>
        <p:txBody>
          <a:bodyPr wrap="square" lIns="0" tIns="0" rIns="0" bIns="0" rtlCol="0" anchor="t"/>
          <a:lstStyle/>
          <a:p>
            <a:pPr marL="0" indent="0">
              <a:buNone/>
            </a:pPr>
            <a:r>
              <a:rPr lang="en-US" sz="1000" dirty="0">
                <a:solidFill>
                  <a:srgbClr val="A1A1AA"/>
                </a:solidFill>
              </a:rPr>
              <a:t>brain neurons that set wing power</a:t>
            </a:r>
            <a:endParaRPr lang="en-US" sz="1000" dirty="0"/>
          </a:p>
        </p:txBody>
      </p:sp>
      <p:sp>
        <p:nvSpPr>
          <p:cNvPr id="7" name="g-0-count"/>
          <p:cNvSpPr txBox="1"/>
          <p:nvPr/>
        </p:nvSpPr>
        <p:spPr>
          <a:xfrm>
            <a:off x="7680960" y="1051560"/>
            <a:ext cx="960120" cy="292608"/>
          </a:xfrm>
          <a:prstGeom prst="rect">
            <a:avLst/>
          </a:prstGeom>
          <a:noFill/>
          <a:ln/>
        </p:spPr>
        <p:txBody>
          <a:bodyPr wrap="square" lIns="0" tIns="0" rIns="0" bIns="0" rtlCol="0" anchor="t"/>
          <a:lstStyle/>
          <a:p>
            <a:pPr marL="0" indent="0" algn="r">
              <a:buNone/>
            </a:pPr>
            <a:r>
              <a:rPr lang="en-US" sz="1600" b="1" dirty="0">
                <a:solidFill>
                  <a:srgbClr val="FAFAFA"/>
                </a:solidFill>
              </a:rPr>
              <a:t>235</a:t>
            </a:r>
            <a:endParaRPr lang="en-US" sz="1600" dirty="0"/>
          </a:p>
        </p:txBody>
      </p:sp>
      <p:sp>
        <p:nvSpPr>
          <p:cNvPr id="8" name="g-1-name"/>
          <p:cNvSpPr txBox="1"/>
          <p:nvPr/>
        </p:nvSpPr>
        <p:spPr>
          <a:xfrm>
            <a:off x="3566160" y="1554480"/>
            <a:ext cx="2651760" cy="274320"/>
          </a:xfrm>
          <a:prstGeom prst="rect">
            <a:avLst/>
          </a:prstGeom>
          <a:noFill/>
          <a:ln/>
        </p:spPr>
        <p:txBody>
          <a:bodyPr wrap="square" lIns="0" tIns="0" rIns="0" bIns="0" rtlCol="0" anchor="t"/>
          <a:lstStyle/>
          <a:p>
            <a:pPr marL="0" indent="0">
              <a:buNone/>
            </a:pPr>
            <a:r>
              <a:rPr lang="en-US" sz="1300" b="1" dirty="0">
                <a:solidFill>
                  <a:srgbClr val="FFB547"/>
                </a:solidFill>
              </a:rPr>
              <a:t>DN flight steering</a:t>
            </a:r>
            <a:endParaRPr lang="en-US" sz="1300" dirty="0"/>
          </a:p>
        </p:txBody>
      </p:sp>
      <p:sp>
        <p:nvSpPr>
          <p:cNvPr id="9" name="g-1-desc"/>
          <p:cNvSpPr txBox="1"/>
          <p:nvPr/>
        </p:nvSpPr>
        <p:spPr>
          <a:xfrm>
            <a:off x="3566160" y="1801368"/>
            <a:ext cx="4114800" cy="237744"/>
          </a:xfrm>
          <a:prstGeom prst="rect">
            <a:avLst/>
          </a:prstGeom>
          <a:noFill/>
          <a:ln/>
        </p:spPr>
        <p:txBody>
          <a:bodyPr wrap="square" lIns="0" tIns="0" rIns="0" bIns="0" rtlCol="0" anchor="t"/>
          <a:lstStyle/>
          <a:p>
            <a:pPr marL="0" indent="0">
              <a:buNone/>
            </a:pPr>
            <a:r>
              <a:rPr lang="en-US" sz="1000" dirty="0">
                <a:solidFill>
                  <a:srgbClr val="A1A1AA"/>
                </a:solidFill>
              </a:rPr>
              <a:t>brain neurons that steer</a:t>
            </a:r>
            <a:endParaRPr lang="en-US" sz="1000" dirty="0"/>
          </a:p>
        </p:txBody>
      </p:sp>
      <p:sp>
        <p:nvSpPr>
          <p:cNvPr id="10" name="g-1-count"/>
          <p:cNvSpPr txBox="1"/>
          <p:nvPr/>
        </p:nvSpPr>
        <p:spPr>
          <a:xfrm>
            <a:off x="7680960" y="1554480"/>
            <a:ext cx="960120" cy="292608"/>
          </a:xfrm>
          <a:prstGeom prst="rect">
            <a:avLst/>
          </a:prstGeom>
          <a:noFill/>
          <a:ln/>
        </p:spPr>
        <p:txBody>
          <a:bodyPr wrap="square" lIns="0" tIns="0" rIns="0" bIns="0" rtlCol="0" anchor="t"/>
          <a:lstStyle/>
          <a:p>
            <a:pPr marL="0" indent="0" algn="r">
              <a:buNone/>
            </a:pPr>
            <a:r>
              <a:rPr lang="en-US" sz="1600" b="1" dirty="0">
                <a:solidFill>
                  <a:srgbClr val="FAFAFA"/>
                </a:solidFill>
              </a:rPr>
              <a:t>140</a:t>
            </a:r>
            <a:endParaRPr lang="en-US" sz="1600" dirty="0"/>
          </a:p>
        </p:txBody>
      </p:sp>
      <p:sp>
        <p:nvSpPr>
          <p:cNvPr id="11" name="g-2-name"/>
          <p:cNvSpPr txBox="1"/>
          <p:nvPr/>
        </p:nvSpPr>
        <p:spPr>
          <a:xfrm>
            <a:off x="3566160" y="2057400"/>
            <a:ext cx="2651760" cy="274320"/>
          </a:xfrm>
          <a:prstGeom prst="rect">
            <a:avLst/>
          </a:prstGeom>
          <a:noFill/>
          <a:ln/>
        </p:spPr>
        <p:txBody>
          <a:bodyPr wrap="square" lIns="0" tIns="0" rIns="0" bIns="0" rtlCol="0" anchor="t"/>
          <a:lstStyle/>
          <a:p>
            <a:pPr marL="0" indent="0">
              <a:buNone/>
            </a:pPr>
            <a:r>
              <a:rPr lang="en-US" sz="1300" b="1" dirty="0">
                <a:solidFill>
                  <a:srgbClr val="FF4FB0"/>
                </a:solidFill>
              </a:rPr>
              <a:t>MN wing power</a:t>
            </a:r>
            <a:endParaRPr lang="en-US" sz="1300" dirty="0"/>
          </a:p>
        </p:txBody>
      </p:sp>
      <p:sp>
        <p:nvSpPr>
          <p:cNvPr id="12" name="g-2-desc"/>
          <p:cNvSpPr txBox="1"/>
          <p:nvPr/>
        </p:nvSpPr>
        <p:spPr>
          <a:xfrm>
            <a:off x="3566160" y="2304288"/>
            <a:ext cx="4114800" cy="237744"/>
          </a:xfrm>
          <a:prstGeom prst="rect">
            <a:avLst/>
          </a:prstGeom>
          <a:noFill/>
          <a:ln/>
        </p:spPr>
        <p:txBody>
          <a:bodyPr wrap="square" lIns="0" tIns="0" rIns="0" bIns="0" rtlCol="0" anchor="t"/>
          <a:lstStyle/>
          <a:p>
            <a:pPr marL="0" indent="0">
              <a:buNone/>
            </a:pPr>
            <a:r>
              <a:rPr lang="en-US" sz="1000" dirty="0">
                <a:solidFill>
                  <a:srgbClr val="A1A1AA"/>
                </a:solidFill>
              </a:rPr>
              <a:t>drive the big muscles that beat the wings</a:t>
            </a:r>
            <a:endParaRPr lang="en-US" sz="1000" dirty="0"/>
          </a:p>
        </p:txBody>
      </p:sp>
      <p:sp>
        <p:nvSpPr>
          <p:cNvPr id="13" name="g-2-count"/>
          <p:cNvSpPr txBox="1"/>
          <p:nvPr/>
        </p:nvSpPr>
        <p:spPr>
          <a:xfrm>
            <a:off x="7680960" y="2057400"/>
            <a:ext cx="960120" cy="292608"/>
          </a:xfrm>
          <a:prstGeom prst="rect">
            <a:avLst/>
          </a:prstGeom>
          <a:noFill/>
          <a:ln/>
        </p:spPr>
        <p:txBody>
          <a:bodyPr wrap="square" lIns="0" tIns="0" rIns="0" bIns="0" rtlCol="0" anchor="t"/>
          <a:lstStyle/>
          <a:p>
            <a:pPr marL="0" indent="0" algn="r">
              <a:buNone/>
            </a:pPr>
            <a:r>
              <a:rPr lang="en-US" sz="1600" b="1" dirty="0">
                <a:solidFill>
                  <a:srgbClr val="FAFAFA"/>
                </a:solidFill>
              </a:rPr>
              <a:t>24</a:t>
            </a:r>
            <a:endParaRPr lang="en-US" sz="1600" dirty="0"/>
          </a:p>
        </p:txBody>
      </p:sp>
      <p:sp>
        <p:nvSpPr>
          <p:cNvPr id="14" name="g-3-name"/>
          <p:cNvSpPr txBox="1"/>
          <p:nvPr/>
        </p:nvSpPr>
        <p:spPr>
          <a:xfrm>
            <a:off x="3566160" y="2560320"/>
            <a:ext cx="2651760" cy="274320"/>
          </a:xfrm>
          <a:prstGeom prst="rect">
            <a:avLst/>
          </a:prstGeom>
          <a:noFill/>
          <a:ln/>
        </p:spPr>
        <p:txBody>
          <a:bodyPr wrap="square" lIns="0" tIns="0" rIns="0" bIns="0" rtlCol="0" anchor="t"/>
          <a:lstStyle/>
          <a:p>
            <a:pPr marL="0" indent="0">
              <a:buNone/>
            </a:pPr>
            <a:r>
              <a:rPr lang="en-US" sz="1300" b="1" dirty="0">
                <a:solidFill>
                  <a:srgbClr val="FF4FB0"/>
                </a:solidFill>
              </a:rPr>
              <a:t>MN wing steering</a:t>
            </a:r>
            <a:endParaRPr lang="en-US" sz="1300" dirty="0"/>
          </a:p>
        </p:txBody>
      </p:sp>
      <p:sp>
        <p:nvSpPr>
          <p:cNvPr id="15" name="g-3-desc"/>
          <p:cNvSpPr txBox="1"/>
          <p:nvPr/>
        </p:nvSpPr>
        <p:spPr>
          <a:xfrm>
            <a:off x="3566160" y="2807208"/>
            <a:ext cx="4114800" cy="237744"/>
          </a:xfrm>
          <a:prstGeom prst="rect">
            <a:avLst/>
          </a:prstGeom>
          <a:noFill/>
          <a:ln/>
        </p:spPr>
        <p:txBody>
          <a:bodyPr wrap="square" lIns="0" tIns="0" rIns="0" bIns="0" rtlCol="0" anchor="t"/>
          <a:lstStyle/>
          <a:p>
            <a:pPr marL="0" indent="0">
              <a:buNone/>
            </a:pPr>
            <a:r>
              <a:rPr lang="en-US" sz="1000" dirty="0">
                <a:solidFill>
                  <a:srgbClr val="A1A1AA"/>
                </a:solidFill>
              </a:rPr>
              <a:t>drive small steering muscles at the wing base</a:t>
            </a:r>
            <a:endParaRPr lang="en-US" sz="1000" dirty="0"/>
          </a:p>
        </p:txBody>
      </p:sp>
      <p:sp>
        <p:nvSpPr>
          <p:cNvPr id="16" name="g-3-count"/>
          <p:cNvSpPr txBox="1"/>
          <p:nvPr/>
        </p:nvSpPr>
        <p:spPr>
          <a:xfrm>
            <a:off x="7680960" y="2560320"/>
            <a:ext cx="960120" cy="292608"/>
          </a:xfrm>
          <a:prstGeom prst="rect">
            <a:avLst/>
          </a:prstGeom>
          <a:noFill/>
          <a:ln/>
        </p:spPr>
        <p:txBody>
          <a:bodyPr wrap="square" lIns="0" tIns="0" rIns="0" bIns="0" rtlCol="0" anchor="t"/>
          <a:lstStyle/>
          <a:p>
            <a:pPr marL="0" indent="0" algn="r">
              <a:buNone/>
            </a:pPr>
            <a:r>
              <a:rPr lang="en-US" sz="1600" b="1" dirty="0">
                <a:solidFill>
                  <a:srgbClr val="FAFAFA"/>
                </a:solidFill>
              </a:rPr>
              <a:t>24</a:t>
            </a:r>
            <a:endParaRPr lang="en-US" sz="1600" dirty="0"/>
          </a:p>
        </p:txBody>
      </p:sp>
      <p:sp>
        <p:nvSpPr>
          <p:cNvPr id="17" name="g-4-name"/>
          <p:cNvSpPr txBox="1"/>
          <p:nvPr/>
        </p:nvSpPr>
        <p:spPr>
          <a:xfrm>
            <a:off x="3566160" y="3063240"/>
            <a:ext cx="2651760" cy="274320"/>
          </a:xfrm>
          <a:prstGeom prst="rect">
            <a:avLst/>
          </a:prstGeom>
          <a:noFill/>
          <a:ln/>
        </p:spPr>
        <p:txBody>
          <a:bodyPr wrap="square" lIns="0" tIns="0" rIns="0" bIns="0" rtlCol="0" anchor="t"/>
          <a:lstStyle/>
          <a:p>
            <a:pPr marL="0" indent="0">
              <a:buNone/>
            </a:pPr>
            <a:r>
              <a:rPr lang="en-US" sz="1300" b="1" dirty="0">
                <a:solidFill>
                  <a:srgbClr val="FF4FB0"/>
                </a:solidFill>
              </a:rPr>
              <a:t>MN wing tension</a:t>
            </a:r>
            <a:endParaRPr lang="en-US" sz="1300" dirty="0"/>
          </a:p>
        </p:txBody>
      </p:sp>
      <p:sp>
        <p:nvSpPr>
          <p:cNvPr id="18" name="g-4-desc"/>
          <p:cNvSpPr txBox="1"/>
          <p:nvPr/>
        </p:nvSpPr>
        <p:spPr>
          <a:xfrm>
            <a:off x="3566160" y="3310128"/>
            <a:ext cx="4114800" cy="237744"/>
          </a:xfrm>
          <a:prstGeom prst="rect">
            <a:avLst/>
          </a:prstGeom>
          <a:noFill/>
          <a:ln/>
        </p:spPr>
        <p:txBody>
          <a:bodyPr wrap="square" lIns="0" tIns="0" rIns="0" bIns="0" rtlCol="0" anchor="t"/>
          <a:lstStyle/>
          <a:p>
            <a:pPr marL="0" indent="0">
              <a:buNone/>
            </a:pPr>
            <a:r>
              <a:rPr lang="en-US" sz="1000" dirty="0">
                <a:solidFill>
                  <a:srgbClr val="A1A1AA"/>
                </a:solidFill>
              </a:rPr>
              <a:t>keep the wing tight</a:t>
            </a:r>
            <a:endParaRPr lang="en-US" sz="1000" dirty="0"/>
          </a:p>
        </p:txBody>
      </p:sp>
      <p:sp>
        <p:nvSpPr>
          <p:cNvPr id="19" name="g-4-count"/>
          <p:cNvSpPr txBox="1"/>
          <p:nvPr/>
        </p:nvSpPr>
        <p:spPr>
          <a:xfrm>
            <a:off x="7680960" y="3063240"/>
            <a:ext cx="960120" cy="292608"/>
          </a:xfrm>
          <a:prstGeom prst="rect">
            <a:avLst/>
          </a:prstGeom>
          <a:noFill/>
          <a:ln/>
        </p:spPr>
        <p:txBody>
          <a:bodyPr wrap="square" lIns="0" tIns="0" rIns="0" bIns="0" rtlCol="0" anchor="t"/>
          <a:lstStyle/>
          <a:p>
            <a:pPr marL="0" indent="0" algn="r">
              <a:buNone/>
            </a:pPr>
            <a:r>
              <a:rPr lang="en-US" sz="1600" b="1" dirty="0">
                <a:solidFill>
                  <a:srgbClr val="FAFAFA"/>
                </a:solidFill>
              </a:rPr>
              <a:t>12</a:t>
            </a:r>
            <a:endParaRPr lang="en-US" sz="1600" dirty="0"/>
          </a:p>
        </p:txBody>
      </p:sp>
      <p:sp>
        <p:nvSpPr>
          <p:cNvPr id="20" name="g-5-name"/>
          <p:cNvSpPr txBox="1"/>
          <p:nvPr/>
        </p:nvSpPr>
        <p:spPr>
          <a:xfrm>
            <a:off x="3566160" y="3566160"/>
            <a:ext cx="2651760" cy="274320"/>
          </a:xfrm>
          <a:prstGeom prst="rect">
            <a:avLst/>
          </a:prstGeom>
          <a:noFill/>
          <a:ln/>
        </p:spPr>
        <p:txBody>
          <a:bodyPr wrap="square" lIns="0" tIns="0" rIns="0" bIns="0" rtlCol="0" anchor="t"/>
          <a:lstStyle/>
          <a:p>
            <a:pPr marL="0" indent="0">
              <a:buNone/>
            </a:pPr>
            <a:r>
              <a:rPr lang="en-US" sz="1300" b="1" dirty="0">
                <a:solidFill>
                  <a:srgbClr val="4F8CFF"/>
                </a:solidFill>
              </a:rPr>
              <a:t>Haltere afferents</a:t>
            </a:r>
            <a:endParaRPr lang="en-US" sz="1300" dirty="0"/>
          </a:p>
        </p:txBody>
      </p:sp>
      <p:sp>
        <p:nvSpPr>
          <p:cNvPr id="21" name="g-5-desc"/>
          <p:cNvSpPr txBox="1"/>
          <p:nvPr/>
        </p:nvSpPr>
        <p:spPr>
          <a:xfrm>
            <a:off x="3566160" y="3813048"/>
            <a:ext cx="4114800" cy="237744"/>
          </a:xfrm>
          <a:prstGeom prst="rect">
            <a:avLst/>
          </a:prstGeom>
          <a:noFill/>
          <a:ln/>
        </p:spPr>
        <p:txBody>
          <a:bodyPr wrap="square" lIns="0" tIns="0" rIns="0" bIns="0" rtlCol="0" anchor="t"/>
          <a:lstStyle/>
          <a:p>
            <a:pPr marL="0" indent="0">
              <a:buNone/>
            </a:pPr>
            <a:r>
              <a:rPr lang="en-US" sz="1000" dirty="0">
                <a:solidFill>
                  <a:srgbClr val="A1A1AA"/>
                </a:solidFill>
              </a:rPr>
              <a:t>rotation sensors, here fed by the drone gyroscope</a:t>
            </a:r>
            <a:endParaRPr lang="en-US" sz="1000" dirty="0"/>
          </a:p>
        </p:txBody>
      </p:sp>
      <p:sp>
        <p:nvSpPr>
          <p:cNvPr id="22" name="g-5-count"/>
          <p:cNvSpPr txBox="1"/>
          <p:nvPr/>
        </p:nvSpPr>
        <p:spPr>
          <a:xfrm>
            <a:off x="7680960" y="3566160"/>
            <a:ext cx="960120" cy="292608"/>
          </a:xfrm>
          <a:prstGeom prst="rect">
            <a:avLst/>
          </a:prstGeom>
          <a:noFill/>
          <a:ln/>
        </p:spPr>
        <p:txBody>
          <a:bodyPr wrap="square" lIns="0" tIns="0" rIns="0" bIns="0" rtlCol="0" anchor="t"/>
          <a:lstStyle/>
          <a:p>
            <a:pPr marL="0" indent="0" algn="r">
              <a:buNone/>
            </a:pPr>
            <a:r>
              <a:rPr lang="en-US" sz="1600" b="1" dirty="0">
                <a:solidFill>
                  <a:srgbClr val="FAFAFA"/>
                </a:solidFill>
              </a:rPr>
              <a:t>428</a:t>
            </a:r>
            <a:endParaRPr lang="en-US" sz="1600" dirty="0"/>
          </a:p>
        </p:txBody>
      </p:sp>
      <p:sp>
        <p:nvSpPr>
          <p:cNvPr id="23" name="glossary-0"/>
          <p:cNvSpPr txBox="1"/>
          <p:nvPr/>
        </p:nvSpPr>
        <p:spPr>
          <a:xfrm>
            <a:off x="3566160" y="4206240"/>
            <a:ext cx="2827347" cy="411480"/>
          </a:xfrm>
          <a:prstGeom prst="rect">
            <a:avLst/>
          </a:prstGeom>
          <a:noFill/>
          <a:ln/>
        </p:spPr>
        <p:txBody>
          <a:bodyPr wrap="square" lIns="0" tIns="0" rIns="0" bIns="0" rtlCol="0" anchor="t"/>
          <a:lstStyle/>
          <a:p>
            <a:pPr marL="0" indent="0">
              <a:buNone/>
            </a:pPr>
            <a:r>
              <a:rPr lang="en-US" sz="900" b="1" dirty="0">
                <a:solidFill>
                  <a:srgbClr val="A1A1AA"/>
                </a:solidFill>
              </a:rPr>
              <a:t>Halteres:</a:t>
            </a:r>
            <a:r>
              <a:rPr lang="en-US" sz="900" dirty="0">
                <a:solidFill>
                  <a:srgbClr val="71717A"/>
                </a:solidFill>
              </a:rPr>
              <a:t> tiny club-shaped hind wings that sense body rotation, a natural gyroscope</a:t>
            </a:r>
            <a:endParaRPr lang="en-US" sz="900" dirty="0"/>
          </a:p>
        </p:txBody>
      </p:sp>
      <p:sp>
        <p:nvSpPr>
          <p:cNvPr id="24" name="glossary-1"/>
          <p:cNvSpPr txBox="1"/>
          <p:nvPr/>
        </p:nvSpPr>
        <p:spPr>
          <a:xfrm>
            <a:off x="6667827" y="4206240"/>
            <a:ext cx="1973253" cy="411480"/>
          </a:xfrm>
          <a:prstGeom prst="rect">
            <a:avLst/>
          </a:prstGeom>
          <a:noFill/>
          <a:ln/>
        </p:spPr>
        <p:txBody>
          <a:bodyPr wrap="square" lIns="0" tIns="0" rIns="0" bIns="0" rtlCol="0" anchor="t"/>
          <a:lstStyle/>
          <a:p>
            <a:pPr marL="0" indent="0">
              <a:buNone/>
            </a:pPr>
            <a:r>
              <a:rPr lang="en-US" sz="900" b="1" dirty="0">
                <a:solidFill>
                  <a:srgbClr val="A1A1AA"/>
                </a:solidFill>
              </a:rPr>
              <a:t>Labels:</a:t>
            </a:r>
            <a:r>
              <a:rPr lang="en-US" sz="900" dirty="0">
                <a:solidFill>
                  <a:srgbClr val="71717A"/>
                </a:solidFill>
              </a:rPr>
              <a:t> all groups come from official BANC annotations</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 6: WHERE THE BRAIN KNOWS THE TARGET</a:t>
            </a:r>
            <a:endParaRPr lang="en-US" sz="1600" dirty="0"/>
          </a:p>
        </p:txBody>
      </p:sp>
      <p:graphicFrame>
        <p:nvGraphicFramePr>
          <p:cNvPr id="4" name="chart-side"/>
          <p:cNvGraphicFramePr/>
          <p:nvPr/>
        </p:nvGraphicFramePr>
        <p:xfrm>
          <a:off x="457200" y="1051560"/>
          <a:ext cx="51206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dn-value"/>
          <p:cNvSpPr txBox="1"/>
          <p:nvPr/>
        </p:nvSpPr>
        <p:spPr>
          <a:xfrm>
            <a:off x="6035040" y="1188720"/>
            <a:ext cx="274320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99%</a:t>
            </a:r>
            <a:endParaRPr lang="en-US" sz="3200" dirty="0"/>
          </a:p>
        </p:txBody>
      </p:sp>
      <p:sp>
        <p:nvSpPr>
          <p:cNvPr id="6" name="s-dn-label"/>
          <p:cNvSpPr txBox="1"/>
          <p:nvPr/>
        </p:nvSpPr>
        <p:spPr>
          <a:xfrm>
            <a:off x="6035040" y="1755648"/>
            <a:ext cx="2743200" cy="457200"/>
          </a:xfrm>
          <a:prstGeom prst="rect">
            <a:avLst/>
          </a:prstGeom>
          <a:noFill/>
          <a:ln/>
        </p:spPr>
        <p:txBody>
          <a:bodyPr wrap="square" lIns="0" tIns="0" rIns="0" bIns="0" rtlCol="0" anchor="t"/>
          <a:lstStyle/>
          <a:p>
            <a:pPr marL="0" indent="0">
              <a:buNone/>
            </a:pPr>
            <a:r>
              <a:rPr lang="en-US" sz="1200" dirty="0">
                <a:solidFill>
                  <a:srgbClr val="A1A1AA"/>
                </a:solidFill>
              </a:rPr>
              <a:t>of scenes where single flight neurons tell left from right correctly</a:t>
            </a:r>
            <a:endParaRPr lang="en-US" sz="1200" dirty="0"/>
          </a:p>
        </p:txBody>
      </p:sp>
      <p:sp>
        <p:nvSpPr>
          <p:cNvPr id="7" name="s-mn-value"/>
          <p:cNvSpPr txBox="1"/>
          <p:nvPr/>
        </p:nvSpPr>
        <p:spPr>
          <a:xfrm>
            <a:off x="6035040" y="2560320"/>
            <a:ext cx="2743200" cy="548640"/>
          </a:xfrm>
          <a:prstGeom prst="rect">
            <a:avLst/>
          </a:prstGeom>
          <a:noFill/>
          <a:ln/>
        </p:spPr>
        <p:txBody>
          <a:bodyPr wrap="square" lIns="0" tIns="0" rIns="0" bIns="0" rtlCol="0" anchor="t"/>
          <a:lstStyle/>
          <a:p>
            <a:pPr marL="0" indent="0">
              <a:buNone/>
            </a:pPr>
            <a:r>
              <a:rPr lang="en-US" sz="3200" dirty="0">
                <a:solidFill>
                  <a:srgbClr val="A1A1AA"/>
                </a:solidFill>
                <a:latin typeface="Roboto Light" pitchFamily="34" charset="0"/>
                <a:ea typeface="Roboto Light" pitchFamily="34" charset="-122"/>
                <a:cs typeface="Roboto Light" pitchFamily="34" charset="-120"/>
              </a:rPr>
              <a:t>68%</a:t>
            </a:r>
            <a:endParaRPr lang="en-US" sz="3200" dirty="0"/>
          </a:p>
        </p:txBody>
      </p:sp>
      <p:sp>
        <p:nvSpPr>
          <p:cNvPr id="8" name="s-mn-label"/>
          <p:cNvSpPr txBox="1"/>
          <p:nvPr/>
        </p:nvSpPr>
        <p:spPr>
          <a:xfrm>
            <a:off x="6035040" y="3127248"/>
            <a:ext cx="2743200" cy="457200"/>
          </a:xfrm>
          <a:prstGeom prst="rect">
            <a:avLst/>
          </a:prstGeom>
          <a:noFill/>
          <a:ln/>
        </p:spPr>
        <p:txBody>
          <a:bodyPr wrap="square" lIns="0" tIns="0" rIns="0" bIns="0" rtlCol="0" anchor="t"/>
          <a:lstStyle/>
          <a:p>
            <a:pPr marL="0" indent="0">
              <a:buNone/>
            </a:pPr>
            <a:r>
              <a:rPr lang="en-US" sz="1200" dirty="0">
                <a:solidFill>
                  <a:srgbClr val="A1A1AA"/>
                </a:solidFill>
              </a:rPr>
              <a:t>if you average the muscle neurons: left and right cancel out</a:t>
            </a:r>
            <a:endParaRPr lang="en-US" sz="1200" dirty="0"/>
          </a:p>
        </p:txBody>
      </p:sp>
      <p:sp>
        <p:nvSpPr>
          <p:cNvPr id="9"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Accuracy:</a:t>
            </a:r>
            <a:r>
              <a:rPr lang="en-US" sz="900" dirty="0">
                <a:solidFill>
                  <a:srgbClr val="71717A"/>
                </a:solidFill>
              </a:rPr>
              <a:t> how often we can tell which side the target is on (50% = guessing)</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 7: THE DECODER LEARNS TO READ</a:t>
            </a:r>
            <a:endParaRPr lang="en-US" sz="1600" dirty="0"/>
          </a:p>
        </p:txBody>
      </p:sp>
      <p:sp>
        <p:nvSpPr>
          <p:cNvPr id="4" name="t-0"/>
          <p:cNvSpPr/>
          <p:nvPr/>
        </p:nvSpPr>
        <p:spPr>
          <a:xfrm>
            <a:off x="502920" y="1051560"/>
            <a:ext cx="448056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t-0-n"/>
          <p:cNvSpPr txBox="1"/>
          <p:nvPr/>
        </p:nvSpPr>
        <p:spPr>
          <a:xfrm>
            <a:off x="704088" y="1197864"/>
            <a:ext cx="36576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1</a:t>
            </a:r>
            <a:endParaRPr lang="en-US" sz="1800" dirty="0"/>
          </a:p>
        </p:txBody>
      </p:sp>
      <p:sp>
        <p:nvSpPr>
          <p:cNvPr id="6" name="t-0-h"/>
          <p:cNvSpPr txBox="1"/>
          <p:nvPr/>
        </p:nvSpPr>
        <p:spPr>
          <a:xfrm>
            <a:off x="1143000" y="1143000"/>
            <a:ext cx="3657600" cy="274320"/>
          </a:xfrm>
          <a:prstGeom prst="rect">
            <a:avLst/>
          </a:prstGeom>
          <a:noFill/>
          <a:ln/>
        </p:spPr>
        <p:txBody>
          <a:bodyPr wrap="square" lIns="0" tIns="0" rIns="0" bIns="0" rtlCol="0" anchor="t"/>
          <a:lstStyle/>
          <a:p>
            <a:pPr marL="0" indent="0">
              <a:buNone/>
            </a:pPr>
            <a:r>
              <a:rPr lang="en-US" sz="1400" b="1" dirty="0">
                <a:solidFill>
                  <a:srgbClr val="FAFAFA"/>
                </a:solidFill>
              </a:rPr>
              <a:t>Teacher</a:t>
            </a:r>
            <a:endParaRPr lang="en-US" sz="1400" dirty="0"/>
          </a:p>
        </p:txBody>
      </p:sp>
      <p:sp>
        <p:nvSpPr>
          <p:cNvPr id="7" name="t-0-d"/>
          <p:cNvSpPr txBox="1"/>
          <p:nvPr/>
        </p:nvSpPr>
        <p:spPr>
          <a:xfrm>
            <a:off x="1143000" y="1408176"/>
            <a:ext cx="3749040" cy="274320"/>
          </a:xfrm>
          <a:prstGeom prst="rect">
            <a:avLst/>
          </a:prstGeom>
          <a:noFill/>
          <a:ln/>
        </p:spPr>
        <p:txBody>
          <a:bodyPr wrap="square" lIns="0" tIns="0" rIns="0" bIns="0" rtlCol="0" anchor="t"/>
          <a:lstStyle/>
          <a:p>
            <a:pPr marL="0" indent="0">
              <a:buNone/>
            </a:pPr>
            <a:r>
              <a:rPr lang="en-US" sz="1100" dirty="0">
                <a:solidFill>
                  <a:srgbClr val="A1A1AA"/>
                </a:solidFill>
              </a:rPr>
              <a:t>a simple pilot that knows where the target is</a:t>
            </a:r>
            <a:endParaRPr lang="en-US" sz="1100" dirty="0"/>
          </a:p>
        </p:txBody>
      </p:sp>
      <p:sp>
        <p:nvSpPr>
          <p:cNvPr id="8" name="t-1"/>
          <p:cNvSpPr/>
          <p:nvPr/>
        </p:nvSpPr>
        <p:spPr>
          <a:xfrm>
            <a:off x="502920" y="1819656"/>
            <a:ext cx="448056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9" name="t-1-n"/>
          <p:cNvSpPr txBox="1"/>
          <p:nvPr/>
        </p:nvSpPr>
        <p:spPr>
          <a:xfrm>
            <a:off x="704088" y="1965960"/>
            <a:ext cx="36576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2</a:t>
            </a:r>
            <a:endParaRPr lang="en-US" sz="1800" dirty="0"/>
          </a:p>
        </p:txBody>
      </p:sp>
      <p:sp>
        <p:nvSpPr>
          <p:cNvPr id="10" name="t-1-h"/>
          <p:cNvSpPr txBox="1"/>
          <p:nvPr/>
        </p:nvSpPr>
        <p:spPr>
          <a:xfrm>
            <a:off x="1143000" y="1911096"/>
            <a:ext cx="3657600" cy="274320"/>
          </a:xfrm>
          <a:prstGeom prst="rect">
            <a:avLst/>
          </a:prstGeom>
          <a:noFill/>
          <a:ln/>
        </p:spPr>
        <p:txBody>
          <a:bodyPr wrap="square" lIns="0" tIns="0" rIns="0" bIns="0" rtlCol="0" anchor="t"/>
          <a:lstStyle/>
          <a:p>
            <a:pPr marL="0" indent="0">
              <a:buNone/>
            </a:pPr>
            <a:r>
              <a:rPr lang="en-US" sz="1400" b="1" dirty="0">
                <a:solidFill>
                  <a:srgbClr val="FAFAFA"/>
                </a:solidFill>
              </a:rPr>
              <a:t>Taking turns</a:t>
            </a:r>
            <a:endParaRPr lang="en-US" sz="1400" dirty="0"/>
          </a:p>
        </p:txBody>
      </p:sp>
      <p:sp>
        <p:nvSpPr>
          <p:cNvPr id="11" name="t-1-d"/>
          <p:cNvSpPr txBox="1"/>
          <p:nvPr/>
        </p:nvSpPr>
        <p:spPr>
          <a:xfrm>
            <a:off x="1143000" y="2176272"/>
            <a:ext cx="3749040" cy="274320"/>
          </a:xfrm>
          <a:prstGeom prst="rect">
            <a:avLst/>
          </a:prstGeom>
          <a:noFill/>
          <a:ln/>
        </p:spPr>
        <p:txBody>
          <a:bodyPr wrap="square" lIns="0" tIns="0" rIns="0" bIns="0" rtlCol="0" anchor="t"/>
          <a:lstStyle/>
          <a:p>
            <a:pPr marL="0" indent="0">
              <a:buNone/>
            </a:pPr>
            <a:r>
              <a:rPr lang="en-US" sz="1100" dirty="0">
                <a:solidFill>
                  <a:srgbClr val="A1A1AA"/>
                </a:solidFill>
              </a:rPr>
              <a:t>the teacher flies less and less, then not at all</a:t>
            </a:r>
            <a:endParaRPr lang="en-US" sz="1100" dirty="0"/>
          </a:p>
        </p:txBody>
      </p:sp>
      <p:sp>
        <p:nvSpPr>
          <p:cNvPr id="12" name="t-2"/>
          <p:cNvSpPr/>
          <p:nvPr/>
        </p:nvSpPr>
        <p:spPr>
          <a:xfrm>
            <a:off x="502920" y="2587752"/>
            <a:ext cx="448056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3" name="t-2-n"/>
          <p:cNvSpPr txBox="1"/>
          <p:nvPr/>
        </p:nvSpPr>
        <p:spPr>
          <a:xfrm>
            <a:off x="704088" y="2734056"/>
            <a:ext cx="36576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3</a:t>
            </a:r>
            <a:endParaRPr lang="en-US" sz="1800" dirty="0"/>
          </a:p>
        </p:txBody>
      </p:sp>
      <p:sp>
        <p:nvSpPr>
          <p:cNvPr id="14" name="t-2-h"/>
          <p:cNvSpPr txBox="1"/>
          <p:nvPr/>
        </p:nvSpPr>
        <p:spPr>
          <a:xfrm>
            <a:off x="1143000" y="2679192"/>
            <a:ext cx="3657600" cy="274320"/>
          </a:xfrm>
          <a:prstGeom prst="rect">
            <a:avLst/>
          </a:prstGeom>
          <a:noFill/>
          <a:ln/>
        </p:spPr>
        <p:txBody>
          <a:bodyPr wrap="square" lIns="0" tIns="0" rIns="0" bIns="0" rtlCol="0" anchor="t"/>
          <a:lstStyle/>
          <a:p>
            <a:pPr marL="0" indent="0">
              <a:buNone/>
            </a:pPr>
            <a:r>
              <a:rPr lang="en-US" sz="1400" b="1" dirty="0">
                <a:solidFill>
                  <a:srgbClr val="FAFAFA"/>
                </a:solidFill>
              </a:rPr>
              <a:t>Learning</a:t>
            </a:r>
            <a:endParaRPr lang="en-US" sz="1400" dirty="0"/>
          </a:p>
        </p:txBody>
      </p:sp>
      <p:sp>
        <p:nvSpPr>
          <p:cNvPr id="15" name="t-2-d"/>
          <p:cNvSpPr txBox="1"/>
          <p:nvPr/>
        </p:nvSpPr>
        <p:spPr>
          <a:xfrm>
            <a:off x="1143000" y="2944368"/>
            <a:ext cx="3749040" cy="274320"/>
          </a:xfrm>
          <a:prstGeom prst="rect">
            <a:avLst/>
          </a:prstGeom>
          <a:noFill/>
          <a:ln/>
        </p:spPr>
        <p:txBody>
          <a:bodyPr wrap="square" lIns="0" tIns="0" rIns="0" bIns="0" rtlCol="0" anchor="t"/>
          <a:lstStyle/>
          <a:p>
            <a:pPr marL="0" indent="0">
              <a:buNone/>
            </a:pPr>
            <a:r>
              <a:rPr lang="en-US" sz="1100" dirty="0">
                <a:solidFill>
                  <a:srgbClr val="A1A1AA"/>
                </a:solidFill>
              </a:rPr>
              <a:t>the readout copies what the teacher would do</a:t>
            </a:r>
            <a:endParaRPr lang="en-US" sz="1100" dirty="0"/>
          </a:p>
        </p:txBody>
      </p:sp>
      <p:sp>
        <p:nvSpPr>
          <p:cNvPr id="16" name="t-3"/>
          <p:cNvSpPr/>
          <p:nvPr/>
        </p:nvSpPr>
        <p:spPr>
          <a:xfrm>
            <a:off x="502920" y="3355848"/>
            <a:ext cx="448056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7" name="t-3-n"/>
          <p:cNvSpPr txBox="1"/>
          <p:nvPr/>
        </p:nvSpPr>
        <p:spPr>
          <a:xfrm>
            <a:off x="704088" y="3502152"/>
            <a:ext cx="365760" cy="365760"/>
          </a:xfrm>
          <a:prstGeom prst="rect">
            <a:avLst/>
          </a:prstGeom>
          <a:noFill/>
          <a:ln/>
        </p:spPr>
        <p:txBody>
          <a:bodyPr wrap="square" lIns="0" tIns="0" rIns="0" bIns="0" rtlCol="0" anchor="t"/>
          <a:lstStyle/>
          <a:p>
            <a:pPr marL="0" indent="0">
              <a:buNone/>
            </a:pPr>
            <a:r>
              <a:rPr lang="en-US" sz="1800" dirty="0">
                <a:solidFill>
                  <a:srgbClr val="FF2D6F"/>
                </a:solidFill>
                <a:latin typeface="Michroma" pitchFamily="34" charset="0"/>
                <a:ea typeface="Michroma" pitchFamily="34" charset="-122"/>
                <a:cs typeface="Michroma" pitchFamily="34" charset="-120"/>
              </a:rPr>
              <a:t>4</a:t>
            </a:r>
            <a:endParaRPr lang="en-US" sz="1800" dirty="0"/>
          </a:p>
        </p:txBody>
      </p:sp>
      <p:sp>
        <p:nvSpPr>
          <p:cNvPr id="18" name="t-3-h"/>
          <p:cNvSpPr txBox="1"/>
          <p:nvPr/>
        </p:nvSpPr>
        <p:spPr>
          <a:xfrm>
            <a:off x="1143000" y="3447288"/>
            <a:ext cx="3657600" cy="274320"/>
          </a:xfrm>
          <a:prstGeom prst="rect">
            <a:avLst/>
          </a:prstGeom>
          <a:noFill/>
          <a:ln/>
        </p:spPr>
        <p:txBody>
          <a:bodyPr wrap="square" lIns="0" tIns="0" rIns="0" bIns="0" rtlCol="0" anchor="t"/>
          <a:lstStyle/>
          <a:p>
            <a:pPr marL="0" indent="0">
              <a:buNone/>
            </a:pPr>
            <a:r>
              <a:rPr lang="en-US" sz="1400" b="1" dirty="0">
                <a:solidFill>
                  <a:srgbClr val="FAFAFA"/>
                </a:solidFill>
              </a:rPr>
              <a:t>Repeat</a:t>
            </a:r>
            <a:endParaRPr lang="en-US" sz="1400" dirty="0"/>
          </a:p>
        </p:txBody>
      </p:sp>
      <p:sp>
        <p:nvSpPr>
          <p:cNvPr id="19" name="t-3-d"/>
          <p:cNvSpPr txBox="1"/>
          <p:nvPr/>
        </p:nvSpPr>
        <p:spPr>
          <a:xfrm>
            <a:off x="1143000" y="3712464"/>
            <a:ext cx="3749040" cy="274320"/>
          </a:xfrm>
          <a:prstGeom prst="rect">
            <a:avLst/>
          </a:prstGeom>
          <a:noFill/>
          <a:ln/>
        </p:spPr>
        <p:txBody>
          <a:bodyPr wrap="square" lIns="0" tIns="0" rIns="0" bIns="0" rtlCol="0" anchor="t"/>
          <a:lstStyle/>
          <a:p>
            <a:pPr marL="0" indent="0">
              <a:buNone/>
            </a:pPr>
            <a:r>
              <a:rPr lang="en-US" sz="1100" dirty="0">
                <a:solidFill>
                  <a:srgbClr val="A1A1AA"/>
                </a:solidFill>
              </a:rPr>
              <a:t>updated after every batch of flights</a:t>
            </a:r>
            <a:endParaRPr lang="en-US" sz="1100" dirty="0"/>
          </a:p>
        </p:txBody>
      </p:sp>
      <p:sp>
        <p:nvSpPr>
          <p:cNvPr id="20" name="freeze"/>
          <p:cNvSpPr/>
          <p:nvPr/>
        </p:nvSpPr>
        <p:spPr>
          <a:xfrm>
            <a:off x="5303520" y="1051560"/>
            <a:ext cx="3383280" cy="137160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sp>
      <p:sp>
        <p:nvSpPr>
          <p:cNvPr id="21" name="freeze-h"/>
          <p:cNvSpPr txBox="1"/>
          <p:nvPr/>
        </p:nvSpPr>
        <p:spPr>
          <a:xfrm>
            <a:off x="5532120" y="1188720"/>
            <a:ext cx="2926080" cy="274320"/>
          </a:xfrm>
          <a:prstGeom prst="rect">
            <a:avLst/>
          </a:prstGeom>
          <a:noFill/>
          <a:ln/>
        </p:spPr>
        <p:txBody>
          <a:bodyPr wrap="square" lIns="0" tIns="0" rIns="0" bIns="0" rtlCol="0" anchor="t"/>
          <a:lstStyle/>
          <a:p>
            <a:pPr marL="0" indent="0">
              <a:buNone/>
            </a:pPr>
            <a:r>
              <a:rPr lang="en-US" sz="1400" b="1" dirty="0">
                <a:solidFill>
                  <a:srgbClr val="FAFAFA"/>
                </a:solidFill>
              </a:rPr>
              <a:t>BANC stays frozen</a:t>
            </a:r>
            <a:endParaRPr lang="en-US" sz="1400" dirty="0"/>
          </a:p>
        </p:txBody>
      </p:sp>
      <p:sp>
        <p:nvSpPr>
          <p:cNvPr id="22" name="freeze-d"/>
          <p:cNvSpPr txBox="1"/>
          <p:nvPr/>
        </p:nvSpPr>
        <p:spPr>
          <a:xfrm>
            <a:off x="5532120" y="1527048"/>
            <a:ext cx="2971800" cy="822960"/>
          </a:xfrm>
          <a:prstGeom prst="rect">
            <a:avLst/>
          </a:prstGeom>
          <a:noFill/>
          <a:ln/>
        </p:spPr>
        <p:txBody>
          <a:bodyPr wrap="square" lIns="0" tIns="0" rIns="0" bIns="0" rtlCol="0" anchor="t"/>
          <a:lstStyle/>
          <a:p>
            <a:pPr marL="0" indent="0">
              <a:buNone/>
            </a:pPr>
            <a:r>
              <a:rPr lang="en-US" sz="1100" dirty="0">
                <a:solidFill>
                  <a:srgbClr val="A1A1AA"/>
                </a:solidFill>
              </a:rPr>
              <a:t>The fly brain itself never changes. We only learn how to read its flight neurons.</a:t>
            </a:r>
            <a:endParaRPr lang="en-US" sz="1100" dirty="0"/>
          </a:p>
        </p:txBody>
      </p:sp>
      <p:sp>
        <p:nvSpPr>
          <p:cNvPr id="23" name="dist"/>
          <p:cNvSpPr/>
          <p:nvPr/>
        </p:nvSpPr>
        <p:spPr>
          <a:xfrm>
            <a:off x="5303520" y="2606040"/>
            <a:ext cx="3383280" cy="150876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24" name="dist-h"/>
          <p:cNvSpPr txBox="1"/>
          <p:nvPr/>
        </p:nvSpPr>
        <p:spPr>
          <a:xfrm>
            <a:off x="5532120" y="2743200"/>
            <a:ext cx="2926080" cy="274320"/>
          </a:xfrm>
          <a:prstGeom prst="rect">
            <a:avLst/>
          </a:prstGeom>
          <a:noFill/>
          <a:ln/>
        </p:spPr>
        <p:txBody>
          <a:bodyPr wrap="square" lIns="0" tIns="0" rIns="0" bIns="0" rtlCol="0" anchor="t"/>
          <a:lstStyle/>
          <a:p>
            <a:pPr marL="0" indent="0">
              <a:buNone/>
            </a:pPr>
            <a:r>
              <a:rPr lang="en-US" sz="1400" b="1" dirty="0">
                <a:solidFill>
                  <a:srgbClr val="FAFAFA"/>
                </a:solidFill>
              </a:rPr>
              <a:t>2 laptops working together</a:t>
            </a:r>
            <a:endParaRPr lang="en-US" sz="1400" dirty="0"/>
          </a:p>
        </p:txBody>
      </p:sp>
      <p:sp>
        <p:nvSpPr>
          <p:cNvPr id="25" name="dist-d"/>
          <p:cNvSpPr txBox="1"/>
          <p:nvPr/>
        </p:nvSpPr>
        <p:spPr>
          <a:xfrm>
            <a:off x="5532120" y="3063240"/>
            <a:ext cx="2971800" cy="960120"/>
          </a:xfrm>
          <a:prstGeom prst="rect">
            <a:avLst/>
          </a:prstGeom>
          <a:noFill/>
          <a:ln/>
        </p:spPr>
        <p:txBody>
          <a:bodyPr wrap="square" lIns="0" tIns="0" rIns="0" bIns="0" rtlCol="0" anchor="t"/>
          <a:lstStyle/>
          <a:p>
            <a:pPr marL="0" indent="0">
              <a:buNone/>
            </a:pPr>
            <a:r>
              <a:rPr lang="en-US" sz="1100" dirty="0">
                <a:solidFill>
                  <a:srgbClr val="A1A1AA"/>
                </a:solidFill>
              </a:rPr>
              <a:t>One computer hands out worlds, two laptop graphics cards fly them in parallel. Every 50 flights we test and keep the best version.</a:t>
            </a:r>
            <a:endParaRPr lang="en-US" sz="1100" dirty="0"/>
          </a:p>
        </p:txBody>
      </p:sp>
      <p:sp>
        <p:nvSpPr>
          <p:cNvPr id="26"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Imitation learning:</a:t>
            </a:r>
            <a:r>
              <a:rPr lang="en-US" sz="900" dirty="0">
                <a:solidFill>
                  <a:srgbClr val="71717A"/>
                </a:solidFill>
              </a:rPr>
              <a:t> the model flies, the teacher says what it should have done</a:t>
            </a:r>
            <a:endParaRPr lang="en-US" sz="900" dirty="0"/>
          </a:p>
        </p:txBody>
      </p:sp>
      <p:sp>
        <p:nvSpPr>
          <p:cNvPr id="27"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STEP 8: THE DRONE AND ITS WORLD</a:t>
            </a:r>
            <a:endParaRPr lang="en-US" sz="1600" dirty="0"/>
          </a:p>
        </p:txBody>
      </p:sp>
      <p:pic>
        <p:nvPicPr>
          <p:cNvPr id="4" name="img-drone" descr="C:\NeuroFly\docs\prezentacja\assets\drone_chase.jpg"/>
          <p:cNvPicPr>
            <a:picLocks noChangeAspect="1"/>
          </p:cNvPicPr>
          <p:nvPr/>
        </p:nvPicPr>
        <p:blipFill>
          <a:blip r:embed="rId3"/>
          <a:stretch>
            <a:fillRect/>
          </a:stretch>
        </p:blipFill>
        <p:spPr>
          <a:xfrm>
            <a:off x="566928" y="1051560"/>
            <a:ext cx="3611880" cy="2706624"/>
          </a:xfrm>
          <a:prstGeom prst="rect">
            <a:avLst/>
          </a:prstGeom>
          <a:effectLst>
            <a:outerShdw blurRad="228600" dist="76200" dir="5400000" algn="bl" rotWithShape="0">
              <a:srgbClr val="000000">
                <a:alpha val="55000"/>
              </a:srgbClr>
            </a:outerShdw>
          </a:effectLst>
        </p:spPr>
      </p:pic>
      <p:pic>
        <p:nvPicPr>
          <p:cNvPr id="5" name="img-world" descr="C:\NeuroFly\docs\prezentacja\assets\world.jpg"/>
          <p:cNvPicPr>
            <a:picLocks noChangeAspect="1"/>
          </p:cNvPicPr>
          <p:nvPr/>
        </p:nvPicPr>
        <p:blipFill>
          <a:blip r:embed="rId4"/>
          <a:stretch>
            <a:fillRect/>
          </a:stretch>
        </p:blipFill>
        <p:spPr>
          <a:xfrm>
            <a:off x="5029200" y="1051560"/>
            <a:ext cx="3611880" cy="2706624"/>
          </a:xfrm>
          <a:prstGeom prst="rect">
            <a:avLst/>
          </a:prstGeom>
          <a:effectLst>
            <a:outerShdw blurRad="228600" dist="76200" dir="5400000" algn="bl" rotWithShape="0">
              <a:srgbClr val="000000">
                <a:alpha val="55000"/>
              </a:srgbClr>
            </a:outerShdw>
          </a:effectLst>
        </p:spPr>
      </p:pic>
      <p:sp>
        <p:nvSpPr>
          <p:cNvPr id="6" name="cap-1"/>
          <p:cNvSpPr txBox="1"/>
          <p:nvPr/>
        </p:nvSpPr>
        <p:spPr>
          <a:xfrm>
            <a:off x="566928" y="3840480"/>
            <a:ext cx="3611880" cy="365760"/>
          </a:xfrm>
          <a:prstGeom prst="rect">
            <a:avLst/>
          </a:prstGeom>
          <a:noFill/>
          <a:ln/>
        </p:spPr>
        <p:txBody>
          <a:bodyPr wrap="square" lIns="0" tIns="0" rIns="0" bIns="0" rtlCol="0" anchor="t"/>
          <a:lstStyle/>
          <a:p>
            <a:pPr marL="0" indent="0">
              <a:buNone/>
            </a:pPr>
            <a:r>
              <a:rPr lang="en-US" sz="1100" dirty="0">
                <a:solidFill>
                  <a:srgbClr val="A1A1AA"/>
                </a:solidFill>
              </a:rPr>
              <a:t>A Skydio X2 drone with two eyes on its nose</a:t>
            </a:r>
            <a:endParaRPr lang="en-US" sz="1100" dirty="0"/>
          </a:p>
        </p:txBody>
      </p:sp>
      <p:sp>
        <p:nvSpPr>
          <p:cNvPr id="7" name="cap-2"/>
          <p:cNvSpPr txBox="1"/>
          <p:nvPr/>
        </p:nvSpPr>
        <p:spPr>
          <a:xfrm>
            <a:off x="5029200" y="3840480"/>
            <a:ext cx="3611880" cy="365760"/>
          </a:xfrm>
          <a:prstGeom prst="rect">
            <a:avLst/>
          </a:prstGeom>
          <a:noFill/>
          <a:ln/>
        </p:spPr>
        <p:txBody>
          <a:bodyPr wrap="square" lIns="0" tIns="0" rIns="0" bIns="0" rtlCol="0" anchor="t"/>
          <a:lstStyle/>
          <a:p>
            <a:pPr marL="0" indent="0">
              <a:buNone/>
            </a:pPr>
            <a:r>
              <a:rPr lang="en-US" sz="1100" dirty="0">
                <a:solidFill>
                  <a:srgbClr val="A1A1AA"/>
                </a:solidFill>
              </a:rPr>
              <a:t>Random worlds with hills, blocks, a target mast and wind</a:t>
            </a:r>
            <a:endParaRPr lang="en-US" sz="1100" dirty="0"/>
          </a:p>
        </p:txBody>
      </p:sp>
      <p:sp>
        <p:nvSpPr>
          <p:cNvPr id="8" name="glossary-0"/>
          <p:cNvSpPr txBox="1"/>
          <p:nvPr/>
        </p:nvSpPr>
        <p:spPr>
          <a:xfrm>
            <a:off x="566928" y="4206240"/>
            <a:ext cx="3423994" cy="411480"/>
          </a:xfrm>
          <a:prstGeom prst="rect">
            <a:avLst/>
          </a:prstGeom>
          <a:noFill/>
          <a:ln/>
        </p:spPr>
        <p:txBody>
          <a:bodyPr wrap="square" lIns="0" tIns="0" rIns="0" bIns="0" rtlCol="0" anchor="t"/>
          <a:lstStyle/>
          <a:p>
            <a:pPr marL="0" indent="0">
              <a:buNone/>
            </a:pPr>
            <a:r>
              <a:rPr lang="en-US" sz="900" b="1" dirty="0">
                <a:solidFill>
                  <a:srgbClr val="A1A1AA"/>
                </a:solidFill>
              </a:rPr>
              <a:t>MuJoCo:</a:t>
            </a:r>
            <a:r>
              <a:rPr lang="en-US" sz="900" dirty="0">
                <a:solidFill>
                  <a:srgbClr val="71717A"/>
                </a:solidFill>
              </a:rPr>
              <a:t> free physics simulator used in robotics</a:t>
            </a:r>
            <a:endParaRPr lang="en-US" sz="900" dirty="0"/>
          </a:p>
        </p:txBody>
      </p:sp>
      <p:sp>
        <p:nvSpPr>
          <p:cNvPr id="9" name="glossary-1"/>
          <p:cNvSpPr txBox="1"/>
          <p:nvPr/>
        </p:nvSpPr>
        <p:spPr>
          <a:xfrm>
            <a:off x="4265242" y="4206240"/>
            <a:ext cx="4394126" cy="411480"/>
          </a:xfrm>
          <a:prstGeom prst="rect">
            <a:avLst/>
          </a:prstGeom>
          <a:noFill/>
          <a:ln/>
        </p:spPr>
        <p:txBody>
          <a:bodyPr wrap="square" lIns="0" tIns="0" rIns="0" bIns="0" rtlCol="0" anchor="t"/>
          <a:lstStyle/>
          <a:p>
            <a:pPr marL="0" indent="0">
              <a:buNone/>
            </a:pPr>
            <a:r>
              <a:rPr lang="en-US" sz="900" b="1" dirty="0">
                <a:solidFill>
                  <a:srgbClr val="A1A1AA"/>
                </a:solidFill>
              </a:rPr>
              <a:t>Episode:</a:t>
            </a:r>
            <a:r>
              <a:rPr lang="en-US" sz="900" dirty="0">
                <a:solidFill>
                  <a:srgbClr val="71717A"/>
                </a:solidFill>
              </a:rPr>
              <a:t> one flight from start until target, crash or time limit</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HOW IT WORKS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WHO STEERS WHAT: GPS FAR, FLY BRAIN NEAR</a:t>
            </a:r>
            <a:endParaRPr lang="en-US" sz="1600" dirty="0"/>
          </a:p>
        </p:txBody>
      </p:sp>
      <p:sp>
        <p:nvSpPr>
          <p:cNvPr id="4" name="bar-gps"/>
          <p:cNvSpPr/>
          <p:nvPr/>
        </p:nvSpPr>
        <p:spPr>
          <a:xfrm>
            <a:off x="566928" y="1188720"/>
            <a:ext cx="5017313" cy="457200"/>
          </a:xfrm>
          <a:prstGeom prst="rect">
            <a:avLst/>
          </a:prstGeom>
          <a:solidFill>
            <a:srgbClr val="4F8CFF">
              <a:alpha val="45000"/>
            </a:srgbClr>
          </a:solidFill>
          <a:ln w="9525">
            <a:solidFill>
              <a:srgbClr val="4F8CFF"/>
            </a:solidFill>
            <a:prstDash val="solid"/>
          </a:ln>
        </p:spPr>
      </p:sp>
      <p:sp>
        <p:nvSpPr>
          <p:cNvPr id="5" name="bar-banc"/>
          <p:cNvSpPr/>
          <p:nvPr/>
        </p:nvSpPr>
        <p:spPr>
          <a:xfrm>
            <a:off x="5584241" y="1188720"/>
            <a:ext cx="3075127" cy="457200"/>
          </a:xfrm>
          <a:prstGeom prst="rect">
            <a:avLst/>
          </a:prstGeom>
          <a:solidFill>
            <a:srgbClr val="FF2D6F">
              <a:alpha val="65000"/>
            </a:srgbClr>
          </a:solidFill>
          <a:ln w="9525">
            <a:solidFill>
              <a:srgbClr val="FF2D6F"/>
            </a:solidFill>
            <a:prstDash val="solid"/>
          </a:ln>
        </p:spPr>
      </p:sp>
      <p:sp>
        <p:nvSpPr>
          <p:cNvPr id="6" name="bar-gps-t"/>
          <p:cNvSpPr txBox="1"/>
          <p:nvPr/>
        </p:nvSpPr>
        <p:spPr>
          <a:xfrm>
            <a:off x="749808" y="1307592"/>
            <a:ext cx="4389120" cy="237744"/>
          </a:xfrm>
          <a:prstGeom prst="rect">
            <a:avLst/>
          </a:prstGeom>
          <a:noFill/>
          <a:ln/>
        </p:spPr>
        <p:txBody>
          <a:bodyPr wrap="square" lIns="0" tIns="0" rIns="0" bIns="0" rtlCol="0" anchor="t"/>
          <a:lstStyle/>
          <a:p>
            <a:pPr marL="0" indent="0">
              <a:buNone/>
            </a:pPr>
            <a:r>
              <a:rPr lang="en-US" sz="1200" dirty="0">
                <a:solidFill>
                  <a:srgbClr val="FAFAFA"/>
                </a:solidFill>
              </a:rPr>
              <a:t>far from the target: heading from GPS + compass</a:t>
            </a:r>
            <a:endParaRPr lang="en-US" sz="1200" dirty="0"/>
          </a:p>
        </p:txBody>
      </p:sp>
      <p:sp>
        <p:nvSpPr>
          <p:cNvPr id="7" name="bar-banc-t"/>
          <p:cNvSpPr txBox="1"/>
          <p:nvPr/>
        </p:nvSpPr>
        <p:spPr>
          <a:xfrm>
            <a:off x="5767121" y="1307592"/>
            <a:ext cx="2926080" cy="237744"/>
          </a:xfrm>
          <a:prstGeom prst="rect">
            <a:avLst/>
          </a:prstGeom>
          <a:noFill/>
          <a:ln/>
        </p:spPr>
        <p:txBody>
          <a:bodyPr wrap="square" lIns="0" tIns="0" rIns="0" bIns="0" rtlCol="0" anchor="t"/>
          <a:lstStyle/>
          <a:p>
            <a:pPr marL="0" indent="0">
              <a:buNone/>
            </a:pPr>
            <a:r>
              <a:rPr lang="en-US" sz="1200" b="1" dirty="0">
                <a:solidFill>
                  <a:srgbClr val="FAFAFA"/>
                </a:solidFill>
              </a:rPr>
              <a:t>last 4 m: heading from BANC</a:t>
            </a:r>
            <a:endParaRPr lang="en-US" sz="1200" dirty="0"/>
          </a:p>
        </p:txBody>
      </p:sp>
      <p:sp>
        <p:nvSpPr>
          <p:cNvPr id="8" name="bar-l"/>
          <p:cNvSpPr txBox="1"/>
          <p:nvPr/>
        </p:nvSpPr>
        <p:spPr>
          <a:xfrm>
            <a:off x="566928" y="1719072"/>
            <a:ext cx="914400" cy="219456"/>
          </a:xfrm>
          <a:prstGeom prst="rect">
            <a:avLst/>
          </a:prstGeom>
          <a:noFill/>
          <a:ln/>
        </p:spPr>
        <p:txBody>
          <a:bodyPr wrap="square" lIns="0" tIns="0" rIns="0" bIns="0" rtlCol="0" anchor="t"/>
          <a:lstStyle/>
          <a:p>
            <a:pPr marL="0" indent="0">
              <a:buNone/>
            </a:pPr>
            <a:r>
              <a:rPr lang="en-US" sz="1000" dirty="0">
                <a:solidFill>
                  <a:srgbClr val="A1A1AA"/>
                </a:solidFill>
              </a:rPr>
              <a:t>drone</a:t>
            </a:r>
            <a:endParaRPr lang="en-US" sz="1000" dirty="0"/>
          </a:p>
        </p:txBody>
      </p:sp>
      <p:sp>
        <p:nvSpPr>
          <p:cNvPr id="9" name="bar-r"/>
          <p:cNvSpPr txBox="1"/>
          <p:nvPr/>
        </p:nvSpPr>
        <p:spPr>
          <a:xfrm>
            <a:off x="7744968" y="1719072"/>
            <a:ext cx="914400" cy="219456"/>
          </a:xfrm>
          <a:prstGeom prst="rect">
            <a:avLst/>
          </a:prstGeom>
          <a:noFill/>
          <a:ln/>
        </p:spPr>
        <p:txBody>
          <a:bodyPr wrap="square" lIns="0" tIns="0" rIns="0" bIns="0" rtlCol="0" anchor="t"/>
          <a:lstStyle/>
          <a:p>
            <a:pPr marL="0" indent="0" algn="r">
              <a:buNone/>
            </a:pPr>
            <a:r>
              <a:rPr lang="en-US" sz="1000" dirty="0">
                <a:solidFill>
                  <a:srgbClr val="A1A1AA"/>
                </a:solidFill>
              </a:rPr>
              <a:t>target</a:t>
            </a:r>
            <a:endParaRPr lang="en-US" sz="1000" dirty="0"/>
          </a:p>
        </p:txBody>
      </p:sp>
      <p:sp>
        <p:nvSpPr>
          <p:cNvPr id="10" name="bar-mid"/>
          <p:cNvSpPr txBox="1"/>
          <p:nvPr/>
        </p:nvSpPr>
        <p:spPr>
          <a:xfrm>
            <a:off x="3389681" y="1719072"/>
            <a:ext cx="4389120" cy="219456"/>
          </a:xfrm>
          <a:prstGeom prst="rect">
            <a:avLst/>
          </a:prstGeom>
          <a:noFill/>
          <a:ln/>
        </p:spPr>
        <p:txBody>
          <a:bodyPr wrap="square" lIns="0" tIns="0" rIns="0" bIns="0" rtlCol="0" anchor="t"/>
          <a:lstStyle/>
          <a:p>
            <a:pPr marL="0" indent="0" algn="ctr">
              <a:buNone/>
            </a:pPr>
            <a:r>
              <a:rPr lang="en-US" sz="1000" dirty="0">
                <a:solidFill>
                  <a:srgbClr val="A1A1AA"/>
                </a:solidFill>
              </a:rPr>
              <a:t>smooth hand-over: up close GPS is not precise enough</a:t>
            </a:r>
            <a:endParaRPr lang="en-US" sz="1000" dirty="0"/>
          </a:p>
        </p:txBody>
      </p:sp>
      <p:sp>
        <p:nvSpPr>
          <p:cNvPr id="11" name="ax-yaw"/>
          <p:cNvSpPr/>
          <p:nvPr/>
        </p:nvSpPr>
        <p:spPr>
          <a:xfrm>
            <a:off x="566928" y="2240280"/>
            <a:ext cx="3931920" cy="178308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sp>
      <p:sp>
        <p:nvSpPr>
          <p:cNvPr id="12" name="ax-ctl"/>
          <p:cNvSpPr/>
          <p:nvPr/>
        </p:nvSpPr>
        <p:spPr>
          <a:xfrm>
            <a:off x="4727448" y="2240280"/>
            <a:ext cx="3931920" cy="17830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3" name="ax-yaw-k"/>
          <p:cNvSpPr txBox="1"/>
          <p:nvPr/>
        </p:nvSpPr>
        <p:spPr>
          <a:xfrm>
            <a:off x="822960" y="2395728"/>
            <a:ext cx="3200400" cy="201168"/>
          </a:xfrm>
          <a:prstGeom prst="rect">
            <a:avLst/>
          </a:prstGeom>
          <a:noFill/>
          <a:ln/>
        </p:spPr>
        <p:txBody>
          <a:bodyPr wrap="square" lIns="0" tIns="0" rIns="0" bIns="0" rtlCol="0" anchor="t"/>
          <a:lstStyle/>
          <a:p>
            <a:pPr marL="0" indent="0">
              <a:buNone/>
            </a:pPr>
            <a:r>
              <a:rPr lang="en-US" sz="800" kern="0" spc="500" dirty="0">
                <a:solidFill>
                  <a:srgbClr val="FF2D6F"/>
                </a:solidFill>
              </a:rPr>
              <a:t>WHERE TO TURN</a:t>
            </a:r>
            <a:endParaRPr lang="en-US" sz="800" dirty="0"/>
          </a:p>
        </p:txBody>
      </p:sp>
      <p:sp>
        <p:nvSpPr>
          <p:cNvPr id="14" name="ax-yaw-h"/>
          <p:cNvSpPr txBox="1"/>
          <p:nvPr/>
        </p:nvSpPr>
        <p:spPr>
          <a:xfrm>
            <a:off x="822960" y="2651760"/>
            <a:ext cx="3383280" cy="365760"/>
          </a:xfrm>
          <a:prstGeom prst="rect">
            <a:avLst/>
          </a:prstGeom>
          <a:noFill/>
          <a:ln/>
        </p:spPr>
        <p:txBody>
          <a:bodyPr wrap="square" lIns="0" tIns="0" rIns="0" bIns="0" rtlCol="0" anchor="t"/>
          <a:lstStyle/>
          <a:p>
            <a:pPr marL="0" indent="0">
              <a:buNone/>
            </a:pPr>
            <a:r>
              <a:rPr lang="en-US" sz="1800" b="1" dirty="0">
                <a:solidFill>
                  <a:srgbClr val="FAFAFA"/>
                </a:solidFill>
              </a:rPr>
              <a:t>BANC only</a:t>
            </a:r>
            <a:endParaRPr lang="en-US" sz="1800" dirty="0"/>
          </a:p>
        </p:txBody>
      </p:sp>
      <p:sp>
        <p:nvSpPr>
          <p:cNvPr id="15" name="ax-yaw-d"/>
          <p:cNvSpPr txBox="1"/>
          <p:nvPr/>
        </p:nvSpPr>
        <p:spPr>
          <a:xfrm>
            <a:off x="822960" y="3090672"/>
            <a:ext cx="3474720" cy="822960"/>
          </a:xfrm>
          <a:prstGeom prst="rect">
            <a:avLst/>
          </a:prstGeom>
          <a:noFill/>
          <a:ln/>
        </p:spPr>
        <p:txBody>
          <a:bodyPr wrap="square" lIns="0" tIns="0" rIns="0" bIns="0" rtlCol="0" anchor="t"/>
          <a:lstStyle/>
          <a:p>
            <a:pPr marL="0" indent="0">
              <a:buNone/>
            </a:pPr>
            <a:r>
              <a:rPr lang="en-US" sz="1200" dirty="0">
                <a:solidFill>
                  <a:srgbClr val="A1A1AA"/>
                </a:solidFill>
              </a:rPr>
              <a:t>Only fly neurons decide the direction. Drone sensors are not allowed to help.</a:t>
            </a:r>
            <a:endParaRPr lang="en-US" sz="1200" dirty="0"/>
          </a:p>
        </p:txBody>
      </p:sp>
      <p:sp>
        <p:nvSpPr>
          <p:cNvPr id="16" name="ax-ctl-k"/>
          <p:cNvSpPr txBox="1"/>
          <p:nvPr/>
        </p:nvSpPr>
        <p:spPr>
          <a:xfrm>
            <a:off x="4983480" y="2395728"/>
            <a:ext cx="3474720" cy="201168"/>
          </a:xfrm>
          <a:prstGeom prst="rect">
            <a:avLst/>
          </a:prstGeom>
          <a:noFill/>
          <a:ln/>
        </p:spPr>
        <p:txBody>
          <a:bodyPr wrap="square" lIns="0" tIns="0" rIns="0" bIns="0" rtlCol="0" anchor="t"/>
          <a:lstStyle/>
          <a:p>
            <a:pPr marL="0" indent="0">
              <a:buNone/>
            </a:pPr>
            <a:r>
              <a:rPr lang="en-US" sz="800" kern="0" spc="500" dirty="0">
                <a:solidFill>
                  <a:srgbClr val="4F8CFF"/>
                </a:solidFill>
              </a:rPr>
              <a:t>STAYING LEVEL AND AT HEIGHT</a:t>
            </a:r>
            <a:endParaRPr lang="en-US" sz="800" dirty="0"/>
          </a:p>
        </p:txBody>
      </p:sp>
      <p:sp>
        <p:nvSpPr>
          <p:cNvPr id="17" name="ax-ctl-h"/>
          <p:cNvSpPr txBox="1"/>
          <p:nvPr/>
        </p:nvSpPr>
        <p:spPr>
          <a:xfrm>
            <a:off x="4983480" y="2651760"/>
            <a:ext cx="3474720" cy="365760"/>
          </a:xfrm>
          <a:prstGeom prst="rect">
            <a:avLst/>
          </a:prstGeom>
          <a:noFill/>
          <a:ln/>
        </p:spPr>
        <p:txBody>
          <a:bodyPr wrap="square" lIns="0" tIns="0" rIns="0" bIns="0" rtlCol="0" anchor="t"/>
          <a:lstStyle/>
          <a:p>
            <a:pPr marL="0" indent="0">
              <a:buNone/>
            </a:pPr>
            <a:r>
              <a:rPr lang="en-US" sz="1800" b="1" dirty="0">
                <a:solidFill>
                  <a:srgbClr val="FAFAFA"/>
                </a:solidFill>
              </a:rPr>
              <a:t>BANC + drone sensors</a:t>
            </a:r>
            <a:endParaRPr lang="en-US" sz="1800" dirty="0"/>
          </a:p>
        </p:txBody>
      </p:sp>
      <p:sp>
        <p:nvSpPr>
          <p:cNvPr id="18" name="ax-ctl-d"/>
          <p:cNvSpPr txBox="1"/>
          <p:nvPr/>
        </p:nvSpPr>
        <p:spPr>
          <a:xfrm>
            <a:off x="4983480" y="3090672"/>
            <a:ext cx="3474720" cy="822960"/>
          </a:xfrm>
          <a:prstGeom prst="rect">
            <a:avLst/>
          </a:prstGeom>
          <a:noFill/>
          <a:ln/>
        </p:spPr>
        <p:txBody>
          <a:bodyPr wrap="square" lIns="0" tIns="0" rIns="0" bIns="0" rtlCol="0" anchor="t"/>
          <a:lstStyle/>
          <a:p>
            <a:pPr marL="0" indent="0">
              <a:buNone/>
            </a:pPr>
            <a:r>
              <a:rPr lang="en-US" sz="1200" dirty="0">
                <a:solidFill>
                  <a:srgbClr val="A1A1AA"/>
                </a:solidFill>
              </a:rPr>
              <a:t>The fly brain never sees the drone's height or speed, so the sensors help here.</a:t>
            </a:r>
            <a:endParaRPr lang="en-US" sz="1200" dirty="0"/>
          </a:p>
        </p:txBody>
      </p:sp>
      <p:sp>
        <p:nvSpPr>
          <p:cNvPr id="19" name="glossary-0"/>
          <p:cNvSpPr txBox="1"/>
          <p:nvPr/>
        </p:nvSpPr>
        <p:spPr>
          <a:xfrm>
            <a:off x="566928" y="4206240"/>
            <a:ext cx="2775180" cy="411480"/>
          </a:xfrm>
          <a:prstGeom prst="rect">
            <a:avLst/>
          </a:prstGeom>
          <a:noFill/>
          <a:ln/>
        </p:spPr>
        <p:txBody>
          <a:bodyPr wrap="square" lIns="0" tIns="0" rIns="0" bIns="0" rtlCol="0" anchor="t"/>
          <a:lstStyle/>
          <a:p>
            <a:pPr marL="0" indent="0">
              <a:buNone/>
            </a:pPr>
            <a:r>
              <a:rPr lang="en-US" sz="900" b="1" dirty="0">
                <a:solidFill>
                  <a:srgbClr val="A1A1AA"/>
                </a:solidFill>
              </a:rPr>
              <a:t>GPS:</a:t>
            </a:r>
            <a:r>
              <a:rPr lang="en-US" sz="900" dirty="0">
                <a:solidFill>
                  <a:srgbClr val="71717A"/>
                </a:solidFill>
              </a:rPr>
              <a:t> satellite position, here with a wandering 2.5 m error</a:t>
            </a:r>
            <a:endParaRPr lang="en-US" sz="900" dirty="0"/>
          </a:p>
        </p:txBody>
      </p:sp>
      <p:sp>
        <p:nvSpPr>
          <p:cNvPr id="20" name="glossary-1"/>
          <p:cNvSpPr txBox="1"/>
          <p:nvPr/>
        </p:nvSpPr>
        <p:spPr>
          <a:xfrm>
            <a:off x="3616428" y="4206240"/>
            <a:ext cx="1993439" cy="411480"/>
          </a:xfrm>
          <a:prstGeom prst="rect">
            <a:avLst/>
          </a:prstGeom>
          <a:noFill/>
          <a:ln/>
        </p:spPr>
        <p:txBody>
          <a:bodyPr wrap="square" lIns="0" tIns="0" rIns="0" bIns="0" rtlCol="0" anchor="t"/>
          <a:lstStyle/>
          <a:p>
            <a:pPr marL="0" indent="0">
              <a:buNone/>
            </a:pPr>
            <a:r>
              <a:rPr lang="en-US" sz="900" b="1" dirty="0">
                <a:solidFill>
                  <a:srgbClr val="A1A1AA"/>
                </a:solidFill>
              </a:rPr>
              <a:t>Heading:</a:t>
            </a:r>
            <a:r>
              <a:rPr lang="en-US" sz="900" dirty="0">
                <a:solidFill>
                  <a:srgbClr val="71717A"/>
                </a:solidFill>
              </a:rPr>
              <a:t> the direction the nose points</a:t>
            </a:r>
            <a:endParaRPr lang="en-US" sz="900" dirty="0"/>
          </a:p>
        </p:txBody>
      </p:sp>
      <p:sp>
        <p:nvSpPr>
          <p:cNvPr id="21" name="glossary-2"/>
          <p:cNvSpPr txBox="1"/>
          <p:nvPr/>
        </p:nvSpPr>
        <p:spPr>
          <a:xfrm>
            <a:off x="5884188" y="4206240"/>
            <a:ext cx="2775180" cy="411480"/>
          </a:xfrm>
          <a:prstGeom prst="rect">
            <a:avLst/>
          </a:prstGeom>
          <a:noFill/>
          <a:ln/>
        </p:spPr>
        <p:txBody>
          <a:bodyPr wrap="square" lIns="0" tIns="0" rIns="0" bIns="0" rtlCol="0" anchor="t"/>
          <a:lstStyle/>
          <a:p>
            <a:pPr marL="0" indent="0">
              <a:buNone/>
            </a:pPr>
            <a:r>
              <a:rPr lang="en-US" sz="900" b="1" dirty="0">
                <a:solidFill>
                  <a:srgbClr val="A1A1AA"/>
                </a:solidFill>
              </a:rPr>
              <a:t>Our choice:</a:t>
            </a:r>
            <a:r>
              <a:rPr lang="en-US" sz="900" dirty="0">
                <a:solidFill>
                  <a:srgbClr val="71717A"/>
                </a:solidFill>
              </a:rPr>
              <a:t> fly brain = where to go, sensors = stay stable</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RESULTS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RESULT 1: TURNING TO THE TARGET</a:t>
            </a:r>
            <a:endParaRPr lang="en-US" sz="1600" dirty="0"/>
          </a:p>
        </p:txBody>
      </p:sp>
      <p:graphicFrame>
        <p:nvGraphicFramePr>
          <p:cNvPr id="4" name="chart-eval"/>
          <p:cNvGraphicFramePr/>
          <p:nvPr/>
        </p:nvGraphicFramePr>
        <p:xfrm>
          <a:off x="457200" y="1005840"/>
          <a:ext cx="53035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5" name="s-err-value"/>
          <p:cNvSpPr txBox="1"/>
          <p:nvPr/>
        </p:nvSpPr>
        <p:spPr>
          <a:xfrm>
            <a:off x="6217920" y="1143000"/>
            <a:ext cx="256032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2.65°</a:t>
            </a:r>
            <a:endParaRPr lang="en-US" sz="3200" dirty="0"/>
          </a:p>
        </p:txBody>
      </p:sp>
      <p:sp>
        <p:nvSpPr>
          <p:cNvPr id="6" name="s-err-label"/>
          <p:cNvSpPr txBox="1"/>
          <p:nvPr/>
        </p:nvSpPr>
        <p:spPr>
          <a:xfrm>
            <a:off x="6217920" y="1709928"/>
            <a:ext cx="2560320" cy="457200"/>
          </a:xfrm>
          <a:prstGeom prst="rect">
            <a:avLst/>
          </a:prstGeom>
          <a:noFill/>
          <a:ln/>
        </p:spPr>
        <p:txBody>
          <a:bodyPr wrap="square" lIns="0" tIns="0" rIns="0" bIns="0" rtlCol="0" anchor="t"/>
          <a:lstStyle/>
          <a:p>
            <a:pPr marL="0" indent="0">
              <a:buNone/>
            </a:pPr>
            <a:r>
              <a:rPr lang="en-US" sz="1200" dirty="0">
                <a:solidFill>
                  <a:srgbClr val="A1A1AA"/>
                </a:solidFill>
              </a:rPr>
              <a:t>average miss after turning, without the teacher (25.1° before training)</a:t>
            </a:r>
            <a:endParaRPr lang="en-US" sz="1200" dirty="0"/>
          </a:p>
        </p:txBody>
      </p:sp>
      <p:sp>
        <p:nvSpPr>
          <p:cNvPr id="7" name="s-ep-value"/>
          <p:cNvSpPr txBox="1"/>
          <p:nvPr/>
        </p:nvSpPr>
        <p:spPr>
          <a:xfrm>
            <a:off x="6217920" y="2423160"/>
            <a:ext cx="256032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1,000</a:t>
            </a:r>
            <a:endParaRPr lang="en-US" sz="3200" dirty="0"/>
          </a:p>
        </p:txBody>
      </p:sp>
      <p:sp>
        <p:nvSpPr>
          <p:cNvPr id="8" name="s-ep-label"/>
          <p:cNvSpPr txBox="1"/>
          <p:nvPr/>
        </p:nvSpPr>
        <p:spPr>
          <a:xfrm>
            <a:off x="6217920" y="2990088"/>
            <a:ext cx="2560320" cy="457200"/>
          </a:xfrm>
          <a:prstGeom prst="rect">
            <a:avLst/>
          </a:prstGeom>
          <a:noFill/>
          <a:ln/>
        </p:spPr>
        <p:txBody>
          <a:bodyPr wrap="square" lIns="0" tIns="0" rIns="0" bIns="0" rtlCol="0" anchor="t"/>
          <a:lstStyle/>
          <a:p>
            <a:pPr marL="0" indent="0">
              <a:buNone/>
            </a:pPr>
            <a:r>
              <a:rPr lang="en-US" sz="1200" dirty="0">
                <a:solidFill>
                  <a:srgbClr val="A1A1AA"/>
                </a:solidFill>
              </a:rPr>
              <a:t>training flights</a:t>
            </a:r>
            <a:endParaRPr lang="en-US" sz="1200" dirty="0"/>
          </a:p>
        </p:txBody>
      </p:sp>
      <p:sp>
        <p:nvSpPr>
          <p:cNvPr id="9" name="s-note"/>
          <p:cNvSpPr txBox="1"/>
          <p:nvPr/>
        </p:nvSpPr>
        <p:spPr>
          <a:xfrm>
            <a:off x="6217920" y="3520440"/>
            <a:ext cx="2560320" cy="548640"/>
          </a:xfrm>
          <a:prstGeom prst="rect">
            <a:avLst/>
          </a:prstGeom>
          <a:noFill/>
          <a:ln/>
        </p:spPr>
        <p:txBody>
          <a:bodyPr wrap="square" lIns="0" tIns="0" rIns="0" bIns="0" rtlCol="0" anchor="t"/>
          <a:lstStyle/>
          <a:p>
            <a:pPr marL="0" indent="0">
              <a:buNone/>
            </a:pPr>
            <a:r>
              <a:rPr lang="en-US" sz="1100" dirty="0">
                <a:solidFill>
                  <a:srgbClr val="A1A1AA"/>
                </a:solidFill>
              </a:rPr>
              <a:t>Hovering drone, target to the side. Only fly neurons choose the turn.</a:t>
            </a:r>
            <a:endParaRPr lang="en-US" sz="1100" dirty="0"/>
          </a:p>
        </p:txBody>
      </p:sp>
      <p:sp>
        <p:nvSpPr>
          <p:cNvPr id="10"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Miss:</a:t>
            </a:r>
            <a:r>
              <a:rPr lang="en-US" sz="900" dirty="0">
                <a:solidFill>
                  <a:srgbClr val="71717A"/>
                </a:solidFill>
              </a:rPr>
              <a:t> angle between the drone's nose and the target; 0° = pointing straight at it</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RESULTS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RESULT 2: HOVER, TURN, GUST</a:t>
            </a:r>
            <a:endParaRPr lang="en-US" sz="1600" dirty="0"/>
          </a:p>
        </p:txBody>
      </p:sp>
      <p:sp>
        <p:nvSpPr>
          <p:cNvPr id="4" name="r-0"/>
          <p:cNvSpPr/>
          <p:nvPr/>
        </p:nvSpPr>
        <p:spPr>
          <a:xfrm>
            <a:off x="502920" y="1051560"/>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r-0-k"/>
          <p:cNvSpPr txBox="1"/>
          <p:nvPr/>
        </p:nvSpPr>
        <p:spPr>
          <a:xfrm>
            <a:off x="713232" y="1243584"/>
            <a:ext cx="1371600" cy="292608"/>
          </a:xfrm>
          <a:prstGeom prst="rect">
            <a:avLst/>
          </a:prstGeom>
          <a:noFill/>
          <a:ln/>
        </p:spPr>
        <p:txBody>
          <a:bodyPr wrap="square" lIns="0" tIns="0" rIns="0" bIns="0" rtlCol="0" anchor="t"/>
          <a:lstStyle/>
          <a:p>
            <a:pPr marL="0" indent="0">
              <a:buNone/>
            </a:pPr>
            <a:r>
              <a:rPr lang="en-US" sz="1300" b="1" dirty="0">
                <a:solidFill>
                  <a:srgbClr val="FAFAFA"/>
                </a:solidFill>
              </a:rPr>
              <a:t>Hover</a:t>
            </a:r>
            <a:endParaRPr lang="en-US" sz="1300" dirty="0"/>
          </a:p>
        </p:txBody>
      </p:sp>
      <p:sp>
        <p:nvSpPr>
          <p:cNvPr id="6" name="r-0-v"/>
          <p:cNvSpPr txBox="1"/>
          <p:nvPr/>
        </p:nvSpPr>
        <p:spPr>
          <a:xfrm>
            <a:off x="2057400" y="1170432"/>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1.7°</a:t>
            </a:r>
            <a:endParaRPr lang="en-US" sz="2200" dirty="0"/>
          </a:p>
        </p:txBody>
      </p:sp>
      <p:sp>
        <p:nvSpPr>
          <p:cNvPr id="7" name="r-0-d"/>
          <p:cNvSpPr txBox="1"/>
          <p:nvPr/>
        </p:nvSpPr>
        <p:spPr>
          <a:xfrm>
            <a:off x="3703320" y="1170432"/>
            <a:ext cx="1737360" cy="457200"/>
          </a:xfrm>
          <a:prstGeom prst="rect">
            <a:avLst/>
          </a:prstGeom>
          <a:noFill/>
          <a:ln/>
        </p:spPr>
        <p:txBody>
          <a:bodyPr wrap="square" lIns="0" tIns="0" rIns="0" bIns="0" rtlCol="0" anchor="t"/>
          <a:lstStyle/>
          <a:p>
            <a:pPr marL="0" indent="0">
              <a:buNone/>
            </a:pPr>
            <a:r>
              <a:rPr lang="en-US" sz="1000" dirty="0">
                <a:solidFill>
                  <a:srgbClr val="A1A1AA"/>
                </a:solidFill>
              </a:rPr>
              <a:t>heading error while hovering</a:t>
            </a:r>
            <a:endParaRPr lang="en-US" sz="1000" dirty="0"/>
          </a:p>
        </p:txBody>
      </p:sp>
      <p:sp>
        <p:nvSpPr>
          <p:cNvPr id="8" name="r-1"/>
          <p:cNvSpPr/>
          <p:nvPr/>
        </p:nvSpPr>
        <p:spPr>
          <a:xfrm>
            <a:off x="502920" y="1819656"/>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9" name="r-1-k"/>
          <p:cNvSpPr txBox="1"/>
          <p:nvPr/>
        </p:nvSpPr>
        <p:spPr>
          <a:xfrm>
            <a:off x="713232" y="2011680"/>
            <a:ext cx="1371600" cy="292608"/>
          </a:xfrm>
          <a:prstGeom prst="rect">
            <a:avLst/>
          </a:prstGeom>
          <a:noFill/>
          <a:ln/>
        </p:spPr>
        <p:txBody>
          <a:bodyPr wrap="square" lIns="0" tIns="0" rIns="0" bIns="0" rtlCol="0" anchor="t"/>
          <a:lstStyle/>
          <a:p>
            <a:pPr marL="0" indent="0">
              <a:buNone/>
            </a:pPr>
            <a:r>
              <a:rPr lang="en-US" sz="1300" b="1" dirty="0">
                <a:solidFill>
                  <a:srgbClr val="FAFAFA"/>
                </a:solidFill>
              </a:rPr>
              <a:t>Target +60°</a:t>
            </a:r>
            <a:endParaRPr lang="en-US" sz="1300" dirty="0"/>
          </a:p>
        </p:txBody>
      </p:sp>
      <p:sp>
        <p:nvSpPr>
          <p:cNvPr id="10" name="r-1-v"/>
          <p:cNvSpPr txBox="1"/>
          <p:nvPr/>
        </p:nvSpPr>
        <p:spPr>
          <a:xfrm>
            <a:off x="2057400" y="1938528"/>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7°</a:t>
            </a:r>
            <a:endParaRPr lang="en-US" sz="2200" dirty="0"/>
          </a:p>
        </p:txBody>
      </p:sp>
      <p:sp>
        <p:nvSpPr>
          <p:cNvPr id="11" name="r-1-d"/>
          <p:cNvSpPr txBox="1"/>
          <p:nvPr/>
        </p:nvSpPr>
        <p:spPr>
          <a:xfrm>
            <a:off x="3703320" y="1938528"/>
            <a:ext cx="1737360" cy="457200"/>
          </a:xfrm>
          <a:prstGeom prst="rect">
            <a:avLst/>
          </a:prstGeom>
          <a:noFill/>
          <a:ln/>
        </p:spPr>
        <p:txBody>
          <a:bodyPr wrap="square" lIns="0" tIns="0" rIns="0" bIns="0" rtlCol="0" anchor="t"/>
          <a:lstStyle/>
          <a:p>
            <a:pPr marL="0" indent="0">
              <a:buNone/>
            </a:pPr>
            <a:r>
              <a:rPr lang="en-US" sz="1000" dirty="0">
                <a:solidFill>
                  <a:srgbClr val="A1A1AA"/>
                </a:solidFill>
              </a:rPr>
              <a:t>error after the turn settles (6 s)</a:t>
            </a:r>
            <a:endParaRPr lang="en-US" sz="1000" dirty="0"/>
          </a:p>
        </p:txBody>
      </p:sp>
      <p:sp>
        <p:nvSpPr>
          <p:cNvPr id="12" name="r-2"/>
          <p:cNvSpPr/>
          <p:nvPr/>
        </p:nvSpPr>
        <p:spPr>
          <a:xfrm>
            <a:off x="502920" y="2587752"/>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3" name="r-2-k"/>
          <p:cNvSpPr txBox="1"/>
          <p:nvPr/>
        </p:nvSpPr>
        <p:spPr>
          <a:xfrm>
            <a:off x="713232" y="2779776"/>
            <a:ext cx="1371600" cy="292608"/>
          </a:xfrm>
          <a:prstGeom prst="rect">
            <a:avLst/>
          </a:prstGeom>
          <a:noFill/>
          <a:ln/>
        </p:spPr>
        <p:txBody>
          <a:bodyPr wrap="square" lIns="0" tIns="0" rIns="0" bIns="0" rtlCol="0" anchor="t"/>
          <a:lstStyle/>
          <a:p>
            <a:pPr marL="0" indent="0">
              <a:buNone/>
            </a:pPr>
            <a:r>
              <a:rPr lang="en-US" sz="1300" b="1" dirty="0">
                <a:solidFill>
                  <a:srgbClr val="FAFAFA"/>
                </a:solidFill>
              </a:rPr>
              <a:t>Target −60°</a:t>
            </a:r>
            <a:endParaRPr lang="en-US" sz="1300" dirty="0"/>
          </a:p>
        </p:txBody>
      </p:sp>
      <p:sp>
        <p:nvSpPr>
          <p:cNvPr id="14" name="r-2-v"/>
          <p:cNvSpPr txBox="1"/>
          <p:nvPr/>
        </p:nvSpPr>
        <p:spPr>
          <a:xfrm>
            <a:off x="2057400" y="2706624"/>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21°</a:t>
            </a:r>
            <a:endParaRPr lang="en-US" sz="2200" dirty="0"/>
          </a:p>
        </p:txBody>
      </p:sp>
      <p:sp>
        <p:nvSpPr>
          <p:cNvPr id="15" name="r-2-d"/>
          <p:cNvSpPr txBox="1"/>
          <p:nvPr/>
        </p:nvSpPr>
        <p:spPr>
          <a:xfrm>
            <a:off x="3703320" y="2706624"/>
            <a:ext cx="1737360" cy="457200"/>
          </a:xfrm>
          <a:prstGeom prst="rect">
            <a:avLst/>
          </a:prstGeom>
          <a:noFill/>
          <a:ln/>
        </p:spPr>
        <p:txBody>
          <a:bodyPr wrap="square" lIns="0" tIns="0" rIns="0" bIns="0" rtlCol="0" anchor="t"/>
          <a:lstStyle/>
          <a:p>
            <a:pPr marL="0" indent="0">
              <a:buNone/>
            </a:pPr>
            <a:r>
              <a:rPr lang="en-US" sz="1000" dirty="0">
                <a:solidFill>
                  <a:srgbClr val="A1A1AA"/>
                </a:solidFill>
              </a:rPr>
              <a:t>turns, weaker on the left (the left-eye gap)</a:t>
            </a:r>
            <a:endParaRPr lang="en-US" sz="1000" dirty="0"/>
          </a:p>
        </p:txBody>
      </p:sp>
      <p:sp>
        <p:nvSpPr>
          <p:cNvPr id="16" name="r-3"/>
          <p:cNvSpPr/>
          <p:nvPr/>
        </p:nvSpPr>
        <p:spPr>
          <a:xfrm>
            <a:off x="502920" y="3355848"/>
            <a:ext cx="5029200" cy="658368"/>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7" name="r-3-k"/>
          <p:cNvSpPr txBox="1"/>
          <p:nvPr/>
        </p:nvSpPr>
        <p:spPr>
          <a:xfrm>
            <a:off x="713232" y="3547872"/>
            <a:ext cx="1371600" cy="292608"/>
          </a:xfrm>
          <a:prstGeom prst="rect">
            <a:avLst/>
          </a:prstGeom>
          <a:noFill/>
          <a:ln/>
        </p:spPr>
        <p:txBody>
          <a:bodyPr wrap="square" lIns="0" tIns="0" rIns="0" bIns="0" rtlCol="0" anchor="t"/>
          <a:lstStyle/>
          <a:p>
            <a:pPr marL="0" indent="0">
              <a:buNone/>
            </a:pPr>
            <a:r>
              <a:rPr lang="en-US" sz="1300" b="1" dirty="0">
                <a:solidFill>
                  <a:srgbClr val="FAFAFA"/>
                </a:solidFill>
              </a:rPr>
              <a:t>Gust</a:t>
            </a:r>
            <a:endParaRPr lang="en-US" sz="1300" dirty="0"/>
          </a:p>
        </p:txBody>
      </p:sp>
      <p:sp>
        <p:nvSpPr>
          <p:cNvPr id="18" name="r-3-v"/>
          <p:cNvSpPr txBox="1"/>
          <p:nvPr/>
        </p:nvSpPr>
        <p:spPr>
          <a:xfrm>
            <a:off x="2057400" y="3474720"/>
            <a:ext cx="1600200" cy="411480"/>
          </a:xfrm>
          <a:prstGeom prst="rect">
            <a:avLst/>
          </a:prstGeom>
          <a:noFill/>
          <a:ln/>
        </p:spPr>
        <p:txBody>
          <a:bodyPr wrap="square" lIns="0" tIns="0" rIns="0" bIns="0" rtlCol="0" anchor="t"/>
          <a:lstStyle/>
          <a:p>
            <a:pPr marL="0" indent="0">
              <a:buNone/>
            </a:pPr>
            <a:r>
              <a:rPr lang="en-US" sz="2200" dirty="0">
                <a:solidFill>
                  <a:srgbClr val="FF2D6F"/>
                </a:solidFill>
                <a:latin typeface="Roboto Light" pitchFamily="34" charset="0"/>
                <a:ea typeface="Roboto Light" pitchFamily="34" charset="-122"/>
                <a:cs typeface="Roboto Light" pitchFamily="34" charset="-120"/>
              </a:rPr>
              <a:t>35° to 1.5°</a:t>
            </a:r>
            <a:endParaRPr lang="en-US" sz="2200" dirty="0"/>
          </a:p>
        </p:txBody>
      </p:sp>
      <p:sp>
        <p:nvSpPr>
          <p:cNvPr id="19" name="r-3-d"/>
          <p:cNvSpPr txBox="1"/>
          <p:nvPr/>
        </p:nvSpPr>
        <p:spPr>
          <a:xfrm>
            <a:off x="3703320" y="3474720"/>
            <a:ext cx="1737360" cy="457200"/>
          </a:xfrm>
          <a:prstGeom prst="rect">
            <a:avLst/>
          </a:prstGeom>
          <a:noFill/>
          <a:ln/>
        </p:spPr>
        <p:txBody>
          <a:bodyPr wrap="square" lIns="0" tIns="0" rIns="0" bIns="0" rtlCol="0" anchor="t"/>
          <a:lstStyle/>
          <a:p>
            <a:pPr marL="0" indent="0">
              <a:buNone/>
            </a:pPr>
            <a:r>
              <a:rPr lang="en-US" sz="1000" dirty="0">
                <a:solidFill>
                  <a:srgbClr val="A1A1AA"/>
                </a:solidFill>
              </a:rPr>
              <a:t>pushed off course, back on course in 3.9 s</a:t>
            </a:r>
            <a:endParaRPr lang="en-US" sz="1000" dirty="0"/>
          </a:p>
        </p:txBody>
      </p:sp>
      <p:pic>
        <p:nvPicPr>
          <p:cNvPr id="20" name="img-drone" descr="C:\NeuroFly\docs\prezentacja\assets\drone_chase.jpg"/>
          <p:cNvPicPr>
            <a:picLocks noChangeAspect="1"/>
          </p:cNvPicPr>
          <p:nvPr/>
        </p:nvPicPr>
        <p:blipFill>
          <a:blip r:embed="rId3"/>
          <a:stretch>
            <a:fillRect/>
          </a:stretch>
        </p:blipFill>
        <p:spPr>
          <a:xfrm>
            <a:off x="5806440" y="1051560"/>
            <a:ext cx="2880360" cy="2157984"/>
          </a:xfrm>
          <a:prstGeom prst="rect">
            <a:avLst/>
          </a:prstGeom>
          <a:effectLst>
            <a:outerShdw blurRad="228600" dist="76200" dir="5400000" algn="bl" rotWithShape="0">
              <a:srgbClr val="000000">
                <a:alpha val="55000"/>
              </a:srgbClr>
            </a:outerShdw>
          </a:effectLst>
        </p:spPr>
      </p:pic>
      <p:sp>
        <p:nvSpPr>
          <p:cNvPr id="21" name="r-cap"/>
          <p:cNvSpPr txBox="1"/>
          <p:nvPr/>
        </p:nvSpPr>
        <p:spPr>
          <a:xfrm>
            <a:off x="5806440" y="3337560"/>
            <a:ext cx="2880360" cy="731520"/>
          </a:xfrm>
          <a:prstGeom prst="rect">
            <a:avLst/>
          </a:prstGeom>
          <a:noFill/>
          <a:ln/>
        </p:spPr>
        <p:txBody>
          <a:bodyPr wrap="square" lIns="0" tIns="0" rIns="0" bIns="0" rtlCol="0" anchor="t"/>
          <a:lstStyle/>
          <a:p>
            <a:pPr marL="0" indent="0">
              <a:buNone/>
            </a:pPr>
            <a:r>
              <a:rPr lang="en-US" sz="1000" dirty="0">
                <a:solidFill>
                  <a:srgbClr val="A1A1AA"/>
                </a:solidFill>
              </a:rPr>
              <a:t>Real fly vision and the full fly brain, flying the simulated drone.</a:t>
            </a:r>
            <a:endParaRPr lang="en-US" sz="1000" dirty="0"/>
          </a:p>
        </p:txBody>
      </p:sp>
      <p:sp>
        <p:nvSpPr>
          <p:cNvPr id="22" name="glossary-0"/>
          <p:cNvSpPr txBox="1"/>
          <p:nvPr/>
        </p:nvSpPr>
        <p:spPr>
          <a:xfrm>
            <a:off x="566928" y="4206240"/>
            <a:ext cx="3163529" cy="411480"/>
          </a:xfrm>
          <a:prstGeom prst="rect">
            <a:avLst/>
          </a:prstGeom>
          <a:noFill/>
          <a:ln/>
        </p:spPr>
        <p:txBody>
          <a:bodyPr wrap="square" lIns="0" tIns="0" rIns="0" bIns="0" rtlCol="0" anchor="t"/>
          <a:lstStyle/>
          <a:p>
            <a:pPr marL="0" indent="0">
              <a:buNone/>
            </a:pPr>
            <a:r>
              <a:rPr lang="en-US" sz="900" b="1" dirty="0">
                <a:solidFill>
                  <a:srgbClr val="A1A1AA"/>
                </a:solidFill>
              </a:rPr>
              <a:t>Heading error:</a:t>
            </a:r>
            <a:r>
              <a:rPr lang="en-US" sz="900" dirty="0">
                <a:solidFill>
                  <a:srgbClr val="71717A"/>
                </a:solidFill>
              </a:rPr>
              <a:t> angle between the nose and the target</a:t>
            </a:r>
            <a:endParaRPr lang="en-US" sz="900" dirty="0"/>
          </a:p>
        </p:txBody>
      </p:sp>
      <p:sp>
        <p:nvSpPr>
          <p:cNvPr id="23" name="glossary-1"/>
          <p:cNvSpPr txBox="1"/>
          <p:nvPr/>
        </p:nvSpPr>
        <p:spPr>
          <a:xfrm>
            <a:off x="4004777" y="4206240"/>
            <a:ext cx="2287475" cy="411480"/>
          </a:xfrm>
          <a:prstGeom prst="rect">
            <a:avLst/>
          </a:prstGeom>
          <a:noFill/>
          <a:ln/>
        </p:spPr>
        <p:txBody>
          <a:bodyPr wrap="square" lIns="0" tIns="0" rIns="0" bIns="0" rtlCol="0" anchor="t"/>
          <a:lstStyle/>
          <a:p>
            <a:pPr marL="0" indent="0">
              <a:buNone/>
            </a:pPr>
            <a:r>
              <a:rPr lang="en-US" sz="900" b="1" dirty="0">
                <a:solidFill>
                  <a:srgbClr val="A1A1AA"/>
                </a:solidFill>
              </a:rPr>
              <a:t>Gust:</a:t>
            </a:r>
            <a:r>
              <a:rPr lang="en-US" sz="900" dirty="0">
                <a:solidFill>
                  <a:srgbClr val="71717A"/>
                </a:solidFill>
              </a:rPr>
              <a:t> a simulated sudden wind push</a:t>
            </a:r>
            <a:endParaRPr lang="en-US" sz="900" dirty="0"/>
          </a:p>
        </p:txBody>
      </p:sp>
      <p:sp>
        <p:nvSpPr>
          <p:cNvPr id="24" name="glossary-2"/>
          <p:cNvSpPr txBox="1"/>
          <p:nvPr/>
        </p:nvSpPr>
        <p:spPr>
          <a:xfrm>
            <a:off x="6566572" y="4206240"/>
            <a:ext cx="2092796" cy="411480"/>
          </a:xfrm>
          <a:prstGeom prst="rect">
            <a:avLst/>
          </a:prstGeom>
          <a:noFill/>
          <a:ln/>
        </p:spPr>
        <p:txBody>
          <a:bodyPr wrap="square" lIns="0" tIns="0" rIns="0" bIns="0" rtlCol="0" anchor="t"/>
          <a:lstStyle/>
          <a:p>
            <a:pPr marL="0" indent="0">
              <a:buNone/>
            </a:pPr>
            <a:r>
              <a:rPr lang="en-US" sz="900" b="1" dirty="0">
                <a:solidFill>
                  <a:srgbClr val="A1A1AA"/>
                </a:solidFill>
              </a:rPr>
              <a:t>Heading:</a:t>
            </a:r>
            <a:r>
              <a:rPr lang="en-US" sz="900" dirty="0">
                <a:solidFill>
                  <a:srgbClr val="71717A"/>
                </a:solidFill>
              </a:rPr>
              <a:t> where the nose points</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RESULTS</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RESULT 3: FLIGHT IN NEW WORLDS</a:t>
            </a:r>
            <a:endParaRPr lang="en-US" sz="1600" dirty="0"/>
          </a:p>
        </p:txBody>
      </p:sp>
      <p:graphicFrame>
        <p:nvGraphicFramePr>
          <p:cNvPr id="4" name="chart-world"/>
          <p:cNvGraphicFramePr/>
          <p:nvPr/>
        </p:nvGraphicFramePr>
        <p:xfrm>
          <a:off x="457200" y="1005840"/>
          <a:ext cx="512064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5" name="world-axis"/>
          <p:cNvSpPr txBox="1"/>
          <p:nvPr/>
        </p:nvSpPr>
        <p:spPr>
          <a:xfrm>
            <a:off x="640080" y="3749040"/>
            <a:ext cx="4937760" cy="237744"/>
          </a:xfrm>
          <a:prstGeom prst="rect">
            <a:avLst/>
          </a:prstGeom>
          <a:noFill/>
          <a:ln/>
        </p:spPr>
        <p:txBody>
          <a:bodyPr wrap="square" lIns="0" tIns="0" rIns="0" bIns="0" rtlCol="0" anchor="t"/>
          <a:lstStyle/>
          <a:p>
            <a:pPr marL="0" indent="0">
              <a:buNone/>
            </a:pPr>
            <a:r>
              <a:rPr lang="en-US" sz="1000" dirty="0">
                <a:solidFill>
                  <a:srgbClr val="A1A1AA"/>
                </a:solidFill>
              </a:rPr>
              <a:t>training flights done before each test; red: best weights, kept</a:t>
            </a:r>
            <a:endParaRPr lang="en-US" sz="1000" dirty="0"/>
          </a:p>
        </p:txBody>
      </p:sp>
      <p:sp>
        <p:nvSpPr>
          <p:cNvPr id="6" name="s-best-value"/>
          <p:cNvSpPr txBox="1"/>
          <p:nvPr/>
        </p:nvSpPr>
        <p:spPr>
          <a:xfrm>
            <a:off x="6035040" y="1097280"/>
            <a:ext cx="274320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5 / 6</a:t>
            </a:r>
            <a:endParaRPr lang="en-US" sz="3200" dirty="0"/>
          </a:p>
        </p:txBody>
      </p:sp>
      <p:sp>
        <p:nvSpPr>
          <p:cNvPr id="7" name="s-best-label"/>
          <p:cNvSpPr txBox="1"/>
          <p:nvPr/>
        </p:nvSpPr>
        <p:spPr>
          <a:xfrm>
            <a:off x="6035040" y="1664208"/>
            <a:ext cx="2743200" cy="457200"/>
          </a:xfrm>
          <a:prstGeom prst="rect">
            <a:avLst/>
          </a:prstGeom>
          <a:noFill/>
          <a:ln/>
        </p:spPr>
        <p:txBody>
          <a:bodyPr wrap="square" lIns="0" tIns="0" rIns="0" bIns="0" rtlCol="0" anchor="t"/>
          <a:lstStyle/>
          <a:p>
            <a:pPr marL="0" indent="0">
              <a:buNone/>
            </a:pPr>
            <a:r>
              <a:rPr lang="en-US" sz="1200" dirty="0">
                <a:solidFill>
                  <a:srgbClr val="A1A1AA"/>
                </a:solidFill>
              </a:rPr>
              <a:t>new worlds where the drone reached the target</a:t>
            </a:r>
            <a:endParaRPr lang="en-US" sz="1200" dirty="0"/>
          </a:p>
        </p:txBody>
      </p:sp>
      <p:sp>
        <p:nvSpPr>
          <p:cNvPr id="8" name="s-dist-value"/>
          <p:cNvSpPr txBox="1"/>
          <p:nvPr/>
        </p:nvSpPr>
        <p:spPr>
          <a:xfrm>
            <a:off x="6035040" y="2240280"/>
            <a:ext cx="2743200" cy="548640"/>
          </a:xfrm>
          <a:prstGeom prst="rect">
            <a:avLst/>
          </a:prstGeom>
          <a:noFill/>
          <a:ln/>
        </p:spPr>
        <p:txBody>
          <a:bodyPr wrap="square" lIns="0" tIns="0" rIns="0" bIns="0" rtlCol="0" anchor="t"/>
          <a:lstStyle/>
          <a:p>
            <a:pPr marL="0" indent="0">
              <a:buNone/>
            </a:pPr>
            <a:r>
              <a:rPr lang="en-US" sz="2600" dirty="0">
                <a:solidFill>
                  <a:srgbClr val="FAFAFA"/>
                </a:solidFill>
                <a:latin typeface="Roboto Light" pitchFamily="34" charset="0"/>
                <a:ea typeface="Roboto Light" pitchFamily="34" charset="-122"/>
                <a:cs typeface="Roboto Light" pitchFamily="34" charset="-120"/>
              </a:rPr>
              <a:t>18.2 m to 2.1 m</a:t>
            </a:r>
            <a:endParaRPr lang="en-US" sz="2600" dirty="0"/>
          </a:p>
        </p:txBody>
      </p:sp>
      <p:sp>
        <p:nvSpPr>
          <p:cNvPr id="9" name="s-dist-label"/>
          <p:cNvSpPr txBox="1"/>
          <p:nvPr/>
        </p:nvSpPr>
        <p:spPr>
          <a:xfrm>
            <a:off x="6035040" y="2807208"/>
            <a:ext cx="2743200" cy="457200"/>
          </a:xfrm>
          <a:prstGeom prst="rect">
            <a:avLst/>
          </a:prstGeom>
          <a:noFill/>
          <a:ln/>
        </p:spPr>
        <p:txBody>
          <a:bodyPr wrap="square" lIns="0" tIns="0" rIns="0" bIns="0" rtlCol="0" anchor="t"/>
          <a:lstStyle/>
          <a:p>
            <a:pPr marL="0" indent="0">
              <a:buNone/>
            </a:pPr>
            <a:r>
              <a:rPr lang="en-US" sz="1200" dirty="0">
                <a:solidFill>
                  <a:srgbClr val="A1A1AA"/>
                </a:solidFill>
              </a:rPr>
              <a:t>closest the drone got to the target, before vs after training</a:t>
            </a:r>
            <a:endParaRPr lang="en-US" sz="1200" dirty="0"/>
          </a:p>
        </p:txBody>
      </p:sp>
      <p:sp>
        <p:nvSpPr>
          <p:cNvPr id="10" name="world-note"/>
          <p:cNvSpPr txBox="1"/>
          <p:nvPr/>
        </p:nvSpPr>
        <p:spPr>
          <a:xfrm>
            <a:off x="6035040" y="3383280"/>
            <a:ext cx="2743200" cy="548640"/>
          </a:xfrm>
          <a:prstGeom prst="rect">
            <a:avLst/>
          </a:prstGeom>
          <a:noFill/>
          <a:ln/>
        </p:spPr>
        <p:txBody>
          <a:bodyPr wrap="square" lIns="0" tIns="0" rIns="0" bIns="0" rtlCol="0" anchor="t"/>
          <a:lstStyle/>
          <a:p>
            <a:pPr marL="0" indent="0">
              <a:buNone/>
            </a:pPr>
            <a:r>
              <a:rPr lang="en-US" sz="1100" dirty="0">
                <a:solidFill>
                  <a:srgbClr val="A1A1AA"/>
                </a:solidFill>
              </a:rPr>
              <a:t>Start about 20 m away, 40 s to get there, imperfect sensors.</a:t>
            </a:r>
            <a:endParaRPr lang="en-US" sz="1100" dirty="0"/>
          </a:p>
        </p:txBody>
      </p:sp>
      <p:sp>
        <p:nvSpPr>
          <p:cNvPr id="11" name="glossary-0"/>
          <p:cNvSpPr txBox="1"/>
          <p:nvPr/>
        </p:nvSpPr>
        <p:spPr>
          <a:xfrm>
            <a:off x="566928" y="4206240"/>
            <a:ext cx="3233420" cy="411480"/>
          </a:xfrm>
          <a:prstGeom prst="rect">
            <a:avLst/>
          </a:prstGeom>
          <a:noFill/>
          <a:ln/>
        </p:spPr>
        <p:txBody>
          <a:bodyPr wrap="square" lIns="0" tIns="0" rIns="0" bIns="0" rtlCol="0" anchor="t"/>
          <a:lstStyle/>
          <a:p>
            <a:pPr marL="0" indent="0">
              <a:buNone/>
            </a:pPr>
            <a:r>
              <a:rPr lang="en-US" sz="900" b="1" dirty="0">
                <a:solidFill>
                  <a:srgbClr val="A1A1AA"/>
                </a:solidFill>
              </a:rPr>
              <a:t>Test worlds:</a:t>
            </a:r>
            <a:r>
              <a:rPr lang="en-US" sz="900" dirty="0">
                <a:solidFill>
                  <a:srgbClr val="71717A"/>
                </a:solidFill>
              </a:rPr>
              <a:t> 6 fixed worlds the model never trained on</a:t>
            </a:r>
            <a:endParaRPr lang="en-US" sz="900" dirty="0"/>
          </a:p>
        </p:txBody>
      </p:sp>
      <p:sp>
        <p:nvSpPr>
          <p:cNvPr id="12" name="glossary-1"/>
          <p:cNvSpPr txBox="1"/>
          <p:nvPr/>
        </p:nvSpPr>
        <p:spPr>
          <a:xfrm>
            <a:off x="4074668" y="4206240"/>
            <a:ext cx="4584700" cy="411480"/>
          </a:xfrm>
          <a:prstGeom prst="rect">
            <a:avLst/>
          </a:prstGeom>
          <a:noFill/>
          <a:ln/>
        </p:spPr>
        <p:txBody>
          <a:bodyPr wrap="square" lIns="0" tIns="0" rIns="0" bIns="0" rtlCol="0" anchor="t"/>
          <a:lstStyle/>
          <a:p>
            <a:pPr marL="0" indent="0">
              <a:buNone/>
            </a:pPr>
            <a:r>
              <a:rPr lang="en-US" sz="900" b="1" dirty="0">
                <a:solidFill>
                  <a:srgbClr val="A1A1AA"/>
                </a:solidFill>
              </a:rPr>
              <a:t>Closest distance:</a:t>
            </a:r>
            <a:r>
              <a:rPr lang="en-US" sz="900" dirty="0">
                <a:solidFill>
                  <a:srgbClr val="71717A"/>
                </a:solidFill>
              </a:rPr>
              <a:t> how near the drone got to the target, averaged over the 6 worlds</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HONESTY</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WHAT DOES NOT WORK YET</a:t>
            </a:r>
            <a:endParaRPr lang="en-US" sz="1600" dirty="0"/>
          </a:p>
        </p:txBody>
      </p:sp>
      <p:sp>
        <p:nvSpPr>
          <p:cNvPr id="4" name="lim-0-h"/>
          <p:cNvSpPr txBox="1"/>
          <p:nvPr/>
        </p:nvSpPr>
        <p:spPr>
          <a:xfrm>
            <a:off x="566928" y="1097280"/>
            <a:ext cx="2468880" cy="274320"/>
          </a:xfrm>
          <a:prstGeom prst="rect">
            <a:avLst/>
          </a:prstGeom>
          <a:noFill/>
          <a:ln/>
        </p:spPr>
        <p:txBody>
          <a:bodyPr wrap="square" lIns="0" tIns="0" rIns="0" bIns="0" rtlCol="0" anchor="t"/>
          <a:lstStyle/>
          <a:p>
            <a:pPr marL="0" indent="0">
              <a:buNone/>
            </a:pPr>
            <a:r>
              <a:rPr lang="en-US" sz="1300" b="1" dirty="0">
                <a:solidFill>
                  <a:srgbClr val="FF2D6F"/>
                </a:solidFill>
              </a:rPr>
              <a:t>Lift from the fly brain</a:t>
            </a:r>
            <a:endParaRPr lang="en-US" sz="1300" dirty="0"/>
          </a:p>
        </p:txBody>
      </p:sp>
      <p:sp>
        <p:nvSpPr>
          <p:cNvPr id="5" name="lim-0-d"/>
          <p:cNvSpPr txBox="1"/>
          <p:nvPr/>
        </p:nvSpPr>
        <p:spPr>
          <a:xfrm>
            <a:off x="3108960" y="1097280"/>
            <a:ext cx="5486400" cy="502920"/>
          </a:xfrm>
          <a:prstGeom prst="rect">
            <a:avLst/>
          </a:prstGeom>
          <a:noFill/>
          <a:ln/>
        </p:spPr>
        <p:txBody>
          <a:bodyPr wrap="square" lIns="0" tIns="0" rIns="0" bIns="0" rtlCol="0" anchor="t"/>
          <a:lstStyle/>
          <a:p>
            <a:pPr marL="0" indent="0">
              <a:buNone/>
            </a:pPr>
            <a:r>
              <a:rPr lang="en-US" sz="1200" dirty="0">
                <a:solidFill>
                  <a:srgbClr val="A1A1AA"/>
                </a:solidFill>
              </a:rPr>
              <a:t>too weak: the drone slowly sinks, so the simulator holds the height</a:t>
            </a:r>
            <a:endParaRPr lang="en-US" sz="1200" dirty="0"/>
          </a:p>
        </p:txBody>
      </p:sp>
      <p:sp>
        <p:nvSpPr>
          <p:cNvPr id="6" name="lim-1-h"/>
          <p:cNvSpPr txBox="1"/>
          <p:nvPr/>
        </p:nvSpPr>
        <p:spPr>
          <a:xfrm>
            <a:off x="566928" y="1700784"/>
            <a:ext cx="2468880" cy="274320"/>
          </a:xfrm>
          <a:prstGeom prst="rect">
            <a:avLst/>
          </a:prstGeom>
          <a:noFill/>
          <a:ln/>
        </p:spPr>
        <p:txBody>
          <a:bodyPr wrap="square" lIns="0" tIns="0" rIns="0" bIns="0" rtlCol="0" anchor="t"/>
          <a:lstStyle/>
          <a:p>
            <a:pPr marL="0" indent="0">
              <a:buNone/>
            </a:pPr>
            <a:r>
              <a:rPr lang="en-US" sz="1300" b="1" dirty="0">
                <a:solidFill>
                  <a:srgbClr val="FF2D6F"/>
                </a:solidFill>
              </a:rPr>
              <a:t>Averaged muscle neurons</a:t>
            </a:r>
            <a:endParaRPr lang="en-US" sz="1300" dirty="0"/>
          </a:p>
        </p:txBody>
      </p:sp>
      <p:sp>
        <p:nvSpPr>
          <p:cNvPr id="7" name="lim-1-d"/>
          <p:cNvSpPr txBox="1"/>
          <p:nvPr/>
        </p:nvSpPr>
        <p:spPr>
          <a:xfrm>
            <a:off x="3108960" y="1700784"/>
            <a:ext cx="5486400" cy="502920"/>
          </a:xfrm>
          <a:prstGeom prst="rect">
            <a:avLst/>
          </a:prstGeom>
          <a:noFill/>
          <a:ln/>
        </p:spPr>
        <p:txBody>
          <a:bodyPr wrap="square" lIns="0" tIns="0" rIns="0" bIns="0" rtlCol="0" anchor="t"/>
          <a:lstStyle/>
          <a:p>
            <a:pPr marL="0" indent="0">
              <a:buNone/>
            </a:pPr>
            <a:r>
              <a:rPr lang="en-US" sz="1200" dirty="0">
                <a:solidFill>
                  <a:srgbClr val="A1A1AA"/>
                </a:solidFill>
              </a:rPr>
              <a:t>do not turn the drone; the direction is only in single flight neurons</a:t>
            </a:r>
            <a:endParaRPr lang="en-US" sz="1200" dirty="0"/>
          </a:p>
        </p:txBody>
      </p:sp>
      <p:sp>
        <p:nvSpPr>
          <p:cNvPr id="8" name="lim-2-h"/>
          <p:cNvSpPr txBox="1"/>
          <p:nvPr/>
        </p:nvSpPr>
        <p:spPr>
          <a:xfrm>
            <a:off x="566928" y="2304288"/>
            <a:ext cx="2468880" cy="274320"/>
          </a:xfrm>
          <a:prstGeom prst="rect">
            <a:avLst/>
          </a:prstGeom>
          <a:noFill/>
          <a:ln/>
        </p:spPr>
        <p:txBody>
          <a:bodyPr wrap="square" lIns="0" tIns="0" rIns="0" bIns="0" rtlCol="0" anchor="t"/>
          <a:lstStyle/>
          <a:p>
            <a:pPr marL="0" indent="0">
              <a:buNone/>
            </a:pPr>
            <a:r>
              <a:rPr lang="en-US" sz="1300" b="1" dirty="0">
                <a:solidFill>
                  <a:srgbClr val="FF6A2B"/>
                </a:solidFill>
              </a:rPr>
              <a:t>Vision range</a:t>
            </a:r>
            <a:endParaRPr lang="en-US" sz="1300" dirty="0"/>
          </a:p>
        </p:txBody>
      </p:sp>
      <p:sp>
        <p:nvSpPr>
          <p:cNvPr id="9" name="lim-2-d"/>
          <p:cNvSpPr txBox="1"/>
          <p:nvPr/>
        </p:nvSpPr>
        <p:spPr>
          <a:xfrm>
            <a:off x="3108960" y="2304288"/>
            <a:ext cx="5486400" cy="502920"/>
          </a:xfrm>
          <a:prstGeom prst="rect">
            <a:avLst/>
          </a:prstGeom>
          <a:noFill/>
          <a:ln/>
        </p:spPr>
        <p:txBody>
          <a:bodyPr wrap="square" lIns="0" tIns="0" rIns="0" bIns="0" rtlCol="0" anchor="t"/>
          <a:lstStyle/>
          <a:p>
            <a:pPr marL="0" indent="0">
              <a:buNone/>
            </a:pPr>
            <a:r>
              <a:rPr lang="en-US" sz="1200" dirty="0">
                <a:solidFill>
                  <a:srgbClr val="A1A1AA"/>
                </a:solidFill>
              </a:rPr>
              <a:t>the fly brain steers only the last 4 m; farther away GPS does</a:t>
            </a:r>
            <a:endParaRPr lang="en-US" sz="1200" dirty="0"/>
          </a:p>
        </p:txBody>
      </p:sp>
      <p:sp>
        <p:nvSpPr>
          <p:cNvPr id="10" name="lim-3-h"/>
          <p:cNvSpPr txBox="1"/>
          <p:nvPr/>
        </p:nvSpPr>
        <p:spPr>
          <a:xfrm>
            <a:off x="566928" y="2907792"/>
            <a:ext cx="2468880" cy="274320"/>
          </a:xfrm>
          <a:prstGeom prst="rect">
            <a:avLst/>
          </a:prstGeom>
          <a:noFill/>
          <a:ln/>
        </p:spPr>
        <p:txBody>
          <a:bodyPr wrap="square" lIns="0" tIns="0" rIns="0" bIns="0" rtlCol="0" anchor="t"/>
          <a:lstStyle/>
          <a:p>
            <a:pPr marL="0" indent="0">
              <a:buNone/>
            </a:pPr>
            <a:r>
              <a:rPr lang="en-US" sz="1300" b="1" dirty="0">
                <a:solidFill>
                  <a:srgbClr val="FF6A2B"/>
                </a:solidFill>
              </a:rPr>
              <a:t>Left eye</a:t>
            </a:r>
            <a:endParaRPr lang="en-US" sz="1300" dirty="0"/>
          </a:p>
        </p:txBody>
      </p:sp>
      <p:sp>
        <p:nvSpPr>
          <p:cNvPr id="11" name="lim-3-d"/>
          <p:cNvSpPr txBox="1"/>
          <p:nvPr/>
        </p:nvSpPr>
        <p:spPr>
          <a:xfrm>
            <a:off x="3108960" y="2907792"/>
            <a:ext cx="5486400" cy="502920"/>
          </a:xfrm>
          <a:prstGeom prst="rect">
            <a:avLst/>
          </a:prstGeom>
          <a:noFill/>
          <a:ln/>
        </p:spPr>
        <p:txBody>
          <a:bodyPr wrap="square" lIns="0" tIns="0" rIns="0" bIns="0" rtlCol="0" anchor="t"/>
          <a:lstStyle/>
          <a:p>
            <a:pPr marL="0" indent="0">
              <a:buNone/>
            </a:pPr>
            <a:r>
              <a:rPr lang="en-US" sz="1200" dirty="0">
                <a:solidFill>
                  <a:srgbClr val="A1A1AA"/>
                </a:solidFill>
              </a:rPr>
              <a:t>fewer labelled neurons in the data, so the left eye reaches ~3× fewer</a:t>
            </a:r>
            <a:endParaRPr lang="en-US" sz="1200" dirty="0"/>
          </a:p>
        </p:txBody>
      </p:sp>
      <p:sp>
        <p:nvSpPr>
          <p:cNvPr id="12" name="lim-4-h"/>
          <p:cNvSpPr txBox="1"/>
          <p:nvPr/>
        </p:nvSpPr>
        <p:spPr>
          <a:xfrm>
            <a:off x="566928" y="3511296"/>
            <a:ext cx="2468880" cy="274320"/>
          </a:xfrm>
          <a:prstGeom prst="rect">
            <a:avLst/>
          </a:prstGeom>
          <a:noFill/>
          <a:ln/>
        </p:spPr>
        <p:txBody>
          <a:bodyPr wrap="square" lIns="0" tIns="0" rIns="0" bIns="0" rtlCol="0" anchor="t"/>
          <a:lstStyle/>
          <a:p>
            <a:pPr marL="0" indent="0">
              <a:buNone/>
            </a:pPr>
            <a:r>
              <a:rPr lang="en-US" sz="1300" b="1" dirty="0">
                <a:solidFill>
                  <a:srgbClr val="FF6A2B"/>
                </a:solidFill>
              </a:rPr>
              <a:t>Simulation only</a:t>
            </a:r>
            <a:endParaRPr lang="en-US" sz="1300" dirty="0"/>
          </a:p>
        </p:txBody>
      </p:sp>
      <p:sp>
        <p:nvSpPr>
          <p:cNvPr id="13" name="lim-4-d"/>
          <p:cNvSpPr txBox="1"/>
          <p:nvPr/>
        </p:nvSpPr>
        <p:spPr>
          <a:xfrm>
            <a:off x="3108960" y="3511296"/>
            <a:ext cx="5486400" cy="502920"/>
          </a:xfrm>
          <a:prstGeom prst="rect">
            <a:avLst/>
          </a:prstGeom>
          <a:noFill/>
          <a:ln/>
        </p:spPr>
        <p:txBody>
          <a:bodyPr wrap="square" lIns="0" tIns="0" rIns="0" bIns="0" rtlCol="0" anchor="t"/>
          <a:lstStyle/>
          <a:p>
            <a:pPr marL="0" indent="0">
              <a:buNone/>
            </a:pPr>
            <a:r>
              <a:rPr lang="en-US" sz="1200" dirty="0">
                <a:solidFill>
                  <a:srgbClr val="A1A1AA"/>
                </a:solidFill>
              </a:rPr>
              <a:t>no real drone flown yet; sensors and wind are simulated</a:t>
            </a:r>
            <a:endParaRPr lang="en-US" sz="1200" dirty="0"/>
          </a:p>
        </p:txBody>
      </p:sp>
      <p:sp>
        <p:nvSpPr>
          <p:cNvPr id="14"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Lift:</a:t>
            </a:r>
            <a:r>
              <a:rPr lang="en-US" sz="900" dirty="0">
                <a:solidFill>
                  <a:srgbClr val="71717A"/>
                </a:solidFill>
              </a:rPr>
              <a:t> propeller power that keeps the drone in the air</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HONESTY</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FROM BANC VS. OUR ASSUMPTIONS</a:t>
            </a:r>
            <a:endParaRPr lang="en-US" sz="1600" dirty="0"/>
          </a:p>
        </p:txBody>
      </p:sp>
      <p:sp>
        <p:nvSpPr>
          <p:cNvPr id="4" name="bank"/>
          <p:cNvSpPr/>
          <p:nvPr/>
        </p:nvSpPr>
        <p:spPr>
          <a:xfrm>
            <a:off x="502920" y="1051560"/>
            <a:ext cx="3931920" cy="260604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ours"/>
          <p:cNvSpPr/>
          <p:nvPr/>
        </p:nvSpPr>
        <p:spPr>
          <a:xfrm>
            <a:off x="4709160" y="1051560"/>
            <a:ext cx="3931920" cy="260604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6" name="h-banc-label"/>
          <p:cNvSpPr txBox="1"/>
          <p:nvPr/>
        </p:nvSpPr>
        <p:spPr>
          <a:xfrm>
            <a:off x="777240" y="1234440"/>
            <a:ext cx="2743200" cy="237744"/>
          </a:xfrm>
          <a:prstGeom prst="rect">
            <a:avLst/>
          </a:prstGeom>
          <a:noFill/>
          <a:ln/>
        </p:spPr>
        <p:txBody>
          <a:bodyPr wrap="square" lIns="0" tIns="0" rIns="0" bIns="0" rtlCol="0" anchor="t"/>
          <a:lstStyle/>
          <a:p>
            <a:pPr marL="0" indent="0">
              <a:buNone/>
            </a:pPr>
            <a:r>
              <a:rPr lang="en-US" sz="1100" b="1" dirty="0">
                <a:solidFill>
                  <a:srgbClr val="2FD3C4"/>
                </a:solidFill>
              </a:rPr>
              <a:t>from BANC v888</a:t>
            </a:r>
            <a:endParaRPr lang="en-US" sz="1100" dirty="0"/>
          </a:p>
        </p:txBody>
      </p:sp>
      <p:sp>
        <p:nvSpPr>
          <p:cNvPr id="7" name="h-ours-label"/>
          <p:cNvSpPr txBox="1"/>
          <p:nvPr/>
        </p:nvSpPr>
        <p:spPr>
          <a:xfrm>
            <a:off x="4983480" y="1234440"/>
            <a:ext cx="2743200" cy="237744"/>
          </a:xfrm>
          <a:prstGeom prst="rect">
            <a:avLst/>
          </a:prstGeom>
          <a:noFill/>
          <a:ln/>
        </p:spPr>
        <p:txBody>
          <a:bodyPr wrap="square" lIns="0" tIns="0" rIns="0" bIns="0" rtlCol="0" anchor="t"/>
          <a:lstStyle/>
          <a:p>
            <a:pPr marL="0" indent="0">
              <a:buNone/>
            </a:pPr>
            <a:r>
              <a:rPr lang="en-US" sz="1100" b="1" dirty="0">
                <a:solidFill>
                  <a:srgbClr val="FFB547"/>
                </a:solidFill>
              </a:rPr>
              <a:t>our assumptions</a:t>
            </a:r>
            <a:endParaRPr lang="en-US" sz="1100" dirty="0"/>
          </a:p>
        </p:txBody>
      </p:sp>
      <p:sp>
        <p:nvSpPr>
          <p:cNvPr id="8" name="list-banc"/>
          <p:cNvSpPr txBox="1"/>
          <p:nvPr/>
        </p:nvSpPr>
        <p:spPr>
          <a:xfrm>
            <a:off x="777240" y="1645920"/>
            <a:ext cx="3474720" cy="1920240"/>
          </a:xfrm>
          <a:prstGeom prst="rect">
            <a:avLst/>
          </a:prstGeom>
          <a:noFill/>
          <a:ln/>
        </p:spPr>
        <p:txBody>
          <a:bodyPr wrap="square" lIns="0" tIns="0" rIns="0" bIns="0" rtlCol="0" anchor="t"/>
          <a:lstStyle/>
          <a:p>
            <a:pPr marL="0" indent="0">
              <a:spcAft>
                <a:spcPts val="600"/>
              </a:spcAft>
              <a:buNone/>
            </a:pPr>
            <a:r>
              <a:rPr lang="en-US" sz="1300" dirty="0">
                <a:solidFill>
                  <a:srgbClr val="FAFAFA"/>
                </a:solidFill>
              </a:rPr>
              <a:t>every neuron and every connection</a:t>
            </a:r>
            <a:endParaRPr lang="en-US" sz="1300" dirty="0"/>
          </a:p>
          <a:p>
            <a:pPr marL="0" indent="0">
              <a:spcAft>
                <a:spcPts val="600"/>
              </a:spcAft>
              <a:buNone/>
            </a:pPr>
            <a:r>
              <a:rPr lang="en-US" sz="1300" dirty="0">
                <a:solidFill>
                  <a:srgbClr val="FAFAFA"/>
                </a:solidFill>
              </a:rPr>
              <a:t>how strong each connection is</a:t>
            </a:r>
            <a:endParaRPr lang="en-US" sz="1300" dirty="0"/>
          </a:p>
          <a:p>
            <a:pPr marL="0" indent="0">
              <a:spcAft>
                <a:spcPts val="600"/>
              </a:spcAft>
              <a:buNone/>
            </a:pPr>
            <a:r>
              <a:rPr lang="en-US" sz="1300" dirty="0">
                <a:solidFill>
                  <a:srgbClr val="FAFAFA"/>
                </a:solidFill>
              </a:rPr>
              <a:t>which neurons excite or calm down</a:t>
            </a:r>
            <a:endParaRPr lang="en-US" sz="1300" dirty="0"/>
          </a:p>
          <a:p>
            <a:pPr marL="0" indent="0">
              <a:spcAft>
                <a:spcPts val="600"/>
              </a:spcAft>
              <a:buNone/>
            </a:pPr>
            <a:r>
              <a:rPr lang="en-US" sz="1300" dirty="0">
                <a:solidFill>
                  <a:srgbClr val="FAFAFA"/>
                </a:solidFill>
              </a:rPr>
              <a:t>which neurons are for flight</a:t>
            </a:r>
            <a:endParaRPr lang="en-US" sz="1300" dirty="0"/>
          </a:p>
          <a:p>
            <a:pPr marL="0" indent="0">
              <a:spcAft>
                <a:spcPts val="600"/>
              </a:spcAft>
              <a:buNone/>
            </a:pPr>
            <a:r>
              <a:rPr lang="en-US" sz="1300" dirty="0">
                <a:solidFill>
                  <a:srgbClr val="FAFAFA"/>
                </a:solidFill>
              </a:rPr>
              <a:t>the 3D shape of each neuron</a:t>
            </a:r>
            <a:endParaRPr lang="en-US" sz="1300" dirty="0"/>
          </a:p>
        </p:txBody>
      </p:sp>
      <p:sp>
        <p:nvSpPr>
          <p:cNvPr id="9" name="list-ours"/>
          <p:cNvSpPr txBox="1"/>
          <p:nvPr/>
        </p:nvSpPr>
        <p:spPr>
          <a:xfrm>
            <a:off x="4983480" y="1645920"/>
            <a:ext cx="3474720" cy="1920240"/>
          </a:xfrm>
          <a:prstGeom prst="rect">
            <a:avLst/>
          </a:prstGeom>
          <a:noFill/>
          <a:ln/>
        </p:spPr>
        <p:txBody>
          <a:bodyPr wrap="square" lIns="0" tIns="0" rIns="0" bIns="0" rtlCol="0" anchor="t"/>
          <a:lstStyle/>
          <a:p>
            <a:pPr marL="0" indent="0">
              <a:spcAft>
                <a:spcPts val="600"/>
              </a:spcAft>
              <a:buNone/>
            </a:pPr>
            <a:r>
              <a:rPr lang="en-US" sz="1300" dirty="0">
                <a:solidFill>
                  <a:srgbClr val="FAFAFA"/>
                </a:solidFill>
              </a:rPr>
              <a:t>the equation for neuron activity</a:t>
            </a:r>
            <a:endParaRPr lang="en-US" sz="1300" dirty="0"/>
          </a:p>
          <a:p>
            <a:pPr marL="0" indent="0">
              <a:spcAft>
                <a:spcPts val="600"/>
              </a:spcAft>
              <a:buNone/>
            </a:pPr>
            <a:r>
              <a:rPr lang="en-US" sz="1300" dirty="0">
                <a:solidFill>
                  <a:srgbClr val="FAFAFA"/>
                </a:solidFill>
              </a:rPr>
              <a:t>how vision is plugged into the brain</a:t>
            </a:r>
            <a:endParaRPr lang="en-US" sz="1300" dirty="0"/>
          </a:p>
          <a:p>
            <a:pPr marL="0" indent="0">
              <a:spcAft>
                <a:spcPts val="600"/>
              </a:spcAft>
              <a:buNone/>
            </a:pPr>
            <a:r>
              <a:rPr lang="en-US" sz="1300" dirty="0">
                <a:solidFill>
                  <a:srgbClr val="FAFAFA"/>
                </a:solidFill>
              </a:rPr>
              <a:t>how flight neurons become drone commands</a:t>
            </a:r>
            <a:endParaRPr lang="en-US" sz="1300" dirty="0"/>
          </a:p>
          <a:p>
            <a:pPr marL="0" indent="0">
              <a:spcAft>
                <a:spcPts val="600"/>
              </a:spcAft>
              <a:buNone/>
            </a:pPr>
            <a:r>
              <a:rPr lang="en-US" sz="1300" dirty="0">
                <a:solidFill>
                  <a:srgbClr val="FAFAFA"/>
                </a:solidFill>
              </a:rPr>
              <a:t>the gyroscope feeds only turning</a:t>
            </a:r>
            <a:endParaRPr lang="en-US" sz="1300" dirty="0"/>
          </a:p>
          <a:p>
            <a:pPr marL="0" indent="0">
              <a:spcAft>
                <a:spcPts val="600"/>
              </a:spcAft>
              <a:buNone/>
            </a:pPr>
            <a:r>
              <a:rPr lang="en-US" sz="1300" dirty="0">
                <a:solidFill>
                  <a:srgbClr val="FAFAFA"/>
                </a:solidFill>
              </a:rPr>
              <a:t>GPS far away, fly brain in the last 4 m</a:t>
            </a:r>
            <a:endParaRPr lang="en-US" sz="1300" dirty="0"/>
          </a:p>
        </p:txBody>
      </p:sp>
      <p:sp>
        <p:nvSpPr>
          <p:cNvPr id="10" name="rule"/>
          <p:cNvSpPr txBox="1"/>
          <p:nvPr/>
        </p:nvSpPr>
        <p:spPr>
          <a:xfrm>
            <a:off x="502920" y="3794760"/>
            <a:ext cx="8138160" cy="274320"/>
          </a:xfrm>
          <a:prstGeom prst="rect">
            <a:avLst/>
          </a:prstGeom>
          <a:noFill/>
          <a:ln/>
        </p:spPr>
        <p:txBody>
          <a:bodyPr wrap="square" lIns="0" tIns="0" rIns="0" bIns="0" rtlCol="0" anchor="t"/>
          <a:lstStyle/>
          <a:p>
            <a:pPr marL="0" indent="0">
              <a:buNone/>
            </a:pPr>
            <a:r>
              <a:rPr lang="en-US" sz="1200" dirty="0">
                <a:solidFill>
                  <a:srgbClr val="FF2D6F"/>
                </a:solidFill>
              </a:rPr>
              <a:t>No made-up wiring anywhere: every connection is real BANC data.</a:t>
            </a:r>
            <a:endParaRPr lang="en-US" sz="1200" dirty="0"/>
          </a:p>
        </p:txBody>
      </p:sp>
      <p:sp>
        <p:nvSpPr>
          <p:cNvPr id="11"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BANC:</a:t>
            </a:r>
            <a:r>
              <a:rPr lang="en-US" sz="900" dirty="0">
                <a:solidFill>
                  <a:srgbClr val="71717A"/>
                </a:solidFill>
              </a:rPr>
              <a:t> the public map of a whole fly brain and nerve cord (Bates et al. 2026)</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NEXT</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WHY IT MATTERS: WHO GAINS</a:t>
            </a:r>
            <a:endParaRPr lang="en-US" sz="1600" dirty="0"/>
          </a:p>
        </p:txBody>
      </p:sp>
      <p:sp>
        <p:nvSpPr>
          <p:cNvPr id="4" name="u-0"/>
          <p:cNvSpPr/>
          <p:nvPr/>
        </p:nvSpPr>
        <p:spPr>
          <a:xfrm>
            <a:off x="566928" y="1097280"/>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u-0-h"/>
          <p:cNvSpPr txBox="1"/>
          <p:nvPr/>
        </p:nvSpPr>
        <p:spPr>
          <a:xfrm>
            <a:off x="795528" y="1261872"/>
            <a:ext cx="3520440" cy="310896"/>
          </a:xfrm>
          <a:prstGeom prst="rect">
            <a:avLst/>
          </a:prstGeom>
          <a:noFill/>
          <a:ln/>
        </p:spPr>
        <p:txBody>
          <a:bodyPr wrap="square" lIns="0" tIns="0" rIns="0" bIns="0" rtlCol="0" anchor="t"/>
          <a:lstStyle/>
          <a:p>
            <a:pPr marL="0" indent="0">
              <a:buNone/>
            </a:pPr>
            <a:r>
              <a:rPr lang="en-US" sz="1500" b="1" dirty="0">
                <a:solidFill>
                  <a:srgbClr val="FFB547"/>
                </a:solidFill>
              </a:rPr>
              <a:t>Neuroscientists</a:t>
            </a:r>
            <a:endParaRPr lang="en-US" sz="1500" dirty="0"/>
          </a:p>
        </p:txBody>
      </p:sp>
      <p:sp>
        <p:nvSpPr>
          <p:cNvPr id="6" name="u-0-d"/>
          <p:cNvSpPr txBox="1"/>
          <p:nvPr/>
        </p:nvSpPr>
        <p:spPr>
          <a:xfrm>
            <a:off x="795528" y="1609344"/>
            <a:ext cx="3520440" cy="411480"/>
          </a:xfrm>
          <a:prstGeom prst="rect">
            <a:avLst/>
          </a:prstGeom>
          <a:noFill/>
          <a:ln/>
        </p:spPr>
        <p:txBody>
          <a:bodyPr wrap="square" lIns="0" tIns="0" rIns="0" bIns="0" rtlCol="0" anchor="t"/>
          <a:lstStyle/>
          <a:p>
            <a:pPr marL="0" indent="0">
              <a:buNone/>
            </a:pPr>
            <a:r>
              <a:rPr lang="en-US" sz="1200" dirty="0">
                <a:solidFill>
                  <a:srgbClr val="FAFAFA"/>
                </a:solidFill>
              </a:rPr>
              <a:t>Put real wiring in a body: which neurons matter?</a:t>
            </a:r>
            <a:endParaRPr lang="en-US" sz="1200" dirty="0"/>
          </a:p>
        </p:txBody>
      </p:sp>
      <p:sp>
        <p:nvSpPr>
          <p:cNvPr id="7" name="u-0-e"/>
          <p:cNvSpPr txBox="1"/>
          <p:nvPr/>
        </p:nvSpPr>
        <p:spPr>
          <a:xfrm>
            <a:off x="795528" y="2066544"/>
            <a:ext cx="3520440" cy="256032"/>
          </a:xfrm>
          <a:prstGeom prst="rect">
            <a:avLst/>
          </a:prstGeom>
          <a:noFill/>
          <a:ln/>
        </p:spPr>
        <p:txBody>
          <a:bodyPr wrap="square" lIns="0" tIns="0" rIns="0" bIns="0" rtlCol="0" anchor="t"/>
          <a:lstStyle/>
          <a:p>
            <a:pPr marL="0" indent="0">
              <a:buNone/>
            </a:pPr>
            <a:r>
              <a:rPr lang="en-US" sz="1100" dirty="0">
                <a:solidFill>
                  <a:srgbClr val="A1A1AA"/>
                </a:solidFill>
              </a:rPr>
              <a:t>Found: single flight neurons know where the target is (99%)</a:t>
            </a:r>
            <a:endParaRPr lang="en-US" sz="1100" dirty="0"/>
          </a:p>
        </p:txBody>
      </p:sp>
      <p:sp>
        <p:nvSpPr>
          <p:cNvPr id="8" name="u-1"/>
          <p:cNvSpPr/>
          <p:nvPr/>
        </p:nvSpPr>
        <p:spPr>
          <a:xfrm>
            <a:off x="4681728" y="1097280"/>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9" name="u-1-h"/>
          <p:cNvSpPr txBox="1"/>
          <p:nvPr/>
        </p:nvSpPr>
        <p:spPr>
          <a:xfrm>
            <a:off x="4910328" y="1261872"/>
            <a:ext cx="3520440" cy="310896"/>
          </a:xfrm>
          <a:prstGeom prst="rect">
            <a:avLst/>
          </a:prstGeom>
          <a:noFill/>
          <a:ln/>
        </p:spPr>
        <p:txBody>
          <a:bodyPr wrap="square" lIns="0" tIns="0" rIns="0" bIns="0" rtlCol="0" anchor="t"/>
          <a:lstStyle/>
          <a:p>
            <a:pPr marL="0" indent="0">
              <a:buNone/>
            </a:pPr>
            <a:r>
              <a:rPr lang="en-US" sz="1500" b="1" dirty="0">
                <a:solidFill>
                  <a:srgbClr val="2FD3C4"/>
                </a:solidFill>
              </a:rPr>
              <a:t>Drone &amp; robot builders</a:t>
            </a:r>
            <a:endParaRPr lang="en-US" sz="1500" dirty="0"/>
          </a:p>
        </p:txBody>
      </p:sp>
      <p:sp>
        <p:nvSpPr>
          <p:cNvPr id="10" name="u-1-d"/>
          <p:cNvSpPr txBox="1"/>
          <p:nvPr/>
        </p:nvSpPr>
        <p:spPr>
          <a:xfrm>
            <a:off x="4910328" y="1609344"/>
            <a:ext cx="3520440" cy="411480"/>
          </a:xfrm>
          <a:prstGeom prst="rect">
            <a:avLst/>
          </a:prstGeom>
          <a:noFill/>
          <a:ln/>
        </p:spPr>
        <p:txBody>
          <a:bodyPr wrap="square" lIns="0" tIns="0" rIns="0" bIns="0" rtlCol="0" anchor="t"/>
          <a:lstStyle/>
          <a:p>
            <a:pPr marL="0" indent="0">
              <a:buNone/>
            </a:pPr>
            <a:r>
              <a:rPr lang="en-US" sz="1200" dirty="0">
                <a:solidFill>
                  <a:srgbClr val="FAFAFA"/>
                </a:solidFill>
              </a:rPr>
              <a:t>Heading from a plain camera and a biological circuit</a:t>
            </a:r>
            <a:endParaRPr lang="en-US" sz="1200" dirty="0"/>
          </a:p>
        </p:txBody>
      </p:sp>
      <p:sp>
        <p:nvSpPr>
          <p:cNvPr id="11" name="u-1-e"/>
          <p:cNvSpPr txBox="1"/>
          <p:nvPr/>
        </p:nvSpPr>
        <p:spPr>
          <a:xfrm>
            <a:off x="4910328" y="2066544"/>
            <a:ext cx="3520440" cy="256032"/>
          </a:xfrm>
          <a:prstGeom prst="rect">
            <a:avLst/>
          </a:prstGeom>
          <a:noFill/>
          <a:ln/>
        </p:spPr>
        <p:txBody>
          <a:bodyPr wrap="square" lIns="0" tIns="0" rIns="0" bIns="0" rtlCol="0" anchor="t"/>
          <a:lstStyle/>
          <a:p>
            <a:pPr marL="0" indent="0">
              <a:buNone/>
            </a:pPr>
            <a:r>
              <a:rPr lang="en-US" sz="1100" dirty="0">
                <a:solidFill>
                  <a:srgbClr val="A1A1AA"/>
                </a:solidFill>
              </a:rPr>
              <a:t>Direction: small vision-guided drones</a:t>
            </a:r>
            <a:endParaRPr lang="en-US" sz="1100" dirty="0"/>
          </a:p>
        </p:txBody>
      </p:sp>
      <p:sp>
        <p:nvSpPr>
          <p:cNvPr id="12" name="u-2"/>
          <p:cNvSpPr/>
          <p:nvPr/>
        </p:nvSpPr>
        <p:spPr>
          <a:xfrm>
            <a:off x="566928" y="2587752"/>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3" name="u-2-h"/>
          <p:cNvSpPr txBox="1"/>
          <p:nvPr/>
        </p:nvSpPr>
        <p:spPr>
          <a:xfrm>
            <a:off x="795528" y="2752344"/>
            <a:ext cx="3520440" cy="310896"/>
          </a:xfrm>
          <a:prstGeom prst="rect">
            <a:avLst/>
          </a:prstGeom>
          <a:noFill/>
          <a:ln/>
        </p:spPr>
        <p:txBody>
          <a:bodyPr wrap="square" lIns="0" tIns="0" rIns="0" bIns="0" rtlCol="0" anchor="t"/>
          <a:lstStyle/>
          <a:p>
            <a:pPr marL="0" indent="0">
              <a:buNone/>
            </a:pPr>
            <a:r>
              <a:rPr lang="en-US" sz="1500" b="1" dirty="0">
                <a:solidFill>
                  <a:srgbClr val="A98BFF"/>
                </a:solidFill>
              </a:rPr>
              <a:t>Students &amp; educators</a:t>
            </a:r>
            <a:endParaRPr lang="en-US" sz="1500" dirty="0"/>
          </a:p>
        </p:txBody>
      </p:sp>
      <p:sp>
        <p:nvSpPr>
          <p:cNvPr id="14" name="u-2-d"/>
          <p:cNvSpPr txBox="1"/>
          <p:nvPr/>
        </p:nvSpPr>
        <p:spPr>
          <a:xfrm>
            <a:off x="795528" y="3099816"/>
            <a:ext cx="3520440" cy="411480"/>
          </a:xfrm>
          <a:prstGeom prst="rect">
            <a:avLst/>
          </a:prstGeom>
          <a:noFill/>
          <a:ln/>
        </p:spPr>
        <p:txBody>
          <a:bodyPr wrap="square" lIns="0" tIns="0" rIns="0" bIns="0" rtlCol="0" anchor="t"/>
          <a:lstStyle/>
          <a:p>
            <a:pPr marL="0" indent="0">
              <a:buNone/>
            </a:pPr>
            <a:r>
              <a:rPr lang="en-US" sz="1200" dirty="0">
                <a:solidFill>
                  <a:srgbClr val="FAFAFA"/>
                </a:solidFill>
              </a:rPr>
              <a:t>Watch a real brain work: 3D explorer and live BANC panel</a:t>
            </a:r>
            <a:endParaRPr lang="en-US" sz="1200" dirty="0"/>
          </a:p>
        </p:txBody>
      </p:sp>
      <p:sp>
        <p:nvSpPr>
          <p:cNvPr id="15" name="u-2-e"/>
          <p:cNvSpPr txBox="1"/>
          <p:nvPr/>
        </p:nvSpPr>
        <p:spPr>
          <a:xfrm>
            <a:off x="795528" y="3557016"/>
            <a:ext cx="3520440" cy="256032"/>
          </a:xfrm>
          <a:prstGeom prst="rect">
            <a:avLst/>
          </a:prstGeom>
          <a:noFill/>
          <a:ln/>
        </p:spPr>
        <p:txBody>
          <a:bodyPr wrap="square" lIns="0" tIns="0" rIns="0" bIns="0" rtlCol="0" anchor="t"/>
          <a:lstStyle/>
          <a:p>
            <a:pPr marL="0" indent="0">
              <a:buNone/>
            </a:pPr>
            <a:r>
              <a:rPr lang="en-US" sz="1100" dirty="0">
                <a:solidFill>
                  <a:srgbClr val="A1A1AA"/>
                </a:solidFill>
              </a:rPr>
              <a:t>Connectomics you can see</a:t>
            </a:r>
            <a:endParaRPr lang="en-US" sz="1100" dirty="0"/>
          </a:p>
        </p:txBody>
      </p:sp>
      <p:sp>
        <p:nvSpPr>
          <p:cNvPr id="16" name="u-3"/>
          <p:cNvSpPr/>
          <p:nvPr/>
        </p:nvSpPr>
        <p:spPr>
          <a:xfrm>
            <a:off x="4681728" y="2587752"/>
            <a:ext cx="3977640" cy="13258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7" name="u-3-h"/>
          <p:cNvSpPr txBox="1"/>
          <p:nvPr/>
        </p:nvSpPr>
        <p:spPr>
          <a:xfrm>
            <a:off x="4910328" y="2752344"/>
            <a:ext cx="3520440" cy="310896"/>
          </a:xfrm>
          <a:prstGeom prst="rect">
            <a:avLst/>
          </a:prstGeom>
          <a:noFill/>
          <a:ln/>
        </p:spPr>
        <p:txBody>
          <a:bodyPr wrap="square" lIns="0" tIns="0" rIns="0" bIns="0" rtlCol="0" anchor="t"/>
          <a:lstStyle/>
          <a:p>
            <a:pPr marL="0" indent="0">
              <a:buNone/>
            </a:pPr>
            <a:r>
              <a:rPr lang="en-US" sz="1500" b="1" dirty="0">
                <a:solidFill>
                  <a:srgbClr val="FF4FB0"/>
                </a:solidFill>
              </a:rPr>
              <a:t>Anyone</a:t>
            </a:r>
            <a:endParaRPr lang="en-US" sz="1500" dirty="0"/>
          </a:p>
        </p:txBody>
      </p:sp>
      <p:sp>
        <p:nvSpPr>
          <p:cNvPr id="18" name="u-3-d"/>
          <p:cNvSpPr txBox="1"/>
          <p:nvPr/>
        </p:nvSpPr>
        <p:spPr>
          <a:xfrm>
            <a:off x="4910328" y="3099816"/>
            <a:ext cx="3520440" cy="411480"/>
          </a:xfrm>
          <a:prstGeom prst="rect">
            <a:avLst/>
          </a:prstGeom>
          <a:noFill/>
          <a:ln/>
        </p:spPr>
        <p:txBody>
          <a:bodyPr wrap="square" lIns="0" tIns="0" rIns="0" bIns="0" rtlCol="0" anchor="t"/>
          <a:lstStyle/>
          <a:p>
            <a:pPr marL="0" indent="0">
              <a:buNone/>
            </a:pPr>
            <a:r>
              <a:rPr lang="en-US" sz="1200" dirty="0">
                <a:solidFill>
                  <a:srgbClr val="FAFAFA"/>
                </a:solidFill>
              </a:rPr>
              <a:t>Open data and code, runs on a laptop GPU</a:t>
            </a:r>
            <a:endParaRPr lang="en-US" sz="1200" dirty="0"/>
          </a:p>
        </p:txBody>
      </p:sp>
      <p:sp>
        <p:nvSpPr>
          <p:cNvPr id="19" name="u-3-e"/>
          <p:cNvSpPr txBox="1"/>
          <p:nvPr/>
        </p:nvSpPr>
        <p:spPr>
          <a:xfrm>
            <a:off x="4910328" y="3557016"/>
            <a:ext cx="3520440" cy="256032"/>
          </a:xfrm>
          <a:prstGeom prst="rect">
            <a:avLst/>
          </a:prstGeom>
          <a:noFill/>
          <a:ln/>
        </p:spPr>
        <p:txBody>
          <a:bodyPr wrap="square" lIns="0" tIns="0" rIns="0" bIns="0" rtlCol="0" anchor="t"/>
          <a:lstStyle/>
          <a:p>
            <a:pPr marL="0" indent="0">
              <a:buNone/>
            </a:pPr>
            <a:r>
              <a:rPr lang="en-US" sz="1100" dirty="0">
                <a:solidFill>
                  <a:srgbClr val="A1A1AA"/>
                </a:solidFill>
              </a:rPr>
              <a:t>2.6 ms per frame for the full connectome</a:t>
            </a:r>
            <a:endParaRPr lang="en-US" sz="1100" dirty="0"/>
          </a:p>
        </p:txBody>
      </p:sp>
      <p:sp>
        <p:nvSpPr>
          <p:cNvPr id="20" name="glossary-0"/>
          <p:cNvSpPr txBox="1"/>
          <p:nvPr/>
        </p:nvSpPr>
        <p:spPr>
          <a:xfrm>
            <a:off x="566928" y="4206240"/>
            <a:ext cx="3600450" cy="411480"/>
          </a:xfrm>
          <a:prstGeom prst="rect">
            <a:avLst/>
          </a:prstGeom>
          <a:noFill/>
          <a:ln/>
        </p:spPr>
        <p:txBody>
          <a:bodyPr wrap="square" lIns="0" tIns="0" rIns="0" bIns="0" rtlCol="0" anchor="t"/>
          <a:lstStyle/>
          <a:p>
            <a:pPr marL="0" indent="0">
              <a:buNone/>
            </a:pPr>
            <a:r>
              <a:rPr lang="en-US" sz="900" b="1" dirty="0">
                <a:solidFill>
                  <a:srgbClr val="A1A1AA"/>
                </a:solidFill>
              </a:rPr>
              <a:t>DN:</a:t>
            </a:r>
            <a:r>
              <a:rPr lang="en-US" sz="900" dirty="0">
                <a:solidFill>
                  <a:srgbClr val="71717A"/>
                </a:solidFill>
              </a:rPr>
              <a:t> descending neuron, carries commands from the brain down to the body</a:t>
            </a:r>
            <a:endParaRPr lang="en-US" sz="900" dirty="0"/>
          </a:p>
        </p:txBody>
      </p:sp>
      <p:sp>
        <p:nvSpPr>
          <p:cNvPr id="21" name="glossary-1"/>
          <p:cNvSpPr txBox="1"/>
          <p:nvPr/>
        </p:nvSpPr>
        <p:spPr>
          <a:xfrm>
            <a:off x="4441698" y="4206240"/>
            <a:ext cx="2743200" cy="411480"/>
          </a:xfrm>
          <a:prstGeom prst="rect">
            <a:avLst/>
          </a:prstGeom>
          <a:noFill/>
          <a:ln/>
        </p:spPr>
        <p:txBody>
          <a:bodyPr wrap="square" lIns="0" tIns="0" rIns="0" bIns="0" rtlCol="0" anchor="t"/>
          <a:lstStyle/>
          <a:p>
            <a:pPr marL="0" indent="0">
              <a:buNone/>
            </a:pPr>
            <a:r>
              <a:rPr lang="en-US" sz="900" b="1" dirty="0">
                <a:solidFill>
                  <a:srgbClr val="A1A1AA"/>
                </a:solidFill>
              </a:rPr>
              <a:t>GPU:</a:t>
            </a:r>
            <a:r>
              <a:rPr lang="en-US" sz="900" dirty="0">
                <a:solidFill>
                  <a:srgbClr val="71717A"/>
                </a:solidFill>
              </a:rPr>
              <a:t> graphics card, updates all neurons in parallel</a:t>
            </a:r>
            <a:endParaRPr lang="en-US" sz="900" dirty="0"/>
          </a:p>
        </p:txBody>
      </p:sp>
      <p:sp>
        <p:nvSpPr>
          <p:cNvPr id="22" name="glossary-2"/>
          <p:cNvSpPr txBox="1"/>
          <p:nvPr/>
        </p:nvSpPr>
        <p:spPr>
          <a:xfrm>
            <a:off x="7459218" y="4206240"/>
            <a:ext cx="1200150" cy="411480"/>
          </a:xfrm>
          <a:prstGeom prst="rect">
            <a:avLst/>
          </a:prstGeom>
          <a:noFill/>
          <a:ln/>
        </p:spPr>
        <p:txBody>
          <a:bodyPr wrap="square" lIns="0" tIns="0" rIns="0" bIns="0" rtlCol="0" anchor="t"/>
          <a:lstStyle/>
          <a:p>
            <a:pPr marL="0" indent="0">
              <a:buNone/>
            </a:pPr>
            <a:r>
              <a:rPr lang="en-US" sz="900" b="1" dirty="0">
                <a:solidFill>
                  <a:srgbClr val="A1A1AA"/>
                </a:solidFill>
              </a:rPr>
              <a:t>ms:</a:t>
            </a:r>
            <a:r>
              <a:rPr lang="en-US" sz="900" dirty="0">
                <a:solidFill>
                  <a:srgbClr val="71717A"/>
                </a:solidFill>
              </a:rPr>
              <a:t> millisecond</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NEXT</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FROM DEMO TO USERS</a:t>
            </a:r>
            <a:endParaRPr lang="en-US" sz="1600" dirty="0"/>
          </a:p>
        </p:txBody>
      </p:sp>
      <p:sp>
        <p:nvSpPr>
          <p:cNvPr id="4" name="st-0"/>
          <p:cNvSpPr/>
          <p:nvPr/>
        </p:nvSpPr>
        <p:spPr>
          <a:xfrm>
            <a:off x="566928" y="1097280"/>
            <a:ext cx="2514600" cy="297180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sp>
      <p:sp>
        <p:nvSpPr>
          <p:cNvPr id="5" name="st-0-k"/>
          <p:cNvSpPr txBox="1"/>
          <p:nvPr/>
        </p:nvSpPr>
        <p:spPr>
          <a:xfrm>
            <a:off x="795528" y="1298448"/>
            <a:ext cx="1828800" cy="201168"/>
          </a:xfrm>
          <a:prstGeom prst="rect">
            <a:avLst/>
          </a:prstGeom>
          <a:noFill/>
          <a:ln/>
        </p:spPr>
        <p:txBody>
          <a:bodyPr wrap="square" lIns="0" tIns="0" rIns="0" bIns="0" rtlCol="0" anchor="t"/>
          <a:lstStyle/>
          <a:p>
            <a:pPr marL="0" indent="0">
              <a:buNone/>
            </a:pPr>
            <a:r>
              <a:rPr lang="en-US" sz="800" kern="0" spc="500" dirty="0">
                <a:solidFill>
                  <a:srgbClr val="FF2D6F"/>
                </a:solidFill>
              </a:rPr>
              <a:t>TODAY</a:t>
            </a:r>
            <a:endParaRPr lang="en-US" sz="800" dirty="0"/>
          </a:p>
        </p:txBody>
      </p:sp>
      <p:sp>
        <p:nvSpPr>
          <p:cNvPr id="6" name="st-0-h"/>
          <p:cNvSpPr txBox="1"/>
          <p:nvPr/>
        </p:nvSpPr>
        <p:spPr>
          <a:xfrm>
            <a:off x="795528" y="1554480"/>
            <a:ext cx="2057400" cy="365760"/>
          </a:xfrm>
          <a:prstGeom prst="rect">
            <a:avLst/>
          </a:prstGeom>
          <a:noFill/>
          <a:ln/>
        </p:spPr>
        <p:txBody>
          <a:bodyPr wrap="square" lIns="0" tIns="0" rIns="0" bIns="0" rtlCol="0" anchor="t"/>
          <a:lstStyle/>
          <a:p>
            <a:pPr marL="0" indent="0">
              <a:buNone/>
            </a:pPr>
            <a:r>
              <a:rPr lang="en-US" sz="1700" b="1" dirty="0">
                <a:solidFill>
                  <a:srgbClr val="FAFAFA"/>
                </a:solidFill>
              </a:rPr>
              <a:t>Simulation</a:t>
            </a:r>
            <a:endParaRPr lang="en-US" sz="1700" dirty="0"/>
          </a:p>
        </p:txBody>
      </p:sp>
      <p:sp>
        <p:nvSpPr>
          <p:cNvPr id="7" name="st-0-list"/>
          <p:cNvSpPr txBox="1"/>
          <p:nvPr/>
        </p:nvSpPr>
        <p:spPr>
          <a:xfrm>
            <a:off x="795528" y="2057400"/>
            <a:ext cx="2103120" cy="1463040"/>
          </a:xfrm>
          <a:prstGeom prst="rect">
            <a:avLst/>
          </a:prstGeom>
          <a:noFill/>
          <a:ln/>
        </p:spPr>
        <p:txBody>
          <a:bodyPr wrap="square" lIns="0" tIns="0" rIns="0" bIns="0" rtlCol="0" anchor="t"/>
          <a:lstStyle/>
          <a:p>
            <a:pPr marL="0" indent="0">
              <a:spcAft>
                <a:spcPts val="800"/>
              </a:spcAft>
              <a:buNone/>
            </a:pPr>
            <a:r>
              <a:rPr lang="en-US" sz="1200" dirty="0">
                <a:solidFill>
                  <a:srgbClr val="FAFAFA"/>
                </a:solidFill>
              </a:rPr>
              <a:t>Full BANC v888 steers the heading</a:t>
            </a:r>
            <a:endParaRPr lang="en-US" sz="1200" dirty="0"/>
          </a:p>
          <a:p>
            <a:pPr marL="0" indent="0">
              <a:spcAft>
                <a:spcPts val="800"/>
              </a:spcAft>
              <a:buNone/>
            </a:pPr>
            <a:r>
              <a:rPr lang="en-US" sz="1200" dirty="0">
                <a:solidFill>
                  <a:srgbClr val="FAFAFA"/>
                </a:solidFill>
              </a:rPr>
              <a:t>X2 drone in MuJoCo with noisy sensors</a:t>
            </a:r>
            <a:endParaRPr lang="en-US" sz="1200" dirty="0"/>
          </a:p>
          <a:p>
            <a:pPr marL="0" indent="0">
              <a:spcAft>
                <a:spcPts val="800"/>
              </a:spcAft>
              <a:buNone/>
            </a:pPr>
            <a:r>
              <a:rPr lang="en-US" sz="1200" dirty="0">
                <a:solidFill>
                  <a:srgbClr val="FAFAFA"/>
                </a:solidFill>
              </a:rPr>
              <a:t>Target reached in 5 of 6 new worlds</a:t>
            </a:r>
            <a:endParaRPr lang="en-US" sz="1200" dirty="0"/>
          </a:p>
        </p:txBody>
      </p:sp>
      <p:sp>
        <p:nvSpPr>
          <p:cNvPr id="8" name="st-0-status"/>
          <p:cNvSpPr txBox="1"/>
          <p:nvPr/>
        </p:nvSpPr>
        <p:spPr>
          <a:xfrm>
            <a:off x="795528" y="3703320"/>
            <a:ext cx="1828800" cy="201168"/>
          </a:xfrm>
          <a:prstGeom prst="rect">
            <a:avLst/>
          </a:prstGeom>
          <a:noFill/>
          <a:ln/>
        </p:spPr>
        <p:txBody>
          <a:bodyPr wrap="square" lIns="0" tIns="0" rIns="0" bIns="0" rtlCol="0" anchor="t"/>
          <a:lstStyle/>
          <a:p>
            <a:pPr marL="0" indent="0">
              <a:buNone/>
            </a:pPr>
            <a:r>
              <a:rPr lang="en-US" sz="800" kern="0" spc="500" dirty="0">
                <a:solidFill>
                  <a:srgbClr val="FF2D6F"/>
                </a:solidFill>
              </a:rPr>
              <a:t>DEMONSTRATED</a:t>
            </a:r>
            <a:endParaRPr lang="en-US" sz="800" dirty="0"/>
          </a:p>
        </p:txBody>
      </p:sp>
      <p:sp>
        <p:nvSpPr>
          <p:cNvPr id="9" name="st-1"/>
          <p:cNvSpPr/>
          <p:nvPr/>
        </p:nvSpPr>
        <p:spPr>
          <a:xfrm>
            <a:off x="3355848" y="1097280"/>
            <a:ext cx="2514600" cy="29718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0" name="st-1-k"/>
          <p:cNvSpPr txBox="1"/>
          <p:nvPr/>
        </p:nvSpPr>
        <p:spPr>
          <a:xfrm>
            <a:off x="3584448" y="1298448"/>
            <a:ext cx="1828800" cy="201168"/>
          </a:xfrm>
          <a:prstGeom prst="rect">
            <a:avLst/>
          </a:prstGeom>
          <a:noFill/>
          <a:ln/>
        </p:spPr>
        <p:txBody>
          <a:bodyPr wrap="square" lIns="0" tIns="0" rIns="0" bIns="0" rtlCol="0" anchor="t"/>
          <a:lstStyle/>
          <a:p>
            <a:pPr marL="0" indent="0">
              <a:buNone/>
            </a:pPr>
            <a:r>
              <a:rPr lang="en-US" sz="800" kern="0" spc="500" dirty="0">
                <a:solidFill>
                  <a:srgbClr val="FF6A2B"/>
                </a:solidFill>
              </a:rPr>
              <a:t>NEXT</a:t>
            </a:r>
            <a:endParaRPr lang="en-US" sz="800" dirty="0"/>
          </a:p>
        </p:txBody>
      </p:sp>
      <p:sp>
        <p:nvSpPr>
          <p:cNvPr id="11" name="st-1-h"/>
          <p:cNvSpPr txBox="1"/>
          <p:nvPr/>
        </p:nvSpPr>
        <p:spPr>
          <a:xfrm>
            <a:off x="3584448" y="1554480"/>
            <a:ext cx="2057400" cy="365760"/>
          </a:xfrm>
          <a:prstGeom prst="rect">
            <a:avLst/>
          </a:prstGeom>
          <a:noFill/>
          <a:ln/>
        </p:spPr>
        <p:txBody>
          <a:bodyPr wrap="square" lIns="0" tIns="0" rIns="0" bIns="0" rtlCol="0" anchor="t"/>
          <a:lstStyle/>
          <a:p>
            <a:pPr marL="0" indent="0">
              <a:buNone/>
            </a:pPr>
            <a:r>
              <a:rPr lang="en-US" sz="1700" b="1" dirty="0">
                <a:solidFill>
                  <a:srgbClr val="FAFAFA"/>
                </a:solidFill>
              </a:rPr>
              <a:t>Real hardware</a:t>
            </a:r>
            <a:endParaRPr lang="en-US" sz="1700" dirty="0"/>
          </a:p>
        </p:txBody>
      </p:sp>
      <p:sp>
        <p:nvSpPr>
          <p:cNvPr id="12" name="st-1-list"/>
          <p:cNvSpPr txBox="1"/>
          <p:nvPr/>
        </p:nvSpPr>
        <p:spPr>
          <a:xfrm>
            <a:off x="3584448" y="2057400"/>
            <a:ext cx="2103120" cy="1463040"/>
          </a:xfrm>
          <a:prstGeom prst="rect">
            <a:avLst/>
          </a:prstGeom>
          <a:noFill/>
          <a:ln/>
        </p:spPr>
        <p:txBody>
          <a:bodyPr wrap="square" lIns="0" tIns="0" rIns="0" bIns="0" rtlCol="0" anchor="t"/>
          <a:lstStyle/>
          <a:p>
            <a:pPr marL="0" indent="0">
              <a:spcAft>
                <a:spcPts val="800"/>
              </a:spcAft>
              <a:buNone/>
            </a:pPr>
            <a:r>
              <a:rPr lang="en-US" sz="1200" dirty="0">
                <a:solidFill>
                  <a:srgbClr val="FAFAFA"/>
                </a:solidFill>
              </a:rPr>
              <a:t>Two cameras on a real micro-drone</a:t>
            </a:r>
            <a:endParaRPr lang="en-US" sz="1200" dirty="0"/>
          </a:p>
          <a:p>
            <a:pPr marL="0" indent="0">
              <a:spcAft>
                <a:spcPts val="800"/>
              </a:spcAft>
              <a:buNone/>
            </a:pPr>
            <a:r>
              <a:rPr lang="en-US" sz="1200" dirty="0">
                <a:solidFill>
                  <a:srgbClr val="FAFAFA"/>
                </a:solidFill>
              </a:rPr>
              <a:t>Connectome on an onboard GPU</a:t>
            </a:r>
            <a:endParaRPr lang="en-US" sz="1200" dirty="0"/>
          </a:p>
          <a:p>
            <a:pPr marL="0" indent="0">
              <a:spcAft>
                <a:spcPts val="800"/>
              </a:spcAft>
              <a:buNone/>
            </a:pPr>
            <a:r>
              <a:rPr lang="en-US" sz="1200" dirty="0">
                <a:solidFill>
                  <a:srgbClr val="FAFAFA"/>
                </a:solidFill>
              </a:rPr>
              <a:t>Same decoder, same calibration</a:t>
            </a:r>
            <a:endParaRPr lang="en-US" sz="1200" dirty="0"/>
          </a:p>
        </p:txBody>
      </p:sp>
      <p:sp>
        <p:nvSpPr>
          <p:cNvPr id="13" name="st-1-status"/>
          <p:cNvSpPr txBox="1"/>
          <p:nvPr/>
        </p:nvSpPr>
        <p:spPr>
          <a:xfrm>
            <a:off x="3584448" y="3703320"/>
            <a:ext cx="1828800" cy="201168"/>
          </a:xfrm>
          <a:prstGeom prst="rect">
            <a:avLst/>
          </a:prstGeom>
          <a:noFill/>
          <a:ln/>
        </p:spPr>
        <p:txBody>
          <a:bodyPr wrap="square" lIns="0" tIns="0" rIns="0" bIns="0" rtlCol="0" anchor="t"/>
          <a:lstStyle/>
          <a:p>
            <a:pPr marL="0" indent="0">
              <a:buNone/>
            </a:pPr>
            <a:r>
              <a:rPr lang="en-US" sz="800" kern="0" spc="500" dirty="0">
                <a:solidFill>
                  <a:srgbClr val="FF6A2B"/>
                </a:solidFill>
              </a:rPr>
              <a:t>PLANNED</a:t>
            </a:r>
            <a:endParaRPr lang="en-US" sz="800" dirty="0"/>
          </a:p>
        </p:txBody>
      </p:sp>
      <p:sp>
        <p:nvSpPr>
          <p:cNvPr id="14" name="st-2"/>
          <p:cNvSpPr/>
          <p:nvPr/>
        </p:nvSpPr>
        <p:spPr>
          <a:xfrm>
            <a:off x="6144768" y="1097280"/>
            <a:ext cx="2514600" cy="29718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5" name="st-2-k"/>
          <p:cNvSpPr txBox="1"/>
          <p:nvPr/>
        </p:nvSpPr>
        <p:spPr>
          <a:xfrm>
            <a:off x="6373368" y="1298448"/>
            <a:ext cx="1828800" cy="201168"/>
          </a:xfrm>
          <a:prstGeom prst="rect">
            <a:avLst/>
          </a:prstGeom>
          <a:noFill/>
          <a:ln/>
        </p:spPr>
        <p:txBody>
          <a:bodyPr wrap="square" lIns="0" tIns="0" rIns="0" bIns="0" rtlCol="0" anchor="t"/>
          <a:lstStyle/>
          <a:p>
            <a:pPr marL="0" indent="0">
              <a:buNone/>
            </a:pPr>
            <a:r>
              <a:rPr lang="en-US" sz="800" kern="0" spc="500" dirty="0">
                <a:solidFill>
                  <a:srgbClr val="A1A1AA"/>
                </a:solidFill>
              </a:rPr>
              <a:t>LATER</a:t>
            </a:r>
            <a:endParaRPr lang="en-US" sz="800" dirty="0"/>
          </a:p>
        </p:txBody>
      </p:sp>
      <p:sp>
        <p:nvSpPr>
          <p:cNvPr id="16" name="st-2-h"/>
          <p:cNvSpPr txBox="1"/>
          <p:nvPr/>
        </p:nvSpPr>
        <p:spPr>
          <a:xfrm>
            <a:off x="6373368" y="1554480"/>
            <a:ext cx="2057400" cy="365760"/>
          </a:xfrm>
          <a:prstGeom prst="rect">
            <a:avLst/>
          </a:prstGeom>
          <a:noFill/>
          <a:ln/>
        </p:spPr>
        <p:txBody>
          <a:bodyPr wrap="square" lIns="0" tIns="0" rIns="0" bIns="0" rtlCol="0" anchor="t"/>
          <a:lstStyle/>
          <a:p>
            <a:pPr marL="0" indent="0">
              <a:buNone/>
            </a:pPr>
            <a:r>
              <a:rPr lang="en-US" sz="1700" b="1" dirty="0">
                <a:solidFill>
                  <a:srgbClr val="FAFAFA"/>
                </a:solidFill>
              </a:rPr>
              <a:t>Applications</a:t>
            </a:r>
            <a:endParaRPr lang="en-US" sz="1700" dirty="0"/>
          </a:p>
        </p:txBody>
      </p:sp>
      <p:sp>
        <p:nvSpPr>
          <p:cNvPr id="17" name="st-2-list"/>
          <p:cNvSpPr txBox="1"/>
          <p:nvPr/>
        </p:nvSpPr>
        <p:spPr>
          <a:xfrm>
            <a:off x="6373368" y="2057400"/>
            <a:ext cx="2103120" cy="1463040"/>
          </a:xfrm>
          <a:prstGeom prst="rect">
            <a:avLst/>
          </a:prstGeom>
          <a:noFill/>
          <a:ln/>
        </p:spPr>
        <p:txBody>
          <a:bodyPr wrap="square" lIns="0" tIns="0" rIns="0" bIns="0" rtlCol="0" anchor="t"/>
          <a:lstStyle/>
          <a:p>
            <a:pPr marL="0" indent="0">
              <a:spcAft>
                <a:spcPts val="800"/>
              </a:spcAft>
              <a:buNone/>
            </a:pPr>
            <a:r>
              <a:rPr lang="en-US" sz="1200" dirty="0">
                <a:solidFill>
                  <a:srgbClr val="FAFAFA"/>
                </a:solidFill>
              </a:rPr>
              <a:t>Search &amp; rescue: home in on a beacon</a:t>
            </a:r>
            <a:endParaRPr lang="en-US" sz="1200" dirty="0"/>
          </a:p>
          <a:p>
            <a:pPr marL="0" indent="0">
              <a:spcAft>
                <a:spcPts val="800"/>
              </a:spcAft>
              <a:buNone/>
            </a:pPr>
            <a:r>
              <a:rPr lang="en-US" sz="1200" dirty="0">
                <a:solidFill>
                  <a:srgbClr val="FAFAFA"/>
                </a:solidFill>
              </a:rPr>
              <a:t>Inspection where GPS is poor</a:t>
            </a:r>
            <a:endParaRPr lang="en-US" sz="1200" dirty="0"/>
          </a:p>
          <a:p>
            <a:pPr marL="0" indent="0">
              <a:spcAft>
                <a:spcPts val="800"/>
              </a:spcAft>
              <a:buNone/>
            </a:pPr>
            <a:r>
              <a:rPr lang="en-US" sz="1200" dirty="0">
                <a:solidFill>
                  <a:srgbClr val="FAFAFA"/>
                </a:solidFill>
              </a:rPr>
              <a:t>Low-power neuromorphic chips</a:t>
            </a:r>
            <a:endParaRPr lang="en-US" sz="1200" dirty="0"/>
          </a:p>
        </p:txBody>
      </p:sp>
      <p:sp>
        <p:nvSpPr>
          <p:cNvPr id="18" name="st-2-status"/>
          <p:cNvSpPr txBox="1"/>
          <p:nvPr/>
        </p:nvSpPr>
        <p:spPr>
          <a:xfrm>
            <a:off x="6373368" y="3703320"/>
            <a:ext cx="1828800" cy="201168"/>
          </a:xfrm>
          <a:prstGeom prst="rect">
            <a:avLst/>
          </a:prstGeom>
          <a:noFill/>
          <a:ln/>
        </p:spPr>
        <p:txBody>
          <a:bodyPr wrap="square" lIns="0" tIns="0" rIns="0" bIns="0" rtlCol="0" anchor="t"/>
          <a:lstStyle/>
          <a:p>
            <a:pPr marL="0" indent="0">
              <a:buNone/>
            </a:pPr>
            <a:r>
              <a:rPr lang="en-US" sz="800" kern="0" spc="500" dirty="0">
                <a:solidFill>
                  <a:srgbClr val="A1A1AA"/>
                </a:solidFill>
              </a:rPr>
              <a:t>POTENTIAL</a:t>
            </a:r>
            <a:endParaRPr lang="en-US" sz="800" dirty="0"/>
          </a:p>
        </p:txBody>
      </p:sp>
      <p:sp>
        <p:nvSpPr>
          <p:cNvPr id="19" name="glossary-0"/>
          <p:cNvSpPr txBox="1"/>
          <p:nvPr/>
        </p:nvSpPr>
        <p:spPr>
          <a:xfrm>
            <a:off x="566928" y="4206240"/>
            <a:ext cx="3750585" cy="411480"/>
          </a:xfrm>
          <a:prstGeom prst="rect">
            <a:avLst/>
          </a:prstGeom>
          <a:noFill/>
          <a:ln/>
        </p:spPr>
        <p:txBody>
          <a:bodyPr wrap="square" lIns="0" tIns="0" rIns="0" bIns="0" rtlCol="0" anchor="t"/>
          <a:lstStyle/>
          <a:p>
            <a:pPr marL="0" indent="0">
              <a:buNone/>
            </a:pPr>
            <a:r>
              <a:rPr lang="en-US" sz="900" b="1" dirty="0">
                <a:solidFill>
                  <a:srgbClr val="A1A1AA"/>
                </a:solidFill>
              </a:rPr>
              <a:t>MuJoCo:</a:t>
            </a:r>
            <a:r>
              <a:rPr lang="en-US" sz="900" dirty="0">
                <a:solidFill>
                  <a:srgbClr val="71717A"/>
                </a:solidFill>
              </a:rPr>
              <a:t> physics simulator widely used in robotics research</a:t>
            </a:r>
            <a:endParaRPr lang="en-US" sz="900" dirty="0"/>
          </a:p>
        </p:txBody>
      </p:sp>
      <p:sp>
        <p:nvSpPr>
          <p:cNvPr id="20" name="glossary-1"/>
          <p:cNvSpPr txBox="1"/>
          <p:nvPr/>
        </p:nvSpPr>
        <p:spPr>
          <a:xfrm>
            <a:off x="4591833" y="4206240"/>
            <a:ext cx="4067535" cy="411480"/>
          </a:xfrm>
          <a:prstGeom prst="rect">
            <a:avLst/>
          </a:prstGeom>
          <a:noFill/>
          <a:ln/>
        </p:spPr>
        <p:txBody>
          <a:bodyPr wrap="square" lIns="0" tIns="0" rIns="0" bIns="0" rtlCol="0" anchor="t"/>
          <a:lstStyle/>
          <a:p>
            <a:pPr marL="0" indent="0">
              <a:buNone/>
            </a:pPr>
            <a:r>
              <a:rPr lang="en-US" sz="900" b="1" dirty="0">
                <a:solidFill>
                  <a:srgbClr val="A1A1AA"/>
                </a:solidFill>
              </a:rPr>
              <a:t>Neuromorphic chip:</a:t>
            </a:r>
            <a:r>
              <a:rPr lang="en-US" sz="900" dirty="0">
                <a:solidFill>
                  <a:srgbClr val="71717A"/>
                </a:solidFill>
              </a:rPr>
              <a:t> a brain-like chip that uses very little power</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NEXT</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HOW WE SPLIT THE WORK</a:t>
            </a:r>
            <a:endParaRPr lang="en-US" sz="1600" dirty="0"/>
          </a:p>
        </p:txBody>
      </p:sp>
      <p:sp>
        <p:nvSpPr>
          <p:cNvPr id="4" name="part-0"/>
          <p:cNvSpPr/>
          <p:nvPr/>
        </p:nvSpPr>
        <p:spPr>
          <a:xfrm>
            <a:off x="566928" y="1051560"/>
            <a:ext cx="2560320" cy="2606040"/>
          </a:xfrm>
          <a:prstGeom prst="rect">
            <a:avLst/>
          </a:prstGeom>
          <a:solidFill>
            <a:srgbClr val="18181B">
              <a:alpha val="88000"/>
            </a:srgbClr>
          </a:solidFill>
          <a:ln w="9525">
            <a:solidFill>
              <a:srgbClr val="2FD3C4"/>
            </a:solidFill>
            <a:prstDash val="solid"/>
          </a:ln>
          <a:effectLst>
            <a:outerShdw blurRad="228600" dist="76200" dir="5400000" algn="bl" rotWithShape="0">
              <a:srgbClr val="000000">
                <a:alpha val="55000"/>
              </a:srgbClr>
            </a:outerShdw>
          </a:effectLst>
        </p:spPr>
      </p:sp>
      <p:sp>
        <p:nvSpPr>
          <p:cNvPr id="5" name="part-0-who"/>
          <p:cNvSpPr txBox="1"/>
          <p:nvPr/>
        </p:nvSpPr>
        <p:spPr>
          <a:xfrm>
            <a:off x="795528" y="1252728"/>
            <a:ext cx="2103120" cy="201168"/>
          </a:xfrm>
          <a:prstGeom prst="rect">
            <a:avLst/>
          </a:prstGeom>
          <a:noFill/>
          <a:ln/>
        </p:spPr>
        <p:txBody>
          <a:bodyPr wrap="square" lIns="0" tIns="0" rIns="0" bIns="0" rtlCol="0" anchor="t"/>
          <a:lstStyle/>
          <a:p>
            <a:pPr marL="0" indent="0">
              <a:buNone/>
            </a:pPr>
            <a:r>
              <a:rPr lang="en-US" sz="800" kern="0" spc="500" dirty="0">
                <a:solidFill>
                  <a:srgbClr val="2FD3C4"/>
                </a:solidFill>
              </a:rPr>
              <a:t>PERSON 1</a:t>
            </a:r>
            <a:endParaRPr lang="en-US" sz="800" dirty="0"/>
          </a:p>
        </p:txBody>
      </p:sp>
      <p:sp>
        <p:nvSpPr>
          <p:cNvPr id="6" name="part-0-h"/>
          <p:cNvSpPr txBox="1"/>
          <p:nvPr/>
        </p:nvSpPr>
        <p:spPr>
          <a:xfrm>
            <a:off x="795528" y="1508760"/>
            <a:ext cx="2103120" cy="365760"/>
          </a:xfrm>
          <a:prstGeom prst="rect">
            <a:avLst/>
          </a:prstGeom>
          <a:noFill/>
          <a:ln/>
        </p:spPr>
        <p:txBody>
          <a:bodyPr wrap="square" lIns="0" tIns="0" rIns="0" bIns="0" rtlCol="0" anchor="t"/>
          <a:lstStyle/>
          <a:p>
            <a:pPr marL="0" indent="0">
              <a:buNone/>
            </a:pPr>
            <a:r>
              <a:rPr lang="en-US" sz="1700" b="1" dirty="0">
                <a:solidFill>
                  <a:srgbClr val="FAFAFA"/>
                </a:solidFill>
              </a:rPr>
              <a:t>The eyes</a:t>
            </a:r>
            <a:endParaRPr lang="en-US" sz="1700" dirty="0"/>
          </a:p>
        </p:txBody>
      </p:sp>
      <p:sp>
        <p:nvSpPr>
          <p:cNvPr id="7" name="part-0-d"/>
          <p:cNvSpPr txBox="1"/>
          <p:nvPr/>
        </p:nvSpPr>
        <p:spPr>
          <a:xfrm>
            <a:off x="795528" y="1965960"/>
            <a:ext cx="2103120" cy="1097280"/>
          </a:xfrm>
          <a:prstGeom prst="rect">
            <a:avLst/>
          </a:prstGeom>
          <a:noFill/>
          <a:ln/>
        </p:spPr>
        <p:txBody>
          <a:bodyPr wrap="square" lIns="0" tIns="0" rIns="0" bIns="0" rtlCol="0" anchor="t"/>
          <a:lstStyle/>
          <a:p>
            <a:pPr marL="0" indent="0">
              <a:buNone/>
            </a:pPr>
            <a:r>
              <a:rPr lang="en-US" sz="1150" dirty="0">
                <a:solidFill>
                  <a:srgbClr val="FAFAFA"/>
                </a:solidFill>
              </a:rPr>
              <a:t>Takes the two drone camera images, turns them into what a fly eye sees and passes that signal into the matching neurons of the fly brain.</a:t>
            </a:r>
            <a:endParaRPr lang="en-US" sz="1150" dirty="0"/>
          </a:p>
        </p:txBody>
      </p:sp>
      <p:sp>
        <p:nvSpPr>
          <p:cNvPr id="8" name="part-0-out"/>
          <p:cNvSpPr txBox="1"/>
          <p:nvPr/>
        </p:nvSpPr>
        <p:spPr>
          <a:xfrm>
            <a:off x="795528" y="3200400"/>
            <a:ext cx="2103120" cy="274320"/>
          </a:xfrm>
          <a:prstGeom prst="rect">
            <a:avLst/>
          </a:prstGeom>
          <a:noFill/>
          <a:ln/>
        </p:spPr>
        <p:txBody>
          <a:bodyPr wrap="square" lIns="0" tIns="0" rIns="0" bIns="0" rtlCol="0" anchor="t"/>
          <a:lstStyle/>
          <a:p>
            <a:pPr marL="0" indent="0">
              <a:buNone/>
            </a:pPr>
            <a:r>
              <a:rPr lang="en-US" sz="1100" b="1" dirty="0">
                <a:solidFill>
                  <a:srgbClr val="2FD3C4"/>
                </a:solidFill>
              </a:rPr>
              <a:t>gives: activity of visual neurons</a:t>
            </a:r>
            <a:endParaRPr lang="en-US" sz="1100" dirty="0"/>
          </a:p>
        </p:txBody>
      </p:sp>
      <p:sp>
        <p:nvSpPr>
          <p:cNvPr id="9" name="part-1"/>
          <p:cNvSpPr/>
          <p:nvPr/>
        </p:nvSpPr>
        <p:spPr>
          <a:xfrm>
            <a:off x="3328416" y="1051560"/>
            <a:ext cx="2560320" cy="2606040"/>
          </a:xfrm>
          <a:prstGeom prst="rect">
            <a:avLst/>
          </a:prstGeom>
          <a:solidFill>
            <a:srgbClr val="18181B">
              <a:alpha val="88000"/>
            </a:srgbClr>
          </a:solidFill>
          <a:ln w="9525">
            <a:solidFill>
              <a:srgbClr val="FFB547"/>
            </a:solidFill>
            <a:prstDash val="solid"/>
          </a:ln>
          <a:effectLst>
            <a:outerShdw blurRad="228600" dist="76200" dir="5400000" algn="bl" rotWithShape="0">
              <a:srgbClr val="000000">
                <a:alpha val="55000"/>
              </a:srgbClr>
            </a:outerShdw>
          </a:effectLst>
        </p:spPr>
      </p:sp>
      <p:sp>
        <p:nvSpPr>
          <p:cNvPr id="10" name="part-1-who"/>
          <p:cNvSpPr txBox="1"/>
          <p:nvPr/>
        </p:nvSpPr>
        <p:spPr>
          <a:xfrm>
            <a:off x="3557016" y="1252728"/>
            <a:ext cx="2103120" cy="201168"/>
          </a:xfrm>
          <a:prstGeom prst="rect">
            <a:avLst/>
          </a:prstGeom>
          <a:noFill/>
          <a:ln/>
        </p:spPr>
        <p:txBody>
          <a:bodyPr wrap="square" lIns="0" tIns="0" rIns="0" bIns="0" rtlCol="0" anchor="t"/>
          <a:lstStyle/>
          <a:p>
            <a:pPr marL="0" indent="0">
              <a:buNone/>
            </a:pPr>
            <a:r>
              <a:rPr lang="en-US" sz="800" kern="0" spc="500" dirty="0">
                <a:solidFill>
                  <a:srgbClr val="FFB547"/>
                </a:solidFill>
              </a:rPr>
              <a:t>PERSON 2</a:t>
            </a:r>
            <a:endParaRPr lang="en-US" sz="800" dirty="0"/>
          </a:p>
        </p:txBody>
      </p:sp>
      <p:sp>
        <p:nvSpPr>
          <p:cNvPr id="11" name="part-1-h"/>
          <p:cNvSpPr txBox="1"/>
          <p:nvPr/>
        </p:nvSpPr>
        <p:spPr>
          <a:xfrm>
            <a:off x="3557016" y="1508760"/>
            <a:ext cx="2103120" cy="365760"/>
          </a:xfrm>
          <a:prstGeom prst="rect">
            <a:avLst/>
          </a:prstGeom>
          <a:noFill/>
          <a:ln/>
        </p:spPr>
        <p:txBody>
          <a:bodyPr wrap="square" lIns="0" tIns="0" rIns="0" bIns="0" rtlCol="0" anchor="t"/>
          <a:lstStyle/>
          <a:p>
            <a:pPr marL="0" indent="0">
              <a:buNone/>
            </a:pPr>
            <a:r>
              <a:rPr lang="en-US" sz="1700" b="1" dirty="0">
                <a:solidFill>
                  <a:srgbClr val="FAFAFA"/>
                </a:solidFill>
              </a:rPr>
              <a:t>The brain</a:t>
            </a:r>
            <a:endParaRPr lang="en-US" sz="1700" dirty="0"/>
          </a:p>
        </p:txBody>
      </p:sp>
      <p:sp>
        <p:nvSpPr>
          <p:cNvPr id="12" name="part-1-d"/>
          <p:cNvSpPr txBox="1"/>
          <p:nvPr/>
        </p:nvSpPr>
        <p:spPr>
          <a:xfrm>
            <a:off x="3557016" y="1965960"/>
            <a:ext cx="2103120" cy="1097280"/>
          </a:xfrm>
          <a:prstGeom prst="rect">
            <a:avLst/>
          </a:prstGeom>
          <a:noFill/>
          <a:ln/>
        </p:spPr>
        <p:txBody>
          <a:bodyPr wrap="square" lIns="0" tIns="0" rIns="0" bIns="0" rtlCol="0" anchor="t"/>
          <a:lstStyle/>
          <a:p>
            <a:pPr marL="0" indent="0">
              <a:buNone/>
            </a:pPr>
            <a:r>
              <a:rPr lang="en-US" sz="1150" dirty="0">
                <a:solidFill>
                  <a:srgbClr val="FAFAFA"/>
                </a:solidFill>
              </a:rPr>
              <a:t>Runs the whole fly connectome on a graphics card, listens to the flight neurons and translates them into drone commands.</a:t>
            </a:r>
            <a:endParaRPr lang="en-US" sz="1150" dirty="0"/>
          </a:p>
        </p:txBody>
      </p:sp>
      <p:sp>
        <p:nvSpPr>
          <p:cNvPr id="13" name="part-1-out"/>
          <p:cNvSpPr txBox="1"/>
          <p:nvPr/>
        </p:nvSpPr>
        <p:spPr>
          <a:xfrm>
            <a:off x="3557016" y="3200400"/>
            <a:ext cx="2103120" cy="274320"/>
          </a:xfrm>
          <a:prstGeom prst="rect">
            <a:avLst/>
          </a:prstGeom>
          <a:noFill/>
          <a:ln/>
        </p:spPr>
        <p:txBody>
          <a:bodyPr wrap="square" lIns="0" tIns="0" rIns="0" bIns="0" rtlCol="0" anchor="t"/>
          <a:lstStyle/>
          <a:p>
            <a:pPr marL="0" indent="0">
              <a:buNone/>
            </a:pPr>
            <a:r>
              <a:rPr lang="en-US" sz="1100" b="1" dirty="0">
                <a:solidFill>
                  <a:srgbClr val="FFB547"/>
                </a:solidFill>
              </a:rPr>
              <a:t>gives: thrust, roll, pitch, yaw</a:t>
            </a:r>
            <a:endParaRPr lang="en-US" sz="1100" dirty="0"/>
          </a:p>
        </p:txBody>
      </p:sp>
      <p:sp>
        <p:nvSpPr>
          <p:cNvPr id="14" name="part-2"/>
          <p:cNvSpPr/>
          <p:nvPr/>
        </p:nvSpPr>
        <p:spPr>
          <a:xfrm>
            <a:off x="6089904" y="1051560"/>
            <a:ext cx="2560320" cy="2606040"/>
          </a:xfrm>
          <a:prstGeom prst="rect">
            <a:avLst/>
          </a:prstGeom>
          <a:solidFill>
            <a:srgbClr val="18181B">
              <a:alpha val="88000"/>
            </a:srgbClr>
          </a:solidFill>
          <a:ln w="9525">
            <a:solidFill>
              <a:srgbClr val="4F8CFF"/>
            </a:solidFill>
            <a:prstDash val="solid"/>
          </a:ln>
          <a:effectLst>
            <a:outerShdw blurRad="228600" dist="76200" dir="5400000" algn="bl" rotWithShape="0">
              <a:srgbClr val="000000">
                <a:alpha val="55000"/>
              </a:srgbClr>
            </a:outerShdw>
          </a:effectLst>
        </p:spPr>
      </p:sp>
      <p:sp>
        <p:nvSpPr>
          <p:cNvPr id="15" name="part-2-who"/>
          <p:cNvSpPr txBox="1"/>
          <p:nvPr/>
        </p:nvSpPr>
        <p:spPr>
          <a:xfrm>
            <a:off x="6318504" y="1252728"/>
            <a:ext cx="2103120" cy="201168"/>
          </a:xfrm>
          <a:prstGeom prst="rect">
            <a:avLst/>
          </a:prstGeom>
          <a:noFill/>
          <a:ln/>
        </p:spPr>
        <p:txBody>
          <a:bodyPr wrap="square" lIns="0" tIns="0" rIns="0" bIns="0" rtlCol="0" anchor="t"/>
          <a:lstStyle/>
          <a:p>
            <a:pPr marL="0" indent="0">
              <a:buNone/>
            </a:pPr>
            <a:r>
              <a:rPr lang="en-US" sz="800" kern="0" spc="500" dirty="0">
                <a:solidFill>
                  <a:srgbClr val="4F8CFF"/>
                </a:solidFill>
              </a:rPr>
              <a:t>PERSON 3</a:t>
            </a:r>
            <a:endParaRPr lang="en-US" sz="800" dirty="0"/>
          </a:p>
        </p:txBody>
      </p:sp>
      <p:sp>
        <p:nvSpPr>
          <p:cNvPr id="16" name="part-2-h"/>
          <p:cNvSpPr txBox="1"/>
          <p:nvPr/>
        </p:nvSpPr>
        <p:spPr>
          <a:xfrm>
            <a:off x="6318504" y="1508760"/>
            <a:ext cx="2103120" cy="365760"/>
          </a:xfrm>
          <a:prstGeom prst="rect">
            <a:avLst/>
          </a:prstGeom>
          <a:noFill/>
          <a:ln/>
        </p:spPr>
        <p:txBody>
          <a:bodyPr wrap="square" lIns="0" tIns="0" rIns="0" bIns="0" rtlCol="0" anchor="t"/>
          <a:lstStyle/>
          <a:p>
            <a:pPr marL="0" indent="0">
              <a:buNone/>
            </a:pPr>
            <a:r>
              <a:rPr lang="en-US" sz="1700" b="1" dirty="0">
                <a:solidFill>
                  <a:srgbClr val="FAFAFA"/>
                </a:solidFill>
              </a:rPr>
              <a:t>Body and world</a:t>
            </a:r>
            <a:endParaRPr lang="en-US" sz="1700" dirty="0"/>
          </a:p>
        </p:txBody>
      </p:sp>
      <p:sp>
        <p:nvSpPr>
          <p:cNvPr id="17" name="part-2-d"/>
          <p:cNvSpPr txBox="1"/>
          <p:nvPr/>
        </p:nvSpPr>
        <p:spPr>
          <a:xfrm>
            <a:off x="6318504" y="1965960"/>
            <a:ext cx="2103120" cy="1097280"/>
          </a:xfrm>
          <a:prstGeom prst="rect">
            <a:avLst/>
          </a:prstGeom>
          <a:noFill/>
          <a:ln/>
        </p:spPr>
        <p:txBody>
          <a:bodyPr wrap="square" lIns="0" tIns="0" rIns="0" bIns="0" rtlCol="0" anchor="t"/>
          <a:lstStyle/>
          <a:p>
            <a:pPr marL="0" indent="0">
              <a:buNone/>
            </a:pPr>
            <a:r>
              <a:rPr lang="en-US" sz="1150" dirty="0">
                <a:solidFill>
                  <a:srgbClr val="FAFAFA"/>
                </a:solidFill>
              </a:rPr>
              <a:t>Builds the drone, its sensors, wind and random worlds in a physics simulator, flies the commands and renders the next camera image.</a:t>
            </a:r>
            <a:endParaRPr lang="en-US" sz="1150" dirty="0"/>
          </a:p>
        </p:txBody>
      </p:sp>
      <p:sp>
        <p:nvSpPr>
          <p:cNvPr id="18" name="part-2-out"/>
          <p:cNvSpPr txBox="1"/>
          <p:nvPr/>
        </p:nvSpPr>
        <p:spPr>
          <a:xfrm>
            <a:off x="6318504" y="3200400"/>
            <a:ext cx="2103120" cy="274320"/>
          </a:xfrm>
          <a:prstGeom prst="rect">
            <a:avLst/>
          </a:prstGeom>
          <a:noFill/>
          <a:ln/>
        </p:spPr>
        <p:txBody>
          <a:bodyPr wrap="square" lIns="0" tIns="0" rIns="0" bIns="0" rtlCol="0" anchor="t"/>
          <a:lstStyle/>
          <a:p>
            <a:pPr marL="0" indent="0">
              <a:buNone/>
            </a:pPr>
            <a:r>
              <a:rPr lang="en-US" sz="1100" b="1" dirty="0">
                <a:solidFill>
                  <a:srgbClr val="4F8CFF"/>
                </a:solidFill>
              </a:rPr>
              <a:t>gives: the next camera image</a:t>
            </a:r>
            <a:endParaRPr lang="en-US" sz="1100" dirty="0"/>
          </a:p>
        </p:txBody>
      </p:sp>
      <p:sp>
        <p:nvSpPr>
          <p:cNvPr id="19" name="team-note"/>
          <p:cNvSpPr txBox="1"/>
          <p:nvPr/>
        </p:nvSpPr>
        <p:spPr>
          <a:xfrm>
            <a:off x="566928" y="3767328"/>
            <a:ext cx="8092440" cy="365760"/>
          </a:xfrm>
          <a:prstGeom prst="rect">
            <a:avLst/>
          </a:prstGeom>
          <a:noFill/>
          <a:ln/>
        </p:spPr>
        <p:txBody>
          <a:bodyPr wrap="square" lIns="0" tIns="0" rIns="0" bIns="0" rtlCol="0" anchor="t"/>
          <a:lstStyle/>
          <a:p>
            <a:pPr marL="0" indent="0">
              <a:buNone/>
            </a:pPr>
            <a:r>
              <a:rPr lang="en-US" sz="1100" dirty="0">
                <a:solidFill>
                  <a:srgbClr val="A1A1AA"/>
                </a:solidFill>
              </a:rPr>
              <a:t>12-hour hackathon. We first agreed what each part hands to the next, then everyone built and tested their part on their own.</a:t>
            </a:r>
            <a:endParaRPr lang="en-US" sz="1100" dirty="0"/>
          </a:p>
        </p:txBody>
      </p:sp>
      <p:sp>
        <p:nvSpPr>
          <p:cNvPr id="20" name="glossary-0"/>
          <p:cNvSpPr txBox="1"/>
          <p:nvPr/>
        </p:nvSpPr>
        <p:spPr>
          <a:xfrm>
            <a:off x="566928" y="4206240"/>
            <a:ext cx="4380031" cy="411480"/>
          </a:xfrm>
          <a:prstGeom prst="rect">
            <a:avLst/>
          </a:prstGeom>
          <a:noFill/>
          <a:ln/>
        </p:spPr>
        <p:txBody>
          <a:bodyPr wrap="square" lIns="0" tIns="0" rIns="0" bIns="0" rtlCol="0" anchor="t"/>
          <a:lstStyle/>
          <a:p>
            <a:pPr marL="0" indent="0">
              <a:buNone/>
            </a:pPr>
            <a:r>
              <a:rPr lang="en-US" sz="900" b="1" dirty="0">
                <a:solidFill>
                  <a:srgbClr val="A1A1AA"/>
                </a:solidFill>
              </a:rPr>
              <a:t>Physics simulator:</a:t>
            </a:r>
            <a:r>
              <a:rPr lang="en-US" sz="900" dirty="0">
                <a:solidFill>
                  <a:srgbClr val="71717A"/>
                </a:solidFill>
              </a:rPr>
              <a:t> MuJoCo, computes how the drone moves and what its cameras see</a:t>
            </a:r>
            <a:endParaRPr lang="en-US" sz="900" dirty="0"/>
          </a:p>
        </p:txBody>
      </p:sp>
      <p:sp>
        <p:nvSpPr>
          <p:cNvPr id="21" name="glossary-1"/>
          <p:cNvSpPr txBox="1"/>
          <p:nvPr/>
        </p:nvSpPr>
        <p:spPr>
          <a:xfrm>
            <a:off x="5221279" y="4206240"/>
            <a:ext cx="3438089" cy="411480"/>
          </a:xfrm>
          <a:prstGeom prst="rect">
            <a:avLst/>
          </a:prstGeom>
          <a:noFill/>
          <a:ln/>
        </p:spPr>
        <p:txBody>
          <a:bodyPr wrap="square" lIns="0" tIns="0" rIns="0" bIns="0" rtlCol="0" anchor="t"/>
          <a:lstStyle/>
          <a:p>
            <a:pPr marL="0" indent="0">
              <a:buNone/>
            </a:pPr>
            <a:r>
              <a:rPr lang="en-US" sz="900" b="1" dirty="0">
                <a:solidFill>
                  <a:srgbClr val="A1A1AA"/>
                </a:solidFill>
              </a:rPr>
              <a:t>Graphics card (GPU):</a:t>
            </a:r>
            <a:r>
              <a:rPr lang="en-US" sz="900" dirty="0">
                <a:solidFill>
                  <a:srgbClr val="71717A"/>
                </a:solidFill>
              </a:rPr>
              <a:t> updates all 175,401 neurons in parallel</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NEXT</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TRY IT YOURSELF</a:t>
            </a:r>
            <a:endParaRPr lang="en-US" sz="1600" dirty="0"/>
          </a:p>
        </p:txBody>
      </p:sp>
      <p:sp>
        <p:nvSpPr>
          <p:cNvPr id="4" name="cmd-0"/>
          <p:cNvSpPr/>
          <p:nvPr/>
        </p:nvSpPr>
        <p:spPr>
          <a:xfrm>
            <a:off x="502920" y="1051560"/>
            <a:ext cx="8138160" cy="8686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cmd-0-h"/>
          <p:cNvSpPr txBox="1"/>
          <p:nvPr/>
        </p:nvSpPr>
        <p:spPr>
          <a:xfrm>
            <a:off x="713232" y="1161288"/>
            <a:ext cx="2651760" cy="274320"/>
          </a:xfrm>
          <a:prstGeom prst="rect">
            <a:avLst/>
          </a:prstGeom>
          <a:noFill/>
          <a:ln/>
        </p:spPr>
        <p:txBody>
          <a:bodyPr wrap="square" lIns="0" tIns="0" rIns="0" bIns="0" rtlCol="0" anchor="t"/>
          <a:lstStyle/>
          <a:p>
            <a:pPr marL="0" indent="0">
              <a:buNone/>
            </a:pPr>
            <a:r>
              <a:rPr lang="en-US" sz="1400" b="1" dirty="0">
                <a:solidFill>
                  <a:srgbClr val="2FD3C4"/>
                </a:solidFill>
              </a:rPr>
              <a:t>Explore the brain</a:t>
            </a:r>
            <a:endParaRPr lang="en-US" sz="1400" dirty="0"/>
          </a:p>
        </p:txBody>
      </p:sp>
      <p:sp>
        <p:nvSpPr>
          <p:cNvPr id="6" name="cmd-0-d"/>
          <p:cNvSpPr txBox="1"/>
          <p:nvPr/>
        </p:nvSpPr>
        <p:spPr>
          <a:xfrm>
            <a:off x="3383280" y="1179576"/>
            <a:ext cx="5120640" cy="274320"/>
          </a:xfrm>
          <a:prstGeom prst="rect">
            <a:avLst/>
          </a:prstGeom>
          <a:noFill/>
          <a:ln/>
        </p:spPr>
        <p:txBody>
          <a:bodyPr wrap="square" lIns="0" tIns="0" rIns="0" bIns="0" rtlCol="0" anchor="t"/>
          <a:lstStyle/>
          <a:p>
            <a:pPr marL="0" indent="0">
              <a:buNone/>
            </a:pPr>
            <a:r>
              <a:rPr lang="en-US" sz="1100" dirty="0">
                <a:solidFill>
                  <a:srgbClr val="A1A1AA"/>
                </a:solidFill>
              </a:rPr>
              <a:t>3D view of every neuron and the flight neurons</a:t>
            </a:r>
            <a:endParaRPr lang="en-US" sz="1100" dirty="0"/>
          </a:p>
        </p:txBody>
      </p:sp>
      <p:sp>
        <p:nvSpPr>
          <p:cNvPr id="7" name="cmd-0-c"/>
          <p:cNvSpPr txBox="1"/>
          <p:nvPr/>
        </p:nvSpPr>
        <p:spPr>
          <a:xfrm>
            <a:off x="713232" y="1490472"/>
            <a:ext cx="7772400" cy="384048"/>
          </a:xfrm>
          <a:prstGeom prst="rect">
            <a:avLst/>
          </a:prstGeom>
          <a:noFill/>
          <a:ln/>
        </p:spPr>
        <p:txBody>
          <a:bodyPr wrap="square" lIns="0" tIns="0" rIns="0" bIns="0" rtlCol="0" anchor="t"/>
          <a:lstStyle/>
          <a:p>
            <a:pPr marL="0" indent="0">
              <a:buNone/>
            </a:pPr>
            <a:r>
              <a:rPr lang="en-US" sz="900" dirty="0">
                <a:solidFill>
                  <a:srgbClr val="FAFAFA"/>
                </a:solidFill>
                <a:latin typeface="Consolas" pitchFamily="34" charset="0"/>
                <a:ea typeface="Consolas" pitchFamily="34" charset="-122"/>
                <a:cs typeface="Consolas" pitchFamily="34" charset="-120"/>
              </a:rPr>
              <a:t>cd explorer; npm run dev</a:t>
            </a:r>
            <a:endParaRPr lang="en-US" sz="900" dirty="0"/>
          </a:p>
        </p:txBody>
      </p:sp>
      <p:sp>
        <p:nvSpPr>
          <p:cNvPr id="8" name="cmd-1"/>
          <p:cNvSpPr/>
          <p:nvPr/>
        </p:nvSpPr>
        <p:spPr>
          <a:xfrm>
            <a:off x="502920" y="2057400"/>
            <a:ext cx="8138160" cy="8686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9" name="cmd-1-h"/>
          <p:cNvSpPr txBox="1"/>
          <p:nvPr/>
        </p:nvSpPr>
        <p:spPr>
          <a:xfrm>
            <a:off x="713232" y="2167128"/>
            <a:ext cx="2651760" cy="274320"/>
          </a:xfrm>
          <a:prstGeom prst="rect">
            <a:avLst/>
          </a:prstGeom>
          <a:noFill/>
          <a:ln/>
        </p:spPr>
        <p:txBody>
          <a:bodyPr wrap="square" lIns="0" tIns="0" rIns="0" bIns="0" rtlCol="0" anchor="t"/>
          <a:lstStyle/>
          <a:p>
            <a:pPr marL="0" indent="0">
              <a:buNone/>
            </a:pPr>
            <a:r>
              <a:rPr lang="en-US" sz="1400" b="1" dirty="0">
                <a:solidFill>
                  <a:srgbClr val="FF2D6F"/>
                </a:solidFill>
              </a:rPr>
              <a:t>Watch it fly</a:t>
            </a:r>
            <a:endParaRPr lang="en-US" sz="1400" dirty="0"/>
          </a:p>
        </p:txBody>
      </p:sp>
      <p:sp>
        <p:nvSpPr>
          <p:cNvPr id="10" name="cmd-1-d"/>
          <p:cNvSpPr txBox="1"/>
          <p:nvPr/>
        </p:nvSpPr>
        <p:spPr>
          <a:xfrm>
            <a:off x="3383280" y="2185416"/>
            <a:ext cx="5120640" cy="274320"/>
          </a:xfrm>
          <a:prstGeom prst="rect">
            <a:avLst/>
          </a:prstGeom>
          <a:noFill/>
          <a:ln/>
        </p:spPr>
        <p:txBody>
          <a:bodyPr wrap="square" lIns="0" tIns="0" rIns="0" bIns="0" rtlCol="0" anchor="t"/>
          <a:lstStyle/>
          <a:p>
            <a:pPr marL="0" indent="0">
              <a:buNone/>
            </a:pPr>
            <a:r>
              <a:rPr lang="en-US" sz="1100" dirty="0">
                <a:solidFill>
                  <a:srgbClr val="A1A1AA"/>
                </a:solidFill>
              </a:rPr>
              <a:t>the drone flies, the fly brain lights up next to it</a:t>
            </a:r>
            <a:endParaRPr lang="en-US" sz="1100" dirty="0"/>
          </a:p>
        </p:txBody>
      </p:sp>
      <p:sp>
        <p:nvSpPr>
          <p:cNvPr id="11" name="cmd-1-c"/>
          <p:cNvSpPr txBox="1"/>
          <p:nvPr/>
        </p:nvSpPr>
        <p:spPr>
          <a:xfrm>
            <a:off x="713232" y="2496312"/>
            <a:ext cx="7772400" cy="384048"/>
          </a:xfrm>
          <a:prstGeom prst="rect">
            <a:avLst/>
          </a:prstGeom>
          <a:noFill/>
          <a:ln/>
        </p:spPr>
        <p:txBody>
          <a:bodyPr wrap="square" lIns="0" tIns="0" rIns="0" bIns="0" rtlCol="0" anchor="t"/>
          <a:lstStyle/>
          <a:p>
            <a:pPr marL="0" indent="0">
              <a:buNone/>
            </a:pPr>
            <a:r>
              <a:rPr lang="en-US" sz="900" dirty="0">
                <a:solidFill>
                  <a:srgbClr val="FAFAFA"/>
                </a:solidFill>
                <a:latin typeface="Consolas" pitchFamily="34" charset="0"/>
                <a:ea typeface="Consolas" pitchFamily="34" charset="-122"/>
                <a:cs typeface="Consolas" pitchFamily="34" charset="-120"/>
              </a:rPr>
              <a:t>python -m sim.run_env --banc data/decoders/world_distributed_best.npz --beacon-scale 4 --vision-range 4 --sensors real --motor-tau 0.04</a:t>
            </a:r>
            <a:endParaRPr lang="en-US" sz="900" dirty="0"/>
          </a:p>
        </p:txBody>
      </p:sp>
      <p:sp>
        <p:nvSpPr>
          <p:cNvPr id="12" name="cmd-2"/>
          <p:cNvSpPr/>
          <p:nvPr/>
        </p:nvSpPr>
        <p:spPr>
          <a:xfrm>
            <a:off x="502920" y="3063240"/>
            <a:ext cx="8138160" cy="86868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3" name="cmd-2-h"/>
          <p:cNvSpPr txBox="1"/>
          <p:nvPr/>
        </p:nvSpPr>
        <p:spPr>
          <a:xfrm>
            <a:off x="713232" y="3172968"/>
            <a:ext cx="2651760" cy="274320"/>
          </a:xfrm>
          <a:prstGeom prst="rect">
            <a:avLst/>
          </a:prstGeom>
          <a:noFill/>
          <a:ln/>
        </p:spPr>
        <p:txBody>
          <a:bodyPr wrap="square" lIns="0" tIns="0" rIns="0" bIns="0" rtlCol="0" anchor="t"/>
          <a:lstStyle/>
          <a:p>
            <a:pPr marL="0" indent="0">
              <a:buNone/>
            </a:pPr>
            <a:r>
              <a:rPr lang="en-US" sz="1400" b="1" dirty="0">
                <a:solidFill>
                  <a:srgbClr val="FFB547"/>
                </a:solidFill>
              </a:rPr>
              <a:t>Record a demo</a:t>
            </a:r>
            <a:endParaRPr lang="en-US" sz="1400" dirty="0"/>
          </a:p>
        </p:txBody>
      </p:sp>
      <p:sp>
        <p:nvSpPr>
          <p:cNvPr id="14" name="cmd-2-d"/>
          <p:cNvSpPr txBox="1"/>
          <p:nvPr/>
        </p:nvSpPr>
        <p:spPr>
          <a:xfrm>
            <a:off x="3383280" y="3191256"/>
            <a:ext cx="5120640" cy="274320"/>
          </a:xfrm>
          <a:prstGeom prst="rect">
            <a:avLst/>
          </a:prstGeom>
          <a:noFill/>
          <a:ln/>
        </p:spPr>
        <p:txBody>
          <a:bodyPr wrap="square" lIns="0" tIns="0" rIns="0" bIns="0" rtlCol="0" anchor="t"/>
          <a:lstStyle/>
          <a:p>
            <a:pPr marL="0" indent="0">
              <a:buNone/>
            </a:pPr>
            <a:r>
              <a:rPr lang="en-US" sz="1100" dirty="0">
                <a:solidFill>
                  <a:srgbClr val="A1A1AA"/>
                </a:solidFill>
              </a:rPr>
              <a:t>save a video of drone, eyes and brain</a:t>
            </a:r>
            <a:endParaRPr lang="en-US" sz="1100" dirty="0"/>
          </a:p>
        </p:txBody>
      </p:sp>
      <p:sp>
        <p:nvSpPr>
          <p:cNvPr id="15" name="cmd-2-c"/>
          <p:cNvSpPr txBox="1"/>
          <p:nvPr/>
        </p:nvSpPr>
        <p:spPr>
          <a:xfrm>
            <a:off x="713232" y="3502152"/>
            <a:ext cx="7772400" cy="384048"/>
          </a:xfrm>
          <a:prstGeom prst="rect">
            <a:avLst/>
          </a:prstGeom>
          <a:noFill/>
          <a:ln/>
        </p:spPr>
        <p:txBody>
          <a:bodyPr wrap="square" lIns="0" tIns="0" rIns="0" bIns="0" rtlCol="0" anchor="t"/>
          <a:lstStyle/>
          <a:p>
            <a:pPr marL="0" indent="0">
              <a:buNone/>
            </a:pPr>
            <a:r>
              <a:rPr lang="en-US" sz="900" dirty="0">
                <a:solidFill>
                  <a:srgbClr val="FAFAFA"/>
                </a:solidFill>
                <a:latin typeface="Consolas" pitchFamily="34" charset="0"/>
                <a:ea typeface="Consolas" pitchFamily="34" charset="-122"/>
                <a:cs typeface="Consolas" pitchFamily="34" charset="-120"/>
              </a:rPr>
              <a:t>python scripts/fly_banc.py --local --decoder data/decoders/planB_dn.npz --thrust hold --brain --video demo.mp4</a:t>
            </a:r>
            <a:endParaRPr lang="en-US" sz="900" dirty="0"/>
          </a:p>
        </p:txBody>
      </p:sp>
      <p:sp>
        <p:nvSpPr>
          <p:cNvPr id="16" name="setup"/>
          <p:cNvSpPr txBox="1"/>
          <p:nvPr/>
        </p:nvSpPr>
        <p:spPr>
          <a:xfrm>
            <a:off x="502920" y="4114800"/>
            <a:ext cx="8138160" cy="237744"/>
          </a:xfrm>
          <a:prstGeom prst="rect">
            <a:avLst/>
          </a:prstGeom>
          <a:noFill/>
          <a:ln/>
        </p:spPr>
        <p:txBody>
          <a:bodyPr wrap="square" lIns="0" tIns="0" rIns="0" bIns="0" rtlCol="0" anchor="t"/>
          <a:lstStyle/>
          <a:p>
            <a:pPr marL="0" indent="0">
              <a:buNone/>
            </a:pPr>
            <a:r>
              <a:rPr lang="en-US" sz="1000" dirty="0">
                <a:solidFill>
                  <a:srgbClr val="A1A1AA"/>
                </a:solidFill>
              </a:rPr>
              <a:t>Setup:   pip install -e .[all]      python scripts/download_banc.py      flyvis download-pretrained      python scripts/doctor.py</a:t>
            </a:r>
            <a:endParaRPr lang="en-US" sz="10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render-bg" descr="C:\NeuroFly\docs\prezentacja\assets\connectome_wide.jpg"/>
          <p:cNvPicPr>
            <a:picLocks noChangeAspect="1"/>
          </p:cNvPicPr>
          <p:nvPr/>
        </p:nvPicPr>
        <p:blipFill>
          <a:blip r:embed="rId3">
            <a:alphaModFix amt="65000"/>
          </a:blip>
          <a:stretch>
            <a:fillRect/>
          </a:stretch>
        </p:blipFill>
        <p:spPr>
          <a:xfrm>
            <a:off x="3749040" y="685800"/>
            <a:ext cx="5394960" cy="2697480"/>
          </a:xfrm>
          <a:prstGeom prst="rect">
            <a:avLst/>
          </a:prstGeom>
        </p:spPr>
      </p:pic>
      <p:pic>
        <p:nvPicPr>
          <p:cNvPr id="3" name="logo" descr="C:\NeuroFly\docs\prezentacja\assets\logo.png"/>
          <p:cNvPicPr>
            <a:picLocks noChangeAspect="1"/>
          </p:cNvPicPr>
          <p:nvPr/>
        </p:nvPicPr>
        <p:blipFill>
          <a:blip r:embed="rId4"/>
          <a:stretch>
            <a:fillRect/>
          </a:stretch>
        </p:blipFill>
        <p:spPr>
          <a:xfrm>
            <a:off x="548640" y="1005840"/>
            <a:ext cx="914400" cy="539496"/>
          </a:xfrm>
          <a:prstGeom prst="rect">
            <a:avLst/>
          </a:prstGeom>
        </p:spPr>
      </p:pic>
      <p:sp>
        <p:nvSpPr>
          <p:cNvPr id="4" name="eyebrow"/>
          <p:cNvSpPr txBox="1"/>
          <p:nvPr/>
        </p:nvSpPr>
        <p:spPr>
          <a:xfrm>
            <a:off x="548640" y="1691640"/>
            <a:ext cx="4114800" cy="201168"/>
          </a:xfrm>
          <a:prstGeom prst="rect">
            <a:avLst/>
          </a:prstGeom>
          <a:noFill/>
          <a:ln/>
        </p:spPr>
        <p:txBody>
          <a:bodyPr wrap="square" lIns="0" tIns="0" rIns="0" bIns="0" rtlCol="0" anchor="t"/>
          <a:lstStyle/>
          <a:p>
            <a:pPr marL="0" indent="0">
              <a:buNone/>
            </a:pPr>
            <a:r>
              <a:rPr lang="en-US" sz="800" kern="0" spc="500" dirty="0">
                <a:solidFill>
                  <a:srgbClr val="FF2D6F"/>
                </a:solidFill>
              </a:rPr>
              <a:t>NEUROFLY   HACKYEAH</a:t>
            </a:r>
            <a:endParaRPr lang="en-US" sz="800" dirty="0"/>
          </a:p>
        </p:txBody>
      </p:sp>
      <p:sp>
        <p:nvSpPr>
          <p:cNvPr id="5" name="thanks"/>
          <p:cNvSpPr txBox="1"/>
          <p:nvPr/>
        </p:nvSpPr>
        <p:spPr>
          <a:xfrm>
            <a:off x="548640" y="1938528"/>
            <a:ext cx="4754880" cy="731520"/>
          </a:xfrm>
          <a:prstGeom prst="rect">
            <a:avLst/>
          </a:prstGeom>
          <a:noFill/>
          <a:ln/>
        </p:spPr>
        <p:txBody>
          <a:bodyPr wrap="square" lIns="0" tIns="0" rIns="0" bIns="0" rtlCol="0" anchor="t"/>
          <a:lstStyle/>
          <a:p>
            <a:pPr marL="0" indent="0">
              <a:buNone/>
            </a:pPr>
            <a:r>
              <a:rPr lang="en-US" sz="3600" kern="0" spc="200" dirty="0">
                <a:solidFill>
                  <a:srgbClr val="FAFAFA"/>
                </a:solidFill>
                <a:latin typeface="Michroma" pitchFamily="34" charset="0"/>
                <a:ea typeface="Michroma" pitchFamily="34" charset="-122"/>
                <a:cs typeface="Michroma" pitchFamily="34" charset="-120"/>
              </a:rPr>
              <a:t>THANK YOU</a:t>
            </a:r>
            <a:endParaRPr lang="en-US" sz="3600" dirty="0"/>
          </a:p>
        </p:txBody>
      </p:sp>
      <p:pic>
        <p:nvPicPr>
          <p:cNvPr id="6" name="accent-line" descr="C:\NeuroFly\docs\prezentacja\assets\accent_line.png"/>
          <p:cNvPicPr>
            <a:picLocks noChangeAspect="1"/>
          </p:cNvPicPr>
          <p:nvPr/>
        </p:nvPicPr>
        <p:blipFill>
          <a:blip r:embed="rId5"/>
          <a:stretch>
            <a:fillRect/>
          </a:stretch>
        </p:blipFill>
        <p:spPr>
          <a:xfrm>
            <a:off x="548640" y="2697480"/>
            <a:ext cx="45720" cy="731520"/>
          </a:xfrm>
          <a:prstGeom prst="rect">
            <a:avLst/>
          </a:prstGeom>
        </p:spPr>
      </p:pic>
      <p:sp>
        <p:nvSpPr>
          <p:cNvPr id="7" name="demo"/>
          <p:cNvSpPr txBox="1"/>
          <p:nvPr/>
        </p:nvSpPr>
        <p:spPr>
          <a:xfrm>
            <a:off x="777240" y="2724912"/>
            <a:ext cx="3291840" cy="685800"/>
          </a:xfrm>
          <a:prstGeom prst="rect">
            <a:avLst/>
          </a:prstGeom>
          <a:noFill/>
          <a:ln/>
        </p:spPr>
        <p:txBody>
          <a:bodyPr wrap="square" lIns="0" tIns="0" rIns="0" bIns="0" rtlCol="0" anchor="t"/>
          <a:lstStyle/>
          <a:p>
            <a:pPr marL="0" indent="0">
              <a:buNone/>
            </a:pPr>
            <a:r>
              <a:rPr lang="en-US" sz="1500" dirty="0">
                <a:solidFill>
                  <a:srgbClr val="A1A1AA"/>
                </a:solidFill>
              </a:rPr>
              <a:t>A real fly brain chose the heading.</a:t>
            </a:r>
            <a:endParaRPr lang="en-US" sz="1500" dirty="0"/>
          </a:p>
          <a:p>
            <a:pPr marL="0" indent="0">
              <a:buNone/>
            </a:pPr>
            <a:r>
              <a:rPr lang="en-US" sz="1500" dirty="0">
                <a:solidFill>
                  <a:srgbClr val="A1A1AA"/>
                </a:solidFill>
              </a:rPr>
              <a:t>Live demo: BANC panel in flight.</a:t>
            </a:r>
            <a:endParaRPr lang="en-US" sz="1500" dirty="0"/>
          </a:p>
        </p:txBody>
      </p:sp>
      <p:sp>
        <p:nvSpPr>
          <p:cNvPr id="8" name="repo"/>
          <p:cNvSpPr txBox="1"/>
          <p:nvPr/>
        </p:nvSpPr>
        <p:spPr>
          <a:xfrm>
            <a:off x="548640" y="4206240"/>
            <a:ext cx="5486400" cy="274320"/>
          </a:xfrm>
          <a:prstGeom prst="rect">
            <a:avLst/>
          </a:prstGeom>
          <a:noFill/>
          <a:ln/>
        </p:spPr>
        <p:txBody>
          <a:bodyPr wrap="square" lIns="0" tIns="0" rIns="0" bIns="0" rtlCol="0" anchor="t"/>
          <a:lstStyle/>
          <a:p>
            <a:pPr marL="0" indent="0">
              <a:buNone/>
            </a:pPr>
            <a:r>
              <a:rPr lang="en-US" sz="900" kern="0" spc="400" dirty="0">
                <a:solidFill>
                  <a:srgbClr val="FF2D6F"/>
                </a:solidFill>
              </a:rPr>
              <a:t>GITHUB.COM/FALCONDEVX/NEUROFLY</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APPENDIX</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DETAILS: THE BRAIN EQUATION</a:t>
            </a:r>
            <a:endParaRPr lang="en-US" sz="1600" dirty="0"/>
          </a:p>
        </p:txBody>
      </p:sp>
      <p:sp>
        <p:nvSpPr>
          <p:cNvPr id="4" name="eq-card"/>
          <p:cNvSpPr/>
          <p:nvPr/>
        </p:nvSpPr>
        <p:spPr>
          <a:xfrm>
            <a:off x="502920" y="1051560"/>
            <a:ext cx="4846320" cy="91440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eq"/>
          <p:cNvSpPr txBox="1"/>
          <p:nvPr/>
        </p:nvSpPr>
        <p:spPr>
          <a:xfrm>
            <a:off x="502920" y="1161288"/>
            <a:ext cx="4846320" cy="411480"/>
          </a:xfrm>
          <a:prstGeom prst="rect">
            <a:avLst/>
          </a:prstGeom>
          <a:noFill/>
          <a:ln/>
        </p:spPr>
        <p:txBody>
          <a:bodyPr wrap="square" lIns="0" tIns="0" rIns="0" bIns="0" rtlCol="0" anchor="t"/>
          <a:lstStyle/>
          <a:p>
            <a:pPr marL="0" indent="0" algn="ctr">
              <a:buNone/>
            </a:pPr>
            <a:r>
              <a:rPr lang="en-US" sz="2000" i="1" dirty="0">
                <a:solidFill>
                  <a:srgbClr val="FAFAFA"/>
                </a:solidFill>
                <a:latin typeface="Cambria Math" pitchFamily="34" charset="0"/>
                <a:ea typeface="Cambria Math" pitchFamily="34" charset="-122"/>
                <a:cs typeface="Cambria Math" pitchFamily="34" charset="-120"/>
              </a:rPr>
              <a:t>τ</a:t>
            </a:r>
            <a:r>
              <a:rPr lang="en-US" sz="2000" dirty="0">
                <a:solidFill>
                  <a:srgbClr val="FAFAFA"/>
                </a:solidFill>
                <a:latin typeface="Cambria Math" pitchFamily="34" charset="0"/>
                <a:ea typeface="Cambria Math" pitchFamily="34" charset="-122"/>
                <a:cs typeface="Cambria Math" pitchFamily="34" charset="-120"/>
              </a:rPr>
              <a:t> </a:t>
            </a:r>
            <a:r>
              <a:rPr lang="en-US" sz="2000" i="1" dirty="0">
                <a:solidFill>
                  <a:srgbClr val="FAFAFA"/>
                </a:solidFill>
                <a:latin typeface="Cambria Math" pitchFamily="34" charset="0"/>
                <a:ea typeface="Cambria Math" pitchFamily="34" charset="-122"/>
                <a:cs typeface="Cambria Math" pitchFamily="34" charset="-120"/>
              </a:rPr>
              <a:t>dr</a:t>
            </a:r>
            <a:r>
              <a:rPr lang="en-US" sz="2000" dirty="0">
                <a:solidFill>
                  <a:srgbClr val="FAFAFA"/>
                </a:solidFill>
                <a:latin typeface="Cambria Math" pitchFamily="34" charset="0"/>
                <a:ea typeface="Cambria Math" pitchFamily="34" charset="-122"/>
                <a:cs typeface="Cambria Math" pitchFamily="34" charset="-120"/>
              </a:rPr>
              <a:t> / </a:t>
            </a:r>
            <a:r>
              <a:rPr lang="en-US" sz="2000" i="1" dirty="0">
                <a:solidFill>
                  <a:srgbClr val="FAFAFA"/>
                </a:solidFill>
                <a:latin typeface="Cambria Math" pitchFamily="34" charset="0"/>
                <a:ea typeface="Cambria Math" pitchFamily="34" charset="-122"/>
                <a:cs typeface="Cambria Math" pitchFamily="34" charset="-120"/>
              </a:rPr>
              <a:t>dt</a:t>
            </a:r>
            <a:r>
              <a:rPr lang="en-US" sz="2000" dirty="0">
                <a:solidFill>
                  <a:srgbClr val="FAFAFA"/>
                </a:solidFill>
                <a:latin typeface="Cambria Math" pitchFamily="34" charset="0"/>
                <a:ea typeface="Cambria Math" pitchFamily="34" charset="-122"/>
                <a:cs typeface="Cambria Math" pitchFamily="34" charset="-120"/>
              </a:rPr>
              <a:t>  =  − </a:t>
            </a:r>
            <a:r>
              <a:rPr lang="en-US" sz="2000" i="1" dirty="0">
                <a:solidFill>
                  <a:srgbClr val="FAFAFA"/>
                </a:solidFill>
                <a:latin typeface="Cambria Math" pitchFamily="34" charset="0"/>
                <a:ea typeface="Cambria Math" pitchFamily="34" charset="-122"/>
                <a:cs typeface="Cambria Math" pitchFamily="34" charset="-120"/>
              </a:rPr>
              <a:t>r</a:t>
            </a:r>
            <a:r>
              <a:rPr lang="en-US" sz="2000" dirty="0">
                <a:solidFill>
                  <a:srgbClr val="FAFAFA"/>
                </a:solidFill>
                <a:latin typeface="Cambria Math" pitchFamily="34" charset="0"/>
                <a:ea typeface="Cambria Math" pitchFamily="34" charset="-122"/>
                <a:cs typeface="Cambria Math" pitchFamily="34" charset="-120"/>
              </a:rPr>
              <a:t>  +  tanh( relu( </a:t>
            </a:r>
            <a:r>
              <a:rPr lang="en-US" sz="2000" i="1" dirty="0">
                <a:solidFill>
                  <a:srgbClr val="FAFAFA"/>
                </a:solidFill>
                <a:latin typeface="Cambria Math" pitchFamily="34" charset="0"/>
                <a:ea typeface="Cambria Math" pitchFamily="34" charset="-122"/>
                <a:cs typeface="Cambria Math" pitchFamily="34" charset="-120"/>
              </a:rPr>
              <a:t>g W r</a:t>
            </a:r>
            <a:r>
              <a:rPr lang="en-US" sz="2000" dirty="0">
                <a:solidFill>
                  <a:srgbClr val="FAFAFA"/>
                </a:solidFill>
                <a:latin typeface="Cambria Math" pitchFamily="34" charset="0"/>
                <a:ea typeface="Cambria Math" pitchFamily="34" charset="-122"/>
                <a:cs typeface="Cambria Math" pitchFamily="34" charset="-120"/>
              </a:rPr>
              <a:t>  +  </a:t>
            </a:r>
            <a:r>
              <a:rPr lang="en-US" sz="2000" i="1" dirty="0">
                <a:solidFill>
                  <a:srgbClr val="FAFAFA"/>
                </a:solidFill>
                <a:latin typeface="Cambria Math" pitchFamily="34" charset="0"/>
                <a:ea typeface="Cambria Math" pitchFamily="34" charset="-122"/>
                <a:cs typeface="Cambria Math" pitchFamily="34" charset="-120"/>
              </a:rPr>
              <a:t>I</a:t>
            </a:r>
            <a:r>
              <a:rPr lang="en-US" sz="2000" dirty="0">
                <a:solidFill>
                  <a:srgbClr val="FAFAFA"/>
                </a:solidFill>
                <a:latin typeface="Cambria Math" pitchFamily="34" charset="0"/>
                <a:ea typeface="Cambria Math" pitchFamily="34" charset="-122"/>
                <a:cs typeface="Cambria Math" pitchFamily="34" charset="-120"/>
              </a:rPr>
              <a:t> ) )</a:t>
            </a:r>
            <a:endParaRPr lang="en-US" sz="2000" dirty="0"/>
          </a:p>
        </p:txBody>
      </p:sp>
      <p:sp>
        <p:nvSpPr>
          <p:cNvPr id="6" name="eq-note"/>
          <p:cNvSpPr txBox="1"/>
          <p:nvPr/>
        </p:nvSpPr>
        <p:spPr>
          <a:xfrm>
            <a:off x="502920" y="1627632"/>
            <a:ext cx="4846320" cy="228600"/>
          </a:xfrm>
          <a:prstGeom prst="rect">
            <a:avLst/>
          </a:prstGeom>
          <a:noFill/>
          <a:ln/>
        </p:spPr>
        <p:txBody>
          <a:bodyPr wrap="square" lIns="0" tIns="0" rIns="0" bIns="0" rtlCol="0" anchor="t"/>
          <a:lstStyle/>
          <a:p>
            <a:pPr marL="0" indent="0" algn="ctr">
              <a:buNone/>
            </a:pPr>
            <a:r>
              <a:rPr lang="en-US" sz="1000" dirty="0">
                <a:solidFill>
                  <a:srgbClr val="A1A1AA"/>
                </a:solidFill>
              </a:rPr>
              <a:t>computed in steps of dt = 5 ms, 4 steps per camera frame</a:t>
            </a:r>
            <a:endParaRPr lang="en-US" sz="1000" dirty="0"/>
          </a:p>
        </p:txBody>
      </p:sp>
      <p:sp>
        <p:nvSpPr>
          <p:cNvPr id="7" name="k-0"/>
          <p:cNvSpPr txBox="1"/>
          <p:nvPr/>
        </p:nvSpPr>
        <p:spPr>
          <a:xfrm>
            <a:off x="502920" y="2194560"/>
            <a:ext cx="1005840" cy="365760"/>
          </a:xfrm>
          <a:prstGeom prst="rect">
            <a:avLst/>
          </a:prstGeom>
          <a:noFill/>
          <a:ln/>
        </p:spPr>
        <p:txBody>
          <a:bodyPr wrap="square" lIns="0" tIns="0" rIns="0" bIns="0" rtlCol="0" anchor="t"/>
          <a:lstStyle/>
          <a:p>
            <a:pPr marL="0" indent="0">
              <a:buNone/>
            </a:pPr>
            <a:r>
              <a:rPr lang="en-US" sz="1400" b="1" dirty="0">
                <a:solidFill>
                  <a:srgbClr val="FF2D6F"/>
                </a:solidFill>
              </a:rPr>
              <a:t>W</a:t>
            </a:r>
            <a:endParaRPr lang="en-US" sz="1400" dirty="0"/>
          </a:p>
        </p:txBody>
      </p:sp>
      <p:sp>
        <p:nvSpPr>
          <p:cNvPr id="8" name="v-0"/>
          <p:cNvSpPr txBox="1"/>
          <p:nvPr/>
        </p:nvSpPr>
        <p:spPr>
          <a:xfrm>
            <a:off x="1554480" y="2194560"/>
            <a:ext cx="3794760" cy="411480"/>
          </a:xfrm>
          <a:prstGeom prst="rect">
            <a:avLst/>
          </a:prstGeom>
          <a:noFill/>
          <a:ln/>
        </p:spPr>
        <p:txBody>
          <a:bodyPr wrap="square" lIns="0" tIns="0" rIns="0" bIns="0" rtlCol="0" anchor="t"/>
          <a:lstStyle/>
          <a:p>
            <a:pPr marL="0" indent="0">
              <a:buNone/>
            </a:pPr>
            <a:r>
              <a:rPr lang="en-US" sz="1200" dirty="0">
                <a:solidFill>
                  <a:srgbClr val="FAFAFA"/>
                </a:solidFill>
              </a:rPr>
              <a:t>how strongly each neuron talks to each other one: synapse counts from BANC, plus or minus</a:t>
            </a:r>
            <a:endParaRPr lang="en-US" sz="1200" dirty="0"/>
          </a:p>
        </p:txBody>
      </p:sp>
      <p:sp>
        <p:nvSpPr>
          <p:cNvPr id="9" name="k-1"/>
          <p:cNvSpPr txBox="1"/>
          <p:nvPr/>
        </p:nvSpPr>
        <p:spPr>
          <a:xfrm>
            <a:off x="502920" y="2651760"/>
            <a:ext cx="1005840" cy="365760"/>
          </a:xfrm>
          <a:prstGeom prst="rect">
            <a:avLst/>
          </a:prstGeom>
          <a:noFill/>
          <a:ln/>
        </p:spPr>
        <p:txBody>
          <a:bodyPr wrap="square" lIns="0" tIns="0" rIns="0" bIns="0" rtlCol="0" anchor="t"/>
          <a:lstStyle/>
          <a:p>
            <a:pPr marL="0" indent="0">
              <a:buNone/>
            </a:pPr>
            <a:r>
              <a:rPr lang="en-US" sz="1400" b="1" dirty="0">
                <a:solidFill>
                  <a:srgbClr val="FF2D6F"/>
                </a:solidFill>
              </a:rPr>
              <a:t>τ, g</a:t>
            </a:r>
            <a:endParaRPr lang="en-US" sz="1400" dirty="0"/>
          </a:p>
        </p:txBody>
      </p:sp>
      <p:sp>
        <p:nvSpPr>
          <p:cNvPr id="10" name="v-1"/>
          <p:cNvSpPr txBox="1"/>
          <p:nvPr/>
        </p:nvSpPr>
        <p:spPr>
          <a:xfrm>
            <a:off x="1554480" y="2651760"/>
            <a:ext cx="3794760" cy="411480"/>
          </a:xfrm>
          <a:prstGeom prst="rect">
            <a:avLst/>
          </a:prstGeom>
          <a:noFill/>
          <a:ln/>
        </p:spPr>
        <p:txBody>
          <a:bodyPr wrap="square" lIns="0" tIns="0" rIns="0" bIns="0" rtlCol="0" anchor="t"/>
          <a:lstStyle/>
          <a:p>
            <a:pPr marL="0" indent="0">
              <a:buNone/>
            </a:pPr>
            <a:r>
              <a:rPr lang="en-US" sz="1200" dirty="0">
                <a:solidFill>
                  <a:srgbClr val="FAFAFA"/>
                </a:solidFill>
              </a:rPr>
              <a:t>how fast neurons react (20 ms) and overall strength (0.9)</a:t>
            </a:r>
            <a:endParaRPr lang="en-US" sz="1200" dirty="0"/>
          </a:p>
        </p:txBody>
      </p:sp>
      <p:sp>
        <p:nvSpPr>
          <p:cNvPr id="11" name="k-2"/>
          <p:cNvSpPr txBox="1"/>
          <p:nvPr/>
        </p:nvSpPr>
        <p:spPr>
          <a:xfrm>
            <a:off x="502920" y="3108960"/>
            <a:ext cx="1005840" cy="365760"/>
          </a:xfrm>
          <a:prstGeom prst="rect">
            <a:avLst/>
          </a:prstGeom>
          <a:noFill/>
          <a:ln/>
        </p:spPr>
        <p:txBody>
          <a:bodyPr wrap="square" lIns="0" tIns="0" rIns="0" bIns="0" rtlCol="0" anchor="t"/>
          <a:lstStyle/>
          <a:p>
            <a:pPr marL="0" indent="0">
              <a:buNone/>
            </a:pPr>
            <a:r>
              <a:rPr lang="en-US" sz="1400" b="1" dirty="0">
                <a:solidFill>
                  <a:srgbClr val="FF2D6F"/>
                </a:solidFill>
              </a:rPr>
              <a:t>I</a:t>
            </a:r>
            <a:endParaRPr lang="en-US" sz="1400" dirty="0"/>
          </a:p>
        </p:txBody>
      </p:sp>
      <p:sp>
        <p:nvSpPr>
          <p:cNvPr id="12" name="v-2"/>
          <p:cNvSpPr txBox="1"/>
          <p:nvPr/>
        </p:nvSpPr>
        <p:spPr>
          <a:xfrm>
            <a:off x="1554480" y="3108960"/>
            <a:ext cx="3794760" cy="411480"/>
          </a:xfrm>
          <a:prstGeom prst="rect">
            <a:avLst/>
          </a:prstGeom>
          <a:noFill/>
          <a:ln/>
        </p:spPr>
        <p:txBody>
          <a:bodyPr wrap="square" lIns="0" tIns="0" rIns="0" bIns="0" rtlCol="0" anchor="t"/>
          <a:lstStyle/>
          <a:p>
            <a:pPr marL="0" indent="0">
              <a:buNone/>
            </a:pPr>
            <a:r>
              <a:rPr lang="en-US" sz="1200" dirty="0">
                <a:solidFill>
                  <a:srgbClr val="FAFAFA"/>
                </a:solidFill>
              </a:rPr>
              <a:t>what comes in: vision from the eyes and rotation from the drone gyroscope</a:t>
            </a:r>
            <a:endParaRPr lang="en-US" sz="1200" dirty="0"/>
          </a:p>
        </p:txBody>
      </p:sp>
      <p:sp>
        <p:nvSpPr>
          <p:cNvPr id="13" name="k-3"/>
          <p:cNvSpPr txBox="1"/>
          <p:nvPr/>
        </p:nvSpPr>
        <p:spPr>
          <a:xfrm>
            <a:off x="502920" y="3566160"/>
            <a:ext cx="1005840" cy="365760"/>
          </a:xfrm>
          <a:prstGeom prst="rect">
            <a:avLst/>
          </a:prstGeom>
          <a:noFill/>
          <a:ln/>
        </p:spPr>
        <p:txBody>
          <a:bodyPr wrap="square" lIns="0" tIns="0" rIns="0" bIns="0" rtlCol="0" anchor="t"/>
          <a:lstStyle/>
          <a:p>
            <a:pPr marL="0" indent="0">
              <a:buNone/>
            </a:pPr>
            <a:r>
              <a:rPr lang="en-US" sz="1400" b="1" dirty="0">
                <a:solidFill>
                  <a:srgbClr val="FF2D6F"/>
                </a:solidFill>
              </a:rPr>
              <a:t>GPU</a:t>
            </a:r>
            <a:endParaRPr lang="en-US" sz="1400" dirty="0"/>
          </a:p>
        </p:txBody>
      </p:sp>
      <p:sp>
        <p:nvSpPr>
          <p:cNvPr id="14" name="v-3"/>
          <p:cNvSpPr txBox="1"/>
          <p:nvPr/>
        </p:nvSpPr>
        <p:spPr>
          <a:xfrm>
            <a:off x="1554480" y="3566160"/>
            <a:ext cx="3794760" cy="411480"/>
          </a:xfrm>
          <a:prstGeom prst="rect">
            <a:avLst/>
          </a:prstGeom>
          <a:noFill/>
          <a:ln/>
        </p:spPr>
        <p:txBody>
          <a:bodyPr wrap="square" lIns="0" tIns="0" rIns="0" bIns="0" rtlCol="0" anchor="t"/>
          <a:lstStyle/>
          <a:p>
            <a:pPr marL="0" indent="0">
              <a:buNone/>
            </a:pPr>
            <a:r>
              <a:rPr lang="en-US" sz="1200" dirty="0">
                <a:solidFill>
                  <a:srgbClr val="FAFAFA"/>
                </a:solidFill>
              </a:rPr>
              <a:t>the whole brain is updated in 2.6 ms on a laptop graphics card</a:t>
            </a:r>
            <a:endParaRPr lang="en-US" sz="1200" dirty="0"/>
          </a:p>
        </p:txBody>
      </p:sp>
      <p:sp>
        <p:nvSpPr>
          <p:cNvPr id="15" name="sign-card"/>
          <p:cNvSpPr/>
          <p:nvPr/>
        </p:nvSpPr>
        <p:spPr>
          <a:xfrm>
            <a:off x="5669280" y="1051560"/>
            <a:ext cx="3017520" cy="301752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6" name="sign-title"/>
          <p:cNvSpPr txBox="1"/>
          <p:nvPr/>
        </p:nvSpPr>
        <p:spPr>
          <a:xfrm>
            <a:off x="5897880" y="1234440"/>
            <a:ext cx="2560320" cy="320040"/>
          </a:xfrm>
          <a:prstGeom prst="rect">
            <a:avLst/>
          </a:prstGeom>
          <a:noFill/>
          <a:ln/>
        </p:spPr>
        <p:txBody>
          <a:bodyPr wrap="square" lIns="0" tIns="0" rIns="0" bIns="0" rtlCol="0" anchor="t"/>
          <a:lstStyle/>
          <a:p>
            <a:pPr marL="0" indent="0">
              <a:buNone/>
            </a:pPr>
            <a:r>
              <a:rPr lang="en-US" sz="1500" b="1" dirty="0">
                <a:solidFill>
                  <a:srgbClr val="FAFAFA"/>
                </a:solidFill>
              </a:rPr>
              <a:t>Excite or calm down</a:t>
            </a:r>
            <a:endParaRPr lang="en-US" sz="1500" dirty="0"/>
          </a:p>
        </p:txBody>
      </p:sp>
      <p:sp>
        <p:nvSpPr>
          <p:cNvPr id="17" name="sg-ach-label"/>
          <p:cNvSpPr txBox="1"/>
          <p:nvPr/>
        </p:nvSpPr>
        <p:spPr>
          <a:xfrm>
            <a:off x="5897880" y="1691640"/>
            <a:ext cx="2743200" cy="237744"/>
          </a:xfrm>
          <a:prstGeom prst="rect">
            <a:avLst/>
          </a:prstGeom>
          <a:noFill/>
          <a:ln/>
        </p:spPr>
        <p:txBody>
          <a:bodyPr wrap="square" lIns="0" tIns="0" rIns="0" bIns="0" rtlCol="0" anchor="t"/>
          <a:lstStyle/>
          <a:p>
            <a:pPr marL="0" indent="0">
              <a:buNone/>
            </a:pPr>
            <a:r>
              <a:rPr lang="en-US" sz="1100" b="1" dirty="0">
                <a:solidFill>
                  <a:srgbClr val="2FD3C4"/>
                </a:solidFill>
              </a:rPr>
              <a:t>ACh: excites the next neuron</a:t>
            </a:r>
            <a:endParaRPr lang="en-US" sz="1100" dirty="0"/>
          </a:p>
        </p:txBody>
      </p:sp>
      <p:sp>
        <p:nvSpPr>
          <p:cNvPr id="18" name="sg-gaba-label"/>
          <p:cNvSpPr txBox="1"/>
          <p:nvPr/>
        </p:nvSpPr>
        <p:spPr>
          <a:xfrm>
            <a:off x="5897880" y="2011680"/>
            <a:ext cx="2743200" cy="237744"/>
          </a:xfrm>
          <a:prstGeom prst="rect">
            <a:avLst/>
          </a:prstGeom>
          <a:noFill/>
          <a:ln/>
        </p:spPr>
        <p:txBody>
          <a:bodyPr wrap="square" lIns="0" tIns="0" rIns="0" bIns="0" rtlCol="0" anchor="t"/>
          <a:lstStyle/>
          <a:p>
            <a:pPr marL="0" indent="0">
              <a:buNone/>
            </a:pPr>
            <a:r>
              <a:rPr lang="en-US" sz="1100" b="1" dirty="0">
                <a:solidFill>
                  <a:srgbClr val="FF4FB0"/>
                </a:solidFill>
              </a:rPr>
              <a:t>GABA: calms it down</a:t>
            </a:r>
            <a:endParaRPr lang="en-US" sz="1100" dirty="0"/>
          </a:p>
        </p:txBody>
      </p:sp>
      <p:sp>
        <p:nvSpPr>
          <p:cNvPr id="19" name="sg-glu-label"/>
          <p:cNvSpPr txBox="1"/>
          <p:nvPr/>
        </p:nvSpPr>
        <p:spPr>
          <a:xfrm>
            <a:off x="5897880" y="2331720"/>
            <a:ext cx="2743200" cy="237744"/>
          </a:xfrm>
          <a:prstGeom prst="rect">
            <a:avLst/>
          </a:prstGeom>
          <a:noFill/>
          <a:ln/>
        </p:spPr>
        <p:txBody>
          <a:bodyPr wrap="square" lIns="0" tIns="0" rIns="0" bIns="0" rtlCol="0" anchor="t"/>
          <a:lstStyle/>
          <a:p>
            <a:pPr marL="0" indent="0">
              <a:buNone/>
            </a:pPr>
            <a:r>
              <a:rPr lang="en-US" sz="1100" b="1" dirty="0">
                <a:solidFill>
                  <a:srgbClr val="FF4FB0"/>
                </a:solidFill>
              </a:rPr>
              <a:t>glutamate: calms it down</a:t>
            </a:r>
            <a:endParaRPr lang="en-US" sz="1100" dirty="0"/>
          </a:p>
        </p:txBody>
      </p:sp>
      <p:sp>
        <p:nvSpPr>
          <p:cNvPr id="20" name="sg-his-label"/>
          <p:cNvSpPr txBox="1"/>
          <p:nvPr/>
        </p:nvSpPr>
        <p:spPr>
          <a:xfrm>
            <a:off x="5897880" y="2651760"/>
            <a:ext cx="2743200" cy="237744"/>
          </a:xfrm>
          <a:prstGeom prst="rect">
            <a:avLst/>
          </a:prstGeom>
          <a:noFill/>
          <a:ln/>
        </p:spPr>
        <p:txBody>
          <a:bodyPr wrap="square" lIns="0" tIns="0" rIns="0" bIns="0" rtlCol="0" anchor="t"/>
          <a:lstStyle/>
          <a:p>
            <a:pPr marL="0" indent="0">
              <a:buNone/>
            </a:pPr>
            <a:r>
              <a:rPr lang="en-US" sz="1100" b="1" dirty="0">
                <a:solidFill>
                  <a:srgbClr val="FF4FB0"/>
                </a:solidFill>
              </a:rPr>
              <a:t>histamine: calms it down</a:t>
            </a:r>
            <a:endParaRPr lang="en-US" sz="1100" dirty="0"/>
          </a:p>
        </p:txBody>
      </p:sp>
      <p:sp>
        <p:nvSpPr>
          <p:cNvPr id="21" name="sign-note"/>
          <p:cNvSpPr txBox="1"/>
          <p:nvPr/>
        </p:nvSpPr>
        <p:spPr>
          <a:xfrm>
            <a:off x="5897880" y="3108960"/>
            <a:ext cx="2606040" cy="822960"/>
          </a:xfrm>
          <a:prstGeom prst="rect">
            <a:avLst/>
          </a:prstGeom>
          <a:noFill/>
          <a:ln/>
        </p:spPr>
        <p:txBody>
          <a:bodyPr wrap="square" lIns="0" tIns="0" rIns="0" bIns="0" rtlCol="0" anchor="t"/>
          <a:lstStyle/>
          <a:p>
            <a:pPr marL="0" indent="0">
              <a:buNone/>
            </a:pPr>
            <a:r>
              <a:rPr lang="en-US" sz="1100" dirty="0">
                <a:solidFill>
                  <a:srgbClr val="A1A1AA"/>
                </a:solidFill>
              </a:rPr>
              <a:t>The connections come from BANC. The equation and the plus / minus signs are our own choice.</a:t>
            </a:r>
            <a:endParaRPr lang="en-US" sz="1100" dirty="0"/>
          </a:p>
        </p:txBody>
      </p:sp>
      <p:sp>
        <p:nvSpPr>
          <p:cNvPr id="22" name="glossary-0"/>
          <p:cNvSpPr txBox="1"/>
          <p:nvPr/>
        </p:nvSpPr>
        <p:spPr>
          <a:xfrm>
            <a:off x="566928" y="4206240"/>
            <a:ext cx="2238270" cy="411480"/>
          </a:xfrm>
          <a:prstGeom prst="rect">
            <a:avLst/>
          </a:prstGeom>
          <a:noFill/>
          <a:ln/>
        </p:spPr>
        <p:txBody>
          <a:bodyPr wrap="square" lIns="0" tIns="0" rIns="0" bIns="0" rtlCol="0" anchor="t"/>
          <a:lstStyle/>
          <a:p>
            <a:pPr marL="0" indent="0">
              <a:buNone/>
            </a:pPr>
            <a:r>
              <a:rPr lang="en-US" sz="900" b="1" dirty="0">
                <a:solidFill>
                  <a:srgbClr val="A1A1AA"/>
                </a:solidFill>
              </a:rPr>
              <a:t>r:</a:t>
            </a:r>
            <a:r>
              <a:rPr lang="en-US" sz="900" dirty="0">
                <a:solidFill>
                  <a:srgbClr val="71717A"/>
                </a:solidFill>
              </a:rPr>
              <a:t> how active each neuron is, from 0 to 1</a:t>
            </a:r>
            <a:endParaRPr lang="en-US" sz="900" dirty="0"/>
          </a:p>
        </p:txBody>
      </p:sp>
      <p:sp>
        <p:nvSpPr>
          <p:cNvPr id="23" name="glossary-1"/>
          <p:cNvSpPr txBox="1"/>
          <p:nvPr/>
        </p:nvSpPr>
        <p:spPr>
          <a:xfrm>
            <a:off x="3079518" y="4206240"/>
            <a:ext cx="2238270" cy="411480"/>
          </a:xfrm>
          <a:prstGeom prst="rect">
            <a:avLst/>
          </a:prstGeom>
          <a:noFill/>
          <a:ln/>
        </p:spPr>
        <p:txBody>
          <a:bodyPr wrap="square" lIns="0" tIns="0" rIns="0" bIns="0" rtlCol="0" anchor="t"/>
          <a:lstStyle/>
          <a:p>
            <a:pPr marL="0" indent="0">
              <a:buNone/>
            </a:pPr>
            <a:r>
              <a:rPr lang="en-US" sz="900" b="1" dirty="0">
                <a:solidFill>
                  <a:srgbClr val="A1A1AA"/>
                </a:solidFill>
              </a:rPr>
              <a:t>relu, tanh:</a:t>
            </a:r>
            <a:r>
              <a:rPr lang="en-US" sz="900" dirty="0">
                <a:solidFill>
                  <a:srgbClr val="71717A"/>
                </a:solidFill>
              </a:rPr>
              <a:t> keep activity between 0 and 1</a:t>
            </a:r>
            <a:endParaRPr lang="en-US" sz="900" dirty="0"/>
          </a:p>
        </p:txBody>
      </p:sp>
      <p:sp>
        <p:nvSpPr>
          <p:cNvPr id="24" name="glossary-2"/>
          <p:cNvSpPr txBox="1"/>
          <p:nvPr/>
        </p:nvSpPr>
        <p:spPr>
          <a:xfrm>
            <a:off x="5592109" y="4206240"/>
            <a:ext cx="3067259" cy="411480"/>
          </a:xfrm>
          <a:prstGeom prst="rect">
            <a:avLst/>
          </a:prstGeom>
          <a:noFill/>
          <a:ln/>
        </p:spPr>
        <p:txBody>
          <a:bodyPr wrap="square" lIns="0" tIns="0" rIns="0" bIns="0" rtlCol="0" anchor="t"/>
          <a:lstStyle/>
          <a:p>
            <a:pPr marL="0" indent="0">
              <a:buNone/>
            </a:pPr>
            <a:r>
              <a:rPr lang="en-US" sz="900" b="1" dirty="0">
                <a:solidFill>
                  <a:srgbClr val="A1A1AA"/>
                </a:solidFill>
              </a:rPr>
              <a:t>ACh, GABA:</a:t>
            </a:r>
            <a:r>
              <a:rPr lang="en-US" sz="900" dirty="0">
                <a:solidFill>
                  <a:srgbClr val="71717A"/>
                </a:solidFill>
              </a:rPr>
              <a:t> chemicals a neuron releases to signal the next one</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APPENDIX</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DETAILS: CALIBRATION</a:t>
            </a:r>
            <a:endParaRPr lang="en-US" sz="1600" dirty="0"/>
          </a:p>
        </p:txBody>
      </p:sp>
      <p:sp>
        <p:nvSpPr>
          <p:cNvPr id="4" name="cal-0"/>
          <p:cNvSpPr/>
          <p:nvPr/>
        </p:nvSpPr>
        <p:spPr>
          <a:xfrm>
            <a:off x="566928" y="1097280"/>
            <a:ext cx="1874520" cy="233172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cal-0-n"/>
          <p:cNvSpPr txBox="1"/>
          <p:nvPr/>
        </p:nvSpPr>
        <p:spPr>
          <a:xfrm>
            <a:off x="768096" y="1280160"/>
            <a:ext cx="457200" cy="411480"/>
          </a:xfrm>
          <a:prstGeom prst="rect">
            <a:avLst/>
          </a:prstGeom>
          <a:noFill/>
          <a:ln/>
        </p:spPr>
        <p:txBody>
          <a:bodyPr wrap="square" lIns="0" tIns="0" rIns="0" bIns="0" rtlCol="0" anchor="t"/>
          <a:lstStyle/>
          <a:p>
            <a:pPr marL="0" indent="0">
              <a:buNone/>
            </a:pPr>
            <a:r>
              <a:rPr lang="en-US" sz="2200" dirty="0">
                <a:solidFill>
                  <a:srgbClr val="FF2D6F"/>
                </a:solidFill>
                <a:latin typeface="Michroma" pitchFamily="34" charset="0"/>
                <a:ea typeface="Michroma" pitchFamily="34" charset="-122"/>
                <a:cs typeface="Michroma" pitchFamily="34" charset="-120"/>
              </a:rPr>
              <a:t>1</a:t>
            </a:r>
            <a:endParaRPr lang="en-US" sz="2200" dirty="0"/>
          </a:p>
        </p:txBody>
      </p:sp>
      <p:sp>
        <p:nvSpPr>
          <p:cNvPr id="6" name="cal-0-h"/>
          <p:cNvSpPr txBox="1"/>
          <p:nvPr/>
        </p:nvSpPr>
        <p:spPr>
          <a:xfrm>
            <a:off x="768096" y="1810512"/>
            <a:ext cx="1508760" cy="292608"/>
          </a:xfrm>
          <a:prstGeom prst="rect">
            <a:avLst/>
          </a:prstGeom>
          <a:noFill/>
          <a:ln/>
        </p:spPr>
        <p:txBody>
          <a:bodyPr wrap="square" lIns="0" tIns="0" rIns="0" bIns="0" rtlCol="0" anchor="t"/>
          <a:lstStyle/>
          <a:p>
            <a:pPr marL="0" indent="0">
              <a:buNone/>
            </a:pPr>
            <a:r>
              <a:rPr lang="en-US" sz="1400" b="1" dirty="0">
                <a:solidFill>
                  <a:srgbClr val="FAFAFA"/>
                </a:solidFill>
              </a:rPr>
              <a:t>Rest</a:t>
            </a:r>
            <a:endParaRPr lang="en-US" sz="1400" dirty="0"/>
          </a:p>
        </p:txBody>
      </p:sp>
      <p:sp>
        <p:nvSpPr>
          <p:cNvPr id="7" name="cal-0-d"/>
          <p:cNvSpPr txBox="1"/>
          <p:nvPr/>
        </p:nvSpPr>
        <p:spPr>
          <a:xfrm>
            <a:off x="768096" y="2148840"/>
            <a:ext cx="1508760" cy="502920"/>
          </a:xfrm>
          <a:prstGeom prst="rect">
            <a:avLst/>
          </a:prstGeom>
          <a:noFill/>
          <a:ln/>
        </p:spPr>
        <p:txBody>
          <a:bodyPr wrap="square" lIns="0" tIns="0" rIns="0" bIns="0" rtlCol="0" anchor="t"/>
          <a:lstStyle/>
          <a:p>
            <a:pPr marL="0" indent="0">
              <a:buNone/>
            </a:pPr>
            <a:r>
              <a:rPr lang="en-US" sz="1100" dirty="0">
                <a:solidFill>
                  <a:srgbClr val="FAFAFA"/>
                </a:solidFill>
              </a:rPr>
              <a:t>look at an empty scene to learn the calm level</a:t>
            </a:r>
            <a:endParaRPr lang="en-US" sz="1100" dirty="0"/>
          </a:p>
        </p:txBody>
      </p:sp>
      <p:sp>
        <p:nvSpPr>
          <p:cNvPr id="8" name="cal-0-why"/>
          <p:cNvSpPr txBox="1"/>
          <p:nvPr/>
        </p:nvSpPr>
        <p:spPr>
          <a:xfrm>
            <a:off x="768096" y="2743200"/>
            <a:ext cx="1508760" cy="548640"/>
          </a:xfrm>
          <a:prstGeom prst="rect">
            <a:avLst/>
          </a:prstGeom>
          <a:noFill/>
          <a:ln/>
        </p:spPr>
        <p:txBody>
          <a:bodyPr wrap="square" lIns="0" tIns="0" rIns="0" bIns="0" rtlCol="0" anchor="t"/>
          <a:lstStyle/>
          <a:p>
            <a:pPr marL="0" indent="0">
              <a:buNone/>
            </a:pPr>
            <a:r>
              <a:rPr lang="en-US" sz="1000" i="1" dirty="0">
                <a:solidFill>
                  <a:srgbClr val="A1A1AA"/>
                </a:solidFill>
              </a:rPr>
              <a:t>without it any light gave full power</a:t>
            </a:r>
            <a:endParaRPr lang="en-US" sz="1000" dirty="0"/>
          </a:p>
        </p:txBody>
      </p:sp>
      <p:sp>
        <p:nvSpPr>
          <p:cNvPr id="9" name="cal-1"/>
          <p:cNvSpPr/>
          <p:nvPr/>
        </p:nvSpPr>
        <p:spPr>
          <a:xfrm>
            <a:off x="2642616" y="1097280"/>
            <a:ext cx="1874520" cy="233172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0" name="cal-1-n"/>
          <p:cNvSpPr txBox="1"/>
          <p:nvPr/>
        </p:nvSpPr>
        <p:spPr>
          <a:xfrm>
            <a:off x="2843784" y="1280160"/>
            <a:ext cx="457200" cy="411480"/>
          </a:xfrm>
          <a:prstGeom prst="rect">
            <a:avLst/>
          </a:prstGeom>
          <a:noFill/>
          <a:ln/>
        </p:spPr>
        <p:txBody>
          <a:bodyPr wrap="square" lIns="0" tIns="0" rIns="0" bIns="0" rtlCol="0" anchor="t"/>
          <a:lstStyle/>
          <a:p>
            <a:pPr marL="0" indent="0">
              <a:buNone/>
            </a:pPr>
            <a:r>
              <a:rPr lang="en-US" sz="2200" dirty="0">
                <a:solidFill>
                  <a:srgbClr val="FF2D6F"/>
                </a:solidFill>
                <a:latin typeface="Michroma" pitchFamily="34" charset="0"/>
                <a:ea typeface="Michroma" pitchFamily="34" charset="-122"/>
                <a:cs typeface="Michroma" pitchFamily="34" charset="-120"/>
              </a:rPr>
              <a:t>2</a:t>
            </a:r>
            <a:endParaRPr lang="en-US" sz="2200" dirty="0"/>
          </a:p>
        </p:txBody>
      </p:sp>
      <p:sp>
        <p:nvSpPr>
          <p:cNvPr id="11" name="cal-1-h"/>
          <p:cNvSpPr txBox="1"/>
          <p:nvPr/>
        </p:nvSpPr>
        <p:spPr>
          <a:xfrm>
            <a:off x="2843784" y="1810512"/>
            <a:ext cx="1508760" cy="292608"/>
          </a:xfrm>
          <a:prstGeom prst="rect">
            <a:avLst/>
          </a:prstGeom>
          <a:noFill/>
          <a:ln/>
        </p:spPr>
        <p:txBody>
          <a:bodyPr wrap="square" lIns="0" tIns="0" rIns="0" bIns="0" rtlCol="0" anchor="t"/>
          <a:lstStyle/>
          <a:p>
            <a:pPr marL="0" indent="0">
              <a:buNone/>
            </a:pPr>
            <a:r>
              <a:rPr lang="en-US" sz="1400" b="1" dirty="0">
                <a:solidFill>
                  <a:srgbClr val="FAFAFA"/>
                </a:solidFill>
              </a:rPr>
              <a:t>Scale</a:t>
            </a:r>
            <a:endParaRPr lang="en-US" sz="1400" dirty="0"/>
          </a:p>
        </p:txBody>
      </p:sp>
      <p:sp>
        <p:nvSpPr>
          <p:cNvPr id="12" name="cal-1-d"/>
          <p:cNvSpPr txBox="1"/>
          <p:nvPr/>
        </p:nvSpPr>
        <p:spPr>
          <a:xfrm>
            <a:off x="2843784" y="2148840"/>
            <a:ext cx="1508760" cy="502920"/>
          </a:xfrm>
          <a:prstGeom prst="rect">
            <a:avLst/>
          </a:prstGeom>
          <a:noFill/>
          <a:ln/>
        </p:spPr>
        <p:txBody>
          <a:bodyPr wrap="square" lIns="0" tIns="0" rIns="0" bIns="0" rtlCol="0" anchor="t"/>
          <a:lstStyle/>
          <a:p>
            <a:pPr marL="0" indent="0">
              <a:buNone/>
            </a:pPr>
            <a:r>
              <a:rPr lang="en-US" sz="1100" dirty="0">
                <a:solidFill>
                  <a:srgbClr val="FAFAFA"/>
                </a:solidFill>
              </a:rPr>
              <a:t>show the target left and right to set the volume</a:t>
            </a:r>
            <a:endParaRPr lang="en-US" sz="1100" dirty="0"/>
          </a:p>
        </p:txBody>
      </p:sp>
      <p:sp>
        <p:nvSpPr>
          <p:cNvPr id="13" name="cal-1-why"/>
          <p:cNvSpPr txBox="1"/>
          <p:nvPr/>
        </p:nvSpPr>
        <p:spPr>
          <a:xfrm>
            <a:off x="2843784" y="2743200"/>
            <a:ext cx="1508760" cy="548640"/>
          </a:xfrm>
          <a:prstGeom prst="rect">
            <a:avLst/>
          </a:prstGeom>
          <a:noFill/>
          <a:ln/>
        </p:spPr>
        <p:txBody>
          <a:bodyPr wrap="square" lIns="0" tIns="0" rIns="0" bIns="0" rtlCol="0" anchor="t"/>
          <a:lstStyle/>
          <a:p>
            <a:pPr marL="0" indent="0">
              <a:buNone/>
            </a:pPr>
            <a:r>
              <a:rPr lang="en-US" sz="1000" i="1" dirty="0">
                <a:solidFill>
                  <a:srgbClr val="A1A1AA"/>
                </a:solidFill>
              </a:rPr>
              <a:t>vision changes the signal by only ~1 %</a:t>
            </a:r>
            <a:endParaRPr lang="en-US" sz="1000" dirty="0"/>
          </a:p>
        </p:txBody>
      </p:sp>
      <p:sp>
        <p:nvSpPr>
          <p:cNvPr id="14" name="cal-2"/>
          <p:cNvSpPr/>
          <p:nvPr/>
        </p:nvSpPr>
        <p:spPr>
          <a:xfrm>
            <a:off x="4718304" y="1097280"/>
            <a:ext cx="1874520" cy="233172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5" name="cal-2-n"/>
          <p:cNvSpPr txBox="1"/>
          <p:nvPr/>
        </p:nvSpPr>
        <p:spPr>
          <a:xfrm>
            <a:off x="4919472" y="1280160"/>
            <a:ext cx="457200" cy="411480"/>
          </a:xfrm>
          <a:prstGeom prst="rect">
            <a:avLst/>
          </a:prstGeom>
          <a:noFill/>
          <a:ln/>
        </p:spPr>
        <p:txBody>
          <a:bodyPr wrap="square" lIns="0" tIns="0" rIns="0" bIns="0" rtlCol="0" anchor="t"/>
          <a:lstStyle/>
          <a:p>
            <a:pPr marL="0" indent="0">
              <a:buNone/>
            </a:pPr>
            <a:r>
              <a:rPr lang="en-US" sz="2200" dirty="0">
                <a:solidFill>
                  <a:srgbClr val="FF2D6F"/>
                </a:solidFill>
                <a:latin typeface="Michroma" pitchFamily="34" charset="0"/>
                <a:ea typeface="Michroma" pitchFamily="34" charset="-122"/>
                <a:cs typeface="Michroma" pitchFamily="34" charset="-120"/>
              </a:rPr>
              <a:t>3</a:t>
            </a:r>
            <a:endParaRPr lang="en-US" sz="2200" dirty="0"/>
          </a:p>
        </p:txBody>
      </p:sp>
      <p:sp>
        <p:nvSpPr>
          <p:cNvPr id="16" name="cal-2-h"/>
          <p:cNvSpPr txBox="1"/>
          <p:nvPr/>
        </p:nvSpPr>
        <p:spPr>
          <a:xfrm>
            <a:off x="4919472" y="1810512"/>
            <a:ext cx="1508760" cy="292608"/>
          </a:xfrm>
          <a:prstGeom prst="rect">
            <a:avLst/>
          </a:prstGeom>
          <a:noFill/>
          <a:ln/>
        </p:spPr>
        <p:txBody>
          <a:bodyPr wrap="square" lIns="0" tIns="0" rIns="0" bIns="0" rtlCol="0" anchor="t"/>
          <a:lstStyle/>
          <a:p>
            <a:pPr marL="0" indent="0">
              <a:buNone/>
            </a:pPr>
            <a:r>
              <a:rPr lang="en-US" sz="1400" b="1" dirty="0">
                <a:solidFill>
                  <a:srgbClr val="FAFAFA"/>
                </a:solidFill>
              </a:rPr>
              <a:t>Turn direction</a:t>
            </a:r>
            <a:endParaRPr lang="en-US" sz="1400" dirty="0"/>
          </a:p>
        </p:txBody>
      </p:sp>
      <p:sp>
        <p:nvSpPr>
          <p:cNvPr id="17" name="cal-2-d"/>
          <p:cNvSpPr txBox="1"/>
          <p:nvPr/>
        </p:nvSpPr>
        <p:spPr>
          <a:xfrm>
            <a:off x="4919472" y="2148840"/>
            <a:ext cx="1508760" cy="502920"/>
          </a:xfrm>
          <a:prstGeom prst="rect">
            <a:avLst/>
          </a:prstGeom>
          <a:noFill/>
          <a:ln/>
        </p:spPr>
        <p:txBody>
          <a:bodyPr wrap="square" lIns="0" tIns="0" rIns="0" bIns="0" rtlCol="0" anchor="t"/>
          <a:lstStyle/>
          <a:p>
            <a:pPr marL="0" indent="0">
              <a:buNone/>
            </a:pPr>
            <a:r>
              <a:rPr lang="en-US" sz="1100" dirty="0">
                <a:solidFill>
                  <a:srgbClr val="FAFAFA"/>
                </a:solidFill>
              </a:rPr>
              <a:t>spin the scene and watch which way the fly turns</a:t>
            </a:r>
            <a:endParaRPr lang="en-US" sz="1100" dirty="0"/>
          </a:p>
        </p:txBody>
      </p:sp>
      <p:sp>
        <p:nvSpPr>
          <p:cNvPr id="18" name="cal-2-why"/>
          <p:cNvSpPr txBox="1"/>
          <p:nvPr/>
        </p:nvSpPr>
        <p:spPr>
          <a:xfrm>
            <a:off x="4919472" y="2743200"/>
            <a:ext cx="1508760" cy="548640"/>
          </a:xfrm>
          <a:prstGeom prst="rect">
            <a:avLst/>
          </a:prstGeom>
          <a:noFill/>
          <a:ln/>
        </p:spPr>
        <p:txBody>
          <a:bodyPr wrap="square" lIns="0" tIns="0" rIns="0" bIns="0" rtlCol="0" anchor="t"/>
          <a:lstStyle/>
          <a:p>
            <a:pPr marL="0" indent="0">
              <a:buNone/>
            </a:pPr>
            <a:r>
              <a:rPr lang="en-US" sz="1000" i="1" dirty="0">
                <a:solidFill>
                  <a:srgbClr val="A1A1AA"/>
                </a:solidFill>
              </a:rPr>
              <a:t>left and right taken from behaviour</a:t>
            </a:r>
            <a:endParaRPr lang="en-US" sz="1000" dirty="0"/>
          </a:p>
        </p:txBody>
      </p:sp>
      <p:sp>
        <p:nvSpPr>
          <p:cNvPr id="19" name="cal-3"/>
          <p:cNvSpPr/>
          <p:nvPr/>
        </p:nvSpPr>
        <p:spPr>
          <a:xfrm>
            <a:off x="6793992" y="1097280"/>
            <a:ext cx="1874520" cy="233172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20" name="cal-3-n"/>
          <p:cNvSpPr txBox="1"/>
          <p:nvPr/>
        </p:nvSpPr>
        <p:spPr>
          <a:xfrm>
            <a:off x="6995160" y="1280160"/>
            <a:ext cx="457200" cy="411480"/>
          </a:xfrm>
          <a:prstGeom prst="rect">
            <a:avLst/>
          </a:prstGeom>
          <a:noFill/>
          <a:ln/>
        </p:spPr>
        <p:txBody>
          <a:bodyPr wrap="square" lIns="0" tIns="0" rIns="0" bIns="0" rtlCol="0" anchor="t"/>
          <a:lstStyle/>
          <a:p>
            <a:pPr marL="0" indent="0">
              <a:buNone/>
            </a:pPr>
            <a:r>
              <a:rPr lang="en-US" sz="2200" dirty="0">
                <a:solidFill>
                  <a:srgbClr val="FF2D6F"/>
                </a:solidFill>
                <a:latin typeface="Michroma" pitchFamily="34" charset="0"/>
                <a:ea typeface="Michroma" pitchFamily="34" charset="-122"/>
                <a:cs typeface="Michroma" pitchFamily="34" charset="-120"/>
              </a:rPr>
              <a:t>4</a:t>
            </a:r>
            <a:endParaRPr lang="en-US" sz="2200" dirty="0"/>
          </a:p>
        </p:txBody>
      </p:sp>
      <p:sp>
        <p:nvSpPr>
          <p:cNvPr id="21" name="cal-3-h"/>
          <p:cNvSpPr txBox="1"/>
          <p:nvPr/>
        </p:nvSpPr>
        <p:spPr>
          <a:xfrm>
            <a:off x="6995160" y="1810512"/>
            <a:ext cx="1508760" cy="292608"/>
          </a:xfrm>
          <a:prstGeom prst="rect">
            <a:avLst/>
          </a:prstGeom>
          <a:noFill/>
          <a:ln/>
        </p:spPr>
        <p:txBody>
          <a:bodyPr wrap="square" lIns="0" tIns="0" rIns="0" bIns="0" rtlCol="0" anchor="t"/>
          <a:lstStyle/>
          <a:p>
            <a:pPr marL="0" indent="0">
              <a:buNone/>
            </a:pPr>
            <a:r>
              <a:rPr lang="en-US" sz="1400" b="1" dirty="0">
                <a:solidFill>
                  <a:srgbClr val="FAFAFA"/>
                </a:solidFill>
              </a:rPr>
              <a:t>Gyro strength</a:t>
            </a:r>
            <a:endParaRPr lang="en-US" sz="1400" dirty="0"/>
          </a:p>
        </p:txBody>
      </p:sp>
      <p:sp>
        <p:nvSpPr>
          <p:cNvPr id="22" name="cal-3-d"/>
          <p:cNvSpPr txBox="1"/>
          <p:nvPr/>
        </p:nvSpPr>
        <p:spPr>
          <a:xfrm>
            <a:off x="6995160" y="2148840"/>
            <a:ext cx="1508760" cy="502920"/>
          </a:xfrm>
          <a:prstGeom prst="rect">
            <a:avLst/>
          </a:prstGeom>
          <a:noFill/>
          <a:ln/>
        </p:spPr>
        <p:txBody>
          <a:bodyPr wrap="square" lIns="0" tIns="0" rIns="0" bIns="0" rtlCol="0" anchor="t"/>
          <a:lstStyle/>
          <a:p>
            <a:pPr marL="0" indent="0">
              <a:buNone/>
            </a:pPr>
            <a:r>
              <a:rPr lang="en-US" sz="1100" dirty="0">
                <a:solidFill>
                  <a:srgbClr val="FAFAFA"/>
                </a:solidFill>
              </a:rPr>
              <a:t>set how much rotation the brain feels</a:t>
            </a:r>
            <a:endParaRPr lang="en-US" sz="1100" dirty="0"/>
          </a:p>
        </p:txBody>
      </p:sp>
      <p:sp>
        <p:nvSpPr>
          <p:cNvPr id="23" name="cal-3-why"/>
          <p:cNvSpPr txBox="1"/>
          <p:nvPr/>
        </p:nvSpPr>
        <p:spPr>
          <a:xfrm>
            <a:off x="6995160" y="2743200"/>
            <a:ext cx="1508760" cy="548640"/>
          </a:xfrm>
          <a:prstGeom prst="rect">
            <a:avLst/>
          </a:prstGeom>
          <a:noFill/>
          <a:ln/>
        </p:spPr>
        <p:txBody>
          <a:bodyPr wrap="square" lIns="0" tIns="0" rIns="0" bIns="0" rtlCol="0" anchor="t"/>
          <a:lstStyle/>
          <a:p>
            <a:pPr marL="0" indent="0">
              <a:buNone/>
            </a:pPr>
            <a:r>
              <a:rPr lang="en-US" sz="1000" i="1" dirty="0">
                <a:solidFill>
                  <a:srgbClr val="A1A1AA"/>
                </a:solidFill>
              </a:rPr>
              <a:t>too strong and the drone just spun</a:t>
            </a:r>
            <a:endParaRPr lang="en-US" sz="1000" dirty="0"/>
          </a:p>
        </p:txBody>
      </p:sp>
      <p:sp>
        <p:nvSpPr>
          <p:cNvPr id="24" name="cal-note"/>
          <p:cNvSpPr txBox="1"/>
          <p:nvPr/>
        </p:nvSpPr>
        <p:spPr>
          <a:xfrm>
            <a:off x="566928" y="3611880"/>
            <a:ext cx="8092440" cy="411480"/>
          </a:xfrm>
          <a:prstGeom prst="rect">
            <a:avLst/>
          </a:prstGeom>
          <a:noFill/>
          <a:ln/>
        </p:spPr>
        <p:txBody>
          <a:bodyPr wrap="square" lIns="0" tIns="0" rIns="0" bIns="0" rtlCol="0" anchor="t"/>
          <a:lstStyle/>
          <a:p>
            <a:pPr marL="0" indent="0">
              <a:buNone/>
            </a:pPr>
            <a:r>
              <a:rPr lang="en-US" sz="1200" dirty="0">
                <a:solidFill>
                  <a:srgbClr val="A1A1AA"/>
                </a:solidFill>
              </a:rPr>
              <a:t>Takes about 6 s at start-up, automatically, with no hand tuning.</a:t>
            </a:r>
            <a:endParaRPr lang="en-US" sz="1200" dirty="0"/>
          </a:p>
        </p:txBody>
      </p:sp>
      <p:sp>
        <p:nvSpPr>
          <p:cNvPr id="25"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Optomotor reflex:</a:t>
            </a:r>
            <a:r>
              <a:rPr lang="en-US" sz="900" dirty="0">
                <a:solidFill>
                  <a:srgbClr val="71717A"/>
                </a:solidFill>
              </a:rPr>
              <a:t> flies turn with a rotating scene to keep their view steady</a:t>
            </a:r>
            <a:endParaRPr lang="en-US" sz="900" dirty="0"/>
          </a:p>
        </p:txBody>
      </p:sp>
      <p:sp>
        <p:nvSpPr>
          <p:cNvPr id="26"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APPENDIX</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DETAILS: THE FLY'S GYROSCOPE</a:t>
            </a:r>
            <a:endParaRPr lang="en-US" sz="1600" dirty="0"/>
          </a:p>
        </p:txBody>
      </p:sp>
      <p:sp>
        <p:nvSpPr>
          <p:cNvPr id="4" name="h-bad"/>
          <p:cNvSpPr/>
          <p:nvPr/>
        </p:nvSpPr>
        <p:spPr>
          <a:xfrm>
            <a:off x="566928" y="1097280"/>
            <a:ext cx="3886200" cy="210312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h-good"/>
          <p:cNvSpPr/>
          <p:nvPr/>
        </p:nvSpPr>
        <p:spPr>
          <a:xfrm>
            <a:off x="4773168" y="1097280"/>
            <a:ext cx="3886200" cy="2103120"/>
          </a:xfrm>
          <a:prstGeom prst="rect">
            <a:avLst/>
          </a:prstGeom>
          <a:solidFill>
            <a:srgbClr val="18181B">
              <a:alpha val="88000"/>
            </a:srgbClr>
          </a:solidFill>
          <a:ln w="9525">
            <a:solidFill>
              <a:srgbClr val="FF2D6F"/>
            </a:solidFill>
            <a:prstDash val="solid"/>
          </a:ln>
          <a:effectLst>
            <a:outerShdw blurRad="228600" dist="76200" dir="5400000" algn="bl" rotWithShape="0">
              <a:srgbClr val="000000">
                <a:alpha val="55000"/>
              </a:srgbClr>
            </a:outerShdw>
          </a:effectLst>
        </p:spPr>
      </p:sp>
      <p:sp>
        <p:nvSpPr>
          <p:cNvPr id="6" name="h-bad-k"/>
          <p:cNvSpPr txBox="1"/>
          <p:nvPr/>
        </p:nvSpPr>
        <p:spPr>
          <a:xfrm>
            <a:off x="822960" y="1280160"/>
            <a:ext cx="3200400" cy="201168"/>
          </a:xfrm>
          <a:prstGeom prst="rect">
            <a:avLst/>
          </a:prstGeom>
          <a:noFill/>
          <a:ln/>
        </p:spPr>
        <p:txBody>
          <a:bodyPr wrap="square" lIns="0" tIns="0" rIns="0" bIns="0" rtlCol="0" anchor="t"/>
          <a:lstStyle/>
          <a:p>
            <a:pPr marL="0" indent="0">
              <a:buNone/>
            </a:pPr>
            <a:r>
              <a:rPr lang="en-US" sz="800" kern="0" spc="500" dirty="0">
                <a:solidFill>
                  <a:srgbClr val="A1A1AA"/>
                </a:solidFill>
              </a:rPr>
              <a:t>TURNING AND TILTING</a:t>
            </a:r>
            <a:endParaRPr lang="en-US" sz="800" dirty="0"/>
          </a:p>
        </p:txBody>
      </p:sp>
      <p:sp>
        <p:nvSpPr>
          <p:cNvPr id="7" name="h-bad-s-value"/>
          <p:cNvSpPr txBox="1"/>
          <p:nvPr/>
        </p:nvSpPr>
        <p:spPr>
          <a:xfrm>
            <a:off x="822960" y="1600200"/>
            <a:ext cx="3383280" cy="548640"/>
          </a:xfrm>
          <a:prstGeom prst="rect">
            <a:avLst/>
          </a:prstGeom>
          <a:noFill/>
          <a:ln/>
        </p:spPr>
        <p:txBody>
          <a:bodyPr wrap="square" lIns="0" tIns="0" rIns="0" bIns="0" rtlCol="0" anchor="t"/>
          <a:lstStyle/>
          <a:p>
            <a:pPr marL="0" indent="0">
              <a:buNone/>
            </a:pPr>
            <a:r>
              <a:rPr lang="en-US" sz="3200" dirty="0">
                <a:solidFill>
                  <a:srgbClr val="A1A1AA"/>
                </a:solidFill>
                <a:latin typeface="Roboto Light" pitchFamily="34" charset="0"/>
                <a:ea typeface="Roboto Light" pitchFamily="34" charset="-122"/>
                <a:cs typeface="Roboto Light" pitchFamily="34" charset="-120"/>
              </a:rPr>
              <a:t>6–11 rad/s</a:t>
            </a:r>
            <a:endParaRPr lang="en-US" sz="3200" dirty="0"/>
          </a:p>
        </p:txBody>
      </p:sp>
      <p:sp>
        <p:nvSpPr>
          <p:cNvPr id="8" name="h-bad-s-label"/>
          <p:cNvSpPr txBox="1"/>
          <p:nvPr/>
        </p:nvSpPr>
        <p:spPr>
          <a:xfrm>
            <a:off x="822960" y="2167128"/>
            <a:ext cx="3383280" cy="457200"/>
          </a:xfrm>
          <a:prstGeom prst="rect">
            <a:avLst/>
          </a:prstGeom>
          <a:noFill/>
          <a:ln/>
        </p:spPr>
        <p:txBody>
          <a:bodyPr wrap="square" lIns="0" tIns="0" rIns="0" bIns="0" rtlCol="0" anchor="t"/>
          <a:lstStyle/>
          <a:p>
            <a:pPr marL="0" indent="0">
              <a:buNone/>
            </a:pPr>
            <a:r>
              <a:rPr lang="en-US" sz="1200" dirty="0">
                <a:solidFill>
                  <a:srgbClr val="A1A1AA"/>
                </a:solidFill>
              </a:rPr>
              <a:t>after a push the drone spins faster and faster</a:t>
            </a:r>
            <a:endParaRPr lang="en-US" sz="1200" dirty="0"/>
          </a:p>
        </p:txBody>
      </p:sp>
      <p:sp>
        <p:nvSpPr>
          <p:cNvPr id="9" name="h-good-k"/>
          <p:cNvSpPr txBox="1"/>
          <p:nvPr/>
        </p:nvSpPr>
        <p:spPr>
          <a:xfrm>
            <a:off x="5029200" y="1280160"/>
            <a:ext cx="3383280" cy="201168"/>
          </a:xfrm>
          <a:prstGeom prst="rect">
            <a:avLst/>
          </a:prstGeom>
          <a:noFill/>
          <a:ln/>
        </p:spPr>
        <p:txBody>
          <a:bodyPr wrap="square" lIns="0" tIns="0" rIns="0" bIns="0" rtlCol="0" anchor="t"/>
          <a:lstStyle/>
          <a:p>
            <a:pPr marL="0" indent="0">
              <a:buNone/>
            </a:pPr>
            <a:r>
              <a:rPr lang="en-US" sz="800" kern="0" spc="500" dirty="0">
                <a:solidFill>
                  <a:srgbClr val="FF2D6F"/>
                </a:solidFill>
              </a:rPr>
              <a:t>TURNING ONLY</a:t>
            </a:r>
            <a:endParaRPr lang="en-US" sz="800" dirty="0"/>
          </a:p>
        </p:txBody>
      </p:sp>
      <p:sp>
        <p:nvSpPr>
          <p:cNvPr id="10" name="h-good-s-value"/>
          <p:cNvSpPr txBox="1"/>
          <p:nvPr/>
        </p:nvSpPr>
        <p:spPr>
          <a:xfrm>
            <a:off x="5029200" y="1600200"/>
            <a:ext cx="338328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0.03 rad/s</a:t>
            </a:r>
            <a:endParaRPr lang="en-US" sz="3200" dirty="0"/>
          </a:p>
        </p:txBody>
      </p:sp>
      <p:sp>
        <p:nvSpPr>
          <p:cNvPr id="11" name="h-good-s-label"/>
          <p:cNvSpPr txBox="1"/>
          <p:nvPr/>
        </p:nvSpPr>
        <p:spPr>
          <a:xfrm>
            <a:off x="5029200" y="2167128"/>
            <a:ext cx="3383280" cy="457200"/>
          </a:xfrm>
          <a:prstGeom prst="rect">
            <a:avLst/>
          </a:prstGeom>
          <a:noFill/>
          <a:ln/>
        </p:spPr>
        <p:txBody>
          <a:bodyPr wrap="square" lIns="0" tIns="0" rIns="0" bIns="0" rtlCol="0" anchor="t"/>
          <a:lstStyle/>
          <a:p>
            <a:pPr marL="0" indent="0">
              <a:buNone/>
            </a:pPr>
            <a:r>
              <a:rPr lang="en-US" sz="1200" dirty="0">
                <a:solidFill>
                  <a:srgbClr val="A1A1AA"/>
                </a:solidFill>
              </a:rPr>
              <a:t>after the same push: the fly brain stops the spin</a:t>
            </a:r>
            <a:endParaRPr lang="en-US" sz="1200" dirty="0"/>
          </a:p>
        </p:txBody>
      </p:sp>
      <p:sp>
        <p:nvSpPr>
          <p:cNvPr id="12" name="h-note"/>
          <p:cNvSpPr txBox="1"/>
          <p:nvPr/>
        </p:nvSpPr>
        <p:spPr>
          <a:xfrm>
            <a:off x="566928" y="3383280"/>
            <a:ext cx="8092440" cy="777240"/>
          </a:xfrm>
          <a:prstGeom prst="rect">
            <a:avLst/>
          </a:prstGeom>
          <a:noFill/>
          <a:ln/>
        </p:spPr>
        <p:txBody>
          <a:bodyPr wrap="square" lIns="0" tIns="0" rIns="0" bIns="0" rtlCol="0" anchor="t"/>
          <a:lstStyle/>
          <a:p>
            <a:pPr marL="0" indent="0">
              <a:buNone/>
            </a:pPr>
            <a:r>
              <a:rPr lang="en-US" sz="1200" dirty="0">
                <a:solidFill>
                  <a:srgbClr val="FAFAFA"/>
                </a:solidFill>
              </a:rPr>
              <a:t>In BANC the fly's rotation sensors mostly control turning, hardly tilting. So we give them only the turning speed, and the simulator keeps the drone level. Target 29° to the side: off by only 1° after 5 s (without these sensors it keeps swinging between 26° and 33°).</a:t>
            </a:r>
            <a:endParaRPr lang="en-US" sz="1200" dirty="0"/>
          </a:p>
        </p:txBody>
      </p:sp>
      <p:sp>
        <p:nvSpPr>
          <p:cNvPr id="13" name="glossary-0"/>
          <p:cNvSpPr txBox="1"/>
          <p:nvPr/>
        </p:nvSpPr>
        <p:spPr>
          <a:xfrm>
            <a:off x="566928" y="4206240"/>
            <a:ext cx="2423160" cy="411480"/>
          </a:xfrm>
          <a:prstGeom prst="rect">
            <a:avLst/>
          </a:prstGeom>
          <a:noFill/>
          <a:ln/>
        </p:spPr>
        <p:txBody>
          <a:bodyPr wrap="square" lIns="0" tIns="0" rIns="0" bIns="0" rtlCol="0" anchor="t"/>
          <a:lstStyle/>
          <a:p>
            <a:pPr marL="0" indent="0">
              <a:buNone/>
            </a:pPr>
            <a:r>
              <a:rPr lang="en-US" sz="900" b="1" dirty="0">
                <a:solidFill>
                  <a:srgbClr val="A1A1AA"/>
                </a:solidFill>
              </a:rPr>
              <a:t>Kick:</a:t>
            </a:r>
            <a:r>
              <a:rPr lang="en-US" sz="900" dirty="0">
                <a:solidFill>
                  <a:srgbClr val="71717A"/>
                </a:solidFill>
              </a:rPr>
              <a:t> a sudden push that spins the drone</a:t>
            </a:r>
            <a:endParaRPr lang="en-US" sz="900" dirty="0"/>
          </a:p>
        </p:txBody>
      </p:sp>
      <p:sp>
        <p:nvSpPr>
          <p:cNvPr id="14" name="glossary-1"/>
          <p:cNvSpPr txBox="1"/>
          <p:nvPr/>
        </p:nvSpPr>
        <p:spPr>
          <a:xfrm>
            <a:off x="3264408" y="4206240"/>
            <a:ext cx="2331720" cy="411480"/>
          </a:xfrm>
          <a:prstGeom prst="rect">
            <a:avLst/>
          </a:prstGeom>
          <a:noFill/>
          <a:ln/>
        </p:spPr>
        <p:txBody>
          <a:bodyPr wrap="square" lIns="0" tIns="0" rIns="0" bIns="0" rtlCol="0" anchor="t"/>
          <a:lstStyle/>
          <a:p>
            <a:pPr marL="0" indent="0">
              <a:buNone/>
            </a:pPr>
            <a:r>
              <a:rPr lang="en-US" sz="900" b="1" dirty="0">
                <a:solidFill>
                  <a:srgbClr val="A1A1AA"/>
                </a:solidFill>
              </a:rPr>
              <a:t>rad/s:</a:t>
            </a:r>
            <a:r>
              <a:rPr lang="en-US" sz="900" dirty="0">
                <a:solidFill>
                  <a:srgbClr val="71717A"/>
                </a:solidFill>
              </a:rPr>
              <a:t> rotation speed, 1 rad/s ≈ 57°/s</a:t>
            </a:r>
            <a:endParaRPr lang="en-US" sz="900" dirty="0"/>
          </a:p>
        </p:txBody>
      </p:sp>
      <p:sp>
        <p:nvSpPr>
          <p:cNvPr id="15" name="glossary-2"/>
          <p:cNvSpPr txBox="1"/>
          <p:nvPr/>
        </p:nvSpPr>
        <p:spPr>
          <a:xfrm>
            <a:off x="5870448" y="4206240"/>
            <a:ext cx="2788920" cy="411480"/>
          </a:xfrm>
          <a:prstGeom prst="rect">
            <a:avLst/>
          </a:prstGeom>
          <a:noFill/>
          <a:ln/>
        </p:spPr>
        <p:txBody>
          <a:bodyPr wrap="square" lIns="0" tIns="0" rIns="0" bIns="0" rtlCol="0" anchor="t"/>
          <a:lstStyle/>
          <a:p>
            <a:pPr marL="0" indent="0">
              <a:buNone/>
            </a:pPr>
            <a:r>
              <a:rPr lang="en-US" sz="900" b="1" dirty="0">
                <a:solidFill>
                  <a:srgbClr val="A1A1AA"/>
                </a:solidFill>
              </a:rPr>
              <a:t>Yaw rate:</a:t>
            </a:r>
            <a:r>
              <a:rPr lang="en-US" sz="900" dirty="0">
                <a:solidFill>
                  <a:srgbClr val="71717A"/>
                </a:solidFill>
              </a:rPr>
              <a:t> how fast the drone turns left or right</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APPENDIX</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DETAILS: THE LEFT-EYE GAP</a:t>
            </a:r>
            <a:endParaRPr lang="en-US" sz="1600" dirty="0"/>
          </a:p>
        </p:txBody>
      </p:sp>
      <p:sp>
        <p:nvSpPr>
          <p:cNvPr id="4" name="left-card"/>
          <p:cNvSpPr/>
          <p:nvPr/>
        </p:nvSpPr>
        <p:spPr>
          <a:xfrm>
            <a:off x="502920" y="1097280"/>
            <a:ext cx="3931920" cy="237744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right-card"/>
          <p:cNvSpPr/>
          <p:nvPr/>
        </p:nvSpPr>
        <p:spPr>
          <a:xfrm>
            <a:off x="4709160" y="1097280"/>
            <a:ext cx="3931920" cy="2377440"/>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6" name="l-k"/>
          <p:cNvSpPr txBox="1"/>
          <p:nvPr/>
        </p:nvSpPr>
        <p:spPr>
          <a:xfrm>
            <a:off x="822960" y="1261872"/>
            <a:ext cx="2743200" cy="201168"/>
          </a:xfrm>
          <a:prstGeom prst="rect">
            <a:avLst/>
          </a:prstGeom>
          <a:noFill/>
          <a:ln/>
        </p:spPr>
        <p:txBody>
          <a:bodyPr wrap="square" lIns="0" tIns="0" rIns="0" bIns="0" rtlCol="0" anchor="t"/>
          <a:lstStyle/>
          <a:p>
            <a:pPr marL="0" indent="0">
              <a:buNone/>
            </a:pPr>
            <a:r>
              <a:rPr lang="en-US" sz="800" kern="0" spc="500" dirty="0">
                <a:solidFill>
                  <a:srgbClr val="A1A1AA"/>
                </a:solidFill>
              </a:rPr>
              <a:t>LEFT EYE</a:t>
            </a:r>
            <a:endParaRPr lang="en-US" sz="800" dirty="0"/>
          </a:p>
        </p:txBody>
      </p:sp>
      <p:sp>
        <p:nvSpPr>
          <p:cNvPr id="7" name="r-k"/>
          <p:cNvSpPr txBox="1"/>
          <p:nvPr/>
        </p:nvSpPr>
        <p:spPr>
          <a:xfrm>
            <a:off x="5029200" y="1261872"/>
            <a:ext cx="2743200" cy="201168"/>
          </a:xfrm>
          <a:prstGeom prst="rect">
            <a:avLst/>
          </a:prstGeom>
          <a:noFill/>
          <a:ln/>
        </p:spPr>
        <p:txBody>
          <a:bodyPr wrap="square" lIns="0" tIns="0" rIns="0" bIns="0" rtlCol="0" anchor="t"/>
          <a:lstStyle/>
          <a:p>
            <a:pPr marL="0" indent="0">
              <a:buNone/>
            </a:pPr>
            <a:r>
              <a:rPr lang="en-US" sz="800" kern="0" spc="500" dirty="0">
                <a:solidFill>
                  <a:srgbClr val="FF2D6F"/>
                </a:solidFill>
              </a:rPr>
              <a:t>RIGHT EYE</a:t>
            </a:r>
            <a:endParaRPr lang="en-US" sz="800" dirty="0"/>
          </a:p>
        </p:txBody>
      </p:sp>
      <p:sp>
        <p:nvSpPr>
          <p:cNvPr id="8" name="s-l-value"/>
          <p:cNvSpPr txBox="1"/>
          <p:nvPr/>
        </p:nvSpPr>
        <p:spPr>
          <a:xfrm>
            <a:off x="822960" y="1508760"/>
            <a:ext cx="338328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36%</a:t>
            </a:r>
            <a:endParaRPr lang="en-US" sz="3200" dirty="0"/>
          </a:p>
        </p:txBody>
      </p:sp>
      <p:sp>
        <p:nvSpPr>
          <p:cNvPr id="9" name="s-l-label"/>
          <p:cNvSpPr txBox="1"/>
          <p:nvPr/>
        </p:nvSpPr>
        <p:spPr>
          <a:xfrm>
            <a:off x="822960" y="2075688"/>
            <a:ext cx="3383280" cy="457200"/>
          </a:xfrm>
          <a:prstGeom prst="rect">
            <a:avLst/>
          </a:prstGeom>
          <a:noFill/>
          <a:ln/>
        </p:spPr>
        <p:txBody>
          <a:bodyPr wrap="square" lIns="0" tIns="0" rIns="0" bIns="0" rtlCol="0" anchor="t"/>
          <a:lstStyle/>
          <a:p>
            <a:pPr marL="0" indent="0">
              <a:buNone/>
            </a:pPr>
            <a:r>
              <a:rPr lang="en-US" sz="1200" dirty="0">
                <a:solidFill>
                  <a:srgbClr val="A1A1AA"/>
                </a:solidFill>
              </a:rPr>
              <a:t>of visual neurons are labelled</a:t>
            </a:r>
            <a:endParaRPr lang="en-US" sz="1200" dirty="0"/>
          </a:p>
        </p:txBody>
      </p:sp>
      <p:sp>
        <p:nvSpPr>
          <p:cNvPr id="10" name="s-l2-value"/>
          <p:cNvSpPr txBox="1"/>
          <p:nvPr/>
        </p:nvSpPr>
        <p:spPr>
          <a:xfrm>
            <a:off x="822960" y="2514600"/>
            <a:ext cx="3383280" cy="548640"/>
          </a:xfrm>
          <a:prstGeom prst="rect">
            <a:avLst/>
          </a:prstGeom>
          <a:noFill/>
          <a:ln/>
        </p:spPr>
        <p:txBody>
          <a:bodyPr wrap="square" lIns="0" tIns="0" rIns="0" bIns="0" rtlCol="0" anchor="t"/>
          <a:lstStyle/>
          <a:p>
            <a:pPr marL="0" indent="0">
              <a:buNone/>
            </a:pPr>
            <a:r>
              <a:rPr lang="en-US" sz="3200" dirty="0">
                <a:solidFill>
                  <a:srgbClr val="A1A1AA"/>
                </a:solidFill>
                <a:latin typeface="Roboto Light" pitchFamily="34" charset="0"/>
                <a:ea typeface="Roboto Light" pitchFamily="34" charset="-122"/>
                <a:cs typeface="Roboto Light" pitchFamily="34" charset="-120"/>
              </a:rPr>
              <a:t>5,535</a:t>
            </a:r>
            <a:endParaRPr lang="en-US" sz="3200" dirty="0"/>
          </a:p>
        </p:txBody>
      </p:sp>
      <p:sp>
        <p:nvSpPr>
          <p:cNvPr id="11" name="s-l2-label"/>
          <p:cNvSpPr txBox="1"/>
          <p:nvPr/>
        </p:nvSpPr>
        <p:spPr>
          <a:xfrm>
            <a:off x="822960" y="3081528"/>
            <a:ext cx="3383280" cy="457200"/>
          </a:xfrm>
          <a:prstGeom prst="rect">
            <a:avLst/>
          </a:prstGeom>
          <a:noFill/>
          <a:ln/>
        </p:spPr>
        <p:txBody>
          <a:bodyPr wrap="square" lIns="0" tIns="0" rIns="0" bIns="0" rtlCol="0" anchor="t"/>
          <a:lstStyle/>
          <a:p>
            <a:pPr marL="0" indent="0">
              <a:buNone/>
            </a:pPr>
            <a:r>
              <a:rPr lang="en-US" sz="1200" dirty="0">
                <a:solidFill>
                  <a:srgbClr val="A1A1AA"/>
                </a:solidFill>
              </a:rPr>
              <a:t>neurons the left eye can reach</a:t>
            </a:r>
            <a:endParaRPr lang="en-US" sz="1200" dirty="0"/>
          </a:p>
        </p:txBody>
      </p:sp>
      <p:sp>
        <p:nvSpPr>
          <p:cNvPr id="12" name="s-r-value"/>
          <p:cNvSpPr txBox="1"/>
          <p:nvPr/>
        </p:nvSpPr>
        <p:spPr>
          <a:xfrm>
            <a:off x="5029200" y="1508760"/>
            <a:ext cx="338328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80%</a:t>
            </a:r>
            <a:endParaRPr lang="en-US" sz="3200" dirty="0"/>
          </a:p>
        </p:txBody>
      </p:sp>
      <p:sp>
        <p:nvSpPr>
          <p:cNvPr id="13" name="s-r-label"/>
          <p:cNvSpPr txBox="1"/>
          <p:nvPr/>
        </p:nvSpPr>
        <p:spPr>
          <a:xfrm>
            <a:off x="5029200" y="2075688"/>
            <a:ext cx="3383280" cy="457200"/>
          </a:xfrm>
          <a:prstGeom prst="rect">
            <a:avLst/>
          </a:prstGeom>
          <a:noFill/>
          <a:ln/>
        </p:spPr>
        <p:txBody>
          <a:bodyPr wrap="square" lIns="0" tIns="0" rIns="0" bIns="0" rtlCol="0" anchor="t"/>
          <a:lstStyle/>
          <a:p>
            <a:pPr marL="0" indent="0">
              <a:buNone/>
            </a:pPr>
            <a:r>
              <a:rPr lang="en-US" sz="1200" dirty="0">
                <a:solidFill>
                  <a:srgbClr val="A1A1AA"/>
                </a:solidFill>
              </a:rPr>
              <a:t>of visual neurons are labelled</a:t>
            </a:r>
            <a:endParaRPr lang="en-US" sz="1200" dirty="0"/>
          </a:p>
        </p:txBody>
      </p:sp>
      <p:sp>
        <p:nvSpPr>
          <p:cNvPr id="14" name="s-r2-value"/>
          <p:cNvSpPr txBox="1"/>
          <p:nvPr/>
        </p:nvSpPr>
        <p:spPr>
          <a:xfrm>
            <a:off x="5029200" y="2514600"/>
            <a:ext cx="338328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16,927</a:t>
            </a:r>
            <a:endParaRPr lang="en-US" sz="3200" dirty="0"/>
          </a:p>
        </p:txBody>
      </p:sp>
      <p:sp>
        <p:nvSpPr>
          <p:cNvPr id="15" name="s-r2-label"/>
          <p:cNvSpPr txBox="1"/>
          <p:nvPr/>
        </p:nvSpPr>
        <p:spPr>
          <a:xfrm>
            <a:off x="5029200" y="3081528"/>
            <a:ext cx="3383280" cy="457200"/>
          </a:xfrm>
          <a:prstGeom prst="rect">
            <a:avLst/>
          </a:prstGeom>
          <a:noFill/>
          <a:ln/>
        </p:spPr>
        <p:txBody>
          <a:bodyPr wrap="square" lIns="0" tIns="0" rIns="0" bIns="0" rtlCol="0" anchor="t"/>
          <a:lstStyle/>
          <a:p>
            <a:pPr marL="0" indent="0">
              <a:buNone/>
            </a:pPr>
            <a:r>
              <a:rPr lang="en-US" sz="1200" dirty="0">
                <a:solidFill>
                  <a:srgbClr val="A1A1AA"/>
                </a:solidFill>
              </a:rPr>
              <a:t>neurons the right eye can reach</a:t>
            </a:r>
            <a:endParaRPr lang="en-US" sz="1200" dirty="0"/>
          </a:p>
        </p:txBody>
      </p:sp>
      <p:sp>
        <p:nvSpPr>
          <p:cNvPr id="16" name="note"/>
          <p:cNvSpPr txBox="1"/>
          <p:nvPr/>
        </p:nvSpPr>
        <p:spPr>
          <a:xfrm>
            <a:off x="502920" y="3611880"/>
            <a:ext cx="8138160" cy="548640"/>
          </a:xfrm>
          <a:prstGeom prst="rect">
            <a:avLst/>
          </a:prstGeom>
          <a:noFill/>
          <a:ln/>
        </p:spPr>
        <p:txBody>
          <a:bodyPr wrap="square" lIns="0" tIns="0" rIns="0" bIns="0" rtlCol="0" anchor="t"/>
          <a:lstStyle/>
          <a:p>
            <a:pPr marL="0" indent="0">
              <a:buNone/>
            </a:pPr>
            <a:r>
              <a:rPr lang="en-US" sz="1200" dirty="0">
                <a:solidFill>
                  <a:srgbClr val="A1A1AA"/>
                </a:solidFill>
              </a:rPr>
              <a:t>Vision can only reach labelled neurons, so the left eye reaches ~3× fewer. Boosting it did not change the result, and single flight neurons still tell left from right.</a:t>
            </a:r>
            <a:endParaRPr lang="en-US" sz="1200" dirty="0"/>
          </a:p>
        </p:txBody>
      </p:sp>
      <p:sp>
        <p:nvSpPr>
          <p:cNvPr id="17"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Labelled:</a:t>
            </a:r>
            <a:r>
              <a:rPr lang="en-US" sz="900" dirty="0">
                <a:solidFill>
                  <a:srgbClr val="71717A"/>
                </a:solidFill>
              </a:rPr>
              <a:t> the neuron's type is known, for example a motion detector</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APPENDIX</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DETAILS: IMPERFECT SENSORS</a:t>
            </a:r>
            <a:endParaRPr lang="en-US" sz="1600" dirty="0"/>
          </a:p>
        </p:txBody>
      </p:sp>
      <p:sp>
        <p:nvSpPr>
          <p:cNvPr id="4" name="sn-0"/>
          <p:cNvSpPr/>
          <p:nvPr/>
        </p:nvSpPr>
        <p:spPr>
          <a:xfrm>
            <a:off x="566928" y="1051560"/>
            <a:ext cx="397764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5" name="sn-0-h"/>
          <p:cNvSpPr txBox="1"/>
          <p:nvPr/>
        </p:nvSpPr>
        <p:spPr>
          <a:xfrm>
            <a:off x="768096" y="1143000"/>
            <a:ext cx="3566160" cy="274320"/>
          </a:xfrm>
          <a:prstGeom prst="rect">
            <a:avLst/>
          </a:prstGeom>
          <a:noFill/>
          <a:ln/>
        </p:spPr>
        <p:txBody>
          <a:bodyPr wrap="square" lIns="0" tIns="0" rIns="0" bIns="0" rtlCol="0" anchor="t"/>
          <a:lstStyle/>
          <a:p>
            <a:pPr marL="0" indent="0">
              <a:buNone/>
            </a:pPr>
            <a:r>
              <a:rPr lang="en-US" sz="1400" b="1" dirty="0">
                <a:solidFill>
                  <a:srgbClr val="4F8CFF"/>
                </a:solidFill>
              </a:rPr>
              <a:t>Gyroscope</a:t>
            </a:r>
            <a:endParaRPr lang="en-US" sz="1400" dirty="0"/>
          </a:p>
        </p:txBody>
      </p:sp>
      <p:sp>
        <p:nvSpPr>
          <p:cNvPr id="6" name="sn-0-d"/>
          <p:cNvSpPr txBox="1"/>
          <p:nvPr/>
        </p:nvSpPr>
        <p:spPr>
          <a:xfrm>
            <a:off x="768096" y="1417320"/>
            <a:ext cx="3657600" cy="329184"/>
          </a:xfrm>
          <a:prstGeom prst="rect">
            <a:avLst/>
          </a:prstGeom>
          <a:noFill/>
          <a:ln/>
        </p:spPr>
        <p:txBody>
          <a:bodyPr wrap="square" lIns="0" tIns="0" rIns="0" bIns="0" rtlCol="0" anchor="t"/>
          <a:lstStyle/>
          <a:p>
            <a:pPr marL="0" indent="0">
              <a:buNone/>
            </a:pPr>
            <a:r>
              <a:rPr lang="en-US" sz="1000" dirty="0">
                <a:solidFill>
                  <a:srgbClr val="A1A1AA"/>
                </a:solidFill>
              </a:rPr>
              <a:t>measures rotation, with noise and slow drift</a:t>
            </a:r>
            <a:endParaRPr lang="en-US" sz="1000" dirty="0"/>
          </a:p>
        </p:txBody>
      </p:sp>
      <p:sp>
        <p:nvSpPr>
          <p:cNvPr id="7" name="sn-1"/>
          <p:cNvSpPr/>
          <p:nvPr/>
        </p:nvSpPr>
        <p:spPr>
          <a:xfrm>
            <a:off x="4681728" y="1051560"/>
            <a:ext cx="397764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8" name="sn-1-h"/>
          <p:cNvSpPr txBox="1"/>
          <p:nvPr/>
        </p:nvSpPr>
        <p:spPr>
          <a:xfrm>
            <a:off x="4882896" y="1143000"/>
            <a:ext cx="3566160" cy="274320"/>
          </a:xfrm>
          <a:prstGeom prst="rect">
            <a:avLst/>
          </a:prstGeom>
          <a:noFill/>
          <a:ln/>
        </p:spPr>
        <p:txBody>
          <a:bodyPr wrap="square" lIns="0" tIns="0" rIns="0" bIns="0" rtlCol="0" anchor="t"/>
          <a:lstStyle/>
          <a:p>
            <a:pPr marL="0" indent="0">
              <a:buNone/>
            </a:pPr>
            <a:r>
              <a:rPr lang="en-US" sz="1400" b="1" dirty="0">
                <a:solidFill>
                  <a:srgbClr val="4F8CFF"/>
                </a:solidFill>
              </a:rPr>
              <a:t>Rangefinder</a:t>
            </a:r>
            <a:endParaRPr lang="en-US" sz="1400" dirty="0"/>
          </a:p>
        </p:txBody>
      </p:sp>
      <p:sp>
        <p:nvSpPr>
          <p:cNvPr id="9" name="sn-1-d"/>
          <p:cNvSpPr txBox="1"/>
          <p:nvPr/>
        </p:nvSpPr>
        <p:spPr>
          <a:xfrm>
            <a:off x="4882896" y="1417320"/>
            <a:ext cx="3657600" cy="329184"/>
          </a:xfrm>
          <a:prstGeom prst="rect">
            <a:avLst/>
          </a:prstGeom>
          <a:noFill/>
          <a:ln/>
        </p:spPr>
        <p:txBody>
          <a:bodyPr wrap="square" lIns="0" tIns="0" rIns="0" bIns="0" rtlCol="0" anchor="t"/>
          <a:lstStyle/>
          <a:p>
            <a:pPr marL="0" indent="0">
              <a:buNone/>
            </a:pPr>
            <a:r>
              <a:rPr lang="en-US" sz="1000" dirty="0">
                <a:solidFill>
                  <a:srgbClr val="A1A1AA"/>
                </a:solidFill>
              </a:rPr>
              <a:t>height above ground, sometimes misses</a:t>
            </a:r>
            <a:endParaRPr lang="en-US" sz="1000" dirty="0"/>
          </a:p>
        </p:txBody>
      </p:sp>
      <p:sp>
        <p:nvSpPr>
          <p:cNvPr id="10" name="sn-2"/>
          <p:cNvSpPr/>
          <p:nvPr/>
        </p:nvSpPr>
        <p:spPr>
          <a:xfrm>
            <a:off x="566928" y="1874520"/>
            <a:ext cx="397764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1" name="sn-2-h"/>
          <p:cNvSpPr txBox="1"/>
          <p:nvPr/>
        </p:nvSpPr>
        <p:spPr>
          <a:xfrm>
            <a:off x="768096" y="1965960"/>
            <a:ext cx="3566160" cy="274320"/>
          </a:xfrm>
          <a:prstGeom prst="rect">
            <a:avLst/>
          </a:prstGeom>
          <a:noFill/>
          <a:ln/>
        </p:spPr>
        <p:txBody>
          <a:bodyPr wrap="square" lIns="0" tIns="0" rIns="0" bIns="0" rtlCol="0" anchor="t"/>
          <a:lstStyle/>
          <a:p>
            <a:pPr marL="0" indent="0">
              <a:buNone/>
            </a:pPr>
            <a:r>
              <a:rPr lang="en-US" sz="1400" b="1" dirty="0">
                <a:solidFill>
                  <a:srgbClr val="4F8CFF"/>
                </a:solidFill>
              </a:rPr>
              <a:t>Optical flow</a:t>
            </a:r>
            <a:endParaRPr lang="en-US" sz="1400" dirty="0"/>
          </a:p>
        </p:txBody>
      </p:sp>
      <p:sp>
        <p:nvSpPr>
          <p:cNvPr id="12" name="sn-2-d"/>
          <p:cNvSpPr txBox="1"/>
          <p:nvPr/>
        </p:nvSpPr>
        <p:spPr>
          <a:xfrm>
            <a:off x="768096" y="2240280"/>
            <a:ext cx="3657600" cy="329184"/>
          </a:xfrm>
          <a:prstGeom prst="rect">
            <a:avLst/>
          </a:prstGeom>
          <a:noFill/>
          <a:ln/>
        </p:spPr>
        <p:txBody>
          <a:bodyPr wrap="square" lIns="0" tIns="0" rIns="0" bIns="0" rtlCol="0" anchor="t"/>
          <a:lstStyle/>
          <a:p>
            <a:pPr marL="0" indent="0">
              <a:buNone/>
            </a:pPr>
            <a:r>
              <a:rPr lang="en-US" sz="1000" dirty="0">
                <a:solidFill>
                  <a:srgbClr val="A1A1AA"/>
                </a:solidFill>
              </a:rPr>
              <a:t>speed from a camera looking down</a:t>
            </a:r>
            <a:endParaRPr lang="en-US" sz="1000" dirty="0"/>
          </a:p>
        </p:txBody>
      </p:sp>
      <p:sp>
        <p:nvSpPr>
          <p:cNvPr id="13" name="sn-3"/>
          <p:cNvSpPr/>
          <p:nvPr/>
        </p:nvSpPr>
        <p:spPr>
          <a:xfrm>
            <a:off x="4681728" y="1874520"/>
            <a:ext cx="397764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4" name="sn-3-h"/>
          <p:cNvSpPr txBox="1"/>
          <p:nvPr/>
        </p:nvSpPr>
        <p:spPr>
          <a:xfrm>
            <a:off x="4882896" y="1965960"/>
            <a:ext cx="3566160" cy="274320"/>
          </a:xfrm>
          <a:prstGeom prst="rect">
            <a:avLst/>
          </a:prstGeom>
          <a:noFill/>
          <a:ln/>
        </p:spPr>
        <p:txBody>
          <a:bodyPr wrap="square" lIns="0" tIns="0" rIns="0" bIns="0" rtlCol="0" anchor="t"/>
          <a:lstStyle/>
          <a:p>
            <a:pPr marL="0" indent="0">
              <a:buNone/>
            </a:pPr>
            <a:r>
              <a:rPr lang="en-US" sz="1400" b="1" dirty="0">
                <a:solidFill>
                  <a:srgbClr val="4F8CFF"/>
                </a:solidFill>
              </a:rPr>
              <a:t>Barometer</a:t>
            </a:r>
            <a:endParaRPr lang="en-US" sz="1400" dirty="0"/>
          </a:p>
        </p:txBody>
      </p:sp>
      <p:sp>
        <p:nvSpPr>
          <p:cNvPr id="15" name="sn-3-d"/>
          <p:cNvSpPr txBox="1"/>
          <p:nvPr/>
        </p:nvSpPr>
        <p:spPr>
          <a:xfrm>
            <a:off x="4882896" y="2240280"/>
            <a:ext cx="3657600" cy="329184"/>
          </a:xfrm>
          <a:prstGeom prst="rect">
            <a:avLst/>
          </a:prstGeom>
          <a:noFill/>
          <a:ln/>
        </p:spPr>
        <p:txBody>
          <a:bodyPr wrap="square" lIns="0" tIns="0" rIns="0" bIns="0" rtlCol="0" anchor="t"/>
          <a:lstStyle/>
          <a:p>
            <a:pPr marL="0" indent="0">
              <a:buNone/>
            </a:pPr>
            <a:r>
              <a:rPr lang="en-US" sz="1000" dirty="0">
                <a:solidFill>
                  <a:srgbClr val="A1A1AA"/>
                </a:solidFill>
              </a:rPr>
              <a:t>height from air pressure, drifts slowly</a:t>
            </a:r>
            <a:endParaRPr lang="en-US" sz="1000" dirty="0"/>
          </a:p>
        </p:txBody>
      </p:sp>
      <p:sp>
        <p:nvSpPr>
          <p:cNvPr id="16" name="sn-4"/>
          <p:cNvSpPr/>
          <p:nvPr/>
        </p:nvSpPr>
        <p:spPr>
          <a:xfrm>
            <a:off x="566928" y="2697480"/>
            <a:ext cx="397764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17" name="sn-4-h"/>
          <p:cNvSpPr txBox="1"/>
          <p:nvPr/>
        </p:nvSpPr>
        <p:spPr>
          <a:xfrm>
            <a:off x="768096" y="2788920"/>
            <a:ext cx="3566160" cy="274320"/>
          </a:xfrm>
          <a:prstGeom prst="rect">
            <a:avLst/>
          </a:prstGeom>
          <a:noFill/>
          <a:ln/>
        </p:spPr>
        <p:txBody>
          <a:bodyPr wrap="square" lIns="0" tIns="0" rIns="0" bIns="0" rtlCol="0" anchor="t"/>
          <a:lstStyle/>
          <a:p>
            <a:pPr marL="0" indent="0">
              <a:buNone/>
            </a:pPr>
            <a:r>
              <a:rPr lang="en-US" sz="1400" b="1" dirty="0">
                <a:solidFill>
                  <a:srgbClr val="FFB547"/>
                </a:solidFill>
              </a:rPr>
              <a:t>GPS + compass</a:t>
            </a:r>
            <a:endParaRPr lang="en-US" sz="1400" dirty="0"/>
          </a:p>
        </p:txBody>
      </p:sp>
      <p:sp>
        <p:nvSpPr>
          <p:cNvPr id="18" name="sn-4-d"/>
          <p:cNvSpPr txBox="1"/>
          <p:nvPr/>
        </p:nvSpPr>
        <p:spPr>
          <a:xfrm>
            <a:off x="768096" y="3063240"/>
            <a:ext cx="3657600" cy="329184"/>
          </a:xfrm>
          <a:prstGeom prst="rect">
            <a:avLst/>
          </a:prstGeom>
          <a:noFill/>
          <a:ln/>
        </p:spPr>
        <p:txBody>
          <a:bodyPr wrap="square" lIns="0" tIns="0" rIns="0" bIns="0" rtlCol="0" anchor="t"/>
          <a:lstStyle/>
          <a:p>
            <a:pPr marL="0" indent="0">
              <a:buNone/>
            </a:pPr>
            <a:r>
              <a:rPr lang="en-US" sz="1000" dirty="0">
                <a:solidFill>
                  <a:srgbClr val="A1A1AA"/>
                </a:solidFill>
              </a:rPr>
              <a:t>position off by about 2.5 m, arrives late</a:t>
            </a:r>
            <a:endParaRPr lang="en-US" sz="1000" dirty="0"/>
          </a:p>
        </p:txBody>
      </p:sp>
      <p:sp>
        <p:nvSpPr>
          <p:cNvPr id="19" name="sn-5"/>
          <p:cNvSpPr/>
          <p:nvPr/>
        </p:nvSpPr>
        <p:spPr>
          <a:xfrm>
            <a:off x="4681728" y="2697480"/>
            <a:ext cx="3977640" cy="713232"/>
          </a:xfrm>
          <a:prstGeom prst="rect">
            <a:avLst/>
          </a:prstGeom>
          <a:solidFill>
            <a:srgbClr val="18181B">
              <a:alpha val="88000"/>
            </a:srgbClr>
          </a:solidFill>
          <a:ln w="9525">
            <a:solidFill>
              <a:srgbClr val="3F3F46"/>
            </a:solidFill>
            <a:prstDash val="solid"/>
          </a:ln>
          <a:effectLst>
            <a:outerShdw blurRad="228600" dist="76200" dir="5400000" algn="bl" rotWithShape="0">
              <a:srgbClr val="000000">
                <a:alpha val="55000"/>
              </a:srgbClr>
            </a:outerShdw>
          </a:effectLst>
        </p:spPr>
      </p:sp>
      <p:sp>
        <p:nvSpPr>
          <p:cNvPr id="20" name="sn-5-h"/>
          <p:cNvSpPr txBox="1"/>
          <p:nvPr/>
        </p:nvSpPr>
        <p:spPr>
          <a:xfrm>
            <a:off x="4882896" y="2788920"/>
            <a:ext cx="3566160" cy="274320"/>
          </a:xfrm>
          <a:prstGeom prst="rect">
            <a:avLst/>
          </a:prstGeom>
          <a:noFill/>
          <a:ln/>
        </p:spPr>
        <p:txBody>
          <a:bodyPr wrap="square" lIns="0" tIns="0" rIns="0" bIns="0" rtlCol="0" anchor="t"/>
          <a:lstStyle/>
          <a:p>
            <a:pPr marL="0" indent="0">
              <a:buNone/>
            </a:pPr>
            <a:r>
              <a:rPr lang="en-US" sz="1400" b="1" dirty="0">
                <a:solidFill>
                  <a:srgbClr val="FF4FB0"/>
                </a:solidFill>
              </a:rPr>
              <a:t>Motors</a:t>
            </a:r>
            <a:endParaRPr lang="en-US" sz="1400" dirty="0"/>
          </a:p>
        </p:txBody>
      </p:sp>
      <p:sp>
        <p:nvSpPr>
          <p:cNvPr id="21" name="sn-5-d"/>
          <p:cNvSpPr txBox="1"/>
          <p:nvPr/>
        </p:nvSpPr>
        <p:spPr>
          <a:xfrm>
            <a:off x="4882896" y="3063240"/>
            <a:ext cx="3657600" cy="329184"/>
          </a:xfrm>
          <a:prstGeom prst="rect">
            <a:avLst/>
          </a:prstGeom>
          <a:noFill/>
          <a:ln/>
        </p:spPr>
        <p:txBody>
          <a:bodyPr wrap="square" lIns="0" tIns="0" rIns="0" bIns="0" rtlCol="0" anchor="t"/>
          <a:lstStyle/>
          <a:p>
            <a:pPr marL="0" indent="0">
              <a:buNone/>
            </a:pPr>
            <a:r>
              <a:rPr lang="en-US" sz="1000" dirty="0">
                <a:solidFill>
                  <a:srgbClr val="A1A1AA"/>
                </a:solidFill>
              </a:rPr>
              <a:t>need time to speed up, like real ones</a:t>
            </a:r>
            <a:endParaRPr lang="en-US" sz="1000" dirty="0"/>
          </a:p>
        </p:txBody>
      </p:sp>
      <p:sp>
        <p:nvSpPr>
          <p:cNvPr id="22" name="sn-note"/>
          <p:cNvSpPr txBox="1"/>
          <p:nvPr/>
        </p:nvSpPr>
        <p:spPr>
          <a:xfrm>
            <a:off x="566928" y="3611880"/>
            <a:ext cx="8046720" cy="365760"/>
          </a:xfrm>
          <a:prstGeom prst="rect">
            <a:avLst/>
          </a:prstGeom>
          <a:noFill/>
          <a:ln/>
        </p:spPr>
        <p:txBody>
          <a:bodyPr wrap="square" lIns="0" tIns="0" rIns="0" bIns="0" rtlCol="0" anchor="t"/>
          <a:lstStyle/>
          <a:p>
            <a:pPr marL="0" indent="0">
              <a:buNone/>
            </a:pPr>
            <a:r>
              <a:rPr lang="en-US" sz="1200" dirty="0">
                <a:solidFill>
                  <a:srgbClr val="FAFAFA"/>
                </a:solidFill>
              </a:rPr>
              <a:t>The drone only gets these imperfect readings, never the true values.</a:t>
            </a:r>
            <a:endParaRPr lang="en-US" sz="1200" dirty="0"/>
          </a:p>
        </p:txBody>
      </p:sp>
      <p:sp>
        <p:nvSpPr>
          <p:cNvPr id="23" name="glossary-0"/>
          <p:cNvSpPr txBox="1"/>
          <p:nvPr/>
        </p:nvSpPr>
        <p:spPr>
          <a:xfrm>
            <a:off x="566928" y="4206240"/>
            <a:ext cx="3367806" cy="411480"/>
          </a:xfrm>
          <a:prstGeom prst="rect">
            <a:avLst/>
          </a:prstGeom>
          <a:noFill/>
          <a:ln/>
        </p:spPr>
        <p:txBody>
          <a:bodyPr wrap="square" lIns="0" tIns="0" rIns="0" bIns="0" rtlCol="0" anchor="t"/>
          <a:lstStyle/>
          <a:p>
            <a:pPr marL="0" indent="0">
              <a:buNone/>
            </a:pPr>
            <a:r>
              <a:rPr lang="en-US" sz="900" b="1" dirty="0">
                <a:solidFill>
                  <a:srgbClr val="A1A1AA"/>
                </a:solidFill>
              </a:rPr>
              <a:t>Drift:</a:t>
            </a:r>
            <a:r>
              <a:rPr lang="en-US" sz="900" dirty="0">
                <a:solidFill>
                  <a:srgbClr val="71717A"/>
                </a:solidFill>
              </a:rPr>
              <a:t> an error that slowly grows over time</a:t>
            </a:r>
            <a:endParaRPr lang="en-US" sz="900" dirty="0"/>
          </a:p>
        </p:txBody>
      </p:sp>
      <p:sp>
        <p:nvSpPr>
          <p:cNvPr id="24" name="glossary-1"/>
          <p:cNvSpPr txBox="1"/>
          <p:nvPr/>
        </p:nvSpPr>
        <p:spPr>
          <a:xfrm>
            <a:off x="4209054" y="4206240"/>
            <a:ext cx="4450314" cy="411480"/>
          </a:xfrm>
          <a:prstGeom prst="rect">
            <a:avLst/>
          </a:prstGeom>
          <a:noFill/>
          <a:ln/>
        </p:spPr>
        <p:txBody>
          <a:bodyPr wrap="square" lIns="0" tIns="0" rIns="0" bIns="0" rtlCol="0" anchor="t"/>
          <a:lstStyle/>
          <a:p>
            <a:pPr marL="0" indent="0">
              <a:buNone/>
            </a:pPr>
            <a:r>
              <a:rPr lang="en-US" sz="900" b="1" dirty="0">
                <a:solidFill>
                  <a:srgbClr val="A1A1AA"/>
                </a:solidFill>
              </a:rPr>
              <a:t>Why:</a:t>
            </a:r>
            <a:r>
              <a:rPr lang="en-US" sz="900" dirty="0">
                <a:solidFill>
                  <a:srgbClr val="71717A"/>
                </a:solidFill>
              </a:rPr>
              <a:t> a model trained on perfect data breaks in the real world</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APPENDIX</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DETAILS: THE TEACHER STEPS BACK</a:t>
            </a:r>
            <a:endParaRPr lang="en-US" sz="1600" dirty="0"/>
          </a:p>
        </p:txBody>
      </p:sp>
      <p:graphicFrame>
        <p:nvGraphicFramePr>
          <p:cNvPr id="4" name="chart-blocks"/>
          <p:cNvGraphicFramePr/>
          <p:nvPr/>
        </p:nvGraphicFramePr>
        <p:xfrm>
          <a:off x="457200" y="1005840"/>
          <a:ext cx="539496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5" name="beta-row"/>
          <p:cNvSpPr txBox="1"/>
          <p:nvPr/>
        </p:nvSpPr>
        <p:spPr>
          <a:xfrm>
            <a:off x="640080" y="3657600"/>
            <a:ext cx="5212080" cy="237744"/>
          </a:xfrm>
          <a:prstGeom prst="rect">
            <a:avLst/>
          </a:prstGeom>
          <a:noFill/>
          <a:ln/>
        </p:spPr>
        <p:txBody>
          <a:bodyPr wrap="square" lIns="0" tIns="0" rIns="0" bIns="0" rtlCol="0" anchor="t"/>
          <a:lstStyle/>
          <a:p>
            <a:pPr marL="0" indent="0">
              <a:buNone/>
            </a:pPr>
            <a:r>
              <a:rPr lang="en-US" sz="1000" dirty="0">
                <a:solidFill>
                  <a:srgbClr val="A1A1AA"/>
                </a:solidFill>
              </a:rPr>
              <a:t>teacher share:   0.84        0.50        0.17        0.00        0.00        0.00</a:t>
            </a:r>
            <a:endParaRPr lang="en-US" sz="1000" dirty="0"/>
          </a:p>
        </p:txBody>
      </p:sp>
      <p:sp>
        <p:nvSpPr>
          <p:cNvPr id="6" name="chart-note"/>
          <p:cNvSpPr txBox="1"/>
          <p:nvPr/>
        </p:nvSpPr>
        <p:spPr>
          <a:xfrm>
            <a:off x="640080" y="3913632"/>
            <a:ext cx="5212080" cy="237744"/>
          </a:xfrm>
          <a:prstGeom prst="rect">
            <a:avLst/>
          </a:prstGeom>
          <a:noFill/>
          <a:ln/>
        </p:spPr>
        <p:txBody>
          <a:bodyPr wrap="square" lIns="0" tIns="0" rIns="0" bIns="0" rtlCol="0" anchor="t"/>
          <a:lstStyle/>
          <a:p>
            <a:pPr marL="0" indent="0">
              <a:buNone/>
            </a:pPr>
            <a:r>
              <a:rPr lang="en-US" sz="1000" dirty="0">
                <a:solidFill>
                  <a:srgbClr val="A1A1AA"/>
                </a:solidFill>
              </a:rPr>
              <a:t>training flights, 50 per bar; red: the model flies alone</a:t>
            </a:r>
            <a:endParaRPr lang="en-US" sz="1000" dirty="0"/>
          </a:p>
        </p:txBody>
      </p:sp>
      <p:sp>
        <p:nvSpPr>
          <p:cNvPr id="7" name="s-alone-value"/>
          <p:cNvSpPr txBox="1"/>
          <p:nvPr/>
        </p:nvSpPr>
        <p:spPr>
          <a:xfrm>
            <a:off x="6217920" y="1143000"/>
            <a:ext cx="256032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138 / 150</a:t>
            </a:r>
            <a:endParaRPr lang="en-US" sz="3200" dirty="0"/>
          </a:p>
        </p:txBody>
      </p:sp>
      <p:sp>
        <p:nvSpPr>
          <p:cNvPr id="8" name="s-alone-label"/>
          <p:cNvSpPr txBox="1"/>
          <p:nvPr/>
        </p:nvSpPr>
        <p:spPr>
          <a:xfrm>
            <a:off x="6217920" y="1709928"/>
            <a:ext cx="2560320" cy="457200"/>
          </a:xfrm>
          <a:prstGeom prst="rect">
            <a:avLst/>
          </a:prstGeom>
          <a:noFill/>
          <a:ln/>
        </p:spPr>
        <p:txBody>
          <a:bodyPr wrap="square" lIns="0" tIns="0" rIns="0" bIns="0" rtlCol="0" anchor="t"/>
          <a:lstStyle/>
          <a:p>
            <a:pPr marL="0" indent="0">
              <a:buNone/>
            </a:pPr>
            <a:r>
              <a:rPr lang="en-US" sz="1200" dirty="0">
                <a:solidFill>
                  <a:srgbClr val="A1A1AA"/>
                </a:solidFill>
              </a:rPr>
              <a:t>training flights flown by the model alone that reached the target</a:t>
            </a:r>
            <a:endParaRPr lang="en-US" sz="1200" dirty="0"/>
          </a:p>
        </p:txBody>
      </p:sp>
      <p:sp>
        <p:nvSpPr>
          <p:cNvPr id="9" name="s-flips-value"/>
          <p:cNvSpPr txBox="1"/>
          <p:nvPr/>
        </p:nvSpPr>
        <p:spPr>
          <a:xfrm>
            <a:off x="6217920" y="2468880"/>
            <a:ext cx="256032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3 / 300</a:t>
            </a:r>
            <a:endParaRPr lang="en-US" sz="3200" dirty="0"/>
          </a:p>
        </p:txBody>
      </p:sp>
      <p:sp>
        <p:nvSpPr>
          <p:cNvPr id="10" name="s-flips-label"/>
          <p:cNvSpPr txBox="1"/>
          <p:nvPr/>
        </p:nvSpPr>
        <p:spPr>
          <a:xfrm>
            <a:off x="6217920" y="3035808"/>
            <a:ext cx="2560320" cy="457200"/>
          </a:xfrm>
          <a:prstGeom prst="rect">
            <a:avLst/>
          </a:prstGeom>
          <a:noFill/>
          <a:ln/>
        </p:spPr>
        <p:txBody>
          <a:bodyPr wrap="square" lIns="0" tIns="0" rIns="0" bIns="0" rtlCol="0" anchor="t"/>
          <a:lstStyle/>
          <a:p>
            <a:pPr marL="0" indent="0">
              <a:buNone/>
            </a:pPr>
            <a:r>
              <a:rPr lang="en-US" sz="1200" dirty="0">
                <a:solidFill>
                  <a:srgbClr val="A1A1AA"/>
                </a:solidFill>
              </a:rPr>
              <a:t>times the drone flipped over in all training flights</a:t>
            </a:r>
            <a:endParaRPr lang="en-US" sz="1200" dirty="0"/>
          </a:p>
        </p:txBody>
      </p:sp>
      <p:sp>
        <p:nvSpPr>
          <p:cNvPr id="11" name="glossary-0"/>
          <p:cNvSpPr txBox="1"/>
          <p:nvPr/>
        </p:nvSpPr>
        <p:spPr>
          <a:xfrm>
            <a:off x="566928" y="4206240"/>
            <a:ext cx="3995928" cy="411480"/>
          </a:xfrm>
          <a:prstGeom prst="rect">
            <a:avLst/>
          </a:prstGeom>
          <a:noFill/>
          <a:ln/>
        </p:spPr>
        <p:txBody>
          <a:bodyPr wrap="square" lIns="0" tIns="0" rIns="0" bIns="0" rtlCol="0" anchor="t"/>
          <a:lstStyle/>
          <a:p>
            <a:pPr marL="0" indent="0">
              <a:buNone/>
            </a:pPr>
            <a:r>
              <a:rPr lang="en-US" sz="900" b="1" dirty="0">
                <a:solidFill>
                  <a:srgbClr val="A1A1AA"/>
                </a:solidFill>
              </a:rPr>
              <a:t>Target reached:</a:t>
            </a:r>
            <a:r>
              <a:rPr lang="en-US" sz="900" dirty="0">
                <a:solidFill>
                  <a:srgbClr val="71717A"/>
                </a:solidFill>
              </a:rPr>
              <a:t> the drone touches the target within 40 s</a:t>
            </a:r>
            <a:endParaRPr lang="en-US" sz="900" dirty="0"/>
          </a:p>
        </p:txBody>
      </p:sp>
      <p:sp>
        <p:nvSpPr>
          <p:cNvPr id="12" name="glossary-1"/>
          <p:cNvSpPr txBox="1"/>
          <p:nvPr/>
        </p:nvSpPr>
        <p:spPr>
          <a:xfrm>
            <a:off x="4837176" y="4206240"/>
            <a:ext cx="3822192" cy="411480"/>
          </a:xfrm>
          <a:prstGeom prst="rect">
            <a:avLst/>
          </a:prstGeom>
          <a:noFill/>
          <a:ln/>
        </p:spPr>
        <p:txBody>
          <a:bodyPr wrap="square" lIns="0" tIns="0" rIns="0" bIns="0" rtlCol="0" anchor="t"/>
          <a:lstStyle/>
          <a:p>
            <a:pPr marL="0" indent="0">
              <a:buNone/>
            </a:pPr>
            <a:r>
              <a:rPr lang="en-US" sz="900" b="1" dirty="0">
                <a:solidFill>
                  <a:srgbClr val="A1A1AA"/>
                </a:solidFill>
              </a:rPr>
              <a:t>Teacher share:</a:t>
            </a:r>
            <a:r>
              <a:rPr lang="en-US" sz="900" dirty="0">
                <a:solidFill>
                  <a:srgbClr val="71717A"/>
                </a:solidFill>
              </a:rPr>
              <a:t> how much of the time the teacher flies</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eyebrow"/>
          <p:cNvSpPr txBox="1"/>
          <p:nvPr/>
        </p:nvSpPr>
        <p:spPr>
          <a:xfrm>
            <a:off x="566928" y="219456"/>
            <a:ext cx="5486400" cy="201168"/>
          </a:xfrm>
          <a:prstGeom prst="rect">
            <a:avLst/>
          </a:prstGeom>
          <a:noFill/>
          <a:ln/>
        </p:spPr>
        <p:txBody>
          <a:bodyPr wrap="square" lIns="0" tIns="0" rIns="0" bIns="0" rtlCol="0" anchor="t"/>
          <a:lstStyle/>
          <a:p>
            <a:pPr marL="0" indent="0">
              <a:buNone/>
            </a:pPr>
            <a:r>
              <a:rPr lang="en-US" sz="800" kern="0" spc="500" dirty="0">
                <a:solidFill>
                  <a:srgbClr val="FF2D6F"/>
                </a:solidFill>
              </a:rPr>
              <a:t>APPENDIX</a:t>
            </a:r>
            <a:endParaRPr lang="en-US" sz="800" dirty="0"/>
          </a:p>
        </p:txBody>
      </p:sp>
      <p:sp>
        <p:nvSpPr>
          <p:cNvPr id="3" name="Text 1"/>
          <p:cNvSpPr>
            <a:spLocks noGrp="1"/>
          </p:cNvSpPr>
          <p:nvPr>
            <p:ph type="title" idx="103" hasCustomPrompt="1"/>
          </p:nvPr>
        </p:nvSpPr>
        <p:spPr>
          <a:xfrm>
            <a:off x="566928" y="457200"/>
            <a:ext cx="7589520" cy="365760"/>
          </a:xfrm>
          <a:prstGeom prst="rect">
            <a:avLst/>
          </a:prstGeom>
          <a:noFill/>
          <a:ln/>
        </p:spPr>
        <p:txBody>
          <a:bodyPr wrap="square" lIns="0" tIns="0" rIns="0" bIns="0" rtlCol="0" anchor="t"/>
          <a:lstStyle/>
          <a:p>
            <a:pPr marL="0" indent="0" algn="l">
              <a:buNone/>
            </a:pPr>
            <a:r>
              <a:rPr lang="en-US" sz="1600" kern="0" spc="100" dirty="0">
                <a:solidFill>
                  <a:srgbClr val="FAFAFA"/>
                </a:solidFill>
                <a:latin typeface="Michroma" pitchFamily="34" charset="0"/>
                <a:ea typeface="Michroma" pitchFamily="34" charset="-122"/>
                <a:cs typeface="Michroma" pitchFamily="34" charset="-120"/>
              </a:rPr>
              <a:t>DETAILS: SPEED</a:t>
            </a:r>
            <a:endParaRPr lang="en-US" sz="1600" dirty="0"/>
          </a:p>
        </p:txBody>
      </p:sp>
      <p:graphicFrame>
        <p:nvGraphicFramePr>
          <p:cNvPr id="4" name="chart-speed"/>
          <p:cNvGraphicFramePr/>
          <p:nvPr/>
        </p:nvGraphicFramePr>
        <p:xfrm>
          <a:off x="457200" y="1097280"/>
          <a:ext cx="493776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peed-note"/>
          <p:cNvSpPr txBox="1"/>
          <p:nvPr/>
        </p:nvSpPr>
        <p:spPr>
          <a:xfrm>
            <a:off x="640080" y="3337560"/>
            <a:ext cx="4754880" cy="237744"/>
          </a:xfrm>
          <a:prstGeom prst="rect">
            <a:avLst/>
          </a:prstGeom>
          <a:noFill/>
          <a:ln/>
        </p:spPr>
        <p:txBody>
          <a:bodyPr wrap="square" lIns="0" tIns="0" rIns="0" bIns="0" rtlCol="0" anchor="t"/>
          <a:lstStyle/>
          <a:p>
            <a:pPr marL="0" indent="0">
              <a:buNone/>
            </a:pPr>
            <a:r>
              <a:rPr lang="en-US" sz="1000" dirty="0">
                <a:solidFill>
                  <a:srgbClr val="A1A1AA"/>
                </a:solidFill>
              </a:rPr>
              <a:t>time to update the whole fly brain once per camera image, on a laptop</a:t>
            </a:r>
            <a:endParaRPr lang="en-US" sz="1000" dirty="0"/>
          </a:p>
        </p:txBody>
      </p:sp>
      <p:sp>
        <p:nvSpPr>
          <p:cNvPr id="6" name="s-x-value"/>
          <p:cNvSpPr txBox="1"/>
          <p:nvPr/>
        </p:nvSpPr>
        <p:spPr>
          <a:xfrm>
            <a:off x="5852160" y="1143000"/>
            <a:ext cx="2743200" cy="548640"/>
          </a:xfrm>
          <a:prstGeom prst="rect">
            <a:avLst/>
          </a:prstGeom>
          <a:noFill/>
          <a:ln/>
        </p:spPr>
        <p:txBody>
          <a:bodyPr wrap="square" lIns="0" tIns="0" rIns="0" bIns="0" rtlCol="0" anchor="t"/>
          <a:lstStyle/>
          <a:p>
            <a:pPr marL="0" indent="0">
              <a:buNone/>
            </a:pPr>
            <a:r>
              <a:rPr lang="en-US" sz="3200" dirty="0">
                <a:solidFill>
                  <a:srgbClr val="FF2D6F"/>
                </a:solidFill>
                <a:latin typeface="Roboto Light" pitchFamily="34" charset="0"/>
                <a:ea typeface="Roboto Light" pitchFamily="34" charset="-122"/>
                <a:cs typeface="Roboto Light" pitchFamily="34" charset="-120"/>
              </a:rPr>
              <a:t>9×</a:t>
            </a:r>
            <a:endParaRPr lang="en-US" sz="3200" dirty="0"/>
          </a:p>
        </p:txBody>
      </p:sp>
      <p:sp>
        <p:nvSpPr>
          <p:cNvPr id="7" name="s-x-label"/>
          <p:cNvSpPr txBox="1"/>
          <p:nvPr/>
        </p:nvSpPr>
        <p:spPr>
          <a:xfrm>
            <a:off x="5852160" y="1709928"/>
            <a:ext cx="2743200" cy="457200"/>
          </a:xfrm>
          <a:prstGeom prst="rect">
            <a:avLst/>
          </a:prstGeom>
          <a:noFill/>
          <a:ln/>
        </p:spPr>
        <p:txBody>
          <a:bodyPr wrap="square" lIns="0" tIns="0" rIns="0" bIns="0" rtlCol="0" anchor="t"/>
          <a:lstStyle/>
          <a:p>
            <a:pPr marL="0" indent="0">
              <a:buNone/>
            </a:pPr>
            <a:r>
              <a:rPr lang="en-US" sz="1200" dirty="0">
                <a:solidFill>
                  <a:srgbClr val="A1A1AA"/>
                </a:solidFill>
              </a:rPr>
              <a:t>faster on the graphics card, with the same results</a:t>
            </a:r>
            <a:endParaRPr lang="en-US" sz="1200" dirty="0"/>
          </a:p>
        </p:txBody>
      </p:sp>
      <p:sp>
        <p:nvSpPr>
          <p:cNvPr id="8" name="s-sub-value"/>
          <p:cNvSpPr txBox="1"/>
          <p:nvPr/>
        </p:nvSpPr>
        <p:spPr>
          <a:xfrm>
            <a:off x="5852160" y="2423160"/>
            <a:ext cx="2743200" cy="548640"/>
          </a:xfrm>
          <a:prstGeom prst="rect">
            <a:avLst/>
          </a:prstGeom>
          <a:noFill/>
          <a:ln/>
        </p:spPr>
        <p:txBody>
          <a:bodyPr wrap="square" lIns="0" tIns="0" rIns="0" bIns="0" rtlCol="0" anchor="t"/>
          <a:lstStyle/>
          <a:p>
            <a:pPr marL="0" indent="0">
              <a:buNone/>
            </a:pPr>
            <a:r>
              <a:rPr lang="en-US" sz="3200" dirty="0">
                <a:solidFill>
                  <a:srgbClr val="FAFAFA"/>
                </a:solidFill>
                <a:latin typeface="Roboto Light" pitchFamily="34" charset="0"/>
                <a:ea typeface="Roboto Light" pitchFamily="34" charset="-122"/>
                <a:cs typeface="Roboto Light" pitchFamily="34" charset="-120"/>
              </a:rPr>
              <a:t>0.3 ms</a:t>
            </a:r>
            <a:endParaRPr lang="en-US" sz="3200" dirty="0"/>
          </a:p>
        </p:txBody>
      </p:sp>
      <p:sp>
        <p:nvSpPr>
          <p:cNvPr id="9" name="s-sub-label"/>
          <p:cNvSpPr txBox="1"/>
          <p:nvPr/>
        </p:nvSpPr>
        <p:spPr>
          <a:xfrm>
            <a:off x="5852160" y="2990088"/>
            <a:ext cx="2743200" cy="457200"/>
          </a:xfrm>
          <a:prstGeom prst="rect">
            <a:avLst/>
          </a:prstGeom>
          <a:noFill/>
          <a:ln/>
        </p:spPr>
        <p:txBody>
          <a:bodyPr wrap="square" lIns="0" tIns="0" rIns="0" bIns="0" rtlCol="0" anchor="t"/>
          <a:lstStyle/>
          <a:p>
            <a:pPr marL="0" indent="0">
              <a:buNone/>
            </a:pPr>
            <a:r>
              <a:rPr lang="en-US" sz="1200" dirty="0">
                <a:solidFill>
                  <a:srgbClr val="A1A1AA"/>
                </a:solidFill>
              </a:rPr>
              <a:t>for one update of all 1.53 M connections</a:t>
            </a:r>
            <a:endParaRPr lang="en-US" sz="1200" dirty="0"/>
          </a:p>
        </p:txBody>
      </p:sp>
      <p:sp>
        <p:nvSpPr>
          <p:cNvPr id="10" name="speed-d"/>
          <p:cNvSpPr txBox="1"/>
          <p:nvPr/>
        </p:nvSpPr>
        <p:spPr>
          <a:xfrm>
            <a:off x="566928" y="3749040"/>
            <a:ext cx="8046720" cy="320040"/>
          </a:xfrm>
          <a:prstGeom prst="rect">
            <a:avLst/>
          </a:prstGeom>
          <a:noFill/>
          <a:ln/>
        </p:spPr>
        <p:txBody>
          <a:bodyPr wrap="square" lIns="0" tIns="0" rIns="0" bIns="0" rtlCol="0" anchor="t"/>
          <a:lstStyle/>
          <a:p>
            <a:pPr marL="0" indent="0">
              <a:buNone/>
            </a:pPr>
            <a:r>
              <a:rPr lang="en-US" sz="1200" dirty="0">
                <a:solidFill>
                  <a:srgbClr val="A1A1AA"/>
                </a:solidFill>
              </a:rPr>
              <a:t>Fast enough to keep up with the camera in real time.</a:t>
            </a:r>
            <a:endParaRPr lang="en-US" sz="1200" dirty="0"/>
          </a:p>
        </p:txBody>
      </p:sp>
      <p:sp>
        <p:nvSpPr>
          <p:cNvPr id="11" name="glossary-0"/>
          <p:cNvSpPr txBox="1"/>
          <p:nvPr/>
        </p:nvSpPr>
        <p:spPr>
          <a:xfrm>
            <a:off x="566928" y="4206240"/>
            <a:ext cx="8092440" cy="411480"/>
          </a:xfrm>
          <a:prstGeom prst="rect">
            <a:avLst/>
          </a:prstGeom>
          <a:noFill/>
          <a:ln/>
        </p:spPr>
        <p:txBody>
          <a:bodyPr wrap="square" lIns="0" tIns="0" rIns="0" bIns="0" rtlCol="0" anchor="t"/>
          <a:lstStyle/>
          <a:p>
            <a:pPr marL="0" indent="0">
              <a:buNone/>
            </a:pPr>
            <a:r>
              <a:rPr lang="en-US" sz="900" b="1" dirty="0">
                <a:solidFill>
                  <a:srgbClr val="A1A1AA"/>
                </a:solidFill>
              </a:rPr>
              <a:t>ms:</a:t>
            </a:r>
            <a:r>
              <a:rPr lang="en-US" sz="900" dirty="0">
                <a:solidFill>
                  <a:srgbClr val="71717A"/>
                </a:solidFill>
              </a:rPr>
              <a:t> millisecond, a thousandth of a second</a:t>
            </a:r>
            <a:endParaRPr lang="en-US" sz="900" dirty="0"/>
          </a:p>
        </p:txBody>
      </p:sp>
      <p:sp>
        <p:nvSpPr>
          <p:cNvPr id="25" name="Slide Number Placeholder 0"/>
          <p:cNvSpPr>
            <a:spLocks noGrp="1"/>
          </p:cNvSpPr>
          <p:nvPr>
            <p:ph type="sldNum" sz="quarter" idx="4294967295"/>
          </p:nvPr>
        </p:nvSpPr>
        <p:spPr>
          <a:xfrm>
            <a:off x="8229600" y="46451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1A1AA"/>
                </a:solidFill>
              </a:defRPr>
            </a:lvl1pPr>
          </a:lstStyle>
          <a:p>
            <a:pPr algn="r"/>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NeuroFly">
  <a:themeElements>
    <a:clrScheme name="NeuroFly">
      <a:dk1>
        <a:srgbClr val="09090B"/>
      </a:dk1>
      <a:lt1>
        <a:srgbClr val="FAFAFA"/>
      </a:lt1>
      <a:dk2>
        <a:srgbClr val="18181B"/>
      </a:dk2>
      <a:lt2>
        <a:srgbClr val="A1A1AA"/>
      </a:lt2>
      <a:accent1>
        <a:srgbClr val="2FD3C4"/>
      </a:accent1>
      <a:accent2>
        <a:srgbClr val="FFB547"/>
      </a:accent2>
      <a:accent3>
        <a:srgbClr val="FF4FB0"/>
      </a:accent3>
      <a:accent4>
        <a:srgbClr val="4F8CFF"/>
      </a:accent4>
      <a:accent5>
        <a:srgbClr val="52525B"/>
      </a:accent5>
      <a:accent6>
        <a:srgbClr val="27272A"/>
      </a:accent6>
      <a:hlink>
        <a:srgbClr val="2FD3C4"/>
      </a:hlink>
      <a:folHlink>
        <a:srgbClr val="A1A1AA"/>
      </a:folHlink>
    </a:clrScheme>
    <a:fontScheme name="NeuroFly">
      <a:majorFont>
        <a:latin typeface="Michr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3922</Words>
  <Application>Microsoft Office PowerPoint</Application>
  <PresentationFormat>On-screen Show (16:9)</PresentationFormat>
  <Paragraphs>475</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Cambria Math</vt:lpstr>
      <vt:lpstr>Michroma</vt:lpstr>
      <vt:lpstr>Consolas</vt:lpstr>
      <vt:lpstr>Roboto Light</vt:lpstr>
      <vt:lpstr>Roboto</vt:lpstr>
      <vt:lpstr>NeuroFly</vt:lpstr>
      <vt:lpstr>PowerPoint Presentation</vt:lpstr>
      <vt:lpstr>THE IDEA</vt:lpstr>
      <vt:lpstr>WHAT MAKES NEUROFLY DIFFERENT</vt:lpstr>
      <vt:lpstr>HOW IT WORKS: ONE LOOP, 8 STEPS</vt:lpstr>
      <vt:lpstr>STEPS 1–3: SEEING LIKE A FLY</vt:lpstr>
      <vt:lpstr>STEPS 4–5: THE FLY BRAIN</vt:lpstr>
      <vt:lpstr>STEP 6: THE FLIGHT NEURONS</vt:lpstr>
      <vt:lpstr>STEP 6: WHERE THE BRAIN KNOWS THE TARGET</vt:lpstr>
      <vt:lpstr>STEP 7: THE DECODER LEARNS TO READ</vt:lpstr>
      <vt:lpstr>STEP 8: THE DRONE AND ITS WORLD</vt:lpstr>
      <vt:lpstr>WHO STEERS WHAT: GPS FAR, FLY BRAIN NEAR</vt:lpstr>
      <vt:lpstr>RESULT 1: TURNING TO THE TARGET</vt:lpstr>
      <vt:lpstr>RESULT 2: HOVER, TURN, GUST</vt:lpstr>
      <vt:lpstr>RESULT 3: FLIGHT IN NEW WORLDS</vt:lpstr>
      <vt:lpstr>WHAT DOES NOT WORK YET</vt:lpstr>
      <vt:lpstr>FROM BANC VS. OUR ASSUMPTIONS</vt:lpstr>
      <vt:lpstr>WHY IT MATTERS: WHO GAINS</vt:lpstr>
      <vt:lpstr>FROM DEMO TO USERS</vt:lpstr>
      <vt:lpstr>HOW WE SPLIT THE WORK</vt:lpstr>
      <vt:lpstr>TRY IT YOURSELF</vt:lpstr>
      <vt:lpstr>PowerPoint Presentation</vt:lpstr>
      <vt:lpstr>DETAILS: THE BRAIN EQUATION</vt:lpstr>
      <vt:lpstr>DETAILS: CALIBRATION</vt:lpstr>
      <vt:lpstr>DETAILS: THE FLY'S GYROSCOPE</vt:lpstr>
      <vt:lpstr>DETAILS: THE LEFT-EYE GAP</vt:lpstr>
      <vt:lpstr>DETAILS: IMPERFECT SENSORS</vt:lpstr>
      <vt:lpstr>DETAILS: THE TEACHER STEPS BACK</vt:lpstr>
      <vt:lpstr>DETAILS: SPEED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NeuroFly — a fruit-fly brain flies a drone</dc:title>
  <dc:subject>PptxGenJS Presentation</dc:subject>
  <dc:creator>NeuroFly team</dc:creator>
  <cp:lastModifiedBy>Mateusz Nowaczek</cp:lastModifiedBy>
  <cp:revision>2</cp:revision>
  <dcterms:created xsi:type="dcterms:W3CDTF">2026-10-03T22:29:21Z</dcterms:created>
  <dcterms:modified xsi:type="dcterms:W3CDTF">2026-10-03T22:29:30Z</dcterms:modified>
</cp:coreProperties>
</file>