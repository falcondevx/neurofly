
<file path=[Content_Types].xml><?xml version="1.0" encoding="utf-8"?>
<Types xmlns="http://schemas.openxmlformats.org/package/2006/content-types">
  <Default Extension="fntdata" ContentType="application/x-fontdata"/>
  <Default Extension="jpg" ContentType="image/jp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embeddedFontLst>
    <p:embeddedFont>
      <p:font typeface="Cambria" panose="02040503050406030204" pitchFamily="18" charset="0"/>
      <p:regular r:id="rId18"/>
      <p:bold r:id="rId19"/>
      <p:italic r:id="rId20"/>
      <p:boldItalic r:id="rId21"/>
    </p:embeddedFont>
    <p:embeddedFont>
      <p:font typeface="Roboto" panose="02000000000000000000" pitchFamily="2" charset="0"/>
      <p:regular r:id="rId22"/>
      <p:bold r:id="rId23"/>
      <p:italic r:id="rId24"/>
      <p:boldItalic r:id="rId2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B4698A53-E9A4-8FD9-8FC2-901CD3FD4E30}">
          <p14:sldIdLst>
            <p14:sldId id="256"/>
          </p14:sldIdLst>
        </p14:section>
        <p14:section name="Idea" id="{EDA2C285-5694-0EFE-3381-A1E089D14F59}">
          <p14:sldIdLst>
            <p14:sldId id="257"/>
          </p14:sldIdLst>
        </p14:section>
        <p14:section name="Pipeline" id="{44615E25-F902-9F94-1659-411A0A0C7B93}">
          <p14:sldIdLst>
            <p14:sldId id="258"/>
            <p14:sldId id="259"/>
          </p14:sldIdLst>
        </p14:section>
        <p14:section name="Connectome" id="{D0FE2DD8-74B5-E6CB-9E3E-FDB74A4FB596}">
          <p14:sldIdLst>
            <p14:sldId id="260"/>
            <p14:sldId id="261"/>
            <p14:sldId id="262"/>
          </p14:sldIdLst>
        </p14:section>
        <p14:section name="Odczyt" id="{BA5F89ED-B7BD-DDBF-DF30-7E47CCDB5436}">
          <p14:sldIdLst>
            <p14:sldId id="263"/>
            <p14:sldId id="264"/>
          </p14:sldIdLst>
        </p14:section>
        <p14:section name="Symulator" id="{F566EDF2-687A-617E-1963-1E0420337780}">
          <p14:sldIdLst>
            <p14:sldId id="265"/>
          </p14:sldIdLst>
        </p14:section>
        <p14:section name="Trening" id="{598CE636-DD19-9F8D-342D-8DBD0D818BBD}">
          <p14:sldIdLst>
            <p14:sldId id="266"/>
          </p14:sldIdLst>
        </p14:section>
        <p14:section name="Wyniki" id="{FB0ACF77-609E-78ED-E52B-E60492E9D717}">
          <p14:sldIdLst>
            <p14:sldId id="267"/>
            <p14:sldId id="268"/>
          </p14:sldIdLst>
        </p14:section>
        <p14:section name="Uczciwość" id="{25EEECC2-9FB7-E063-D2D3-812D36142CA7}">
          <p14:sldIdLst>
            <p14:sldId id="269"/>
          </p14:sldIdLst>
        </p14:section>
        <p14:section name="Koniec" id="{A1EE520F-96A5-284E-F29C-70F4011ACE7F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Trafność strony celu</c:v>
                </c:pt>
              </c:strCache>
            </c:strRef>
          </c:tx>
          <c:spPr>
            <a:solidFill>
              <a:srgbClr val="52525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A1B-4A1A-A048-583FEE77A83A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1A1B-4A1A-A048-583FEE77A83A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1A1B-4A1A-A048-583FEE77A83A}"/>
              </c:ext>
            </c:extLst>
          </c:dPt>
          <c:dPt>
            <c:idx val="3"/>
            <c:invertIfNegative val="0"/>
            <c:bubble3D val="0"/>
            <c:spPr>
              <a:solidFill>
                <a:srgbClr val="2FD3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A1B-4A1A-A048-583FEE77A83A}"/>
              </c:ext>
            </c:extLst>
          </c:dPt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AFAFA"/>
                    </a:solidFill>
                    <a:latin typeface="+mn-lt"/>
                  </a:defRPr>
                </a:pPr>
                <a:endParaRPr lang="pl-P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6 średnich MN</c:v>
                </c:pt>
                <c:pt idx="1">
                  <c:v>MN pojedynczo</c:v>
                </c:pt>
                <c:pt idx="2">
                  <c:v>wzrok (VPN)</c:v>
                </c:pt>
                <c:pt idx="3">
                  <c:v>DN lotu pojedynczo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68</c:v>
                </c:pt>
                <c:pt idx="1">
                  <c:v>84</c:v>
                </c:pt>
                <c:pt idx="2">
                  <c:v>94</c:v>
                </c:pt>
                <c:pt idx="3">
                  <c:v>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A1B-4A1A-A048-583FEE77A83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1A1A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przed treningiem</c:v>
                </c:pt>
              </c:strCache>
            </c:strRef>
          </c:tx>
          <c:spPr>
            <a:solidFill>
              <a:srgbClr val="52525B"/>
            </a:solidFill>
            <a:effectLst/>
          </c:spPr>
          <c:invertIfNegative val="0"/>
          <c:dLbls>
            <c:numFmt formatCode="0.0&quot;°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FAFAFA"/>
                    </a:solidFill>
                    <a:latin typeface="+mn-lt"/>
                  </a:defRPr>
                </a:pPr>
                <a:endParaRPr lang="pl-P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cel −60°</c:v>
                </c:pt>
                <c:pt idx="1">
                  <c:v>cel −30°</c:v>
                </c:pt>
                <c:pt idx="2">
                  <c:v>cel +30°</c:v>
                </c:pt>
                <c:pt idx="3">
                  <c:v>cel +60°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24.8</c:v>
                </c:pt>
                <c:pt idx="1">
                  <c:v>21.5</c:v>
                </c:pt>
                <c:pt idx="2">
                  <c:v>21.7</c:v>
                </c:pt>
                <c:pt idx="3">
                  <c:v>32.5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6B-410A-A02C-EE2A4C1F5D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 treningu</c:v>
                </c:pt>
              </c:strCache>
            </c:strRef>
          </c:tx>
          <c:spPr>
            <a:solidFill>
              <a:srgbClr val="2FD3C4"/>
            </a:solidFill>
            <a:effectLst/>
          </c:spPr>
          <c:invertIfNegative val="0"/>
          <c:dLbls>
            <c:numFmt formatCode="0.0&quot;°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FAFAFA"/>
                    </a:solidFill>
                    <a:latin typeface="+mn-lt"/>
                  </a:defRPr>
                </a:pPr>
                <a:endParaRPr lang="pl-P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cel −60°</c:v>
                </c:pt>
                <c:pt idx="1">
                  <c:v>cel −30°</c:v>
                </c:pt>
                <c:pt idx="2">
                  <c:v>cel +30°</c:v>
                </c:pt>
                <c:pt idx="3">
                  <c:v>cel +60°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</c:v>
                </c:pt>
                <c:pt idx="1">
                  <c:v>3.1</c:v>
                </c:pt>
                <c:pt idx="2">
                  <c:v>2.2999999999999998</c:v>
                </c:pt>
                <c:pt idx="3">
                  <c:v>5.0999999999999996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76B-410A-A02C-EE2A4C1F5D0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1A1A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1A1A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03501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NeuroFly: obraz z kamer drona przechodzi przez model oka muszki (FlyVis), potem przez prawdziwy connectome Drosophila (BANC v888, mózg + brzuszny łańcuch nerwowy), a aktywność neuronów lotu steruje dronem w symulatorze. Render: półprzezroczyste ciało NeuroMechFly (FlyGym) z connectomem BANC w środku — dopasowanie ciała ilustracyjne.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Każda klatka obrazu przechodzi przez całą pętlę ~30 razy na sekundę. Nic nie jest ręcznie zaprogramowanym regulatorem kursu: kierunek do celu odczytujemy z aktywności neuronów zstępujących (DN) w BANC.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Górny rząd: wszystko, co dzieje się przed connectomem. Dolny: connectome, odczyt neuronów lotu, dekoder i dron. Jedna klatka (FlyVis + 4 podkroki dynamiki BANC na GPU) to ~15–20 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Cel (czarny słup) jest po prawej stronie: widać go tylko w prawym oku, jako ciemną kolumnę ommatidiów.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Oficjalny BANC v888 (Bates et al. 2026, publiczny bucket Lee Lab). Somy z kolumny position; kolory jak w eksploratorze: wzrok teal, interneurony fiolet, DN amber, motoneurony rose. Żadnych syntetycznych grafów.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Regresja grzbietowa kąt ~ aktywność, cel pod kątami −90…+90° w 3 odległościach, walidacja na odległości pominiętej w uczeniu (scripts/check_side_decoding.py).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NeuroFly\docs\prezentacja\assets\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690872"/>
            <a:ext cx="310896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46451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1A1AA"/>
                </a:solidFill>
              </a:rPr>
              <a:t>NeuroFly</a:t>
            </a:r>
            <a:endParaRPr lang="en-US" sz="10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rgbClr val="FAFAFA"/>
                </a:solidFill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jpg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ender-fly-xray" descr="C:\NeuroFly\docs\prezentacja\assets\fly_xra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91440"/>
            <a:ext cx="5897880" cy="3401568"/>
          </a:xfrm>
          <a:prstGeom prst="rect">
            <a:avLst/>
          </a:prstGeom>
        </p:spPr>
      </p:pic>
      <p:pic>
        <p:nvPicPr>
          <p:cNvPr id="3" name="logo" descr="C:\NeuroFly\docs\prezentacja\assets\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143000"/>
            <a:ext cx="1097280" cy="649224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548640" y="19202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rgbClr val="FAFAFA"/>
                </a:solidFill>
              </a:rPr>
              <a:t>NeuroFly</a:t>
            </a:r>
            <a:endParaRPr lang="en-US" sz="5400" dirty="0"/>
          </a:p>
        </p:txBody>
      </p:sp>
      <p:sp>
        <p:nvSpPr>
          <p:cNvPr id="5" name="subtitle"/>
          <p:cNvSpPr txBox="1"/>
          <p:nvPr/>
        </p:nvSpPr>
        <p:spPr>
          <a:xfrm>
            <a:off x="548640" y="27432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A1A1AA"/>
                </a:solidFill>
              </a:rPr>
              <a:t>Mózg muszki owocowej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A1A1AA"/>
                </a:solidFill>
              </a:rPr>
              <a:t>pilotuje drona</a:t>
            </a:r>
            <a:endParaRPr lang="en-US" sz="2000" dirty="0"/>
          </a:p>
        </p:txBody>
      </p:sp>
      <p:sp>
        <p:nvSpPr>
          <p:cNvPr id="6" name="footer"/>
          <p:cNvSpPr txBox="1"/>
          <p:nvPr/>
        </p:nvSpPr>
        <p:spPr>
          <a:xfrm>
            <a:off x="548640" y="4160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2525B"/>
                </a:solidFill>
              </a:rPr>
              <a:t>Pełny connectome BANC v888 · 175 401 neuronów · pętla zamknięta w MuJoCo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AFAFA"/>
                </a:solidFill>
              </a:rPr>
              <a:t>Zamknięta pętla: wzrok → connectome → lot</a:t>
            </a:r>
            <a:endParaRPr lang="en-US" sz="2800" dirty="0"/>
          </a:p>
        </p:txBody>
      </p:sp>
      <p:sp>
        <p:nvSpPr>
          <p:cNvPr id="3" name="step-0"/>
          <p:cNvSpPr/>
          <p:nvPr/>
        </p:nvSpPr>
        <p:spPr>
          <a:xfrm>
            <a:off x="3520440" y="941832"/>
            <a:ext cx="2103120" cy="768096"/>
          </a:xfrm>
          <a:prstGeom prst="roundRect">
            <a:avLst>
              <a:gd name="adj" fmla="val 14286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4" name="step-0-dot"/>
          <p:cNvSpPr/>
          <p:nvPr/>
        </p:nvSpPr>
        <p:spPr>
          <a:xfrm>
            <a:off x="3685032" y="1106424"/>
            <a:ext cx="146304" cy="146304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5" name="step-0-title"/>
          <p:cNvSpPr txBox="1"/>
          <p:nvPr/>
        </p:nvSpPr>
        <p:spPr>
          <a:xfrm>
            <a:off x="3931920" y="10332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Obraz</a:t>
            </a:r>
            <a:endParaRPr lang="en-US" sz="1500" dirty="0"/>
          </a:p>
        </p:txBody>
      </p:sp>
      <p:sp>
        <p:nvSpPr>
          <p:cNvPr id="6" name="step-0-desc"/>
          <p:cNvSpPr txBox="1"/>
          <p:nvPr/>
        </p:nvSpPr>
        <p:spPr>
          <a:xfrm>
            <a:off x="3931920" y="13441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dwie kamery-oczy drona</a:t>
            </a:r>
            <a:endParaRPr lang="en-US" sz="1100" dirty="0"/>
          </a:p>
        </p:txBody>
      </p:sp>
      <p:sp>
        <p:nvSpPr>
          <p:cNvPr id="7" name="step-1"/>
          <p:cNvSpPr/>
          <p:nvPr/>
        </p:nvSpPr>
        <p:spPr>
          <a:xfrm>
            <a:off x="5717286" y="2359152"/>
            <a:ext cx="2103120" cy="768096"/>
          </a:xfrm>
          <a:prstGeom prst="roundRect">
            <a:avLst>
              <a:gd name="adj" fmla="val 14286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8" name="step-1-dot"/>
          <p:cNvSpPr/>
          <p:nvPr/>
        </p:nvSpPr>
        <p:spPr>
          <a:xfrm>
            <a:off x="5881878" y="2523744"/>
            <a:ext cx="146304" cy="146304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9" name="step-1-title"/>
          <p:cNvSpPr txBox="1"/>
          <p:nvPr/>
        </p:nvSpPr>
        <p:spPr>
          <a:xfrm>
            <a:off x="6128766" y="245059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Connectome</a:t>
            </a:r>
            <a:endParaRPr lang="en-US" sz="1500" dirty="0"/>
          </a:p>
        </p:txBody>
      </p:sp>
      <p:sp>
        <p:nvSpPr>
          <p:cNvPr id="10" name="step-1-desc"/>
          <p:cNvSpPr txBox="1"/>
          <p:nvPr/>
        </p:nvSpPr>
        <p:spPr>
          <a:xfrm>
            <a:off x="6128766" y="27614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BANC v888 na GPU</a:t>
            </a:r>
            <a:endParaRPr lang="en-US" sz="1100" dirty="0"/>
          </a:p>
        </p:txBody>
      </p:sp>
      <p:sp>
        <p:nvSpPr>
          <p:cNvPr id="11" name="step-2"/>
          <p:cNvSpPr/>
          <p:nvPr/>
        </p:nvSpPr>
        <p:spPr>
          <a:xfrm>
            <a:off x="3520440" y="3776472"/>
            <a:ext cx="2103120" cy="768096"/>
          </a:xfrm>
          <a:prstGeom prst="roundRect">
            <a:avLst>
              <a:gd name="adj" fmla="val 14286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12" name="step-2-dot"/>
          <p:cNvSpPr/>
          <p:nvPr/>
        </p:nvSpPr>
        <p:spPr>
          <a:xfrm>
            <a:off x="3685032" y="3941064"/>
            <a:ext cx="146304" cy="146304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13" name="step-2-title"/>
          <p:cNvSpPr txBox="1"/>
          <p:nvPr/>
        </p:nvSpPr>
        <p:spPr>
          <a:xfrm>
            <a:off x="3931920" y="386791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Sterowanie</a:t>
            </a:r>
            <a:endParaRPr lang="en-US" sz="1500" dirty="0"/>
          </a:p>
        </p:txBody>
      </p:sp>
      <p:sp>
        <p:nvSpPr>
          <p:cNvPr id="14" name="step-2-desc"/>
          <p:cNvSpPr txBox="1"/>
          <p:nvPr/>
        </p:nvSpPr>
        <p:spPr>
          <a:xfrm>
            <a:off x="3931920" y="41788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neurony lotu → komendy</a:t>
            </a:r>
            <a:endParaRPr lang="en-US" sz="1100" dirty="0"/>
          </a:p>
        </p:txBody>
      </p:sp>
      <p:sp>
        <p:nvSpPr>
          <p:cNvPr id="15" name="step-3"/>
          <p:cNvSpPr/>
          <p:nvPr/>
        </p:nvSpPr>
        <p:spPr>
          <a:xfrm>
            <a:off x="1323594" y="2359152"/>
            <a:ext cx="2103120" cy="768096"/>
          </a:xfrm>
          <a:prstGeom prst="roundRect">
            <a:avLst>
              <a:gd name="adj" fmla="val 14286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16" name="step-3-dot"/>
          <p:cNvSpPr/>
          <p:nvPr/>
        </p:nvSpPr>
        <p:spPr>
          <a:xfrm>
            <a:off x="1488186" y="2523744"/>
            <a:ext cx="146304" cy="146304"/>
          </a:xfrm>
          <a:prstGeom prst="ellipse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17" name="step-3-title"/>
          <p:cNvSpPr txBox="1"/>
          <p:nvPr/>
        </p:nvSpPr>
        <p:spPr>
          <a:xfrm>
            <a:off x="1735074" y="245059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Ruch</a:t>
            </a:r>
            <a:endParaRPr lang="en-US" sz="1500" dirty="0"/>
          </a:p>
        </p:txBody>
      </p:sp>
      <p:sp>
        <p:nvSpPr>
          <p:cNvPr id="18" name="step-3-desc"/>
          <p:cNvSpPr txBox="1"/>
          <p:nvPr/>
        </p:nvSpPr>
        <p:spPr>
          <a:xfrm>
            <a:off x="1735074" y="27614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dron w MuJoCo → nowy obraz</a:t>
            </a:r>
            <a:endParaRPr lang="en-US" sz="1100" dirty="0"/>
          </a:p>
        </p:txBody>
      </p:sp>
      <p:pic>
        <p:nvPicPr>
          <p:cNvPr id="19" name="logo-center" descr="C:\NeuroFly\docs\prezentacja\assets\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2450592"/>
            <a:ext cx="1005840" cy="5943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AFAFA"/>
                </a:solidFill>
              </a:rPr>
              <a:t>Pipeline: od piksela do śmigła</a:t>
            </a:r>
            <a:endParaRPr lang="en-US" sz="2800" dirty="0"/>
          </a:p>
        </p:txBody>
      </p:sp>
      <p:sp>
        <p:nvSpPr>
          <p:cNvPr id="3" name="node-0"/>
          <p:cNvSpPr/>
          <p:nvPr/>
        </p:nvSpPr>
        <p:spPr>
          <a:xfrm>
            <a:off x="457200" y="132588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4" name="node-0-dot"/>
          <p:cNvSpPr/>
          <p:nvPr/>
        </p:nvSpPr>
        <p:spPr>
          <a:xfrm>
            <a:off x="603504" y="1508760"/>
            <a:ext cx="128016" cy="128016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5" name="node-0-title"/>
          <p:cNvSpPr txBox="1"/>
          <p:nvPr/>
        </p:nvSpPr>
        <p:spPr>
          <a:xfrm>
            <a:off x="804672" y="143560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Kamera</a:t>
            </a:r>
            <a:endParaRPr lang="en-US" sz="1500" dirty="0"/>
          </a:p>
        </p:txBody>
      </p:sp>
      <p:sp>
        <p:nvSpPr>
          <p:cNvPr id="6" name="node-0-desc"/>
          <p:cNvSpPr txBox="1"/>
          <p:nvPr/>
        </p:nvSpPr>
        <p:spPr>
          <a:xfrm>
            <a:off x="603504" y="180136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2 oczy MuJoCo, 157°, ±70°</a:t>
            </a:r>
            <a:endParaRPr lang="en-US" sz="1100" dirty="0"/>
          </a:p>
        </p:txBody>
      </p:sp>
      <p:sp>
        <p:nvSpPr>
          <p:cNvPr id="7" name="arrow-0"/>
          <p:cNvSpPr/>
          <p:nvPr/>
        </p:nvSpPr>
        <p:spPr>
          <a:xfrm>
            <a:off x="2249424" y="179222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8" name="node-1"/>
          <p:cNvSpPr/>
          <p:nvPr/>
        </p:nvSpPr>
        <p:spPr>
          <a:xfrm>
            <a:off x="2551176" y="132588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9" name="node-1-dot"/>
          <p:cNvSpPr/>
          <p:nvPr/>
        </p:nvSpPr>
        <p:spPr>
          <a:xfrm>
            <a:off x="2697480" y="1508760"/>
            <a:ext cx="128016" cy="128016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10" name="node-1-title"/>
          <p:cNvSpPr txBox="1"/>
          <p:nvPr/>
        </p:nvSpPr>
        <p:spPr>
          <a:xfrm>
            <a:off x="2898648" y="143560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Siatkówka</a:t>
            </a:r>
            <a:endParaRPr lang="en-US" sz="1500" dirty="0"/>
          </a:p>
        </p:txBody>
      </p:sp>
      <p:sp>
        <p:nvSpPr>
          <p:cNvPr id="11" name="node-1-desc"/>
          <p:cNvSpPr txBox="1"/>
          <p:nvPr/>
        </p:nvSpPr>
        <p:spPr>
          <a:xfrm>
            <a:off x="2697480" y="180136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FlyGym: 721 ommatidiów / oko</a:t>
            </a:r>
            <a:endParaRPr lang="en-US" sz="1100" dirty="0"/>
          </a:p>
        </p:txBody>
      </p:sp>
      <p:sp>
        <p:nvSpPr>
          <p:cNvPr id="12" name="arrow-1"/>
          <p:cNvSpPr/>
          <p:nvPr/>
        </p:nvSpPr>
        <p:spPr>
          <a:xfrm>
            <a:off x="4343400" y="179222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13" name="node-2"/>
          <p:cNvSpPr/>
          <p:nvPr/>
        </p:nvSpPr>
        <p:spPr>
          <a:xfrm>
            <a:off x="4645152" y="132588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14" name="node-2-dot"/>
          <p:cNvSpPr/>
          <p:nvPr/>
        </p:nvSpPr>
        <p:spPr>
          <a:xfrm>
            <a:off x="4791456" y="1508760"/>
            <a:ext cx="128016" cy="128016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15" name="node-2-title"/>
          <p:cNvSpPr txBox="1"/>
          <p:nvPr/>
        </p:nvSpPr>
        <p:spPr>
          <a:xfrm>
            <a:off x="4992624" y="143560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FlyVis</a:t>
            </a:r>
            <a:endParaRPr lang="en-US" sz="1500" dirty="0"/>
          </a:p>
        </p:txBody>
      </p:sp>
      <p:sp>
        <p:nvSpPr>
          <p:cNvPr id="16" name="node-2-desc"/>
          <p:cNvSpPr txBox="1"/>
          <p:nvPr/>
        </p:nvSpPr>
        <p:spPr>
          <a:xfrm>
            <a:off x="4791456" y="180136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model płata wzrokowego</a:t>
            </a:r>
            <a:endParaRPr lang="en-US" sz="1100" dirty="0"/>
          </a:p>
        </p:txBody>
      </p:sp>
      <p:sp>
        <p:nvSpPr>
          <p:cNvPr id="17" name="arrow-2"/>
          <p:cNvSpPr/>
          <p:nvPr/>
        </p:nvSpPr>
        <p:spPr>
          <a:xfrm>
            <a:off x="6437376" y="179222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18" name="node-3"/>
          <p:cNvSpPr/>
          <p:nvPr/>
        </p:nvSpPr>
        <p:spPr>
          <a:xfrm>
            <a:off x="6739128" y="132588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19" name="node-3-dot"/>
          <p:cNvSpPr/>
          <p:nvPr/>
        </p:nvSpPr>
        <p:spPr>
          <a:xfrm>
            <a:off x="6885432" y="1508760"/>
            <a:ext cx="128016" cy="128016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20" name="node-3-title"/>
          <p:cNvSpPr txBox="1"/>
          <p:nvPr/>
        </p:nvSpPr>
        <p:spPr>
          <a:xfrm>
            <a:off x="7086600" y="143560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Mapa → BANC</a:t>
            </a:r>
            <a:endParaRPr lang="en-US" sz="1500" dirty="0"/>
          </a:p>
        </p:txBody>
      </p:sp>
      <p:sp>
        <p:nvSpPr>
          <p:cNvPr id="21" name="node-3-desc"/>
          <p:cNvSpPr txBox="1"/>
          <p:nvPr/>
        </p:nvSpPr>
        <p:spPr>
          <a:xfrm>
            <a:off x="6885432" y="180136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22 462 neuronów v888</a:t>
            </a:r>
            <a:endParaRPr lang="en-US" sz="1100" dirty="0"/>
          </a:p>
        </p:txBody>
      </p:sp>
      <p:sp>
        <p:nvSpPr>
          <p:cNvPr id="22" name="node-4"/>
          <p:cNvSpPr/>
          <p:nvPr/>
        </p:nvSpPr>
        <p:spPr>
          <a:xfrm>
            <a:off x="6739128" y="297180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23" name="node-4-dot"/>
          <p:cNvSpPr/>
          <p:nvPr/>
        </p:nvSpPr>
        <p:spPr>
          <a:xfrm>
            <a:off x="6885432" y="3154680"/>
            <a:ext cx="128016" cy="128016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24" name="node-4-title"/>
          <p:cNvSpPr txBox="1"/>
          <p:nvPr/>
        </p:nvSpPr>
        <p:spPr>
          <a:xfrm>
            <a:off x="7086600" y="308152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BANC v888</a:t>
            </a:r>
            <a:endParaRPr lang="en-US" sz="1500" dirty="0"/>
          </a:p>
        </p:txBody>
      </p:sp>
      <p:sp>
        <p:nvSpPr>
          <p:cNvPr id="25" name="node-4-desc"/>
          <p:cNvSpPr txBox="1"/>
          <p:nvPr/>
        </p:nvSpPr>
        <p:spPr>
          <a:xfrm>
            <a:off x="6885432" y="344728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175 401 neuronów, GPU</a:t>
            </a:r>
            <a:endParaRPr lang="en-US" sz="1100" dirty="0"/>
          </a:p>
        </p:txBody>
      </p:sp>
      <p:sp>
        <p:nvSpPr>
          <p:cNvPr id="26" name="arrow-4"/>
          <p:cNvSpPr/>
          <p:nvPr/>
        </p:nvSpPr>
        <p:spPr>
          <a:xfrm flipH="1">
            <a:off x="6437376" y="343814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27" name="node-5"/>
          <p:cNvSpPr/>
          <p:nvPr/>
        </p:nvSpPr>
        <p:spPr>
          <a:xfrm>
            <a:off x="4645152" y="297180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28" name="node-5-dot"/>
          <p:cNvSpPr/>
          <p:nvPr/>
        </p:nvSpPr>
        <p:spPr>
          <a:xfrm>
            <a:off x="4791456" y="3154680"/>
            <a:ext cx="128016" cy="128016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29" name="node-5-title"/>
          <p:cNvSpPr txBox="1"/>
          <p:nvPr/>
        </p:nvSpPr>
        <p:spPr>
          <a:xfrm>
            <a:off x="4992624" y="308152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Odczyt</a:t>
            </a:r>
            <a:endParaRPr lang="en-US" sz="1500" dirty="0"/>
          </a:p>
        </p:txBody>
      </p:sp>
      <p:sp>
        <p:nvSpPr>
          <p:cNvPr id="30" name="node-5-desc"/>
          <p:cNvSpPr txBox="1"/>
          <p:nvPr/>
        </p:nvSpPr>
        <p:spPr>
          <a:xfrm>
            <a:off x="4791456" y="344728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6 grup MN + 375 DN lotu</a:t>
            </a:r>
            <a:endParaRPr lang="en-US" sz="1100" dirty="0"/>
          </a:p>
        </p:txBody>
      </p:sp>
      <p:sp>
        <p:nvSpPr>
          <p:cNvPr id="31" name="arrow-5"/>
          <p:cNvSpPr/>
          <p:nvPr/>
        </p:nvSpPr>
        <p:spPr>
          <a:xfrm flipH="1">
            <a:off x="4343400" y="343814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32" name="node-6"/>
          <p:cNvSpPr/>
          <p:nvPr/>
        </p:nvSpPr>
        <p:spPr>
          <a:xfrm>
            <a:off x="2551176" y="297180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33" name="node-6-dot"/>
          <p:cNvSpPr/>
          <p:nvPr/>
        </p:nvSpPr>
        <p:spPr>
          <a:xfrm>
            <a:off x="2697480" y="3154680"/>
            <a:ext cx="128016" cy="128016"/>
          </a:xfrm>
          <a:prstGeom prst="ellipse">
            <a:avLst/>
          </a:prstGeom>
          <a:solidFill>
            <a:srgbClr val="A1A1AA"/>
          </a:solidFill>
          <a:ln w="12700">
            <a:solidFill>
              <a:srgbClr val="A1A1AA"/>
            </a:solidFill>
            <a:prstDash val="solid"/>
          </a:ln>
        </p:spPr>
      </p:sp>
      <p:sp>
        <p:nvSpPr>
          <p:cNvPr id="34" name="node-6-title"/>
          <p:cNvSpPr txBox="1"/>
          <p:nvPr/>
        </p:nvSpPr>
        <p:spPr>
          <a:xfrm>
            <a:off x="2898648" y="308152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Dekoder</a:t>
            </a:r>
            <a:endParaRPr lang="en-US" sz="1500" dirty="0"/>
          </a:p>
        </p:txBody>
      </p:sp>
      <p:sp>
        <p:nvSpPr>
          <p:cNvPr id="35" name="node-6-desc"/>
          <p:cNvSpPr txBox="1"/>
          <p:nvPr/>
        </p:nvSpPr>
        <p:spPr>
          <a:xfrm>
            <a:off x="2697480" y="344728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liniowy, uczony (DAgger)</a:t>
            </a:r>
            <a:endParaRPr lang="en-US" sz="1100" dirty="0"/>
          </a:p>
        </p:txBody>
      </p:sp>
      <p:sp>
        <p:nvSpPr>
          <p:cNvPr id="36" name="arrow-6"/>
          <p:cNvSpPr/>
          <p:nvPr/>
        </p:nvSpPr>
        <p:spPr>
          <a:xfrm flipH="1">
            <a:off x="2249424" y="3438144"/>
            <a:ext cx="265176" cy="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37" name="node-7"/>
          <p:cNvSpPr/>
          <p:nvPr/>
        </p:nvSpPr>
        <p:spPr>
          <a:xfrm>
            <a:off x="457200" y="2971800"/>
            <a:ext cx="1755648" cy="932688"/>
          </a:xfrm>
          <a:prstGeom prst="roundRect">
            <a:avLst>
              <a:gd name="adj" fmla="val 11765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38" name="node-7-dot"/>
          <p:cNvSpPr/>
          <p:nvPr/>
        </p:nvSpPr>
        <p:spPr>
          <a:xfrm>
            <a:off x="603504" y="3154680"/>
            <a:ext cx="128016" cy="128016"/>
          </a:xfrm>
          <a:prstGeom prst="ellipse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39" name="node-7-title"/>
          <p:cNvSpPr txBox="1"/>
          <p:nvPr/>
        </p:nvSpPr>
        <p:spPr>
          <a:xfrm>
            <a:off x="804672" y="308152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Dron</a:t>
            </a:r>
            <a:endParaRPr lang="en-US" sz="1500" dirty="0"/>
          </a:p>
        </p:txBody>
      </p:sp>
      <p:sp>
        <p:nvSpPr>
          <p:cNvPr id="40" name="node-7-desc"/>
          <p:cNvSpPr txBox="1"/>
          <p:nvPr/>
        </p:nvSpPr>
        <p:spPr>
          <a:xfrm>
            <a:off x="603504" y="3447288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thrust · roll · pitch · yaw</a:t>
            </a:r>
            <a:endParaRPr lang="en-US" sz="1100" dirty="0"/>
          </a:p>
        </p:txBody>
      </p:sp>
      <p:sp>
        <p:nvSpPr>
          <p:cNvPr id="41" name="arrow-down"/>
          <p:cNvSpPr/>
          <p:nvPr/>
        </p:nvSpPr>
        <p:spPr>
          <a:xfrm>
            <a:off x="7616952" y="2295144"/>
            <a:ext cx="0" cy="640080"/>
          </a:xfrm>
          <a:prstGeom prst="line">
            <a:avLst/>
          </a:prstGeom>
          <a:noFill/>
          <a:ln w="19050">
            <a:solidFill>
              <a:srgbClr val="52525B"/>
            </a:solidFill>
            <a:prstDash val="solid"/>
            <a:tailEnd type="triangle"/>
          </a:ln>
        </p:spPr>
      </p:sp>
      <p:sp>
        <p:nvSpPr>
          <p:cNvPr id="42" name="loop-note"/>
          <p:cNvSpPr txBox="1"/>
          <p:nvPr/>
        </p:nvSpPr>
        <p:spPr>
          <a:xfrm>
            <a:off x="457200" y="4069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2525B"/>
                </a:solidFill>
              </a:rPr>
              <a:t>następna klatka: nowy obraz z kamer</a:t>
            </a:r>
            <a:endParaRPr lang="en-US" sz="110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AFAFA"/>
                </a:solidFill>
              </a:rPr>
              <a:t>Zanim sygnał trafi do BANC: oko muszki</a:t>
            </a:r>
            <a:endParaRPr lang="en-US" sz="2800" dirty="0"/>
          </a:p>
        </p:txBody>
      </p:sp>
      <p:pic>
        <p:nvPicPr>
          <p:cNvPr id="3" name="img-0" descr="C:\NeuroFly\docs\prezentacja\assets\eye_le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1828800" cy="2084832"/>
          </a:xfrm>
          <a:prstGeom prst="rect">
            <a:avLst/>
          </a:prstGeom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pic>
      <p:sp>
        <p:nvSpPr>
          <p:cNvPr id="4" name="cap-0"/>
          <p:cNvSpPr txBox="1"/>
          <p:nvPr/>
        </p:nvSpPr>
        <p:spPr>
          <a:xfrm>
            <a:off x="457200" y="33467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Kamera lewa</a:t>
            </a:r>
            <a:endParaRPr lang="en-US" sz="1100" dirty="0"/>
          </a:p>
        </p:txBody>
      </p:sp>
      <p:pic>
        <p:nvPicPr>
          <p:cNvPr id="5" name="img-1" descr="C:\NeuroFly\docs\prezentacja\assets\retina_lef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2888" y="1188720"/>
            <a:ext cx="1828800" cy="2084832"/>
          </a:xfrm>
          <a:prstGeom prst="rect">
            <a:avLst/>
          </a:prstGeom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pic>
      <p:sp>
        <p:nvSpPr>
          <p:cNvPr id="6" name="cap-1"/>
          <p:cNvSpPr txBox="1"/>
          <p:nvPr/>
        </p:nvSpPr>
        <p:spPr>
          <a:xfrm>
            <a:off x="2532888" y="33467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Siatkówka lewa</a:t>
            </a:r>
            <a:endParaRPr lang="en-US" sz="1100" dirty="0"/>
          </a:p>
        </p:txBody>
      </p:sp>
      <p:pic>
        <p:nvPicPr>
          <p:cNvPr id="7" name="img-2" descr="C:\NeuroFly\docs\prezentacja\assets\eye_righ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8576" y="1188720"/>
            <a:ext cx="1828800" cy="2084832"/>
          </a:xfrm>
          <a:prstGeom prst="rect">
            <a:avLst/>
          </a:prstGeom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pic>
      <p:sp>
        <p:nvSpPr>
          <p:cNvPr id="8" name="cap-2"/>
          <p:cNvSpPr txBox="1"/>
          <p:nvPr/>
        </p:nvSpPr>
        <p:spPr>
          <a:xfrm>
            <a:off x="4608576" y="33467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Kamera prawa</a:t>
            </a:r>
            <a:endParaRPr lang="en-US" sz="1100" dirty="0"/>
          </a:p>
        </p:txBody>
      </p:sp>
      <p:pic>
        <p:nvPicPr>
          <p:cNvPr id="9" name="img-3" descr="C:\NeuroFly\docs\prezentacja\assets\retina_righ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4264" y="1188720"/>
            <a:ext cx="1828800" cy="2084832"/>
          </a:xfrm>
          <a:prstGeom prst="rect">
            <a:avLst/>
          </a:prstGeom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pic>
      <p:sp>
        <p:nvSpPr>
          <p:cNvPr id="10" name="cap-3"/>
          <p:cNvSpPr txBox="1"/>
          <p:nvPr/>
        </p:nvSpPr>
        <p:spPr>
          <a:xfrm>
            <a:off x="6684264" y="33467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Siatkówka prawa</a:t>
            </a:r>
            <a:endParaRPr lang="en-US" sz="1100" dirty="0"/>
          </a:p>
        </p:txBody>
      </p:sp>
      <p:sp>
        <p:nvSpPr>
          <p:cNvPr id="11" name="explain"/>
          <p:cNvSpPr txBox="1"/>
          <p:nvPr/>
        </p:nvSpPr>
        <p:spPr>
          <a:xfrm>
            <a:off x="457200" y="373075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AFAFA"/>
                </a:solidFill>
              </a:rPr>
              <a:t>Kamery MuJoCo z polem widzenia oka muchy → korekcja rybiego oka → 721 heksagonalnych ommatidiów na oko (FlyGym) → FlyVis: wytrenowany model płata wzrokowego oparty na connectomie → aktywność typów komórek mapowana na neurony BANC v888.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AFAFA"/>
                </a:solidFill>
              </a:rPr>
              <a:t>BANC v888: mózg i brzuszny łańcuch nerwowy</a:t>
            </a:r>
            <a:endParaRPr lang="en-US" sz="2800" dirty="0"/>
          </a:p>
        </p:txBody>
      </p:sp>
      <p:pic>
        <p:nvPicPr>
          <p:cNvPr id="3" name="render-3d" descr="C:\NeuroFly\docs\prezentacja\assets\connectome_3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60120"/>
            <a:ext cx="3063240" cy="3721608"/>
          </a:xfrm>
          <a:prstGeom prst="rect">
            <a:avLst/>
          </a:prstGeom>
        </p:spPr>
      </p:pic>
      <p:sp>
        <p:nvSpPr>
          <p:cNvPr id="4" name="s-neurons-value"/>
          <p:cNvSpPr txBox="1"/>
          <p:nvPr/>
        </p:nvSpPr>
        <p:spPr>
          <a:xfrm>
            <a:off x="3931920" y="11430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FAFAFA"/>
                </a:solidFill>
              </a:rPr>
              <a:t>175 401</a:t>
            </a:r>
            <a:endParaRPr lang="en-US" sz="3600" dirty="0"/>
          </a:p>
        </p:txBody>
      </p:sp>
      <p:sp>
        <p:nvSpPr>
          <p:cNvPr id="5" name="s-neurons-label"/>
          <p:cNvSpPr txBox="1"/>
          <p:nvPr/>
        </p:nvSpPr>
        <p:spPr>
          <a:xfrm>
            <a:off x="3931920" y="1709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neuronów (bez glejów i tchawek)</a:t>
            </a:r>
            <a:endParaRPr lang="en-US" sz="1200" dirty="0"/>
          </a:p>
        </p:txBody>
      </p:sp>
      <p:sp>
        <p:nvSpPr>
          <p:cNvPr id="6" name="s-syn-value"/>
          <p:cNvSpPr txBox="1"/>
          <p:nvPr/>
        </p:nvSpPr>
        <p:spPr>
          <a:xfrm>
            <a:off x="6400800" y="11430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FAFAFA"/>
                </a:solidFill>
              </a:rPr>
              <a:t>18,6 mln</a:t>
            </a:r>
            <a:endParaRPr lang="en-US" sz="3600" dirty="0"/>
          </a:p>
        </p:txBody>
      </p:sp>
      <p:sp>
        <p:nvSpPr>
          <p:cNvPr id="7" name="s-syn-label"/>
          <p:cNvSpPr txBox="1"/>
          <p:nvPr/>
        </p:nvSpPr>
        <p:spPr>
          <a:xfrm>
            <a:off x="6400800" y="1709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synaps w połączeniach ≥ 5</a:t>
            </a:r>
            <a:endParaRPr lang="en-US" sz="1200" dirty="0"/>
          </a:p>
        </p:txBody>
      </p:sp>
      <p:sp>
        <p:nvSpPr>
          <p:cNvPr id="8" name="s-edges-value"/>
          <p:cNvSpPr txBox="1"/>
          <p:nvPr/>
        </p:nvSpPr>
        <p:spPr>
          <a:xfrm>
            <a:off x="3931920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FAFAFA"/>
                </a:solidFill>
              </a:rPr>
              <a:t>1,53 mln</a:t>
            </a:r>
            <a:endParaRPr lang="en-US" sz="3600" dirty="0"/>
          </a:p>
        </p:txBody>
      </p:sp>
      <p:sp>
        <p:nvSpPr>
          <p:cNvPr id="9" name="s-edges-label"/>
          <p:cNvSpPr txBox="1"/>
          <p:nvPr/>
        </p:nvSpPr>
        <p:spPr>
          <a:xfrm>
            <a:off x="3931920" y="28986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połączeń w grafie modelu</a:t>
            </a:r>
            <a:endParaRPr lang="en-US" sz="1200" dirty="0"/>
          </a:p>
        </p:txBody>
      </p:sp>
      <p:sp>
        <p:nvSpPr>
          <p:cNvPr id="10" name="s-skel-value"/>
          <p:cNvSpPr txBox="1"/>
          <p:nvPr/>
        </p:nvSpPr>
        <p:spPr>
          <a:xfrm>
            <a:off x="6400800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FAFAFA"/>
                </a:solidFill>
              </a:rPr>
              <a:t>863</a:t>
            </a:r>
            <a:endParaRPr lang="en-US" sz="3600" dirty="0"/>
          </a:p>
        </p:txBody>
      </p:sp>
      <p:sp>
        <p:nvSpPr>
          <p:cNvPr id="11" name="s-skel-label"/>
          <p:cNvSpPr txBox="1"/>
          <p:nvPr/>
        </p:nvSpPr>
        <p:spPr>
          <a:xfrm>
            <a:off x="6400800" y="28986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szkielety neuronów lotu (SWC)</a:t>
            </a:r>
            <a:endParaRPr lang="en-US" sz="1200" dirty="0"/>
          </a:p>
        </p:txBody>
      </p:sp>
      <p:sp>
        <p:nvSpPr>
          <p:cNvPr id="12" name="t-ol-dot"/>
          <p:cNvSpPr/>
          <p:nvPr/>
        </p:nvSpPr>
        <p:spPr>
          <a:xfrm>
            <a:off x="3931920" y="3675888"/>
            <a:ext cx="109728" cy="109728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13" name="t-ol-label"/>
          <p:cNvSpPr txBox="1"/>
          <p:nvPr/>
        </p:nvSpPr>
        <p:spPr>
          <a:xfrm>
            <a:off x="4114800" y="36118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płaty wzrokowe · 105 646</a:t>
            </a:r>
            <a:endParaRPr lang="en-US" sz="1100" dirty="0"/>
          </a:p>
        </p:txBody>
      </p:sp>
      <p:sp>
        <p:nvSpPr>
          <p:cNvPr id="14" name="t-cb-dot"/>
          <p:cNvSpPr/>
          <p:nvPr/>
        </p:nvSpPr>
        <p:spPr>
          <a:xfrm>
            <a:off x="3931920" y="3968496"/>
            <a:ext cx="109728" cy="10972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15" name="t-cb-label"/>
          <p:cNvSpPr txBox="1"/>
          <p:nvPr/>
        </p:nvSpPr>
        <p:spPr>
          <a:xfrm>
            <a:off x="4114800" y="39044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mózg centralny · 42 620</a:t>
            </a:r>
            <a:endParaRPr lang="en-US" sz="1100" dirty="0"/>
          </a:p>
        </p:txBody>
      </p:sp>
      <p:sp>
        <p:nvSpPr>
          <p:cNvPr id="16" name="t-vnc-dot"/>
          <p:cNvSpPr/>
          <p:nvPr/>
        </p:nvSpPr>
        <p:spPr>
          <a:xfrm>
            <a:off x="6400800" y="3675888"/>
            <a:ext cx="109728" cy="109728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17" name="t-vnc-label"/>
          <p:cNvSpPr txBox="1"/>
          <p:nvPr/>
        </p:nvSpPr>
        <p:spPr>
          <a:xfrm>
            <a:off x="6583680" y="36118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VNC · 26 769</a:t>
            </a:r>
            <a:endParaRPr lang="en-US" sz="1100" dirty="0"/>
          </a:p>
        </p:txBody>
      </p:sp>
      <p:sp>
        <p:nvSpPr>
          <p:cNvPr id="18" name="t-dn-dot"/>
          <p:cNvSpPr/>
          <p:nvPr/>
        </p:nvSpPr>
        <p:spPr>
          <a:xfrm>
            <a:off x="6400800" y="3968496"/>
            <a:ext cx="109728" cy="109728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19" name="t-dn-label"/>
          <p:cNvSpPr txBox="1"/>
          <p:nvPr/>
        </p:nvSpPr>
        <p:spPr>
          <a:xfrm>
            <a:off x="6583680" y="39044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DN / AN · 3 165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AFAFA"/>
                </a:solidFill>
              </a:rPr>
              <a:t>Jak liczymy aktywność na connectomie</a:t>
            </a:r>
            <a:endParaRPr lang="en-US" sz="2800" dirty="0"/>
          </a:p>
        </p:txBody>
      </p:sp>
      <p:sp>
        <p:nvSpPr>
          <p:cNvPr id="3" name="eq-card"/>
          <p:cNvSpPr/>
          <p:nvPr/>
        </p:nvSpPr>
        <p:spPr>
          <a:xfrm>
            <a:off x="457200" y="1188720"/>
            <a:ext cx="4846320" cy="1143000"/>
          </a:xfrm>
          <a:prstGeom prst="roundRect">
            <a:avLst>
              <a:gd name="adj" fmla="val 9600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4" name="eq"/>
          <p:cNvSpPr txBox="1"/>
          <p:nvPr/>
        </p:nvSpPr>
        <p:spPr>
          <a:xfrm>
            <a:off x="685800" y="148132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← r + dt/τ · (−r + tanh(relu(g · W r + I)))</a:t>
            </a:r>
            <a:endParaRPr lang="en-US" sz="2000" dirty="0"/>
          </a:p>
        </p:txBody>
      </p:sp>
      <p:sp>
        <p:nvSpPr>
          <p:cNvPr id="5" name="k-0"/>
          <p:cNvSpPr txBox="1"/>
          <p:nvPr/>
        </p:nvSpPr>
        <p:spPr>
          <a:xfrm>
            <a:off x="457200" y="26060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FD3C4"/>
                </a:solidFill>
              </a:rPr>
              <a:t>W</a:t>
            </a:r>
            <a:endParaRPr lang="en-US" sz="1400" dirty="0"/>
          </a:p>
        </p:txBody>
      </p:sp>
      <p:sp>
        <p:nvSpPr>
          <p:cNvPr id="6" name="v-0"/>
          <p:cNvSpPr txBox="1"/>
          <p:nvPr/>
        </p:nvSpPr>
        <p:spPr>
          <a:xfrm>
            <a:off x="1508760" y="26060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AFAFA"/>
                </a:solidFill>
              </a:rPr>
              <a:t>liczby synaps z BANC, znak z przewidywanego neuroprzekaźnika, normalizacja wejść każdego neuronu</a:t>
            </a:r>
            <a:endParaRPr lang="en-US" sz="1200" dirty="0"/>
          </a:p>
        </p:txBody>
      </p:sp>
      <p:sp>
        <p:nvSpPr>
          <p:cNvPr id="7" name="k-1"/>
          <p:cNvSpPr txBox="1"/>
          <p:nvPr/>
        </p:nvSpPr>
        <p:spPr>
          <a:xfrm>
            <a:off x="457200" y="30632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FD3C4"/>
                </a:solidFill>
              </a:rPr>
              <a:t>τ, dt, g</a:t>
            </a:r>
            <a:endParaRPr lang="en-US" sz="1400" dirty="0"/>
          </a:p>
        </p:txBody>
      </p:sp>
      <p:sp>
        <p:nvSpPr>
          <p:cNvPr id="8" name="v-1"/>
          <p:cNvSpPr txBox="1"/>
          <p:nvPr/>
        </p:nvSpPr>
        <p:spPr>
          <a:xfrm>
            <a:off x="1508760" y="30632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AFAFA"/>
                </a:solidFill>
              </a:rPr>
              <a:t>20 ms, 5 ms, 0,9 — 4 podkroki na klatkę obrazu</a:t>
            </a:r>
            <a:endParaRPr lang="en-US" sz="1200" dirty="0"/>
          </a:p>
        </p:txBody>
      </p:sp>
      <p:sp>
        <p:nvSpPr>
          <p:cNvPr id="9" name="k-2"/>
          <p:cNvSpPr txBox="1"/>
          <p:nvPr/>
        </p:nvSpPr>
        <p:spPr>
          <a:xfrm>
            <a:off x="457200" y="3520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FD3C4"/>
                </a:solidFill>
              </a:rPr>
              <a:t>I</a:t>
            </a:r>
            <a:endParaRPr lang="en-US" sz="1400" dirty="0"/>
          </a:p>
        </p:txBody>
      </p:sp>
      <p:sp>
        <p:nvSpPr>
          <p:cNvPr id="10" name="v-2"/>
          <p:cNvSpPr txBox="1"/>
          <p:nvPr/>
        </p:nvSpPr>
        <p:spPr>
          <a:xfrm>
            <a:off x="1508760" y="35204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AFAFA"/>
                </a:solidFill>
              </a:rPr>
              <a:t>wejście: wzrok (FlyVis → BANC) + żyroskop drona na aferenty halter</a:t>
            </a:r>
            <a:endParaRPr lang="en-US" sz="1200" dirty="0"/>
          </a:p>
        </p:txBody>
      </p:sp>
      <p:sp>
        <p:nvSpPr>
          <p:cNvPr id="11" name="k-3"/>
          <p:cNvSpPr txBox="1"/>
          <p:nvPr/>
        </p:nvSpPr>
        <p:spPr>
          <a:xfrm>
            <a:off x="457200" y="39776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FD3C4"/>
                </a:solidFill>
              </a:rPr>
              <a:t>GPU</a:t>
            </a:r>
            <a:endParaRPr lang="en-US" sz="1400" dirty="0"/>
          </a:p>
        </p:txBody>
      </p:sp>
      <p:sp>
        <p:nvSpPr>
          <p:cNvPr id="12" name="v-3"/>
          <p:cNvSpPr txBox="1"/>
          <p:nvPr/>
        </p:nvSpPr>
        <p:spPr>
          <a:xfrm>
            <a:off x="1508760" y="39776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AFAFA"/>
                </a:solidFill>
              </a:rPr>
              <a:t>macierz rzadka CSR w torch: ~2,6 ms na klatkę (RTX 4060)</a:t>
            </a:r>
            <a:endParaRPr lang="en-US" sz="1200" dirty="0"/>
          </a:p>
        </p:txBody>
      </p:sp>
      <p:sp>
        <p:nvSpPr>
          <p:cNvPr id="13" name="sign-card"/>
          <p:cNvSpPr/>
          <p:nvPr/>
        </p:nvSpPr>
        <p:spPr>
          <a:xfrm>
            <a:off x="5669280" y="1188720"/>
            <a:ext cx="3017520" cy="3154680"/>
          </a:xfrm>
          <a:prstGeom prst="roundRect">
            <a:avLst>
              <a:gd name="adj" fmla="val 3636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14" name="sign-title"/>
          <p:cNvSpPr txBox="1"/>
          <p:nvPr/>
        </p:nvSpPr>
        <p:spPr>
          <a:xfrm>
            <a:off x="5897880" y="13716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AFAFA"/>
                </a:solidFill>
              </a:rPr>
              <a:t>Znaki synaps</a:t>
            </a:r>
            <a:endParaRPr lang="en-US" sz="1500" dirty="0"/>
          </a:p>
        </p:txBody>
      </p:sp>
      <p:sp>
        <p:nvSpPr>
          <p:cNvPr id="15" name="sg-ach-dot"/>
          <p:cNvSpPr/>
          <p:nvPr/>
        </p:nvSpPr>
        <p:spPr>
          <a:xfrm>
            <a:off x="5897880" y="1892808"/>
            <a:ext cx="109728" cy="109728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16" name="sg-ach-label"/>
          <p:cNvSpPr txBox="1"/>
          <p:nvPr/>
        </p:nvSpPr>
        <p:spPr>
          <a:xfrm>
            <a:off x="6080760" y="18288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ACh — pobudzenie</a:t>
            </a:r>
            <a:endParaRPr lang="en-US" sz="1100" dirty="0"/>
          </a:p>
        </p:txBody>
      </p:sp>
      <p:sp>
        <p:nvSpPr>
          <p:cNvPr id="17" name="sg-gaba-dot"/>
          <p:cNvSpPr/>
          <p:nvPr/>
        </p:nvSpPr>
        <p:spPr>
          <a:xfrm>
            <a:off x="5897880" y="2212848"/>
            <a:ext cx="109728" cy="109728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18" name="sg-gaba-label"/>
          <p:cNvSpPr txBox="1"/>
          <p:nvPr/>
        </p:nvSpPr>
        <p:spPr>
          <a:xfrm>
            <a:off x="608076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GABA — hamowanie</a:t>
            </a:r>
            <a:endParaRPr lang="en-US" sz="1100" dirty="0"/>
          </a:p>
        </p:txBody>
      </p:sp>
      <p:sp>
        <p:nvSpPr>
          <p:cNvPr id="19" name="sg-glu-dot"/>
          <p:cNvSpPr/>
          <p:nvPr/>
        </p:nvSpPr>
        <p:spPr>
          <a:xfrm>
            <a:off x="5897880" y="2532888"/>
            <a:ext cx="109728" cy="109728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20" name="sg-glu-label"/>
          <p:cNvSpPr txBox="1"/>
          <p:nvPr/>
        </p:nvSpPr>
        <p:spPr>
          <a:xfrm>
            <a:off x="6080760" y="24688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glutaminian — hamowanie</a:t>
            </a:r>
            <a:endParaRPr lang="en-US" sz="1100" dirty="0"/>
          </a:p>
        </p:txBody>
      </p:sp>
      <p:sp>
        <p:nvSpPr>
          <p:cNvPr id="21" name="sg-his-dot"/>
          <p:cNvSpPr/>
          <p:nvPr/>
        </p:nvSpPr>
        <p:spPr>
          <a:xfrm>
            <a:off x="5897880" y="2852928"/>
            <a:ext cx="109728" cy="109728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22" name="sg-his-label"/>
          <p:cNvSpPr txBox="1"/>
          <p:nvPr/>
        </p:nvSpPr>
        <p:spPr>
          <a:xfrm>
            <a:off x="6080760" y="27889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histamina — hamowanie</a:t>
            </a:r>
            <a:endParaRPr lang="en-US" sz="1100" dirty="0"/>
          </a:p>
        </p:txBody>
      </p:sp>
      <p:sp>
        <p:nvSpPr>
          <p:cNvPr id="23" name="sign-note"/>
          <p:cNvSpPr txBox="1"/>
          <p:nvPr/>
        </p:nvSpPr>
        <p:spPr>
          <a:xfrm>
            <a:off x="5897880" y="324612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Model dynamiki i znaki to nasze założenia; połączenia i liczby synaps są z BANC.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AFAFA"/>
                </a:solidFill>
              </a:rPr>
              <a:t>Obwód lotu: tylko oficjalne adnotacje BANC</a:t>
            </a:r>
            <a:endParaRPr lang="en-US" sz="2800" dirty="0"/>
          </a:p>
        </p:txBody>
      </p:sp>
      <p:pic>
        <p:nvPicPr>
          <p:cNvPr id="3" name="render-circuit" descr="C:\NeuroFly\docs\prezentacja\assets\circuit_3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60120"/>
            <a:ext cx="3063240" cy="3721608"/>
          </a:xfrm>
          <a:prstGeom prst="rect">
            <a:avLst/>
          </a:prstGeom>
        </p:spPr>
      </p:pic>
      <p:sp>
        <p:nvSpPr>
          <p:cNvPr id="4" name="g-0-dot"/>
          <p:cNvSpPr/>
          <p:nvPr/>
        </p:nvSpPr>
        <p:spPr>
          <a:xfrm>
            <a:off x="3931920" y="1280160"/>
            <a:ext cx="128016" cy="128016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5" name="g-0-name"/>
          <p:cNvSpPr txBox="1"/>
          <p:nvPr/>
        </p:nvSpPr>
        <p:spPr>
          <a:xfrm>
            <a:off x="4206240" y="11887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DN flight power</a:t>
            </a:r>
            <a:endParaRPr lang="en-US" sz="1400" dirty="0"/>
          </a:p>
        </p:txBody>
      </p:sp>
      <p:sp>
        <p:nvSpPr>
          <p:cNvPr id="6" name="g-0-desc"/>
          <p:cNvSpPr txBox="1"/>
          <p:nvPr/>
        </p:nvSpPr>
        <p:spPr>
          <a:xfrm>
            <a:off x="4206240" y="14630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super_cluster: flight power</a:t>
            </a:r>
            <a:endParaRPr lang="en-US" sz="1100" dirty="0"/>
          </a:p>
        </p:txBody>
      </p:sp>
      <p:sp>
        <p:nvSpPr>
          <p:cNvPr id="7" name="g-0-count"/>
          <p:cNvSpPr txBox="1"/>
          <p:nvPr/>
        </p:nvSpPr>
        <p:spPr>
          <a:xfrm>
            <a:off x="7680960" y="11887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AFAFA"/>
                </a:solidFill>
              </a:rPr>
              <a:t>235</a:t>
            </a:r>
            <a:endParaRPr lang="en-US" sz="1600" dirty="0"/>
          </a:p>
        </p:txBody>
      </p:sp>
      <p:sp>
        <p:nvSpPr>
          <p:cNvPr id="8" name="g-1-dot"/>
          <p:cNvSpPr/>
          <p:nvPr/>
        </p:nvSpPr>
        <p:spPr>
          <a:xfrm>
            <a:off x="3931920" y="1828800"/>
            <a:ext cx="128016" cy="128016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9" name="g-1-name"/>
          <p:cNvSpPr txBox="1"/>
          <p:nvPr/>
        </p:nvSpPr>
        <p:spPr>
          <a:xfrm>
            <a:off x="4206240" y="17373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DN flight steering</a:t>
            </a:r>
            <a:endParaRPr lang="en-US" sz="1400" dirty="0"/>
          </a:p>
        </p:txBody>
      </p:sp>
      <p:sp>
        <p:nvSpPr>
          <p:cNvPr id="10" name="g-1-desc"/>
          <p:cNvSpPr txBox="1"/>
          <p:nvPr/>
        </p:nvSpPr>
        <p:spPr>
          <a:xfrm>
            <a:off x="4206240" y="201168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super_cluster: flight steering</a:t>
            </a:r>
            <a:endParaRPr lang="en-US" sz="1100" dirty="0"/>
          </a:p>
        </p:txBody>
      </p:sp>
      <p:sp>
        <p:nvSpPr>
          <p:cNvPr id="11" name="g-1-count"/>
          <p:cNvSpPr txBox="1"/>
          <p:nvPr/>
        </p:nvSpPr>
        <p:spPr>
          <a:xfrm>
            <a:off x="7680960" y="17373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AFAFA"/>
                </a:solidFill>
              </a:rPr>
              <a:t>140</a:t>
            </a:r>
            <a:endParaRPr lang="en-US" sz="1600" dirty="0"/>
          </a:p>
        </p:txBody>
      </p:sp>
      <p:sp>
        <p:nvSpPr>
          <p:cNvPr id="12" name="g-2-dot"/>
          <p:cNvSpPr/>
          <p:nvPr/>
        </p:nvSpPr>
        <p:spPr>
          <a:xfrm>
            <a:off x="3931920" y="2377440"/>
            <a:ext cx="128016" cy="128016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13" name="g-2-name"/>
          <p:cNvSpPr txBox="1"/>
          <p:nvPr/>
        </p:nvSpPr>
        <p:spPr>
          <a:xfrm>
            <a:off x="4206240" y="2286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MN wing power</a:t>
            </a:r>
            <a:endParaRPr lang="en-US" sz="1400" dirty="0"/>
          </a:p>
        </p:txBody>
      </p:sp>
      <p:sp>
        <p:nvSpPr>
          <p:cNvPr id="14" name="g-2-desc"/>
          <p:cNvSpPr txBox="1"/>
          <p:nvPr/>
        </p:nvSpPr>
        <p:spPr>
          <a:xfrm>
            <a:off x="4206240" y="256032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DLM / DVM — mięśnie mocy</a:t>
            </a:r>
            <a:endParaRPr lang="en-US" sz="1100" dirty="0"/>
          </a:p>
        </p:txBody>
      </p:sp>
      <p:sp>
        <p:nvSpPr>
          <p:cNvPr id="15" name="g-2-count"/>
          <p:cNvSpPr txBox="1"/>
          <p:nvPr/>
        </p:nvSpPr>
        <p:spPr>
          <a:xfrm>
            <a:off x="7680960" y="228600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AFAFA"/>
                </a:solidFill>
              </a:rPr>
              <a:t>24</a:t>
            </a:r>
            <a:endParaRPr lang="en-US" sz="1600" dirty="0"/>
          </a:p>
        </p:txBody>
      </p:sp>
      <p:sp>
        <p:nvSpPr>
          <p:cNvPr id="16" name="g-3-dot"/>
          <p:cNvSpPr/>
          <p:nvPr/>
        </p:nvSpPr>
        <p:spPr>
          <a:xfrm>
            <a:off x="3931920" y="2926080"/>
            <a:ext cx="128016" cy="128016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17" name="g-3-name"/>
          <p:cNvSpPr txBox="1"/>
          <p:nvPr/>
        </p:nvSpPr>
        <p:spPr>
          <a:xfrm>
            <a:off x="4206240" y="28346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MN wing steering</a:t>
            </a:r>
            <a:endParaRPr lang="en-US" sz="1400" dirty="0"/>
          </a:p>
        </p:txBody>
      </p:sp>
      <p:sp>
        <p:nvSpPr>
          <p:cNvPr id="18" name="g-3-desc"/>
          <p:cNvSpPr txBox="1"/>
          <p:nvPr/>
        </p:nvSpPr>
        <p:spPr>
          <a:xfrm>
            <a:off x="4206240" y="310896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b1, i1, iii3… — mięśnie sterujące</a:t>
            </a:r>
            <a:endParaRPr lang="en-US" sz="1100" dirty="0"/>
          </a:p>
        </p:txBody>
      </p:sp>
      <p:sp>
        <p:nvSpPr>
          <p:cNvPr id="19" name="g-3-count"/>
          <p:cNvSpPr txBox="1"/>
          <p:nvPr/>
        </p:nvSpPr>
        <p:spPr>
          <a:xfrm>
            <a:off x="7680960" y="28346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AFAFA"/>
                </a:solidFill>
              </a:rPr>
              <a:t>24</a:t>
            </a:r>
            <a:endParaRPr lang="en-US" sz="1600" dirty="0"/>
          </a:p>
        </p:txBody>
      </p:sp>
      <p:sp>
        <p:nvSpPr>
          <p:cNvPr id="20" name="g-4-dot"/>
          <p:cNvSpPr/>
          <p:nvPr/>
        </p:nvSpPr>
        <p:spPr>
          <a:xfrm>
            <a:off x="3931920" y="3474720"/>
            <a:ext cx="128016" cy="128016"/>
          </a:xfrm>
          <a:prstGeom prst="ellipse">
            <a:avLst/>
          </a:prstGeom>
          <a:solidFill>
            <a:srgbClr val="FF4FB0"/>
          </a:solidFill>
          <a:ln w="12700">
            <a:solidFill>
              <a:srgbClr val="FF4FB0"/>
            </a:solidFill>
            <a:prstDash val="solid"/>
          </a:ln>
        </p:spPr>
      </p:sp>
      <p:sp>
        <p:nvSpPr>
          <p:cNvPr id="21" name="g-4-name"/>
          <p:cNvSpPr txBox="1"/>
          <p:nvPr/>
        </p:nvSpPr>
        <p:spPr>
          <a:xfrm>
            <a:off x="4206240" y="33832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MN wing tension</a:t>
            </a:r>
            <a:endParaRPr lang="en-US" sz="1400" dirty="0"/>
          </a:p>
        </p:txBody>
      </p:sp>
      <p:sp>
        <p:nvSpPr>
          <p:cNvPr id="22" name="g-4-desc"/>
          <p:cNvSpPr txBox="1"/>
          <p:nvPr/>
        </p:nvSpPr>
        <p:spPr>
          <a:xfrm>
            <a:off x="4206240" y="36576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napięcie skrzydła</a:t>
            </a:r>
            <a:endParaRPr lang="en-US" sz="1100" dirty="0"/>
          </a:p>
        </p:txBody>
      </p:sp>
      <p:sp>
        <p:nvSpPr>
          <p:cNvPr id="23" name="g-4-count"/>
          <p:cNvSpPr txBox="1"/>
          <p:nvPr/>
        </p:nvSpPr>
        <p:spPr>
          <a:xfrm>
            <a:off x="7680960" y="33832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AFAFA"/>
                </a:solidFill>
              </a:rPr>
              <a:t>12</a:t>
            </a:r>
            <a:endParaRPr lang="en-US" sz="1600" dirty="0"/>
          </a:p>
        </p:txBody>
      </p:sp>
      <p:sp>
        <p:nvSpPr>
          <p:cNvPr id="24" name="g-5-dot"/>
          <p:cNvSpPr/>
          <p:nvPr/>
        </p:nvSpPr>
        <p:spPr>
          <a:xfrm>
            <a:off x="3931920" y="4023360"/>
            <a:ext cx="128016" cy="128016"/>
          </a:xfrm>
          <a:prstGeom prst="ellipse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25" name="g-5-name"/>
          <p:cNvSpPr txBox="1"/>
          <p:nvPr/>
        </p:nvSpPr>
        <p:spPr>
          <a:xfrm>
            <a:off x="4206240" y="39319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Aferenty halter</a:t>
            </a:r>
            <a:endParaRPr lang="en-US" sz="1400" dirty="0"/>
          </a:p>
        </p:txBody>
      </p:sp>
      <p:sp>
        <p:nvSpPr>
          <p:cNvPr id="26" name="g-5-desc"/>
          <p:cNvSpPr txBox="1"/>
          <p:nvPr/>
        </p:nvSpPr>
        <p:spPr>
          <a:xfrm>
            <a:off x="4206240" y="42062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czujniki obrotu → żyroskop drona</a:t>
            </a:r>
            <a:endParaRPr lang="en-US" sz="1100" dirty="0"/>
          </a:p>
        </p:txBody>
      </p:sp>
      <p:sp>
        <p:nvSpPr>
          <p:cNvPr id="27" name="g-5-count"/>
          <p:cNvSpPr txBox="1"/>
          <p:nvPr/>
        </p:nvSpPr>
        <p:spPr>
          <a:xfrm>
            <a:off x="7680960" y="39319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AFAFA"/>
                </a:solidFill>
              </a:rPr>
              <a:t>428</a:t>
            </a:r>
            <a:endParaRPr lang="en-US" sz="16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AFAFA"/>
                </a:solidFill>
              </a:rPr>
              <a:t>Strona celu jest w pojedynczych DN, nie w średnich</a:t>
            </a:r>
            <a:endParaRPr lang="en-US" sz="2800" dirty="0"/>
          </a:p>
        </p:txBody>
      </p:sp>
      <p:graphicFrame>
        <p:nvGraphicFramePr>
          <p:cNvPr id="3" name="chart-side"/>
          <p:cNvGraphicFramePr/>
          <p:nvPr/>
        </p:nvGraphicFramePr>
        <p:xfrm>
          <a:off x="457200" y="1097280"/>
          <a:ext cx="512064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-dn-value"/>
          <p:cNvSpPr txBox="1"/>
          <p:nvPr/>
        </p:nvSpPr>
        <p:spPr>
          <a:xfrm>
            <a:off x="6035040" y="1234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2FD3C4"/>
                </a:solidFill>
              </a:rPr>
              <a:t>99%</a:t>
            </a:r>
            <a:endParaRPr lang="en-US" sz="3600" dirty="0"/>
          </a:p>
        </p:txBody>
      </p:sp>
      <p:sp>
        <p:nvSpPr>
          <p:cNvPr id="5" name="s-dn-label"/>
          <p:cNvSpPr txBox="1"/>
          <p:nvPr/>
        </p:nvSpPr>
        <p:spPr>
          <a:xfrm>
            <a:off x="6035040" y="18013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trafność strony celu z 375 pojedynczych DN lotu (walidacja: nieznana odległość)</a:t>
            </a:r>
            <a:endParaRPr lang="en-US" sz="1200" dirty="0"/>
          </a:p>
        </p:txBody>
      </p:sp>
      <p:sp>
        <p:nvSpPr>
          <p:cNvPr id="6" name="s-mn-value"/>
          <p:cNvSpPr txBox="1"/>
          <p:nvPr/>
        </p:nvSpPr>
        <p:spPr>
          <a:xfrm>
            <a:off x="6035040" y="26060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A1A1AA"/>
                </a:solidFill>
              </a:rPr>
              <a:t>68%</a:t>
            </a:r>
            <a:endParaRPr lang="en-US" sz="3600" dirty="0"/>
          </a:p>
        </p:txBody>
      </p:sp>
      <p:sp>
        <p:nvSpPr>
          <p:cNvPr id="7" name="s-mn-label"/>
          <p:cNvSpPr txBox="1"/>
          <p:nvPr/>
        </p:nvSpPr>
        <p:spPr>
          <a:xfrm>
            <a:off x="6035040" y="31729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z 6 średnich grup MN — uśrednianie kasuje różnicę lewo / prawo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AFAFA"/>
                </a:solidFill>
              </a:rPr>
              <a:t>Ograniczenie v888: asymetria płatów wzrokowych</a:t>
            </a:r>
            <a:endParaRPr lang="en-US" sz="2800" dirty="0"/>
          </a:p>
        </p:txBody>
      </p:sp>
      <p:sp>
        <p:nvSpPr>
          <p:cNvPr id="3" name="left-card"/>
          <p:cNvSpPr/>
          <p:nvPr/>
        </p:nvSpPr>
        <p:spPr>
          <a:xfrm>
            <a:off x="457200" y="1188720"/>
            <a:ext cx="3931920" cy="2651760"/>
          </a:xfrm>
          <a:prstGeom prst="roundRect">
            <a:avLst>
              <a:gd name="adj" fmla="val 4138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4" name="right-card"/>
          <p:cNvSpPr/>
          <p:nvPr/>
        </p:nvSpPr>
        <p:spPr>
          <a:xfrm>
            <a:off x="4754880" y="1188720"/>
            <a:ext cx="3931920" cy="2651760"/>
          </a:xfrm>
          <a:prstGeom prst="roundRect">
            <a:avLst>
              <a:gd name="adj" fmla="val 4138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5" name="s-l-value"/>
          <p:cNvSpPr txBox="1"/>
          <p:nvPr/>
        </p:nvSpPr>
        <p:spPr>
          <a:xfrm>
            <a:off x="777240" y="14173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FAFAFA"/>
                </a:solidFill>
              </a:rPr>
              <a:t>36%</a:t>
            </a:r>
            <a:endParaRPr lang="en-US" sz="3600" dirty="0"/>
          </a:p>
        </p:txBody>
      </p:sp>
      <p:sp>
        <p:nvSpPr>
          <p:cNvPr id="6" name="s-l-label"/>
          <p:cNvSpPr txBox="1"/>
          <p:nvPr/>
        </p:nvSpPr>
        <p:spPr>
          <a:xfrm>
            <a:off x="777240" y="198424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neuronów lewego płata ma typ komórki</a:t>
            </a:r>
            <a:endParaRPr lang="en-US" sz="1200" dirty="0"/>
          </a:p>
        </p:txBody>
      </p:sp>
      <p:sp>
        <p:nvSpPr>
          <p:cNvPr id="7" name="s-l2-value"/>
          <p:cNvSpPr txBox="1"/>
          <p:nvPr/>
        </p:nvSpPr>
        <p:spPr>
          <a:xfrm>
            <a:off x="777240" y="2606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A1A1AA"/>
                </a:solidFill>
              </a:rPr>
              <a:t>5 535</a:t>
            </a:r>
            <a:endParaRPr lang="en-US" sz="3600" dirty="0"/>
          </a:p>
        </p:txBody>
      </p:sp>
      <p:sp>
        <p:nvSpPr>
          <p:cNvPr id="8" name="s-l2-label"/>
          <p:cNvSpPr txBox="1"/>
          <p:nvPr/>
        </p:nvSpPr>
        <p:spPr>
          <a:xfrm>
            <a:off x="777240" y="317296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neuronów zasila lewe oko</a:t>
            </a:r>
            <a:endParaRPr lang="en-US" sz="1200" dirty="0"/>
          </a:p>
        </p:txBody>
      </p:sp>
      <p:sp>
        <p:nvSpPr>
          <p:cNvPr id="9" name="s-r-value"/>
          <p:cNvSpPr txBox="1"/>
          <p:nvPr/>
        </p:nvSpPr>
        <p:spPr>
          <a:xfrm>
            <a:off x="5074920" y="14173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2FD3C4"/>
                </a:solidFill>
              </a:rPr>
              <a:t>80%</a:t>
            </a:r>
            <a:endParaRPr lang="en-US" sz="3600" dirty="0"/>
          </a:p>
        </p:txBody>
      </p:sp>
      <p:sp>
        <p:nvSpPr>
          <p:cNvPr id="10" name="s-r-label"/>
          <p:cNvSpPr txBox="1"/>
          <p:nvPr/>
        </p:nvSpPr>
        <p:spPr>
          <a:xfrm>
            <a:off x="5074920" y="198424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neuronów prawego płata ma typ komórki</a:t>
            </a:r>
            <a:endParaRPr lang="en-US" sz="1200" dirty="0"/>
          </a:p>
        </p:txBody>
      </p:sp>
      <p:sp>
        <p:nvSpPr>
          <p:cNvPr id="11" name="s-r2-value"/>
          <p:cNvSpPr txBox="1"/>
          <p:nvPr/>
        </p:nvSpPr>
        <p:spPr>
          <a:xfrm>
            <a:off x="5074920" y="2606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2FD3C4"/>
                </a:solidFill>
              </a:rPr>
              <a:t>16 927</a:t>
            </a:r>
            <a:endParaRPr lang="en-US" sz="3600" dirty="0"/>
          </a:p>
        </p:txBody>
      </p:sp>
      <p:sp>
        <p:nvSpPr>
          <p:cNvPr id="12" name="s-r2-label"/>
          <p:cNvSpPr txBox="1"/>
          <p:nvPr/>
        </p:nvSpPr>
        <p:spPr>
          <a:xfrm>
            <a:off x="5074920" y="317296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neuronów zasila prawe oko</a:t>
            </a:r>
            <a:endParaRPr lang="en-US" sz="1200" dirty="0"/>
          </a:p>
        </p:txBody>
      </p:sp>
      <p:sp>
        <p:nvSpPr>
          <p:cNvPr id="13" name="note"/>
          <p:cNvSpPr txBox="1"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Mapa FlyVis → BANC idzie po typach komórek, więc lewe oko dociera do ~3× mniej neuronów. Wyrównanie wejścia nie zmieniło wyniku; odczyt z pojedynczych DN i tak rozpoznaje obie strony.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AFAFA"/>
                </a:solidFill>
              </a:rPr>
              <a:t>Symulator: dron X2 w MuJoCo</a:t>
            </a:r>
            <a:endParaRPr lang="en-US" sz="2800" dirty="0"/>
          </a:p>
        </p:txBody>
      </p:sp>
      <p:pic>
        <p:nvPicPr>
          <p:cNvPr id="3" name="img-drone" descr="C:\NeuroFly\docs\prezentacja\assets\drone_cha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43000"/>
            <a:ext cx="3931920" cy="2944368"/>
          </a:xfrm>
          <a:prstGeom prst="rect">
            <a:avLst/>
          </a:prstGeom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pic>
      <p:pic>
        <p:nvPicPr>
          <p:cNvPr id="4" name="img-world" descr="C:\NeuroFly\docs\prezentacja\assets\worl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1143000"/>
            <a:ext cx="3931920" cy="2944368"/>
          </a:xfrm>
          <a:prstGeom prst="rect">
            <a:avLst/>
          </a:prstGeom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pic>
      <p:sp>
        <p:nvSpPr>
          <p:cNvPr id="5" name="cap-1"/>
          <p:cNvSpPr txBox="1"/>
          <p:nvPr/>
        </p:nvSpPr>
        <p:spPr>
          <a:xfrm>
            <a:off x="457200" y="41605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Skydio X2 (MuJoCo Menagerie) z oczami na nosie · zawis i obrót na płaskiej scenie</a:t>
            </a:r>
            <a:endParaRPr lang="en-US" sz="1100" dirty="0"/>
          </a:p>
        </p:txBody>
      </p:sp>
      <p:sp>
        <p:nvSpPr>
          <p:cNvPr id="6" name="cap-2"/>
          <p:cNvSpPr txBox="1"/>
          <p:nvPr/>
        </p:nvSpPr>
        <p:spPr>
          <a:xfrm>
            <a:off x="4754880" y="41605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Losowy teren 60 × 60 m, bloki, cel z masztem · tryb angle: symulator utrzymuje zadany przechył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AFAFA"/>
                </a:solidFill>
              </a:rPr>
              <a:t>Trening: uczy się tylko dekoder, BANC się nie zmienia</a:t>
            </a:r>
            <a:endParaRPr lang="en-US" sz="2800" dirty="0"/>
          </a:p>
        </p:txBody>
      </p:sp>
      <p:sp>
        <p:nvSpPr>
          <p:cNvPr id="3" name="t-0"/>
          <p:cNvSpPr/>
          <p:nvPr/>
        </p:nvSpPr>
        <p:spPr>
          <a:xfrm>
            <a:off x="457200" y="1188720"/>
            <a:ext cx="4480560" cy="658368"/>
          </a:xfrm>
          <a:prstGeom prst="roundRect">
            <a:avLst>
              <a:gd name="adj" fmla="val 1666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4" name="t-0-n"/>
          <p:cNvSpPr txBox="1"/>
          <p:nvPr/>
        </p:nvSpPr>
        <p:spPr>
          <a:xfrm>
            <a:off x="658368" y="1335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2FD3C4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-0-h"/>
          <p:cNvSpPr txBox="1"/>
          <p:nvPr/>
        </p:nvSpPr>
        <p:spPr>
          <a:xfrm>
            <a:off x="109728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Nauczyciel</a:t>
            </a:r>
            <a:endParaRPr lang="en-US" sz="1400" dirty="0"/>
          </a:p>
        </p:txBody>
      </p:sp>
      <p:sp>
        <p:nvSpPr>
          <p:cNvPr id="6" name="t-0-d"/>
          <p:cNvSpPr txBox="1"/>
          <p:nvPr/>
        </p:nvSpPr>
        <p:spPr>
          <a:xfrm>
            <a:off x="1097280" y="15453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zna prawdziwy stan: kąt do celu, wysokość, prędkość</a:t>
            </a:r>
            <a:endParaRPr lang="en-US" sz="1100" dirty="0"/>
          </a:p>
        </p:txBody>
      </p:sp>
      <p:sp>
        <p:nvSpPr>
          <p:cNvPr id="7" name="t-1"/>
          <p:cNvSpPr/>
          <p:nvPr/>
        </p:nvSpPr>
        <p:spPr>
          <a:xfrm>
            <a:off x="457200" y="1975104"/>
            <a:ext cx="4480560" cy="658368"/>
          </a:xfrm>
          <a:prstGeom prst="roundRect">
            <a:avLst>
              <a:gd name="adj" fmla="val 1666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8" name="t-1-n"/>
          <p:cNvSpPr txBox="1"/>
          <p:nvPr/>
        </p:nvSpPr>
        <p:spPr>
          <a:xfrm>
            <a:off x="658368" y="21214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2FD3C4"/>
                </a:solidFill>
              </a:rPr>
              <a:t>2</a:t>
            </a:r>
            <a:endParaRPr lang="en-US" sz="2000" dirty="0"/>
          </a:p>
        </p:txBody>
      </p:sp>
      <p:sp>
        <p:nvSpPr>
          <p:cNvPr id="9" name="t-1-h"/>
          <p:cNvSpPr txBox="1"/>
          <p:nvPr/>
        </p:nvSpPr>
        <p:spPr>
          <a:xfrm>
            <a:off x="1097280" y="20665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Lot mieszany</a:t>
            </a:r>
            <a:endParaRPr lang="en-US" sz="1400" dirty="0"/>
          </a:p>
        </p:txBody>
      </p:sp>
      <p:sp>
        <p:nvSpPr>
          <p:cNvPr id="10" name="t-1-d"/>
          <p:cNvSpPr txBox="1"/>
          <p:nvPr/>
        </p:nvSpPr>
        <p:spPr>
          <a:xfrm>
            <a:off x="1097280" y="2331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z prawdopodobieństwem β steruje nauczyciel, β: 1 → 0</a:t>
            </a:r>
            <a:endParaRPr lang="en-US" sz="1100" dirty="0"/>
          </a:p>
        </p:txBody>
      </p:sp>
      <p:sp>
        <p:nvSpPr>
          <p:cNvPr id="11" name="t-2"/>
          <p:cNvSpPr/>
          <p:nvPr/>
        </p:nvSpPr>
        <p:spPr>
          <a:xfrm>
            <a:off x="457200" y="2761488"/>
            <a:ext cx="4480560" cy="658368"/>
          </a:xfrm>
          <a:prstGeom prst="roundRect">
            <a:avLst>
              <a:gd name="adj" fmla="val 1666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12" name="t-2-n"/>
          <p:cNvSpPr txBox="1"/>
          <p:nvPr/>
        </p:nvSpPr>
        <p:spPr>
          <a:xfrm>
            <a:off x="658368" y="2907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2FD3C4"/>
                </a:solidFill>
              </a:rPr>
              <a:t>3</a:t>
            </a:r>
            <a:endParaRPr lang="en-US" sz="2000" dirty="0"/>
          </a:p>
        </p:txBody>
      </p:sp>
      <p:sp>
        <p:nvSpPr>
          <p:cNvPr id="13" name="t-2-h"/>
          <p:cNvSpPr txBox="1"/>
          <p:nvPr/>
        </p:nvSpPr>
        <p:spPr>
          <a:xfrm>
            <a:off x="1097280" y="2852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Dane</a:t>
            </a:r>
            <a:endParaRPr lang="en-US" sz="1400" dirty="0"/>
          </a:p>
        </p:txBody>
      </p:sp>
      <p:sp>
        <p:nvSpPr>
          <p:cNvPr id="14" name="t-2-d"/>
          <p:cNvSpPr txBox="1"/>
          <p:nvPr/>
        </p:nvSpPr>
        <p:spPr>
          <a:xfrm>
            <a:off x="1097280" y="311810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pary (cechy, komenda nauczyciela); trudne próbki ×3–7</a:t>
            </a:r>
            <a:endParaRPr lang="en-US" sz="1100" dirty="0"/>
          </a:p>
        </p:txBody>
      </p:sp>
      <p:sp>
        <p:nvSpPr>
          <p:cNvPr id="15" name="t-3"/>
          <p:cNvSpPr/>
          <p:nvPr/>
        </p:nvSpPr>
        <p:spPr>
          <a:xfrm>
            <a:off x="457200" y="3547872"/>
            <a:ext cx="4480560" cy="658368"/>
          </a:xfrm>
          <a:prstGeom prst="roundRect">
            <a:avLst>
              <a:gd name="adj" fmla="val 1666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16" name="t-3-n"/>
          <p:cNvSpPr txBox="1"/>
          <p:nvPr/>
        </p:nvSpPr>
        <p:spPr>
          <a:xfrm>
            <a:off x="658368" y="3694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2FD3C4"/>
                </a:solidFill>
              </a:rPr>
              <a:t>4</a:t>
            </a:r>
            <a:endParaRPr lang="en-US" sz="2000" dirty="0"/>
          </a:p>
        </p:txBody>
      </p:sp>
      <p:sp>
        <p:nvSpPr>
          <p:cNvPr id="17" name="t-3-h"/>
          <p:cNvSpPr txBox="1"/>
          <p:nvPr/>
        </p:nvSpPr>
        <p:spPr>
          <a:xfrm>
            <a:off x="1097280" y="3639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Regresja</a:t>
            </a:r>
            <a:endParaRPr lang="en-US" sz="1400" dirty="0"/>
          </a:p>
        </p:txBody>
      </p:sp>
      <p:sp>
        <p:nvSpPr>
          <p:cNvPr id="18" name="t-3-d"/>
          <p:cNvSpPr txBox="1"/>
          <p:nvPr/>
        </p:nvSpPr>
        <p:spPr>
          <a:xfrm>
            <a:off x="1097280" y="39044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wagi od nowa na wszystkich danych (DAgger + ridge)</a:t>
            </a:r>
            <a:endParaRPr lang="en-US" sz="1100" dirty="0"/>
          </a:p>
        </p:txBody>
      </p:sp>
      <p:sp>
        <p:nvSpPr>
          <p:cNvPr id="19" name="split"/>
          <p:cNvSpPr/>
          <p:nvPr/>
        </p:nvSpPr>
        <p:spPr>
          <a:xfrm>
            <a:off x="5303520" y="1188720"/>
            <a:ext cx="3383280" cy="1417320"/>
          </a:xfrm>
          <a:prstGeom prst="roundRect">
            <a:avLst>
              <a:gd name="adj" fmla="val 7742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20" name="split-h"/>
          <p:cNvSpPr txBox="1"/>
          <p:nvPr/>
        </p:nvSpPr>
        <p:spPr>
          <a:xfrm>
            <a:off x="5532120" y="13258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Podział osi</a:t>
            </a:r>
            <a:endParaRPr lang="en-US" sz="1400" dirty="0"/>
          </a:p>
        </p:txBody>
      </p:sp>
      <p:sp>
        <p:nvSpPr>
          <p:cNvPr id="21" name="sp-yaw-dot"/>
          <p:cNvSpPr/>
          <p:nvPr/>
        </p:nvSpPr>
        <p:spPr>
          <a:xfrm>
            <a:off x="5532120" y="1755648"/>
            <a:ext cx="109728" cy="109728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22" name="sp-yaw-label"/>
          <p:cNvSpPr txBox="1"/>
          <p:nvPr/>
        </p:nvSpPr>
        <p:spPr>
          <a:xfrm>
            <a:off x="5715000" y="16916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yaw ← tylko BANC (DN)</a:t>
            </a:r>
            <a:endParaRPr lang="en-US" sz="1100" dirty="0"/>
          </a:p>
        </p:txBody>
      </p:sp>
      <p:sp>
        <p:nvSpPr>
          <p:cNvPr id="23" name="sp-ctl-dot"/>
          <p:cNvSpPr/>
          <p:nvPr/>
        </p:nvSpPr>
        <p:spPr>
          <a:xfrm>
            <a:off x="5532120" y="2075688"/>
            <a:ext cx="109728" cy="109728"/>
          </a:xfrm>
          <a:prstGeom prst="ellipse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24" name="sp-ctl-label"/>
          <p:cNvSpPr txBox="1"/>
          <p:nvPr/>
        </p:nvSpPr>
        <p:spPr>
          <a:xfrm>
            <a:off x="5715000" y="20116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thrust/roll/pitch ← BANC + czujniki</a:t>
            </a:r>
            <a:endParaRPr lang="en-US" sz="1100" dirty="0"/>
          </a:p>
        </p:txBody>
      </p:sp>
      <p:sp>
        <p:nvSpPr>
          <p:cNvPr id="25" name="dist"/>
          <p:cNvSpPr/>
          <p:nvPr/>
        </p:nvSpPr>
        <p:spPr>
          <a:xfrm>
            <a:off x="5303520" y="2788920"/>
            <a:ext cx="3383280" cy="1463040"/>
          </a:xfrm>
          <a:prstGeom prst="roundRect">
            <a:avLst>
              <a:gd name="adj" fmla="val 7500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26" name="dist-h"/>
          <p:cNvSpPr txBox="1"/>
          <p:nvPr/>
        </p:nvSpPr>
        <p:spPr>
          <a:xfrm>
            <a:off x="5532120" y="2926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</a:rPr>
              <a:t>2 GPU w LAN</a:t>
            </a:r>
            <a:endParaRPr lang="en-US" sz="1400" dirty="0"/>
          </a:p>
        </p:txBody>
      </p:sp>
      <p:sp>
        <p:nvSpPr>
          <p:cNvPr id="27" name="dist-d"/>
          <p:cNvSpPr txBox="1"/>
          <p:nvPr/>
        </p:nvSpPr>
        <p:spPr>
          <a:xfrm>
            <a:off x="5532120" y="324612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Master rozdaje światy, workerzy (RTX 4060, RTX 3070 Ti) liczą epizody i odsyłają tylko statystyki XᵀX, Xᵀy — bez klatek wideo.</a:t>
            </a:r>
            <a:endParaRPr lang="en-US" sz="11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AFAFA"/>
                </a:solidFill>
              </a:rPr>
              <a:t>Wynik: skręt do celu z BANC</a:t>
            </a:r>
            <a:endParaRPr lang="en-US" sz="2800" dirty="0"/>
          </a:p>
        </p:txBody>
      </p:sp>
      <p:graphicFrame>
        <p:nvGraphicFramePr>
          <p:cNvPr id="3" name="chart-eval"/>
          <p:cNvGraphicFramePr/>
          <p:nvPr/>
        </p:nvGraphicFramePr>
        <p:xfrm>
          <a:off x="457200" y="1097280"/>
          <a:ext cx="530352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-err-value"/>
          <p:cNvSpPr txBox="1"/>
          <p:nvPr/>
        </p:nvSpPr>
        <p:spPr>
          <a:xfrm>
            <a:off x="6217920" y="12344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2FD3C4"/>
                </a:solidFill>
              </a:rPr>
              <a:t>2,65°</a:t>
            </a:r>
            <a:endParaRPr lang="en-US" sz="3600" dirty="0"/>
          </a:p>
        </p:txBody>
      </p:sp>
      <p:sp>
        <p:nvSpPr>
          <p:cNvPr id="5" name="s-err-label"/>
          <p:cNvSpPr txBox="1"/>
          <p:nvPr/>
        </p:nvSpPr>
        <p:spPr>
          <a:xfrm>
            <a:off x="6217920" y="18013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średni końcowy błąd kursu bez nauczyciela (przed treningiem 25,1°)</a:t>
            </a:r>
            <a:endParaRPr lang="en-US" sz="1200" dirty="0"/>
          </a:p>
        </p:txBody>
      </p:sp>
      <p:sp>
        <p:nvSpPr>
          <p:cNvPr id="6" name="s-ep-value"/>
          <p:cNvSpPr txBox="1"/>
          <p:nvPr/>
        </p:nvSpPr>
        <p:spPr>
          <a:xfrm>
            <a:off x="6217920" y="25146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FAFAFA"/>
                </a:solidFill>
              </a:rPr>
              <a:t>1000</a:t>
            </a:r>
            <a:endParaRPr lang="en-US" sz="3600" dirty="0"/>
          </a:p>
        </p:txBody>
      </p:sp>
      <p:sp>
        <p:nvSpPr>
          <p:cNvPr id="7" name="s-ep-label"/>
          <p:cNvSpPr txBox="1"/>
          <p:nvPr/>
        </p:nvSpPr>
        <p:spPr>
          <a:xfrm>
            <a:off x="6217920" y="308152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epizodów na 2 GPU: 672 + 328</a:t>
            </a:r>
            <a:endParaRPr lang="en-US" sz="1200" dirty="0"/>
          </a:p>
        </p:txBody>
      </p:sp>
      <p:sp>
        <p:nvSpPr>
          <p:cNvPr id="8" name="s-note"/>
          <p:cNvSpPr txBox="1"/>
          <p:nvPr/>
        </p:nvSpPr>
        <p:spPr>
          <a:xfrm>
            <a:off x="6217920" y="37033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Zawis na płaskiej scenie, wysokość trzyma symulator. Kierunek: wyłącznie pojedyncze DN z BANC.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AFAFA"/>
                </a:solidFill>
              </a:rPr>
              <a:t>Lot do celu w świecie: w toku</a:t>
            </a:r>
            <a:endParaRPr lang="en-US" sz="2800" dirty="0"/>
          </a:p>
        </p:txBody>
      </p:sp>
      <p:sp>
        <p:nvSpPr>
          <p:cNvPr id="3" name="c-teacher"/>
          <p:cNvSpPr/>
          <p:nvPr/>
        </p:nvSpPr>
        <p:spPr>
          <a:xfrm>
            <a:off x="457200" y="1188720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4" name="c-before"/>
          <p:cNvSpPr/>
          <p:nvPr/>
        </p:nvSpPr>
        <p:spPr>
          <a:xfrm>
            <a:off x="3273552" y="1188720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5" name="c-model"/>
          <p:cNvSpPr/>
          <p:nvPr/>
        </p:nvSpPr>
        <p:spPr>
          <a:xfrm>
            <a:off x="6080760" y="1188720"/>
            <a:ext cx="2606040" cy="1600200"/>
          </a:xfrm>
          <a:prstGeom prst="roundRect">
            <a:avLst>
              <a:gd name="adj" fmla="val 6857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6" name="w-t-value"/>
          <p:cNvSpPr txBox="1"/>
          <p:nvPr/>
        </p:nvSpPr>
        <p:spPr>
          <a:xfrm>
            <a:off x="731520" y="1417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FAFAFA"/>
                </a:solidFill>
              </a:rPr>
              <a:t>6 / 6</a:t>
            </a:r>
            <a:endParaRPr lang="en-US" sz="3600" dirty="0"/>
          </a:p>
        </p:txBody>
      </p:sp>
      <p:sp>
        <p:nvSpPr>
          <p:cNvPr id="7" name="w-t-label"/>
          <p:cNvSpPr txBox="1"/>
          <p:nvPr/>
        </p:nvSpPr>
        <p:spPr>
          <a:xfrm>
            <a:off x="731520" y="19842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nauczyciel dolatuje do celu — jest od kogo się uczyć</a:t>
            </a:r>
            <a:endParaRPr lang="en-US" sz="1200" dirty="0"/>
          </a:p>
        </p:txBody>
      </p:sp>
      <p:sp>
        <p:nvSpPr>
          <p:cNvPr id="8" name="w-b-value"/>
          <p:cNvSpPr txBox="1"/>
          <p:nvPr/>
        </p:nvSpPr>
        <p:spPr>
          <a:xfrm>
            <a:off x="3547872" y="1417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A1A1AA"/>
                </a:solidFill>
              </a:rPr>
              <a:t>18,1 m</a:t>
            </a:r>
            <a:endParaRPr lang="en-US" sz="3600" dirty="0"/>
          </a:p>
        </p:txBody>
      </p:sp>
      <p:sp>
        <p:nvSpPr>
          <p:cNvPr id="9" name="w-b-label"/>
          <p:cNvSpPr txBox="1"/>
          <p:nvPr/>
        </p:nvSpPr>
        <p:spPr>
          <a:xfrm>
            <a:off x="3547872" y="19842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przed treningiem: średnio najbliżej celu</a:t>
            </a:r>
            <a:endParaRPr lang="en-US" sz="1200" dirty="0"/>
          </a:p>
        </p:txBody>
      </p:sp>
      <p:sp>
        <p:nvSpPr>
          <p:cNvPr id="10" name="w-m-value"/>
          <p:cNvSpPr txBox="1"/>
          <p:nvPr/>
        </p:nvSpPr>
        <p:spPr>
          <a:xfrm>
            <a:off x="6355080" y="1417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2FD3C4"/>
                </a:solidFill>
              </a:rPr>
              <a:t>9,0 m</a:t>
            </a:r>
            <a:endParaRPr lang="en-US" sz="3600" dirty="0"/>
          </a:p>
        </p:txBody>
      </p:sp>
      <p:sp>
        <p:nvSpPr>
          <p:cNvPr id="11" name="w-m-label"/>
          <p:cNvSpPr txBox="1"/>
          <p:nvPr/>
        </p:nvSpPr>
        <p:spPr>
          <a:xfrm>
            <a:off x="6355080" y="19842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1A1AA"/>
                </a:solidFill>
              </a:rPr>
              <a:t>po 192 epizodach: 2× bliżej, 0 wywrotek, cel 0 / 6</a:t>
            </a:r>
            <a:endParaRPr lang="en-US" sz="1200" dirty="0"/>
          </a:p>
        </p:txBody>
      </p:sp>
      <p:sp>
        <p:nvSpPr>
          <p:cNvPr id="12" name="w-note"/>
          <p:cNvSpPr txBox="1"/>
          <p:nvPr/>
        </p:nvSpPr>
        <p:spPr>
          <a:xfrm>
            <a:off x="457200" y="30632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1A1AA"/>
                </a:solidFill>
              </a:rPr>
              <a:t>Uczciwie: model leci stabilnie i zbliża się do celu, ale jeszcze nie ląduje na polu. Kolejny trening: walidacja co 50 epizodów z zapisem najlepszych wag i doważenie trudnych próbek.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AFAFA"/>
                </a:solidFill>
              </a:rPr>
              <a:t>Co jest z BANC, a co jest naszym założeniem</a:t>
            </a:r>
            <a:endParaRPr lang="en-US" sz="2800" dirty="0"/>
          </a:p>
        </p:txBody>
      </p:sp>
      <p:sp>
        <p:nvSpPr>
          <p:cNvPr id="3" name="bank"/>
          <p:cNvSpPr/>
          <p:nvPr/>
        </p:nvSpPr>
        <p:spPr>
          <a:xfrm>
            <a:off x="457200" y="1188720"/>
            <a:ext cx="3931920" cy="2514600"/>
          </a:xfrm>
          <a:prstGeom prst="roundRect">
            <a:avLst>
              <a:gd name="adj" fmla="val 4364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4" name="ours"/>
          <p:cNvSpPr/>
          <p:nvPr/>
        </p:nvSpPr>
        <p:spPr>
          <a:xfrm>
            <a:off x="4754880" y="1188720"/>
            <a:ext cx="3931920" cy="2514600"/>
          </a:xfrm>
          <a:prstGeom prst="roundRect">
            <a:avLst>
              <a:gd name="adj" fmla="val 4364"/>
            </a:avLst>
          </a:prstGeom>
          <a:solidFill>
            <a:srgbClr val="18181B"/>
          </a:solidFill>
          <a:ln w="9525">
            <a:solidFill>
              <a:srgbClr val="27272A"/>
            </a:solidFill>
            <a:prstDash val="solid"/>
          </a:ln>
          <a:effectLst>
            <a:outerShdw blurRad="228600" dist="76200" dir="5400000" algn="bl" rotWithShape="0">
              <a:srgbClr val="000000">
                <a:alpha val="55000"/>
              </a:srgbClr>
            </a:outerShdw>
          </a:effectLst>
        </p:spPr>
      </p:sp>
      <p:sp>
        <p:nvSpPr>
          <p:cNvPr id="5" name="h-banc-dot"/>
          <p:cNvSpPr/>
          <p:nvPr/>
        </p:nvSpPr>
        <p:spPr>
          <a:xfrm>
            <a:off x="731520" y="1435608"/>
            <a:ext cx="109728" cy="109728"/>
          </a:xfrm>
          <a:prstGeom prst="ellipse">
            <a:avLst/>
          </a:prstGeom>
          <a:solidFill>
            <a:srgbClr val="2FD3C4"/>
          </a:solidFill>
          <a:ln w="12700">
            <a:solidFill>
              <a:srgbClr val="2FD3C4"/>
            </a:solidFill>
            <a:prstDash val="solid"/>
          </a:ln>
        </p:spPr>
      </p:sp>
      <p:sp>
        <p:nvSpPr>
          <p:cNvPr id="6" name="h-banc-label"/>
          <p:cNvSpPr txBox="1"/>
          <p:nvPr/>
        </p:nvSpPr>
        <p:spPr>
          <a:xfrm>
            <a:off x="914400" y="13716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z BANC v888</a:t>
            </a:r>
            <a:endParaRPr lang="en-US" sz="1100" dirty="0"/>
          </a:p>
        </p:txBody>
      </p:sp>
      <p:sp>
        <p:nvSpPr>
          <p:cNvPr id="7" name="h-ours-dot"/>
          <p:cNvSpPr/>
          <p:nvPr/>
        </p:nvSpPr>
        <p:spPr>
          <a:xfrm>
            <a:off x="5029200" y="1435608"/>
            <a:ext cx="109728" cy="109728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8" name="h-ours-label"/>
          <p:cNvSpPr txBox="1"/>
          <p:nvPr/>
        </p:nvSpPr>
        <p:spPr>
          <a:xfrm>
            <a:off x="5212080" y="13716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1A1AA"/>
                </a:solidFill>
              </a:rPr>
              <a:t>nasze założenia</a:t>
            </a:r>
            <a:endParaRPr lang="en-US" sz="1100" dirty="0"/>
          </a:p>
        </p:txBody>
      </p:sp>
      <p:sp>
        <p:nvSpPr>
          <p:cNvPr id="9" name="list-banc"/>
          <p:cNvSpPr txBox="1"/>
          <p:nvPr/>
        </p:nvSpPr>
        <p:spPr>
          <a:xfrm>
            <a:off x="731520" y="182880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neurony, połączenia, liczby synaps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przewidywany neuroprzekaźnik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grupy lotu z oficjalnych adnotacji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pozycje som i szkielety SWC</a:t>
            </a:r>
            <a:endParaRPr lang="en-US" sz="1400" dirty="0"/>
          </a:p>
        </p:txBody>
      </p:sp>
      <p:sp>
        <p:nvSpPr>
          <p:cNvPr id="10" name="list-ours"/>
          <p:cNvSpPr txBox="1"/>
          <p:nvPr/>
        </p:nvSpPr>
        <p:spPr>
          <a:xfrm>
            <a:off x="5029200" y="182880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model dynamiki i parametry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znaki neuroprzekaźników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mapa FlyVis → BANC po typach komórek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liniowy dekoder i podział osi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AFAFA"/>
                </a:solidFill>
              </a:rPr>
              <a:t>czujniki drona dla thrust/roll/pitch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451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ender-bg" descr="C:\NeuroFly\docs\prezentacja\assets\connectome_wide.jpg"/>
          <p:cNvPicPr>
            <a:picLocks noChangeAspect="1"/>
          </p:cNvPicPr>
          <p:nvPr/>
        </p:nvPicPr>
        <p:blipFill>
          <a:blip r:embed="rId3">
            <a:alphaModFix amt="65000"/>
          </a:blip>
          <a:stretch>
            <a:fillRect/>
          </a:stretch>
        </p:blipFill>
        <p:spPr>
          <a:xfrm>
            <a:off x="3749040" y="685800"/>
            <a:ext cx="5394960" cy="2697480"/>
          </a:xfrm>
          <a:prstGeom prst="rect">
            <a:avLst/>
          </a:prstGeom>
        </p:spPr>
      </p:pic>
      <p:pic>
        <p:nvPicPr>
          <p:cNvPr id="3" name="logo" descr="C:\NeuroFly\docs\prezentacja\assets\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234440"/>
            <a:ext cx="914400" cy="539496"/>
          </a:xfrm>
          <a:prstGeom prst="rect">
            <a:avLst/>
          </a:prstGeom>
        </p:spPr>
      </p:pic>
      <p:sp>
        <p:nvSpPr>
          <p:cNvPr id="4" name="thanks"/>
          <p:cNvSpPr txBox="1"/>
          <p:nvPr/>
        </p:nvSpPr>
        <p:spPr>
          <a:xfrm>
            <a:off x="548640" y="19202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FAFAFA"/>
                </a:solidFill>
              </a:rPr>
              <a:t>Dziękujemy</a:t>
            </a:r>
            <a:endParaRPr lang="en-US" sz="4400" dirty="0"/>
          </a:p>
        </p:txBody>
      </p:sp>
      <p:sp>
        <p:nvSpPr>
          <p:cNvPr id="5" name="demo"/>
          <p:cNvSpPr txBox="1"/>
          <p:nvPr/>
        </p:nvSpPr>
        <p:spPr>
          <a:xfrm>
            <a:off x="548640" y="269748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A1A1AA"/>
                </a:solidFill>
              </a:rPr>
              <a:t>Demo: lot z panelem BANC na żywo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A1A1AA"/>
                </a:solidFill>
              </a:rPr>
              <a:t>i eksplorator 3D connectomu</a:t>
            </a:r>
            <a:endParaRPr lang="en-US" sz="1600" dirty="0"/>
          </a:p>
        </p:txBody>
      </p:sp>
      <p:sp>
        <p:nvSpPr>
          <p:cNvPr id="6" name="repo"/>
          <p:cNvSpPr txBox="1"/>
          <p:nvPr/>
        </p:nvSpPr>
        <p:spPr>
          <a:xfrm>
            <a:off x="548640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FD3C4"/>
                </a:solidFill>
              </a:rPr>
              <a:t>github.com/FalconDevX/neurofly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roFly">
  <a:themeElements>
    <a:clrScheme name="NeuroFly">
      <a:dk1>
        <a:srgbClr val="09090B"/>
      </a:dk1>
      <a:lt1>
        <a:srgbClr val="FAFAFA"/>
      </a:lt1>
      <a:dk2>
        <a:srgbClr val="18181B"/>
      </a:dk2>
      <a:lt2>
        <a:srgbClr val="A1A1AA"/>
      </a:lt2>
      <a:accent1>
        <a:srgbClr val="2FD3C4"/>
      </a:accent1>
      <a:accent2>
        <a:srgbClr val="FFB547"/>
      </a:accent2>
      <a:accent3>
        <a:srgbClr val="FF4FB0"/>
      </a:accent3>
      <a:accent4>
        <a:srgbClr val="4F8CFF"/>
      </a:accent4>
      <a:accent5>
        <a:srgbClr val="52525B"/>
      </a:accent5>
      <a:accent6>
        <a:srgbClr val="27272A"/>
      </a:accent6>
      <a:hlink>
        <a:srgbClr val="2FD3C4"/>
      </a:hlink>
      <a:folHlink>
        <a:srgbClr val="A1A1AA"/>
      </a:folHlink>
    </a:clrScheme>
    <a:fontScheme name="NeuroFly">
      <a:majorFont>
        <a:latin typeface="Robot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obo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1146</Words>
  <Application>Microsoft Office PowerPoint</Application>
  <PresentationFormat>On-screen Show (16:9)</PresentationFormat>
  <Paragraphs>185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Roboto</vt:lpstr>
      <vt:lpstr>Cambria</vt:lpstr>
      <vt:lpstr>NeuroFly</vt:lpstr>
      <vt:lpstr>PowerPoint Presentation</vt:lpstr>
      <vt:lpstr>Zamknięta pętla: wzrok → connectome → lot</vt:lpstr>
      <vt:lpstr>Pipeline: od piksela do śmigła</vt:lpstr>
      <vt:lpstr>Zanim sygnał trafi do BANC: oko muszki</vt:lpstr>
      <vt:lpstr>BANC v888: mózg i brzuszny łańcuch nerwowy</vt:lpstr>
      <vt:lpstr>Jak liczymy aktywność na connectomie</vt:lpstr>
      <vt:lpstr>Obwód lotu: tylko oficjalne adnotacje BANC</vt:lpstr>
      <vt:lpstr>Strona celu jest w pojedynczych DN, nie w średnich</vt:lpstr>
      <vt:lpstr>Ograniczenie v888: asymetria płatów wzrokowych</vt:lpstr>
      <vt:lpstr>Symulator: dron X2 w MuJoCo</vt:lpstr>
      <vt:lpstr>Trening: uczy się tylko dekoder, BANC się nie zmienia</vt:lpstr>
      <vt:lpstr>Wynik: skręt do celu z BANC</vt:lpstr>
      <vt:lpstr>Lot do celu w świecie: w toku</vt:lpstr>
      <vt:lpstr>Co jest z BANC, a co jest naszym założeniem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NeuroFly — mózg muszki pilotuje drona</dc:title>
  <dc:subject>PptxGenJS Presentation</dc:subject>
  <dc:creator>Zespół NeuroFly</dc:creator>
  <cp:lastModifiedBy>Mateusz Nowaczek</cp:lastModifiedBy>
  <cp:revision>2</cp:revision>
  <dcterms:created xsi:type="dcterms:W3CDTF">2026-10-03T20:50:14Z</dcterms:created>
  <dcterms:modified xsi:type="dcterms:W3CDTF">2026-10-03T20:50:16Z</dcterms:modified>
</cp:coreProperties>
</file>