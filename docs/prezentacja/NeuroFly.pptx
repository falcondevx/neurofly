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B6E13BF-C035-7F55-0696-FD610149666C}">
          <p14:sldIdLst>
            <p14:sldId id="256"/>
          </p14:sldIdLst>
        </p14:section>
        <p14:section name="Idea" id="{250CF0A0-E863-AA9C-2BFF-BCCE433E0432}">
          <p14:sldIdLst>
            <p14:sldId id="257"/>
          </p14:sldIdLst>
        </p14:section>
        <p14:section name="Pipeline" id="{91F7B295-DEDC-B4E1-26EF-C614C8A84199}">
          <p14:sldIdLst>
            <p14:sldId id="258"/>
            <p14:sldId id="259"/>
          </p14:sldIdLst>
        </p14:section>
        <p14:section name="Connectome" id="{F60BEFC2-1409-8BBF-7704-1D356BA5F608}">
          <p14:sldIdLst>
            <p14:sldId id="260"/>
            <p14:sldId id="261"/>
            <p14:sldId id="262"/>
          </p14:sldIdLst>
        </p14:section>
        <p14:section name="Readout" id="{4A1CC517-49B9-48E8-7CD4-D730C728C284}">
          <p14:sldIdLst>
            <p14:sldId id="263"/>
            <p14:sldId id="264"/>
          </p14:sldIdLst>
        </p14:section>
        <p14:section name="Simulator" id="{61234118-9B33-CBD5-528B-5D124120798B}">
          <p14:sldIdLst>
            <p14:sldId id="265"/>
          </p14:sldIdLst>
        </p14:section>
        <p14:section name="Training" id="{BF38974E-F903-03AB-67F8-EC176AC089FE}">
          <p14:sldIdLst>
            <p14:sldId id="266"/>
          </p14:sldIdLst>
        </p14:section>
        <p14:section name="Results" id="{539F093A-199C-5001-78F4-FB654C5A7769}">
          <p14:sldIdLst>
            <p14:sldId id="267"/>
            <p14:sldId id="268"/>
          </p14:sldIdLst>
        </p14:section>
        <p14:section name="Honesty" id="{DBA1D4B3-EF38-2B65-9D72-1D2EF0526B37}">
          <p14:sldIdLst>
            <p14:sldId id="269"/>
          </p14:sldIdLst>
        </p14:section>
        <p14:section name="End" id="{53C82087-E89F-5EC5-F4F3-B161D8E954E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Target-side accuracy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C20-4BF7-826F-282EDA49CD5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C20-4BF7-826F-282EDA49CD58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C20-4BF7-826F-282EDA49CD58}"/>
              </c:ext>
            </c:extLst>
          </c:dPt>
          <c:dPt>
            <c:idx val="3"/>
            <c:invertIfNegative val="0"/>
            <c:bubble3D val="0"/>
            <c:spPr>
              <a:solidFill>
                <a:srgbClr val="2FD3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C20-4BF7-826F-282EDA49CD58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 MN averages</c:v>
                </c:pt>
                <c:pt idx="1">
                  <c:v>single MNs</c:v>
                </c:pt>
                <c:pt idx="2">
                  <c:v>vision (VPN)</c:v>
                </c:pt>
                <c:pt idx="3">
                  <c:v>single flight DNs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C20-4BF7-826F-282EDA49CD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training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target −60°</c:v>
                </c:pt>
                <c:pt idx="1">
                  <c:v>target −30°</c:v>
                </c:pt>
                <c:pt idx="2">
                  <c:v>target +30°</c:v>
                </c:pt>
                <c:pt idx="3">
                  <c:v>target +60°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43-421B-85CC-D31D27965D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training</c:v>
                </c:pt>
              </c:strCache>
            </c:strRef>
          </c:tx>
          <c:spPr>
            <a:solidFill>
              <a:srgbClr val="2FD3C4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target −60°</c:v>
                </c:pt>
                <c:pt idx="1">
                  <c:v>target −30°</c:v>
                </c:pt>
                <c:pt idx="2">
                  <c:v>target +30°</c:v>
                </c:pt>
                <c:pt idx="3">
                  <c:v>target +60°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2.2999999999999998</c:v>
                </c:pt>
                <c:pt idx="3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943-421B-85CC-D31D27965D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803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the drone camera image goes through a model of the fly eye (FlyVis), then through the real Drosophila connectome (BANC v888, brain + ventral nerve cord), and flight-neuron activity steers the drone in simulation. Render: semi-transparent NeuroMechFly body (FlyGym) with the BANC connectome inside — body alignment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camera frame goes through the whole loop ~30 times per second. There is no hand-coded heading controller: the direction to the target is read out from descending-neuron (DN) activity in BANC.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row: everything that happens before the connectome. Bottom row: connectome, flight-neuron readout, decoder and drone. One frame (FlyVis + 4 BANC dynamics substeps on the GPU) takes ~15–20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target (dark pole) is on the right: only the right eye sees it, as a dark column of ommatidia.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BANC v888 (Bates et al. 2026, public Lee Lab bucket). Somas from the position column; colors as in the explorer: vision teal, interneurons violet, DNs amber, motor neurons rose. No synthetic 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Ridge regression angle ~ activity, target at −90…+90° at 3 distances, validated on the distance left out of training (scripts/check_side_decoding.py).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FAFAFA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fly-xray" descr="C:\NeuroFly\docs\prezentacja\assets\fly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91440"/>
            <a:ext cx="5897880" cy="3401568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43000"/>
            <a:ext cx="1097280" cy="649224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AFAFA"/>
                </a:solidFill>
              </a:rPr>
              <a:t>NeuroFly</a:t>
            </a:r>
            <a:endParaRPr lang="en-US" sz="5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1A1AA"/>
                </a:solidFill>
              </a:rPr>
              <a:t>A fruit-fly brain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1A1AA"/>
                </a:solidFill>
              </a:rPr>
              <a:t>flies a drone</a:t>
            </a:r>
            <a:endParaRPr lang="en-US" sz="20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2525B"/>
                </a:solidFill>
              </a:rPr>
              <a:t>Full BANC v888 connectome · 175,401 neurons · closed loop in MuJoCo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Closed loop: vision → connectome → flight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3520440" y="94183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Image</a:t>
            </a:r>
            <a:endParaRPr lang="en-US" sz="1500" dirty="0"/>
          </a:p>
        </p:txBody>
      </p:sp>
      <p:sp>
        <p:nvSpPr>
          <p:cNvPr id="6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two eye cameras on the drone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5717286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8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0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on the GPU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3520440" y="377647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2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Control</a:t>
            </a:r>
            <a:endParaRPr lang="en-US" sz="1500" dirty="0"/>
          </a:p>
        </p:txBody>
      </p:sp>
      <p:sp>
        <p:nvSpPr>
          <p:cNvPr id="14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flight neurons → commands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1323594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6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7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Motion</a:t>
            </a:r>
            <a:endParaRPr lang="en-US" sz="1500" dirty="0"/>
          </a:p>
        </p:txBody>
      </p:sp>
      <p:sp>
        <p:nvSpPr>
          <p:cNvPr id="18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drone in MuJoCo → new image</a:t>
            </a:r>
            <a:endParaRPr lang="en-US" sz="1100" dirty="0"/>
          </a:p>
        </p:txBody>
      </p:sp>
      <p:pic>
        <p:nvPicPr>
          <p:cNvPr id="19" name="logo-center" descr="C:\NeuroFly\docs\prezentacja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Pipeline: from pixel to propeller</a:t>
            </a:r>
            <a:endParaRPr lang="en-US" sz="2800" dirty="0"/>
          </a:p>
        </p:txBody>
      </p:sp>
      <p:sp>
        <p:nvSpPr>
          <p:cNvPr id="3" name="node-0"/>
          <p:cNvSpPr/>
          <p:nvPr/>
        </p:nvSpPr>
        <p:spPr>
          <a:xfrm>
            <a:off x="457200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Camera</a:t>
            </a:r>
            <a:endParaRPr lang="en-US" sz="1500" dirty="0"/>
          </a:p>
        </p:txBody>
      </p:sp>
      <p:sp>
        <p:nvSpPr>
          <p:cNvPr id="6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 MuJoCo eyes, 157°, ±70°</a:t>
            </a:r>
            <a:endParaRPr lang="en-US" sz="1100" dirty="0"/>
          </a:p>
        </p:txBody>
      </p:sp>
      <p:sp>
        <p:nvSpPr>
          <p:cNvPr id="7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8" name="node-1"/>
          <p:cNvSpPr/>
          <p:nvPr/>
        </p:nvSpPr>
        <p:spPr>
          <a:xfrm>
            <a:off x="2551176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9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0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Retina</a:t>
            </a:r>
            <a:endParaRPr lang="en-US" sz="1500" dirty="0"/>
          </a:p>
        </p:txBody>
      </p:sp>
      <p:sp>
        <p:nvSpPr>
          <p:cNvPr id="11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ommatidia / eye</a:t>
            </a:r>
            <a:endParaRPr lang="en-US" sz="1100" dirty="0"/>
          </a:p>
        </p:txBody>
      </p:sp>
      <p:sp>
        <p:nvSpPr>
          <p:cNvPr id="12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3" name="node-2"/>
          <p:cNvSpPr/>
          <p:nvPr/>
        </p:nvSpPr>
        <p:spPr>
          <a:xfrm>
            <a:off x="4645152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4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5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6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optic lobe model</a:t>
            </a:r>
            <a:endParaRPr lang="en-US" sz="1100" dirty="0"/>
          </a:p>
        </p:txBody>
      </p:sp>
      <p:sp>
        <p:nvSpPr>
          <p:cNvPr id="17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8" name="node-3"/>
          <p:cNvSpPr/>
          <p:nvPr/>
        </p:nvSpPr>
        <p:spPr>
          <a:xfrm>
            <a:off x="6739128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9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20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 → BANC</a:t>
            </a:r>
            <a:endParaRPr lang="en-US" sz="1500" dirty="0"/>
          </a:p>
        </p:txBody>
      </p:sp>
      <p:sp>
        <p:nvSpPr>
          <p:cNvPr id="21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22,462 v888 neurons</a:t>
            </a:r>
            <a:endParaRPr lang="en-US" sz="1100" dirty="0"/>
          </a:p>
        </p:txBody>
      </p:sp>
      <p:sp>
        <p:nvSpPr>
          <p:cNvPr id="22" name="node-4"/>
          <p:cNvSpPr/>
          <p:nvPr/>
        </p:nvSpPr>
        <p:spPr>
          <a:xfrm>
            <a:off x="6739128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3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4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5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175,401 neurons, GPU</a:t>
            </a:r>
            <a:endParaRPr lang="en-US" sz="1100" dirty="0"/>
          </a:p>
        </p:txBody>
      </p:sp>
      <p:sp>
        <p:nvSpPr>
          <p:cNvPr id="26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7" name="node-5"/>
          <p:cNvSpPr/>
          <p:nvPr/>
        </p:nvSpPr>
        <p:spPr>
          <a:xfrm>
            <a:off x="4645152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8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9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Readout</a:t>
            </a:r>
            <a:endParaRPr lang="en-US" sz="1500" dirty="0"/>
          </a:p>
        </p:txBody>
      </p:sp>
      <p:sp>
        <p:nvSpPr>
          <p:cNvPr id="30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6 MN groups + 375 flight DNs</a:t>
            </a:r>
            <a:endParaRPr lang="en-US" sz="1100" dirty="0"/>
          </a:p>
        </p:txBody>
      </p:sp>
      <p:sp>
        <p:nvSpPr>
          <p:cNvPr id="31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2" name="node-6"/>
          <p:cNvSpPr/>
          <p:nvPr/>
        </p:nvSpPr>
        <p:spPr>
          <a:xfrm>
            <a:off x="2551176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3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4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Decoder</a:t>
            </a:r>
            <a:endParaRPr lang="en-US" sz="1500" dirty="0"/>
          </a:p>
        </p:txBody>
      </p:sp>
      <p:sp>
        <p:nvSpPr>
          <p:cNvPr id="35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linear, trained (DAgger)</a:t>
            </a:r>
            <a:endParaRPr lang="en-US" sz="1100" dirty="0"/>
          </a:p>
        </p:txBody>
      </p:sp>
      <p:sp>
        <p:nvSpPr>
          <p:cNvPr id="36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7" name="node-7"/>
          <p:cNvSpPr/>
          <p:nvPr/>
        </p:nvSpPr>
        <p:spPr>
          <a:xfrm>
            <a:off x="457200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8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9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Drone</a:t>
            </a:r>
            <a:endParaRPr lang="en-US" sz="1500" dirty="0"/>
          </a:p>
        </p:txBody>
      </p:sp>
      <p:sp>
        <p:nvSpPr>
          <p:cNvPr id="40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1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2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2525B"/>
                </a:solidFill>
              </a:rPr>
              <a:t>next frame: new camera image</a:t>
            </a:r>
            <a:endParaRPr lang="en-US" sz="11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Before the signal reaches BANC: the fly eye</a:t>
            </a:r>
            <a:endParaRPr lang="en-US" sz="2800" dirty="0"/>
          </a:p>
        </p:txBody>
      </p:sp>
      <p:pic>
        <p:nvPicPr>
          <p:cNvPr id="3" name="img-0" descr="C:\NeuroFly\docs\prezentacja\assets\eye_le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4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Left camera</a:t>
            </a:r>
            <a:endParaRPr lang="en-US" sz="1100" dirty="0"/>
          </a:p>
        </p:txBody>
      </p:sp>
      <p:pic>
        <p:nvPicPr>
          <p:cNvPr id="5" name="img-1" descr="C:\NeuroFly\docs\prezentacja\assets\retina_lef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Left retina</a:t>
            </a:r>
            <a:endParaRPr lang="en-US" sz="1100" dirty="0"/>
          </a:p>
        </p:txBody>
      </p:sp>
      <p:pic>
        <p:nvPicPr>
          <p:cNvPr id="7" name="img-2" descr="C:\NeuroFly\docs\prezentacja\assets\eye_r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Right camera</a:t>
            </a:r>
            <a:endParaRPr lang="en-US" sz="1100" dirty="0"/>
          </a:p>
        </p:txBody>
      </p:sp>
      <p:pic>
        <p:nvPicPr>
          <p:cNvPr id="9" name="img-3" descr="C:\NeuroFly\docs\prezentacja\assets\retina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10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Right retina</a:t>
            </a:r>
            <a:endParaRPr lang="en-US" sz="1100" dirty="0"/>
          </a:p>
        </p:txBody>
      </p:sp>
      <p:sp>
        <p:nvSpPr>
          <p:cNvPr id="11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AFAFA"/>
                </a:solidFill>
              </a:rPr>
              <a:t>MuJoCo cameras with a fly-eye field of view → fisheye correction → 721 hexagonal ommatidia per eye (FlyGym) → FlyVis: a trained, connectome-constrained optic lobe model → cell-type activity mapped onto BANC v888 neurons.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BANC v888: brain and ventral nerve cord</a:t>
            </a:r>
            <a:endParaRPr lang="en-US" sz="2800" dirty="0"/>
          </a:p>
        </p:txBody>
      </p:sp>
      <p:pic>
        <p:nvPicPr>
          <p:cNvPr id="3" name="render-3d" descr="C:\NeuroFly\docs\prezentacja\assets\connectome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175,401</a:t>
            </a:r>
            <a:endParaRPr lang="en-US" sz="3600" dirty="0"/>
          </a:p>
        </p:txBody>
      </p:sp>
      <p:sp>
        <p:nvSpPr>
          <p:cNvPr id="5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(glia and trachea excluded)</a:t>
            </a:r>
            <a:endParaRPr lang="en-US" sz="1200" dirty="0"/>
          </a:p>
        </p:txBody>
      </p:sp>
      <p:sp>
        <p:nvSpPr>
          <p:cNvPr id="6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18.6 M</a:t>
            </a:r>
            <a:endParaRPr lang="en-US" sz="3600" dirty="0"/>
          </a:p>
        </p:txBody>
      </p:sp>
      <p:sp>
        <p:nvSpPr>
          <p:cNvPr id="7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synapses in connections ≥ 5</a:t>
            </a:r>
            <a:endParaRPr lang="en-US" sz="1200" dirty="0"/>
          </a:p>
        </p:txBody>
      </p:sp>
      <p:sp>
        <p:nvSpPr>
          <p:cNvPr id="8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1.53 M</a:t>
            </a:r>
            <a:endParaRPr lang="en-US" sz="3600" dirty="0"/>
          </a:p>
        </p:txBody>
      </p:sp>
      <p:sp>
        <p:nvSpPr>
          <p:cNvPr id="9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connections in the model graph</a:t>
            </a:r>
            <a:endParaRPr lang="en-US" sz="1200" dirty="0"/>
          </a:p>
        </p:txBody>
      </p:sp>
      <p:sp>
        <p:nvSpPr>
          <p:cNvPr id="10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863</a:t>
            </a:r>
            <a:endParaRPr lang="en-US" sz="3600" dirty="0"/>
          </a:p>
        </p:txBody>
      </p:sp>
      <p:sp>
        <p:nvSpPr>
          <p:cNvPr id="11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flight-neuron skeletons (SWC)</a:t>
            </a:r>
            <a:endParaRPr lang="en-US" sz="1200" dirty="0"/>
          </a:p>
        </p:txBody>
      </p:sp>
      <p:sp>
        <p:nvSpPr>
          <p:cNvPr id="12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3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optic lobes · 105,646</a:t>
            </a:r>
            <a:endParaRPr lang="en-US" sz="1100" dirty="0"/>
          </a:p>
        </p:txBody>
      </p:sp>
      <p:sp>
        <p:nvSpPr>
          <p:cNvPr id="14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central brain · 42,620</a:t>
            </a:r>
            <a:endParaRPr lang="en-US" sz="1100" dirty="0"/>
          </a:p>
        </p:txBody>
      </p:sp>
      <p:sp>
        <p:nvSpPr>
          <p:cNvPr id="16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26,769</a:t>
            </a:r>
            <a:endParaRPr lang="en-US" sz="1100" dirty="0"/>
          </a:p>
        </p:txBody>
      </p:sp>
      <p:sp>
        <p:nvSpPr>
          <p:cNvPr id="18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9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3,165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How we compute activity on the connectome</a:t>
            </a:r>
            <a:endParaRPr lang="en-US" sz="2800" dirty="0"/>
          </a:p>
        </p:txBody>
      </p:sp>
      <p:sp>
        <p:nvSpPr>
          <p:cNvPr id="3" name="eq-card"/>
          <p:cNvSpPr/>
          <p:nvPr/>
        </p:nvSpPr>
        <p:spPr>
          <a:xfrm>
            <a:off x="457200" y="118872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5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W</a:t>
            </a:r>
            <a:endParaRPr lang="en-US" sz="1400" dirty="0"/>
          </a:p>
        </p:txBody>
      </p:sp>
      <p:sp>
        <p:nvSpPr>
          <p:cNvPr id="6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synapse counts from BANC, sign from the predicted neurotransmitter, inputs normalized per neuron</a:t>
            </a:r>
            <a:endParaRPr lang="en-US" sz="1200" dirty="0"/>
          </a:p>
        </p:txBody>
      </p:sp>
      <p:sp>
        <p:nvSpPr>
          <p:cNvPr id="7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τ, dt, g</a:t>
            </a:r>
            <a:endParaRPr lang="en-US" sz="1400" dirty="0"/>
          </a:p>
        </p:txBody>
      </p:sp>
      <p:sp>
        <p:nvSpPr>
          <p:cNvPr id="8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0.9 — 4 substeps per camera frame</a:t>
            </a:r>
            <a:endParaRPr lang="en-US" sz="1200" dirty="0"/>
          </a:p>
        </p:txBody>
      </p:sp>
      <p:sp>
        <p:nvSpPr>
          <p:cNvPr id="9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I</a:t>
            </a:r>
            <a:endParaRPr lang="en-US" sz="1400" dirty="0"/>
          </a:p>
        </p:txBody>
      </p:sp>
      <p:sp>
        <p:nvSpPr>
          <p:cNvPr id="10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input: vision (FlyVis → BANC) + drone gyroscope onto haltere afferents</a:t>
            </a:r>
            <a:endParaRPr lang="en-US" sz="1200" dirty="0"/>
          </a:p>
        </p:txBody>
      </p:sp>
      <p:sp>
        <p:nvSpPr>
          <p:cNvPr id="11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GPU</a:t>
            </a:r>
            <a:endParaRPr lang="en-US" sz="1400" dirty="0"/>
          </a:p>
        </p:txBody>
      </p:sp>
      <p:sp>
        <p:nvSpPr>
          <p:cNvPr id="12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sparse CSR matrix in torch: ~2.6 ms per frame (RTX 4060)</a:t>
            </a:r>
            <a:endParaRPr lang="en-US" sz="1200" dirty="0"/>
          </a:p>
        </p:txBody>
      </p:sp>
      <p:sp>
        <p:nvSpPr>
          <p:cNvPr id="13" name="sign-card"/>
          <p:cNvSpPr/>
          <p:nvPr/>
        </p:nvSpPr>
        <p:spPr>
          <a:xfrm>
            <a:off x="5669280" y="1188720"/>
            <a:ext cx="3017520" cy="315468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4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Synapse signs</a:t>
            </a:r>
            <a:endParaRPr lang="en-US" sz="1500" dirty="0"/>
          </a:p>
        </p:txBody>
      </p:sp>
      <p:sp>
        <p:nvSpPr>
          <p:cNvPr id="15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6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excitatory</a:t>
            </a:r>
            <a:endParaRPr lang="en-US" sz="1100" dirty="0"/>
          </a:p>
        </p:txBody>
      </p:sp>
      <p:sp>
        <p:nvSpPr>
          <p:cNvPr id="17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inhibitory</a:t>
            </a:r>
            <a:endParaRPr lang="en-US" sz="1100" dirty="0"/>
          </a:p>
        </p:txBody>
      </p:sp>
      <p:sp>
        <p:nvSpPr>
          <p:cNvPr id="19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0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glutamate — inhibitory</a:t>
            </a:r>
            <a:endParaRPr lang="en-US" sz="1100" dirty="0"/>
          </a:p>
        </p:txBody>
      </p:sp>
      <p:sp>
        <p:nvSpPr>
          <p:cNvPr id="21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2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histamine — inhibitory</a:t>
            </a:r>
            <a:endParaRPr lang="en-US" sz="1100" dirty="0"/>
          </a:p>
        </p:txBody>
      </p:sp>
      <p:sp>
        <p:nvSpPr>
          <p:cNvPr id="23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dynamics model and signs are our assumptions; connections and synapse counts come from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Flight circuit: official BANC annotations only</a:t>
            </a:r>
            <a:endParaRPr lang="en-US" sz="2800" dirty="0"/>
          </a:p>
        </p:txBody>
      </p:sp>
      <p:pic>
        <p:nvPicPr>
          <p:cNvPr id="3" name="render-circuit" descr="C:\NeuroFly\docs\prezentacja\assets\circuit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6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7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8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0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1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2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4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power muscles</a:t>
            </a:r>
            <a:endParaRPr lang="en-US" sz="1100" dirty="0"/>
          </a:p>
        </p:txBody>
      </p:sp>
      <p:sp>
        <p:nvSpPr>
          <p:cNvPr id="15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6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8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steering muscles</a:t>
            </a:r>
            <a:endParaRPr lang="en-US" sz="1100" dirty="0"/>
          </a:p>
        </p:txBody>
      </p:sp>
      <p:sp>
        <p:nvSpPr>
          <p:cNvPr id="19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0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1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2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wing tension</a:t>
            </a:r>
            <a:endParaRPr lang="en-US" sz="1100" dirty="0"/>
          </a:p>
        </p:txBody>
      </p:sp>
      <p:sp>
        <p:nvSpPr>
          <p:cNvPr id="23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4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5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Haltere afferents</a:t>
            </a:r>
            <a:endParaRPr lang="en-US" sz="1400" dirty="0"/>
          </a:p>
        </p:txBody>
      </p:sp>
      <p:sp>
        <p:nvSpPr>
          <p:cNvPr id="26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rotation sensors ← drone gyroscope</a:t>
            </a:r>
            <a:endParaRPr lang="en-US" sz="1100" dirty="0"/>
          </a:p>
        </p:txBody>
      </p:sp>
      <p:sp>
        <p:nvSpPr>
          <p:cNvPr id="27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Target side lives in single DNs, not in averages</a:t>
            </a:r>
            <a:endParaRPr lang="en-US" sz="2800" dirty="0"/>
          </a:p>
        </p:txBody>
      </p:sp>
      <p:graphicFrame>
        <p:nvGraphicFramePr>
          <p:cNvPr id="3" name="chart-side"/>
          <p:cNvGraphicFramePr/>
          <p:nvPr/>
        </p:nvGraphicFramePr>
        <p:xfrm>
          <a:off x="457200" y="109728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99%</a:t>
            </a:r>
            <a:endParaRPr lang="en-US" sz="3600" dirty="0"/>
          </a:p>
        </p:txBody>
      </p:sp>
      <p:sp>
        <p:nvSpPr>
          <p:cNvPr id="5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target-side accuracy from 375 single flight DNs (validated on an unseen distance)</a:t>
            </a:r>
            <a:endParaRPr lang="en-US" sz="1200" dirty="0"/>
          </a:p>
        </p:txBody>
      </p:sp>
      <p:sp>
        <p:nvSpPr>
          <p:cNvPr id="6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68%</a:t>
            </a:r>
            <a:endParaRPr lang="en-US" sz="3600" dirty="0"/>
          </a:p>
        </p:txBody>
      </p:sp>
      <p:sp>
        <p:nvSpPr>
          <p:cNvPr id="7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from 6 MN group averages — averaging cancels the left / right difference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v888 limitation: optic lobe asymmetry</a:t>
            </a:r>
            <a:endParaRPr lang="en-US" sz="2800" dirty="0"/>
          </a:p>
        </p:txBody>
      </p:sp>
      <p:sp>
        <p:nvSpPr>
          <p:cNvPr id="3" name="left-card"/>
          <p:cNvSpPr/>
          <p:nvPr/>
        </p:nvSpPr>
        <p:spPr>
          <a:xfrm>
            <a:off x="45720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right-card"/>
          <p:cNvSpPr/>
          <p:nvPr/>
        </p:nvSpPr>
        <p:spPr>
          <a:xfrm>
            <a:off x="475488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36%</a:t>
            </a:r>
            <a:endParaRPr lang="en-US" sz="3600" dirty="0"/>
          </a:p>
        </p:txBody>
      </p:sp>
      <p:sp>
        <p:nvSpPr>
          <p:cNvPr id="6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of left-lobe neurons have a cell type</a:t>
            </a:r>
            <a:endParaRPr lang="en-US" sz="1200" dirty="0"/>
          </a:p>
        </p:txBody>
      </p:sp>
      <p:sp>
        <p:nvSpPr>
          <p:cNvPr id="7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5,535</a:t>
            </a:r>
            <a:endParaRPr lang="en-US" sz="3600" dirty="0"/>
          </a:p>
        </p:txBody>
      </p:sp>
      <p:sp>
        <p:nvSpPr>
          <p:cNvPr id="8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driven by the left eye</a:t>
            </a:r>
            <a:endParaRPr lang="en-US" sz="1200" dirty="0"/>
          </a:p>
        </p:txBody>
      </p:sp>
      <p:sp>
        <p:nvSpPr>
          <p:cNvPr id="9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80%</a:t>
            </a:r>
            <a:endParaRPr lang="en-US" sz="3600" dirty="0"/>
          </a:p>
        </p:txBody>
      </p:sp>
      <p:sp>
        <p:nvSpPr>
          <p:cNvPr id="10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of right-lobe neurons have a cell type</a:t>
            </a:r>
            <a:endParaRPr lang="en-US" sz="1200" dirty="0"/>
          </a:p>
        </p:txBody>
      </p:sp>
      <p:sp>
        <p:nvSpPr>
          <p:cNvPr id="11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16,927</a:t>
            </a:r>
            <a:endParaRPr lang="en-US" sz="3600" dirty="0"/>
          </a:p>
        </p:txBody>
      </p:sp>
      <p:sp>
        <p:nvSpPr>
          <p:cNvPr id="12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driven by the right eye</a:t>
            </a:r>
            <a:endParaRPr lang="en-US" sz="1200" dirty="0"/>
          </a:p>
        </p:txBody>
      </p:sp>
      <p:sp>
        <p:nvSpPr>
          <p:cNvPr id="13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The FlyVis → BANC map goes by cell type, so the left eye reaches ~3× fewer neurons. Equalizing the input did not change the result; the single-DN readout still recognizes both sides.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Simulator: X2 drone in MuJoCo</a:t>
            </a:r>
            <a:endParaRPr lang="en-US" sz="2800" dirty="0"/>
          </a:p>
        </p:txBody>
      </p:sp>
      <p:pic>
        <p:nvPicPr>
          <p:cNvPr id="3" name="img-drone" descr="C:\NeuroFly\docs\prezentacja\assets\drone_ch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pic>
        <p:nvPicPr>
          <p:cNvPr id="4" name="img-world" descr="C:\NeuroFly\docs\prezentacja\assets\wor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5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with eyes on the nose · hover and turn on a flat scene</a:t>
            </a:r>
            <a:endParaRPr lang="en-US" sz="1100" dirty="0"/>
          </a:p>
        </p:txBody>
      </p:sp>
      <p:sp>
        <p:nvSpPr>
          <p:cNvPr id="6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Random 60 × 60 m terrain, blocks, target · angle mode: the simulator holds the commanded tilt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Training: only the decoder learns, BANC stays fixed</a:t>
            </a:r>
            <a:endParaRPr lang="en-US" sz="2800" dirty="0"/>
          </a:p>
        </p:txBody>
      </p:sp>
      <p:sp>
        <p:nvSpPr>
          <p:cNvPr id="3" name="t-0"/>
          <p:cNvSpPr/>
          <p:nvPr/>
        </p:nvSpPr>
        <p:spPr>
          <a:xfrm>
            <a:off x="457200" y="1188720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Teacher</a:t>
            </a:r>
            <a:endParaRPr lang="en-US" sz="1400" dirty="0"/>
          </a:p>
        </p:txBody>
      </p:sp>
      <p:sp>
        <p:nvSpPr>
          <p:cNvPr id="6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knows the true state: target bearing, height, speed</a:t>
            </a:r>
            <a:endParaRPr lang="en-US" sz="1100" dirty="0"/>
          </a:p>
        </p:txBody>
      </p:sp>
      <p:sp>
        <p:nvSpPr>
          <p:cNvPr id="7" name="t-1"/>
          <p:cNvSpPr/>
          <p:nvPr/>
        </p:nvSpPr>
        <p:spPr>
          <a:xfrm>
            <a:off x="457200" y="1975104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8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Mixed flight</a:t>
            </a:r>
            <a:endParaRPr lang="en-US" sz="1400" dirty="0"/>
          </a:p>
        </p:txBody>
      </p:sp>
      <p:sp>
        <p:nvSpPr>
          <p:cNvPr id="10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teacher flies with probability β, β: 1 → 0</a:t>
            </a:r>
            <a:endParaRPr lang="en-US" sz="1100" dirty="0"/>
          </a:p>
        </p:txBody>
      </p:sp>
      <p:sp>
        <p:nvSpPr>
          <p:cNvPr id="11" name="t-2"/>
          <p:cNvSpPr/>
          <p:nvPr/>
        </p:nvSpPr>
        <p:spPr>
          <a:xfrm>
            <a:off x="457200" y="2761488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2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Data</a:t>
            </a:r>
            <a:endParaRPr lang="en-US" sz="1400" dirty="0"/>
          </a:p>
        </p:txBody>
      </p:sp>
      <p:sp>
        <p:nvSpPr>
          <p:cNvPr id="14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pairs (features, teacher command); hard samples ×3–7</a:t>
            </a:r>
            <a:endParaRPr lang="en-US" sz="1100" dirty="0"/>
          </a:p>
        </p:txBody>
      </p:sp>
      <p:sp>
        <p:nvSpPr>
          <p:cNvPr id="15" name="t-3"/>
          <p:cNvSpPr/>
          <p:nvPr/>
        </p:nvSpPr>
        <p:spPr>
          <a:xfrm>
            <a:off x="457200" y="3547872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6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Regression</a:t>
            </a:r>
            <a:endParaRPr lang="en-US" sz="1400" dirty="0"/>
          </a:p>
        </p:txBody>
      </p:sp>
      <p:sp>
        <p:nvSpPr>
          <p:cNvPr id="18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weights refit on all data (DAgger + ridge)</a:t>
            </a:r>
            <a:endParaRPr lang="en-US" sz="1100" dirty="0"/>
          </a:p>
        </p:txBody>
      </p:sp>
      <p:sp>
        <p:nvSpPr>
          <p:cNvPr id="19" name="split"/>
          <p:cNvSpPr/>
          <p:nvPr/>
        </p:nvSpPr>
        <p:spPr>
          <a:xfrm>
            <a:off x="5303520" y="118872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0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Axis split</a:t>
            </a:r>
            <a:endParaRPr lang="en-US" sz="1400" dirty="0"/>
          </a:p>
        </p:txBody>
      </p:sp>
      <p:sp>
        <p:nvSpPr>
          <p:cNvPr id="21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2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BANC only (DNs)</a:t>
            </a:r>
            <a:endParaRPr lang="en-US" sz="1100" dirty="0"/>
          </a:p>
        </p:txBody>
      </p:sp>
      <p:sp>
        <p:nvSpPr>
          <p:cNvPr id="23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4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sensors</a:t>
            </a:r>
            <a:endParaRPr lang="en-US" sz="1100" dirty="0"/>
          </a:p>
        </p:txBody>
      </p:sp>
      <p:sp>
        <p:nvSpPr>
          <p:cNvPr id="25" name="dist"/>
          <p:cNvSpPr/>
          <p:nvPr/>
        </p:nvSpPr>
        <p:spPr>
          <a:xfrm>
            <a:off x="5303520" y="278892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6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GPUs over LAN</a:t>
            </a:r>
            <a:endParaRPr lang="en-US" sz="1400" dirty="0"/>
          </a:p>
        </p:txBody>
      </p:sp>
      <p:sp>
        <p:nvSpPr>
          <p:cNvPr id="27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master hands out worlds, workers (RTX 4060, RTX 3070 Ti) run episodes and send back only the XᵀX, Xᵀy statistics — no video frames.</a:t>
            </a:r>
            <a:endParaRPr lang="en-US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Result: turning toward the target with BANC</a:t>
            </a:r>
            <a:endParaRPr lang="en-US" sz="2800" dirty="0"/>
          </a:p>
        </p:txBody>
      </p:sp>
      <p:graphicFrame>
        <p:nvGraphicFramePr>
          <p:cNvPr id="3" name="chart-eval"/>
          <p:cNvGraphicFramePr/>
          <p:nvPr/>
        </p:nvGraphicFramePr>
        <p:xfrm>
          <a:off x="457200" y="109728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2.65°</a:t>
            </a:r>
            <a:endParaRPr lang="en-US" sz="3600" dirty="0"/>
          </a:p>
        </p:txBody>
      </p:sp>
      <p:sp>
        <p:nvSpPr>
          <p:cNvPr id="5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mean final heading error without the teacher (25.1° before training)</a:t>
            </a:r>
            <a:endParaRPr lang="en-US" sz="1200" dirty="0"/>
          </a:p>
        </p:txBody>
      </p:sp>
      <p:sp>
        <p:nvSpPr>
          <p:cNvPr id="6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1,000</a:t>
            </a:r>
            <a:endParaRPr lang="en-US" sz="3600" dirty="0"/>
          </a:p>
        </p:txBody>
      </p:sp>
      <p:sp>
        <p:nvSpPr>
          <p:cNvPr id="7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episodes on 2 GPUs: 672 + 328</a:t>
            </a:r>
            <a:endParaRPr lang="en-US" sz="1200" dirty="0"/>
          </a:p>
        </p:txBody>
      </p:sp>
      <p:sp>
        <p:nvSpPr>
          <p:cNvPr id="8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Hover on a flat scene, height held by the simulator. Heading: single BANC DNs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Flying to a target in the world: in progress</a:t>
            </a:r>
            <a:endParaRPr lang="en-US" sz="2800" dirty="0"/>
          </a:p>
        </p:txBody>
      </p:sp>
      <p:sp>
        <p:nvSpPr>
          <p:cNvPr id="3" name="c-teacher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c-before"/>
          <p:cNvSpPr/>
          <p:nvPr/>
        </p:nvSpPr>
        <p:spPr>
          <a:xfrm>
            <a:off x="3273552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c-model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6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6 / 6</a:t>
            </a:r>
            <a:endParaRPr lang="en-US" sz="3600" dirty="0"/>
          </a:p>
        </p:txBody>
      </p:sp>
      <p:sp>
        <p:nvSpPr>
          <p:cNvPr id="7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the teacher reaches the target — there is something to learn from</a:t>
            </a:r>
            <a:endParaRPr lang="en-US" sz="1200" dirty="0"/>
          </a:p>
        </p:txBody>
      </p:sp>
      <p:sp>
        <p:nvSpPr>
          <p:cNvPr id="8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18.1 m</a:t>
            </a:r>
            <a:endParaRPr lang="en-US" sz="3600" dirty="0"/>
          </a:p>
        </p:txBody>
      </p:sp>
      <p:sp>
        <p:nvSpPr>
          <p:cNvPr id="9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before training: mean closest distance to the target</a:t>
            </a:r>
            <a:endParaRPr lang="en-US" sz="1200" dirty="0"/>
          </a:p>
        </p:txBody>
      </p:sp>
      <p:sp>
        <p:nvSpPr>
          <p:cNvPr id="10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9.0 m</a:t>
            </a:r>
            <a:endParaRPr lang="en-US" sz="3600" dirty="0"/>
          </a:p>
        </p:txBody>
      </p:sp>
      <p:sp>
        <p:nvSpPr>
          <p:cNvPr id="11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after 192 episodes: 2× closer, 0 crashes, target 0 / 6</a:t>
            </a:r>
            <a:endParaRPr lang="en-US" sz="1200" dirty="0"/>
          </a:p>
        </p:txBody>
      </p:sp>
      <p:sp>
        <p:nvSpPr>
          <p:cNvPr id="12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1A1AA"/>
                </a:solidFill>
              </a:rPr>
              <a:t>Honestly: the model flies stably and gets closer to the target, but does not reach it yet. Next run: validation every 50 episodes keeping the best weights, harder samples weighted up, GPS for long-range heading.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From BANC vs. our assumptions</a:t>
            </a:r>
            <a:endParaRPr lang="en-US" sz="2800" dirty="0"/>
          </a:p>
        </p:txBody>
      </p:sp>
      <p:sp>
        <p:nvSpPr>
          <p:cNvPr id="3" name="bank"/>
          <p:cNvSpPr/>
          <p:nvPr/>
        </p:nvSpPr>
        <p:spPr>
          <a:xfrm>
            <a:off x="45720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ours"/>
          <p:cNvSpPr/>
          <p:nvPr/>
        </p:nvSpPr>
        <p:spPr>
          <a:xfrm>
            <a:off x="475488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from BANC v888</a:t>
            </a:r>
            <a:endParaRPr lang="en-US" sz="1100" dirty="0"/>
          </a:p>
        </p:txBody>
      </p:sp>
      <p:sp>
        <p:nvSpPr>
          <p:cNvPr id="7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8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our assumptions</a:t>
            </a:r>
            <a:endParaRPr lang="en-US" sz="1100" dirty="0"/>
          </a:p>
        </p:txBody>
      </p:sp>
      <p:sp>
        <p:nvSpPr>
          <p:cNvPr id="9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neurons, connections, synapse counts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predicted neurotransmitter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flight groups from official annotations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soma positions and SWC skeletons</a:t>
            </a:r>
            <a:endParaRPr lang="en-US" sz="1400" dirty="0"/>
          </a:p>
        </p:txBody>
      </p:sp>
      <p:sp>
        <p:nvSpPr>
          <p:cNvPr id="10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dynamics model and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neurotransmitter signs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FlyVis → BANC map by cell type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linear decoder and axis split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drone sensors for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/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34440"/>
            <a:ext cx="914400" cy="539496"/>
          </a:xfrm>
          <a:prstGeom prst="rect">
            <a:avLst/>
          </a:prstGeom>
        </p:spPr>
      </p:pic>
      <p:sp>
        <p:nvSpPr>
          <p:cNvPr id="4" name="thanks"/>
          <p:cNvSpPr txBox="1"/>
          <p:nvPr/>
        </p:nvSpPr>
        <p:spPr>
          <a:xfrm>
            <a:off x="548640" y="1920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AFAFA"/>
                </a:solidFill>
              </a:rPr>
              <a:t>Thank you</a:t>
            </a:r>
            <a:endParaRPr lang="en-US" sz="4400" dirty="0"/>
          </a:p>
        </p:txBody>
      </p:sp>
      <p:sp>
        <p:nvSpPr>
          <p:cNvPr id="5" name="demo"/>
          <p:cNvSpPr txBox="1"/>
          <p:nvPr/>
        </p:nvSpPr>
        <p:spPr>
          <a:xfrm>
            <a:off x="5486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1A1AA"/>
                </a:solidFill>
              </a:rPr>
              <a:t>Live demo: BANC panel in flight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A1A1AA"/>
                </a:solidFill>
              </a:rPr>
              <a:t>3D connectome explorer</a:t>
            </a:r>
            <a:endParaRPr lang="en-US" sz="1600" dirty="0"/>
          </a:p>
        </p:txBody>
      </p:sp>
      <p:sp>
        <p:nvSpPr>
          <p:cNvPr id="6" name="repo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FD3C4"/>
                </a:solidFill>
              </a:rPr>
              <a:t>github.com/FalconDevX/neurofly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09090B"/>
      </a:dk1>
      <a:lt1>
        <a:srgbClr val="FAFAFA"/>
      </a:lt1>
      <a:dk2>
        <a:srgbClr val="18181B"/>
      </a:dk2>
      <a:lt2>
        <a:srgbClr val="A1A1AA"/>
      </a:lt2>
      <a:accent1>
        <a:srgbClr val="2FD3C4"/>
      </a:accent1>
      <a:accent2>
        <a:srgbClr val="FFB547"/>
      </a:accent2>
      <a:accent3>
        <a:srgbClr val="FF4FB0"/>
      </a:accent3>
      <a:accent4>
        <a:srgbClr val="4F8CFF"/>
      </a:accent4>
      <a:accent5>
        <a:srgbClr val="52525B"/>
      </a:accent5>
      <a:accent6>
        <a:srgbClr val="27272A"/>
      </a:accent6>
      <a:hlink>
        <a:srgbClr val="2FD3C4"/>
      </a:hlink>
      <a:folHlink>
        <a:srgbClr val="A1A1AA"/>
      </a:folHlink>
    </a:clrScheme>
    <a:fontScheme name="NeuroFly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1188</Words>
  <Application>Microsoft Office PowerPoint</Application>
  <PresentationFormat>On-screen Show (16:9)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Cambria</vt:lpstr>
      <vt:lpstr>Arial</vt:lpstr>
      <vt:lpstr>Roboto</vt:lpstr>
      <vt:lpstr>NeuroFly</vt:lpstr>
      <vt:lpstr>PowerPoint Presentation</vt:lpstr>
      <vt:lpstr>Closed loop: vision → connectome → flight</vt:lpstr>
      <vt:lpstr>Pipeline: from pixel to propeller</vt:lpstr>
      <vt:lpstr>Before the signal reaches BANC: the fly eye</vt:lpstr>
      <vt:lpstr>BANC v888: brain and ventral nerve cord</vt:lpstr>
      <vt:lpstr>How we compute activity on the connectome</vt:lpstr>
      <vt:lpstr>Flight circuit: official BANC annotations only</vt:lpstr>
      <vt:lpstr>Target side lives in single DNs, not in averages</vt:lpstr>
      <vt:lpstr>v888 limitation: optic lobe asymmetry</vt:lpstr>
      <vt:lpstr>Simulator: X2 drone in MuJoCo</vt:lpstr>
      <vt:lpstr>Training: only the decoder learns, BANC stays fixed</vt:lpstr>
      <vt:lpstr>Result: turning toward the target with BANC</vt:lpstr>
      <vt:lpstr>Flying to a target in the world: in progress</vt:lpstr>
      <vt:lpstr>From BANC vs. our assumptions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a fruit-fly brain flies a drone</dc:title>
  <dc:subject>PptxGenJS Presentation</dc:subject>
  <dc:creator>NeuroFly team</dc:creator>
  <cp:lastModifiedBy>Mateusz Nowaczek</cp:lastModifiedBy>
  <cp:revision>2</cp:revision>
  <dcterms:created xsi:type="dcterms:W3CDTF">2026-10-03T21:02:22Z</dcterms:created>
  <dcterms:modified xsi:type="dcterms:W3CDTF">2026-10-03T21:02:24Z</dcterms:modified>
</cp:coreProperties>
</file>