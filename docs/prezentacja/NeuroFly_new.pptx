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4.xml" ContentType="application/vnd.openxmlformats-officedocument.drawingml.chart+xml"/>
  <Override PartName="/ppt/notesSlides/notesSlide28.xml" ContentType="application/vnd.openxmlformats-officedocument.presentationml.notesSlide+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0"/>
  </p:notesMasterIdLst>
  <p:sldIdLst>
    <p:sldId id="256" r:id="rId2"/>
    <p:sldId id="258" r:id="rId4"/>
    <p:sldId id="259" r:id="rId5"/>
    <p:sldId id="261" r:id="rId7"/>
    <p:sldId id="263" r:id="rId9"/>
    <p:sldId id="266" r:id="rId12"/>
    <p:sldId id="268" r:id="rId14"/>
    <p:sldId id="269" r:id="rId15"/>
    <p:sldId id="272" r:id="rId18"/>
    <p:sldId id="276" r:id="rId22"/>
  </p:sldIdLst>
  <p:sldSz cx="9144000" cy="5143500" type="screen16x9"/>
  <p:notesSz cx="5143500" cy="9144000"/>
  <p:embeddedFontLst>
    <p:embeddedFont>
      <p:font typeface="Cambria Math" panose="02040503050406030204" pitchFamily="18" charset="0"/>
      <p:regular r:id="rId31"/>
    </p:embeddedFont>
    <p:embeddedFont>
      <p:font typeface="Consolas" panose="020B0609020204030204" pitchFamily="49" charset="0"/>
      <p:regular r:id="rId32"/>
      <p:bold r:id="rId33"/>
      <p:italic r:id="rId34"/>
      <p:boldItalic r:id="rId35"/>
    </p:embeddedFont>
    <p:embeddedFont>
      <p:font typeface="Michroma" pitchFamily="2" charset="-18"/>
      <p:regular r:id="rId36"/>
    </p:embeddedFont>
    <p:embeddedFont>
      <p:font typeface="Roboto" panose="02000000000000000000" pitchFamily="2" charset="0"/>
      <p:regular r:id="rId37"/>
      <p:bold r:id="rId38"/>
      <p:italic r:id="rId39"/>
      <p:boldItalic r:id="rId40"/>
    </p:embeddedFont>
    <p:embeddedFont>
      <p:font typeface="Roboto Light" panose="02000000000000000000" pitchFamily="2" charset="0"/>
      <p:regular r:id="rId41"/>
      <p:italic r:id="rId4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6D6991E0-145E-641C-103B-69C1B7CCA710}">
          <p14:sldIdLst>
            <p14:sldId id="256"/>
          </p14:sldIdLst>
        </p14:section>
        <p14:section name="Idea" id="{A4E24FA3-18F4-E8C8-D2EC-B11A329B7590}">
          <p14:sldIdLst>
            <p14:sldId id="258"/>
            <p14:sldId id="259"/>
          </p14:sldIdLst>
        </p14:section>
        <p14:section name="How it works" id="{15BD6867-4668-DF97-8250-185DE2B8827C}">
          <p14:sldIdLst>
            <p14:sldId id="261"/>
            <p14:sldId id="263"/>
            <p14:sldId id="266"/>
          </p14:sldIdLst>
        </p14:section>
        <p14:section name="Results" id="{0AB5329D-D9B6-F548-74F6-6D5C9159752F}">
          <p14:sldIdLst>
            <p14:sldId id="268"/>
            <p14:sldId id="269"/>
          </p14:sldIdLst>
        </p14:section>
        <p14:section name="Next" id="{88DDCDBF-5801-2ACC-E04B-9306572FC45F}">
          <p14:sldIdLst>
            <p14:sldId id="272"/>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5" d="100"/>
          <a:sy n="145" d="100"/>
        </p:scale>
        <p:origin x="100" y="10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8" Type="http://schemas.openxmlformats.org/officeDocument/2006/relationships/slide" Target="slides/slide17.xml"/><Relationship Id="rId39" Type="http://schemas.openxmlformats.org/officeDocument/2006/relationships/font" Target="fonts/font9.fntdata"/><Relationship Id="rId34" Type="http://schemas.openxmlformats.org/officeDocument/2006/relationships/font" Target="fonts/font4.fntdata"/><Relationship Id="rId42" Type="http://schemas.openxmlformats.org/officeDocument/2006/relationships/font" Target="fonts/font12.fntdata"/><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36" Type="http://schemas.openxmlformats.org/officeDocument/2006/relationships/font" Target="fonts/font6.fntdata"/><Relationship Id="rId31" Type="http://schemas.openxmlformats.org/officeDocument/2006/relationships/font" Target="fonts/font1.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presProps" Target="presProps.xml"/><Relationship Id="rId12" Type="http://schemas.openxmlformats.org/officeDocument/2006/relationships/slide" Target="slides/slide1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tableStyles" Target="tableStyles.xml"/><Relationship Id="rId41" Type="http://schemas.openxmlformats.org/officeDocument/2006/relationships/font" Target="fonts/font11.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Target-side accuracy</c:v>
                </c:pt>
              </c:strCache>
            </c:strRef>
          </c:tx>
          <c:spPr>
            <a:solidFill>
              <a:srgbClr val="52525B"/>
            </a:solidFill>
            <a:effectLst/>
          </c:spPr>
          <c:invertIfNegative val="0"/>
          <c:dPt>
            <c:idx val="0"/>
            <c:invertIfNegative val="0"/>
            <c:bubble3D val="0"/>
            <c:extLst>
              <c:ext xmlns:c16="http://schemas.microsoft.com/office/drawing/2014/chart" uri="{C3380CC4-5D6E-409C-BE32-E72D297353CC}">
                <c16:uniqueId val="{00000001-A838-44ED-8C72-17B99A65C751}"/>
              </c:ext>
            </c:extLst>
          </c:dPt>
          <c:dPt>
            <c:idx val="1"/>
            <c:invertIfNegative val="0"/>
            <c:bubble3D val="0"/>
            <c:extLst>
              <c:ext xmlns:c16="http://schemas.microsoft.com/office/drawing/2014/chart" uri="{C3380CC4-5D6E-409C-BE32-E72D297353CC}">
                <c16:uniqueId val="{00000003-A838-44ED-8C72-17B99A65C751}"/>
              </c:ext>
            </c:extLst>
          </c:dPt>
          <c:dPt>
            <c:idx val="2"/>
            <c:invertIfNegative val="0"/>
            <c:bubble3D val="0"/>
            <c:extLst>
              <c:ext xmlns:c16="http://schemas.microsoft.com/office/drawing/2014/chart" uri="{C3380CC4-5D6E-409C-BE32-E72D297353CC}">
                <c16:uniqueId val="{00000005-A838-44ED-8C72-17B99A65C751}"/>
              </c:ext>
            </c:extLst>
          </c:dPt>
          <c:dPt>
            <c:idx val="3"/>
            <c:invertIfNegative val="0"/>
            <c:bubble3D val="0"/>
            <c:spPr>
              <a:solidFill>
                <a:srgbClr val="FF2D6F"/>
              </a:solidFill>
              <a:effectLst/>
            </c:spPr>
            <c:extLst>
              <c:ext xmlns:c16="http://schemas.microsoft.com/office/drawing/2014/chart" uri="{C3380CC4-5D6E-409C-BE32-E72D297353CC}">
                <c16:uniqueId val="{00000007-A838-44ED-8C72-17B99A65C751}"/>
              </c:ext>
            </c:extLst>
          </c:dPt>
          <c:dLbls>
            <c:numFmt formatCode="0&quot;%&quot;" sourceLinked="0"/>
            <c:spPr>
              <a:noFill/>
              <a:ln>
                <a:noFill/>
              </a:ln>
              <a:effectLst/>
            </c:spPr>
            <c:txPr>
              <a:bodyPr/>
              <a:lstStyle/>
              <a:p>
                <a:pPr>
                  <a:defRPr sz="1100" b="0" i="0" u="none" strike="noStrike">
                    <a:solidFill>
                      <a:srgbClr val="FAFAFA"/>
                    </a:solidFill>
                    <a:latin typeface="+mn-lt"/>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wing muscle neurons, averaged</c:v>
                </c:pt>
                <c:pt idx="1">
                  <c:v>wing muscle neurons, one by one</c:v>
                </c:pt>
                <c:pt idx="2">
                  <c:v>vision neurons</c:v>
                </c:pt>
                <c:pt idx="3">
                  <c:v>flight neurons, one by one</c:v>
                </c:pt>
              </c:strCache>
            </c:strRef>
          </c:cat>
          <c:val>
            <c:numRef>
              <c:f>Sheet1!$B$2:$B$5</c:f>
              <c:numCache>
                <c:formatCode>General</c:formatCode>
                <c:ptCount val="4"/>
                <c:pt idx="0">
                  <c:v>68</c:v>
                </c:pt>
                <c:pt idx="1">
                  <c:v>84</c:v>
                </c:pt>
                <c:pt idx="2">
                  <c:v>94</c:v>
                </c:pt>
                <c:pt idx="3">
                  <c:v>99</c:v>
                </c:pt>
              </c:numCache>
            </c:numRef>
          </c:val>
          <c:extLst>
            <c:ext xmlns:c16="http://schemas.microsoft.com/office/drawing/2014/chart" uri="{C3380CC4-5D6E-409C-BE32-E72D297353CC}">
              <c16:uniqueId val="{00000008-A838-44ED-8C72-17B99A65C75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A1A1AA"/>
                </a:solidFill>
                <a:latin typeface="+mn-lt"/>
              </a:defRPr>
            </a:pPr>
            <a:endParaRPr lang="en-US"/>
          </a:p>
        </c:txPr>
        <c:crossAx val="2094734552"/>
        <c:crosses val="autoZero"/>
        <c:auto val="1"/>
        <c:lblAlgn val="ctr"/>
        <c:lblOffset val="100"/>
        <c:noMultiLvlLbl val="1"/>
      </c:catAx>
      <c:valAx>
        <c:axId val="2094734552"/>
        <c:scaling>
          <c:orientation val="minMax"/>
          <c:max val="110"/>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targets reached (of 6)</c:v>
                </c:pt>
              </c:strCache>
            </c:strRef>
          </c:tx>
          <c:spPr>
            <a:solidFill>
              <a:srgbClr val="52525B"/>
            </a:solidFill>
            <a:effectLst/>
          </c:spPr>
          <c:invertIfNegative val="0"/>
          <c:dPt>
            <c:idx val="0"/>
            <c:invertIfNegative val="0"/>
            <c:bubble3D val="0"/>
            <c:extLst>
              <c:ext xmlns:c16="http://schemas.microsoft.com/office/drawing/2014/chart" uri="{C3380CC4-5D6E-409C-BE32-E72D297353CC}">
                <c16:uniqueId val="{00000001-E962-4DEE-AA28-1746774CD2D4}"/>
              </c:ext>
            </c:extLst>
          </c:dPt>
          <c:dPt>
            <c:idx val="1"/>
            <c:invertIfNegative val="0"/>
            <c:bubble3D val="0"/>
            <c:extLst>
              <c:ext xmlns:c16="http://schemas.microsoft.com/office/drawing/2014/chart" uri="{C3380CC4-5D6E-409C-BE32-E72D297353CC}">
                <c16:uniqueId val="{00000003-E962-4DEE-AA28-1746774CD2D4}"/>
              </c:ext>
            </c:extLst>
          </c:dPt>
          <c:dPt>
            <c:idx val="2"/>
            <c:invertIfNegative val="0"/>
            <c:bubble3D val="0"/>
            <c:spPr>
              <a:solidFill>
                <a:srgbClr val="FF2D6F"/>
              </a:solidFill>
              <a:effectLst/>
            </c:spPr>
            <c:extLst>
              <c:ext xmlns:c16="http://schemas.microsoft.com/office/drawing/2014/chart" uri="{C3380CC4-5D6E-409C-BE32-E72D297353CC}">
                <c16:uniqueId val="{00000005-E962-4DEE-AA28-1746774CD2D4}"/>
              </c:ext>
            </c:extLst>
          </c:dPt>
          <c:dPt>
            <c:idx val="3"/>
            <c:invertIfNegative val="0"/>
            <c:bubble3D val="0"/>
            <c:extLst>
              <c:ext xmlns:c16="http://schemas.microsoft.com/office/drawing/2014/chart" uri="{C3380CC4-5D6E-409C-BE32-E72D297353CC}">
                <c16:uniqueId val="{00000007-E962-4DEE-AA28-1746774CD2D4}"/>
              </c:ext>
            </c:extLst>
          </c:dPt>
          <c:dPt>
            <c:idx val="4"/>
            <c:invertIfNegative val="0"/>
            <c:bubble3D val="0"/>
            <c:extLst>
              <c:ext xmlns:c16="http://schemas.microsoft.com/office/drawing/2014/chart" uri="{C3380CC4-5D6E-409C-BE32-E72D297353CC}">
                <c16:uniqueId val="{00000009-E962-4DEE-AA28-1746774CD2D4}"/>
              </c:ext>
            </c:extLst>
          </c:dPt>
          <c:dPt>
            <c:idx val="5"/>
            <c:invertIfNegative val="0"/>
            <c:bubble3D val="0"/>
            <c:extLst>
              <c:ext xmlns:c16="http://schemas.microsoft.com/office/drawing/2014/chart" uri="{C3380CC4-5D6E-409C-BE32-E72D297353CC}">
                <c16:uniqueId val="{0000000B-E962-4DEE-AA28-1746774CD2D4}"/>
              </c:ext>
            </c:extLst>
          </c:dPt>
          <c:dPt>
            <c:idx val="6"/>
            <c:invertIfNegative val="0"/>
            <c:bubble3D val="0"/>
            <c:extLst>
              <c:ext xmlns:c16="http://schemas.microsoft.com/office/drawing/2014/chart" uri="{C3380CC4-5D6E-409C-BE32-E72D297353CC}">
                <c16:uniqueId val="{0000000D-E962-4DEE-AA28-1746774CD2D4}"/>
              </c:ext>
            </c:extLst>
          </c:dPt>
          <c:dLbls>
            <c:numFmt formatCode="0&quot; / 6&quot;" sourceLinked="0"/>
            <c:spPr>
              <a:noFill/>
              <a:ln>
                <a:noFill/>
              </a:ln>
              <a:effectLst/>
            </c:spPr>
            <c:txPr>
              <a:bodyPr/>
              <a:lstStyle/>
              <a:p>
                <a:pPr>
                  <a:defRPr sz="1100" b="0" i="0" u="none" strike="noStrike">
                    <a:solidFill>
                      <a:srgbClr val="FAFAFA"/>
                    </a:solidFill>
                    <a:latin typeface="+mn-lt"/>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0</c:v>
                </c:pt>
                <c:pt idx="1">
                  <c:v>50</c:v>
                </c:pt>
                <c:pt idx="2">
                  <c:v>100</c:v>
                </c:pt>
                <c:pt idx="3">
                  <c:v>150</c:v>
                </c:pt>
                <c:pt idx="4">
                  <c:v>200</c:v>
                </c:pt>
                <c:pt idx="5">
                  <c:v>250</c:v>
                </c:pt>
                <c:pt idx="6">
                  <c:v>300</c:v>
                </c:pt>
              </c:strCache>
            </c:strRef>
          </c:cat>
          <c:val>
            <c:numRef>
              <c:f>Sheet1!$B$2:$B$8</c:f>
              <c:numCache>
                <c:formatCode>General</c:formatCode>
                <c:ptCount val="7"/>
                <c:pt idx="0">
                  <c:v>0</c:v>
                </c:pt>
                <c:pt idx="1">
                  <c:v>3</c:v>
                </c:pt>
                <c:pt idx="2">
                  <c:v>5</c:v>
                </c:pt>
                <c:pt idx="3">
                  <c:v>3</c:v>
                </c:pt>
                <c:pt idx="4">
                  <c:v>5</c:v>
                </c:pt>
                <c:pt idx="5">
                  <c:v>5</c:v>
                </c:pt>
                <c:pt idx="6">
                  <c:v>4</c:v>
                </c:pt>
              </c:numCache>
            </c:numRef>
          </c:val>
          <c:extLst>
            <c:ext xmlns:c16="http://schemas.microsoft.com/office/drawing/2014/chart" uri="{C3380CC4-5D6E-409C-BE32-E72D297353CC}">
              <c16:uniqueId val="{0000000E-E962-4DEE-AA28-1746774CD2D4}"/>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1A1AA"/>
                </a:solidFill>
                <a:latin typeface="+mn-lt"/>
              </a:defRPr>
            </a:pPr>
            <a:endParaRPr lang="en-US"/>
          </a:p>
        </c:txPr>
        <c:crossAx val="2094734552"/>
        <c:crosses val="autoZero"/>
        <c:auto val="1"/>
        <c:lblAlgn val="ctr"/>
        <c:lblOffset val="100"/>
        <c:noMultiLvlLbl val="1"/>
      </c:catAx>
      <c:valAx>
        <c:axId val="2094734552"/>
        <c:scaling>
          <c:orientation val="minMax"/>
          <c:max val="7"/>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2478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NeuroFly: the drone camera image goes through a model of the fly eye (FlyVis), then through the real Drosophila connectome (BANC v888, brain + ventral nerve cord), and flight-neuron activity steers the drone in simulation. Render: semi-transparent NeuroMechFly body (FlyGym) with the BANC connectome inside — body alignment is illustrative — next to the X2 drone from MuJoCo. The threads from flight neurons to the drone are an illustration of the loop, not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does: camera image, fly eye model (FlyVis), the real fruit fly connectome (BANC v888, 175,401 neurons), the fly's flight neurons, the drone. Premises: only the official connectome, never trained, only a small linear readout is learned, and the most important decision, where to turn, is made by the fly's own descending neurons; drone sensors get zero weight on heading by construction. Why: a closed-loop test of whether a mapped brain can drive a body, which neurons carry the decision, and a direction for small vision-guided drones. An early synthetic network was thrown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camera frame goes once around this loop, steps 1 to 8. Steps 1–4 happen before the connectome; 5–8 are the connectome, the flight-neuron readout, the decoder and the drone. One frame (FlyVis + 4 BANC substeps on the GPU) takes ~15–20 ms. There is no hand-coded heading controller near the target: the direction is read out from descending-neuron (DN) activity in BANC. Decoder thumbnail: the real yaw weights of the best world decoder, sorted.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BANC v888 (Bates et al. 2026, public Lee Lab bucket). Dots are somas from the position column; lines are real edges from the v888 edge list, sampled with probability proportional to synapse count and coloured by the presynaptic class. The amber bundle through the neck is descending neurons. Lines are straight for drawing only — real axons take other paths.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Ridge regression angle ~ activity, target from −90° to +90° at 3 distances, validated on the distance left out of training (scripts/check_side_decoding.py). A finding about the connectome: direction is carried by individual descending neurons and is lost if you average motor neurons.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assumption, said out loud: BANC is perception and direction, the drone's sensors do stabilisation, much like a fly whose wings have their own fast reflexes. GPS only brings the drone into view of the target; inside 4 m the heading is decided by the connectome.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fly_banc.py --local --decoder data/decoders/planB_dn.npz --thrust hold. Thrust is held by the simulator; the connectome decides the heading and, through the halteres, damps the rotation after the gust.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every 50 episodes on the same 6 worlds (seeds 101–106). Before training the drone did not even get going (0/6, 18.2 m). The best checkpoint reaches 5 of 6 targets; the final one 4 of 6. Run it: python -m sim.run_env --banc data/decoders/world_distributed_best.npz --beacon-scale 4 --vision-range 4 --sensors real --motor-tau 0.04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Neuroscientists get a closed-loop test bench: the connectome has to produce behaviour, and we can ask which neurons matter. Robot builders get a working example of insect-style visual homing; this is a direction, not a product. Students get something they can see. Everything is open and runs on a gaming laptop.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NeuroFly\docs\prezentacja\assets\accent_line.png"/>
          <p:cNvPicPr>
            <a:picLocks noChangeAspect="1"/>
          </p:cNvPicPr>
          <p:nvPr/>
        </p:nvPicPr>
        <p:blipFill>
          <a:blip r:embed="rId3"/>
          <a:stretch>
            <a:fillRect/>
          </a:stretch>
        </p:blipFill>
        <p:spPr>
          <a:xfrm>
            <a:off x="402336" y="182880"/>
            <a:ext cx="36576" cy="749808"/>
          </a:xfrm>
          <a:prstGeom prst="rect">
            <a:avLst/>
          </a:prstGeom>
        </p:spPr>
      </p:pic>
      <p:pic>
        <p:nvPicPr>
          <p:cNvPr id="3" name="Image 1" descr="C:\NeuroFly\docs\prezentacja\assets\logo.png"/>
          <p:cNvPicPr>
            <a:picLocks noChangeAspect="1"/>
          </p:cNvPicPr>
          <p:nvPr/>
        </p:nvPicPr>
        <p:blipFill>
          <a:blip r:embed="rId4"/>
          <a:stretch>
            <a:fillRect/>
          </a:stretch>
        </p:blipFill>
        <p:spPr>
          <a:xfrm>
            <a:off x="457200" y="4690872"/>
            <a:ext cx="310896" cy="182880"/>
          </a:xfrm>
          <a:prstGeom prst="rect">
            <a:avLst/>
          </a:prstGeom>
        </p:spPr>
      </p:pic>
      <p:sp>
        <p:nvSpPr>
          <p:cNvPr id="4" name="Text 0"/>
          <p:cNvSpPr/>
          <p:nvPr/>
        </p:nvSpPr>
        <p:spPr>
          <a:xfrm>
            <a:off x="822960" y="4645152"/>
            <a:ext cx="1828800" cy="274320"/>
          </a:xfrm>
          <a:prstGeom prst="rect">
            <a:avLst/>
          </a:prstGeom>
          <a:noFill/>
          <a:ln/>
        </p:spPr>
        <p:txBody>
          <a:bodyPr wrap="square" lIns="0" tIns="0" rIns="0" bIns="0" rtlCol="0" anchor="ctr"/>
          <a:lstStyle/>
          <a:p>
            <a:pPr marL="0" indent="0">
              <a:buNone/>
            </a:pPr>
            <a:r>
              <a:rPr lang="en-US" sz="1000" dirty="0">
                <a:solidFill>
                  <a:srgbClr val="A1A1AA"/>
                </a:solidFill>
              </a:rPr>
              <a:t>NeuroFly</a:t>
            </a:r>
            <a:endParaRPr lang="en-US" sz="1000" dirty="0"/>
          </a:p>
        </p:txBody>
      </p:sp>
      <p:sp>
        <p:nvSpPr>
          <p:cNvPr id="5" name="Text 1"/>
          <p:cNvSpPr>
            <a:spLocks noGrp="1"/>
          </p:cNvSpPr>
          <p:nvPr>
            <p:ph type="title" idx="103" hasCustomPrompt="1"/>
          </p:nvPr>
        </p:nvSpPr>
        <p:spPr>
          <a:xfrm>
            <a:off x="566928" y="457200"/>
            <a:ext cx="7589520" cy="365760"/>
          </a:xfrm>
          <a:prstGeom prst="rect">
            <a:avLst/>
          </a:prstGeom>
          <a:noFill/>
          <a:ln/>
        </p:spPr>
        <p:txBody>
          <a:bodyPr wrap="square" rtlCol="0"/>
          <a:lstStyle>
            <a:lvl1pPr marL="0" indent="0" algn="l">
              <a:buNone/>
              <a:defRPr lang="en-US" sz="1600" kern="0" spc="100" dirty="0">
                <a:solidFill>
                  <a:srgbClr val="FAFAFA"/>
                </a:solidFill>
                <a:latin typeface="Michroma" pitchFamily="34" charset="0"/>
                <a:ea typeface="Michroma" pitchFamily="34" charset="-122"/>
                <a:cs typeface="Michroma" pitchFamily="34" charset="-120"/>
              </a:defRPr>
            </a:lvl1pPr>
          </a:lstStyle>
          <a:p>
            <a:pPr marL="0" indent="0" algn="l">
              <a:buNone/>
            </a:pPr>
            <a:endParaRPr lang="en-US" sz="16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1A1AA"/>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1A1AA"/>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7.jpg"/><Relationship Id="rId7"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0.jpg"/><Relationship Id="rId5" Type="http://schemas.openxmlformats.org/officeDocument/2006/relationships/image" Target="../media/image9.jpg"/><Relationship Id="rId10" Type="http://schemas.openxmlformats.org/officeDocument/2006/relationships/image" Target="../media/image14.jpg"/><Relationship Id="rId4" Type="http://schemas.openxmlformats.org/officeDocument/2006/relationships/image" Target="../media/image8.jpg"/><Relationship Id="rId9" Type="http://schemas.openxmlformats.org/officeDocument/2006/relationships/image" Target="../media/image13.jpg"/></Relationships>
</file>

<file path=ppt/slides/_rels/slide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render-fly-drone" descr="C:\NeuroFly\docs\prezentacja\assets\fly_drone.jpg"/>
          <p:cNvPicPr>
            <a:picLocks noChangeAspect="1"/>
          </p:cNvPicPr>
          <p:nvPr/>
        </p:nvPicPr>
        <p:blipFill>
          <a:blip r:embed="rId3"/>
          <a:stretch>
            <a:fillRect/>
          </a:stretch>
        </p:blipFill>
        <p:spPr>
          <a:xfrm>
            <a:off x="3291840" y="91440"/>
            <a:ext cx="5852160" cy="4009644"/>
          </a:xfrm>
          <a:prstGeom prst="rect">
            <a:avLst/>
          </a:prstGeom>
        </p:spPr>
      </p:pic>
      <p:pic>
        <p:nvPicPr>
          <p:cNvPr id="3" name="logo" descr="C:\NeuroFly\docs\prezentacja\assets\logo.png"/>
          <p:cNvPicPr>
            <a:picLocks noChangeAspect="1"/>
          </p:cNvPicPr>
          <p:nvPr/>
        </p:nvPicPr>
        <p:blipFill>
          <a:blip r:embed="rId4"/>
          <a:stretch>
            <a:fillRect/>
          </a:stretch>
        </p:blipFill>
        <p:spPr>
          <a:xfrm>
            <a:off x="548640" y="868680"/>
            <a:ext cx="914400" cy="539496"/>
          </a:xfrm>
          <a:prstGeom prst="rect">
            <a:avLst/>
          </a:prstGeom>
        </p:spPr>
      </p:pic>
      <p:sp>
        <p:nvSpPr>
          <p:cNvPr id="4" name="eyebrow"/>
          <p:cNvSpPr txBox="1"/>
          <p:nvPr/>
        </p:nvSpPr>
        <p:spPr>
          <a:xfrm>
            <a:off x="548640" y="1627632"/>
            <a:ext cx="4754880" cy="201168"/>
          </a:xfrm>
          <a:prstGeom prst="rect">
            <a:avLst/>
          </a:prstGeom>
          <a:noFill/>
          <a:ln/>
        </p:spPr>
        <p:txBody>
          <a:bodyPr wrap="square" lIns="0" tIns="0" rIns="0" bIns="0" rtlCol="0" anchor="t"/>
          <a:lstStyle/>
          <a:p>
            <a:pPr marL="0" indent="0">
              <a:buNone/>
            </a:pPr>
            <a:r>
              <a:rPr lang="en-US" sz="800" kern="0" spc="500" dirty="0">
                <a:solidFill>
                  <a:srgbClr val="FF2D6F"/>
                </a:solidFill>
              </a:rPr>
              <a:t>BANC V888 CONNECTOME</a:t>
            </a:r>
            <a:endParaRPr lang="en-US" sz="800" dirty="0"/>
          </a:p>
        </p:txBody>
      </p:sp>
      <p:sp>
        <p:nvSpPr>
          <p:cNvPr id="5" name="title"/>
          <p:cNvSpPr txBox="1"/>
          <p:nvPr/>
        </p:nvSpPr>
        <p:spPr>
          <a:xfrm>
            <a:off x="548640" y="1874520"/>
            <a:ext cx="4754880" cy="777240"/>
          </a:xfrm>
          <a:prstGeom prst="rect">
            <a:avLst/>
          </a:prstGeom>
          <a:noFill/>
          <a:ln/>
        </p:spPr>
        <p:txBody>
          <a:bodyPr wrap="square" lIns="0" tIns="0" rIns="0" bIns="0" rtlCol="0" anchor="t"/>
          <a:lstStyle/>
          <a:p>
            <a:pPr marL="0" indent="0">
              <a:buNone/>
            </a:pPr>
            <a:r>
              <a:rPr lang="en-US" sz="4000" kern="0" spc="200" dirty="0">
                <a:solidFill>
                  <a:srgbClr val="FAFAFA"/>
                </a:solidFill>
                <a:latin typeface="Michroma" pitchFamily="34" charset="0"/>
                <a:ea typeface="Michroma" pitchFamily="34" charset="-122"/>
                <a:cs typeface="Michroma" pitchFamily="34" charset="-120"/>
              </a:rPr>
              <a:t>NEUROFLY</a:t>
            </a:r>
            <a:endParaRPr lang="en-US" sz="4000" dirty="0"/>
          </a:p>
        </p:txBody>
      </p:sp>
      <p:pic>
        <p:nvPicPr>
          <p:cNvPr id="6" name="accent-line" descr="C:\NeuroFly\docs\prezentacja\assets\accent_line.png"/>
          <p:cNvPicPr>
            <a:picLocks noChangeAspect="1"/>
          </p:cNvPicPr>
          <p:nvPr/>
        </p:nvPicPr>
        <p:blipFill>
          <a:blip r:embed="rId5"/>
          <a:stretch>
            <a:fillRect/>
          </a:stretch>
        </p:blipFill>
        <p:spPr>
          <a:xfrm>
            <a:off x="548640" y="2788920"/>
            <a:ext cx="45720" cy="868680"/>
          </a:xfrm>
          <a:prstGeom prst="rect">
            <a:avLst/>
          </a:prstGeom>
        </p:spPr>
      </p:pic>
      <p:sp>
        <p:nvSpPr>
          <p:cNvPr id="7" name="subtitle"/>
          <p:cNvSpPr txBox="1"/>
          <p:nvPr/>
        </p:nvSpPr>
        <p:spPr>
          <a:xfrm>
            <a:off x="777239" y="2788920"/>
            <a:ext cx="3021037" cy="731520"/>
          </a:xfrm>
          <a:prstGeom prst="rect">
            <a:avLst/>
          </a:prstGeom>
          <a:noFill/>
          <a:ln/>
        </p:spPr>
        <p:txBody>
          <a:bodyPr wrap="square" lIns="0" tIns="0" rIns="0" bIns="0" rtlCol="0" anchor="t"/>
          <a:lstStyle/>
          <a:p>
            <a:pPr marL="0" indent="0">
              <a:buNone/>
            </a:pPr>
            <a:r>
              <a:rPr lang="en-US" sz="1800" dirty="0">
                <a:solidFill>
                  <a:srgbClr val="A1A1AA"/>
                </a:solidFill>
              </a:rPr>
              <a:t>The brain of a fruit fly</a:t>
            </a:r>
            <a:r>
              <a:rPr lang="pl-PL" sz="1800" dirty="0">
                <a:solidFill>
                  <a:srgbClr val="A1A1AA"/>
                </a:solidFill>
              </a:rPr>
              <a:t> which</a:t>
            </a:r>
            <a:endParaRPr lang="en-US" sz="1800" dirty="0"/>
          </a:p>
          <a:p>
            <a:pPr marL="0" indent="0">
              <a:buNone/>
            </a:pPr>
            <a:r>
              <a:rPr lang="en-US" sz="1800" dirty="0">
                <a:solidFill>
                  <a:srgbClr val="A1A1AA"/>
                </a:solidFill>
              </a:rPr>
              <a:t>pilots a drone</a:t>
            </a:r>
            <a:endParaRPr lang="en-US" sz="1800" dirty="0"/>
          </a:p>
        </p:txBody>
      </p:sp>
      <p:sp>
        <p:nvSpPr>
          <p:cNvPr id="8" name="footer"/>
          <p:cNvSpPr txBox="1"/>
          <p:nvPr/>
        </p:nvSpPr>
        <p:spPr>
          <a:xfrm>
            <a:off x="548640" y="4343400"/>
            <a:ext cx="8046720" cy="274320"/>
          </a:xfrm>
          <a:prstGeom prst="rect">
            <a:avLst/>
          </a:prstGeom>
          <a:noFill/>
          <a:ln/>
        </p:spPr>
        <p:txBody>
          <a:bodyPr wrap="square" lIns="0" tIns="0" rIns="0" bIns="0" rtlCol="0" anchor="t"/>
          <a:lstStyle/>
          <a:p>
            <a:pPr marL="0" indent="0">
              <a:buNone/>
            </a:pPr>
            <a:r>
              <a:rPr lang="en-US" sz="800" kern="0" spc="400" dirty="0">
                <a:solidFill>
                  <a:srgbClr val="A1A1AA"/>
                </a:solidFill>
              </a:rPr>
              <a:t>FULL BANC V888 CONNECTOME      175,401 NEURONS      CLOSED LOOP IN MUJOCO</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indent="0" marL="0">
              <a:buNone/>
            </a:pPr>
            <a:r>
              <a:rPr lang="en-US" sz="800" spc="500" kern="0" dirty="0">
                <a:solidFill>
                  <a:srgbClr val="FF2D6F"/>
                </a:solidFill>
              </a:rPr>
              <a:t>IDEA</a:t>
            </a:r>
            <a:endParaRPr lang="en-US" sz="800" dirty="0"/>
          </a:p>
        </p:txBody>
      </p:sp>
      <p:sp>
        <p:nvSpPr>
          <p:cNvPr id="3" name="Text 1"/>
          <p:cNvSpPr/>
          <p:nvPr>
            <p:ph idx="103" type="title" hasCustomPrompt="1"/>
          </p:nvPr>
        </p:nvSpPr>
        <p:spPr>
          <a:xfrm>
            <a:off x="566928" y="457200"/>
            <a:ext cx="7589520" cy="365760"/>
          </a:xfrm>
          <a:prstGeom prst="rect">
            <a:avLst/>
          </a:prstGeom>
          <a:noFill/>
          <a:ln/>
        </p:spPr>
        <p:txBody>
          <a:bodyPr wrap="square" lIns="0" tIns="0" rIns="0" bIns="0" rtlCol="0" anchor="t"/>
          <a:lstStyle/>
          <a:p>
            <a:pPr algn="l" indent="0" marL="0">
              <a:buNone/>
            </a:pPr>
            <a:r>
              <a:rPr lang="en-US" sz="1600" spc="100" kern="0" dirty="0">
                <a:solidFill>
                  <a:srgbClr val="FAFAFA"/>
                </a:solidFill>
                <a:latin typeface="Michroma" pitchFamily="34" charset="0"/>
                <a:ea typeface="Michroma" pitchFamily="34" charset="-122"/>
                <a:cs typeface="Michroma" pitchFamily="34" charset="-120"/>
              </a:rPr>
              <a:t>WHAT NEUROFLY DOES AND WHY</a:t>
            </a:r>
            <a:endParaRPr lang="en-US" sz="1600" dirty="0"/>
          </a:p>
        </p:txBody>
      </p:sp>
      <p:sp>
        <p:nvSpPr>
          <p:cNvPr id="4" name="what-it-does"/>
          <p:cNvSpPr txBox="1"/>
          <p:nvPr/>
        </p:nvSpPr>
        <p:spPr>
          <a:xfrm>
            <a:off x="566928" y="1051560"/>
            <a:ext cx="8092440" cy="685800"/>
          </a:xfrm>
          <a:prstGeom prst="rect">
            <a:avLst/>
          </a:prstGeom>
          <a:noFill/>
          <a:ln/>
        </p:spPr>
        <p:txBody>
          <a:bodyPr wrap="square" lIns="0" tIns="0" rIns="0" bIns="0" rtlCol="0" anchor="t"/>
          <a:lstStyle/>
          <a:p>
            <a:pPr indent="0" marL="0">
              <a:buNone/>
            </a:pPr>
            <a:r>
              <a:rPr lang="en-US" sz="1600" dirty="0">
                <a:solidFill>
                  <a:srgbClr val="FAFAFA"/>
                </a:solidFill>
                <a:latin typeface="Roboto Light" pitchFamily="34" charset="0"/>
                <a:ea typeface="Roboto Light" pitchFamily="34" charset="-122"/>
                <a:cs typeface="Roboto Light" pitchFamily="34" charset="-120"/>
              </a:rPr>
              <a:t>A drone sees through two cameras. A fly-eye model passes the image into the </a:t>
            </a:r>
            <a:pPr indent="0" marL="0">
              <a:buNone/>
            </a:pPr>
            <a:r>
              <a:rPr lang="en-US" sz="1600" dirty="0">
                <a:solidFill>
                  <a:srgbClr val="FF2D6F"/>
                </a:solidFill>
                <a:latin typeface="Roboto Light" pitchFamily="34" charset="0"/>
                <a:ea typeface="Roboto Light" pitchFamily="34" charset="-122"/>
                <a:cs typeface="Roboto Light" pitchFamily="34" charset="-120"/>
              </a:rPr>
              <a:t>real wiring of a fruit fly's brain</a:t>
            </a:r>
            <a:pPr indent="0" marL="0">
              <a:buNone/>
            </a:pPr>
            <a:r>
              <a:rPr lang="en-US" sz="1600" dirty="0">
                <a:solidFill>
                  <a:srgbClr val="FAFAFA"/>
                </a:solidFill>
                <a:latin typeface="Roboto Light" pitchFamily="34" charset="0"/>
                <a:ea typeface="Roboto Light" pitchFamily="34" charset="-122"/>
                <a:cs typeface="Roboto Light" pitchFamily="34" charset="-120"/>
              </a:rPr>
              <a:t>, and the fly's own flight neurons decide where the drone turns.</a:t>
            </a:r>
            <a:endParaRPr lang="en-US" sz="1600" dirty="0"/>
          </a:p>
        </p:txBody>
      </p:sp>
      <p:sp>
        <p:nvSpPr>
          <p:cNvPr id="5" name="col-0"/>
          <p:cNvSpPr/>
          <p:nvPr/>
        </p:nvSpPr>
        <p:spPr>
          <a:xfrm>
            <a:off x="566928" y="1920240"/>
            <a:ext cx="3291840" cy="2148840"/>
          </a:xfrm>
          <a:prstGeom prst="rect">
            <a:avLst/>
          </a:prstGeom>
          <a:solidFill>
            <a:srgbClr val="18181B">
              <a:alpha val="88000"/>
            </a:srgbClr>
          </a:solidFill>
          <a:ln w="9525">
            <a:solidFill>
              <a:srgbClr val="3F3F46"/>
            </a:solidFill>
            <a:prstDash val="solid"/>
          </a:ln>
          <a:effectLst>
            <a:outerShdw sx="100000" sy="100000" kx="0" ky="0" algn="bl" rotWithShape="0" blurRad="228600" dist="76200" dir="5400000">
              <a:srgbClr val="000000">
                <a:alpha val="55000"/>
              </a:srgbClr>
            </a:outerShdw>
          </a:effectLst>
        </p:spPr>
      </p:sp>
      <p:sp>
        <p:nvSpPr>
          <p:cNvPr id="6" name="col-0-k"/>
          <p:cNvSpPr txBox="1"/>
          <p:nvPr/>
        </p:nvSpPr>
        <p:spPr>
          <a:xfrm>
            <a:off x="768096" y="2084832"/>
            <a:ext cx="2926080" cy="201168"/>
          </a:xfrm>
          <a:prstGeom prst="rect">
            <a:avLst/>
          </a:prstGeom>
          <a:noFill/>
          <a:ln/>
        </p:spPr>
        <p:txBody>
          <a:bodyPr wrap="square" lIns="0" tIns="0" rIns="0" bIns="0" rtlCol="0" anchor="t"/>
          <a:lstStyle/>
          <a:p>
            <a:pPr indent="0" marL="0">
              <a:buNone/>
            </a:pPr>
            <a:r>
              <a:rPr lang="en-US" sz="800" spc="500" kern="0" dirty="0">
                <a:solidFill>
                  <a:srgbClr val="FFB547"/>
                </a:solidFill>
              </a:rPr>
              <a:t>OUR PREMISES</a:t>
            </a:r>
            <a:endParaRPr lang="en-US" sz="800" dirty="0"/>
          </a:p>
        </p:txBody>
      </p:sp>
      <p:sp>
        <p:nvSpPr>
          <p:cNvPr id="7" name="col-0-0"/>
          <p:cNvSpPr txBox="1"/>
          <p:nvPr/>
        </p:nvSpPr>
        <p:spPr>
          <a:xfrm>
            <a:off x="768096" y="2377440"/>
            <a:ext cx="2907792" cy="502920"/>
          </a:xfrm>
          <a:prstGeom prst="rect">
            <a:avLst/>
          </a:prstGeom>
          <a:noFill/>
          <a:ln/>
        </p:spPr>
        <p:txBody>
          <a:bodyPr wrap="square" lIns="0" tIns="0" rIns="0" bIns="0" rtlCol="0" anchor="t"/>
          <a:lstStyle/>
          <a:p>
            <a:pPr indent="0" marL="0">
              <a:buNone/>
            </a:pPr>
            <a:r>
              <a:rPr lang="en-US" sz="1200" dirty="0">
                <a:solidFill>
                  <a:srgbClr val="FAFAFA"/>
                </a:solidFill>
              </a:rPr>
              <a:t>Only the real connectome: no invented neurons or connections</a:t>
            </a:r>
            <a:endParaRPr lang="en-US" sz="1200" dirty="0"/>
          </a:p>
        </p:txBody>
      </p:sp>
      <p:sp>
        <p:nvSpPr>
          <p:cNvPr id="8" name="col-0-1"/>
          <p:cNvSpPr txBox="1"/>
          <p:nvPr/>
        </p:nvSpPr>
        <p:spPr>
          <a:xfrm>
            <a:off x="768096" y="2926080"/>
            <a:ext cx="2907792" cy="502920"/>
          </a:xfrm>
          <a:prstGeom prst="rect">
            <a:avLst/>
          </a:prstGeom>
          <a:noFill/>
          <a:ln/>
        </p:spPr>
        <p:txBody>
          <a:bodyPr wrap="square" lIns="0" tIns="0" rIns="0" bIns="0" rtlCol="0" anchor="t"/>
          <a:lstStyle/>
          <a:p>
            <a:pPr indent="0" marL="0">
              <a:buNone/>
            </a:pPr>
            <a:r>
              <a:rPr lang="en-US" sz="1200" dirty="0">
                <a:solidFill>
                  <a:srgbClr val="FAFAFA"/>
                </a:solidFill>
              </a:rPr>
              <a:t>The brain is never trained; we only learn to read its flight neurons</a:t>
            </a:r>
            <a:endParaRPr lang="en-US" sz="1200" dirty="0"/>
          </a:p>
        </p:txBody>
      </p:sp>
      <p:sp>
        <p:nvSpPr>
          <p:cNvPr id="9" name="col-0-2"/>
          <p:cNvSpPr txBox="1"/>
          <p:nvPr/>
        </p:nvSpPr>
        <p:spPr>
          <a:xfrm>
            <a:off x="768096" y="3474720"/>
            <a:ext cx="2907792" cy="502920"/>
          </a:xfrm>
          <a:prstGeom prst="rect">
            <a:avLst/>
          </a:prstGeom>
          <a:noFill/>
          <a:ln/>
        </p:spPr>
        <p:txBody>
          <a:bodyPr wrap="square" lIns="0" tIns="0" rIns="0" bIns="0" rtlCol="0" anchor="t"/>
          <a:lstStyle/>
          <a:p>
            <a:pPr indent="0" marL="0">
              <a:buNone/>
            </a:pPr>
            <a:r>
              <a:rPr lang="en-US" sz="1200" dirty="0">
                <a:solidFill>
                  <a:srgbClr val="FAFAFA"/>
                </a:solidFill>
              </a:rPr>
              <a:t>The fly brain chooses where to turn; drone sensors only keep it level</a:t>
            </a:r>
            <a:endParaRPr lang="en-US" sz="1200" dirty="0"/>
          </a:p>
        </p:txBody>
      </p:sp>
      <p:sp>
        <p:nvSpPr>
          <p:cNvPr id="10" name="col-1"/>
          <p:cNvSpPr/>
          <p:nvPr/>
        </p:nvSpPr>
        <p:spPr>
          <a:xfrm>
            <a:off x="4023360" y="1920240"/>
            <a:ext cx="2377440" cy="2148840"/>
          </a:xfrm>
          <a:prstGeom prst="rect">
            <a:avLst/>
          </a:prstGeom>
          <a:solidFill>
            <a:srgbClr val="18181B">
              <a:alpha val="88000"/>
            </a:srgbClr>
          </a:solidFill>
          <a:ln w="9525">
            <a:solidFill>
              <a:srgbClr val="3F3F46"/>
            </a:solidFill>
            <a:prstDash val="solid"/>
          </a:ln>
          <a:effectLst>
            <a:outerShdw sx="100000" sy="100000" kx="0" ky="0" algn="bl" rotWithShape="0" blurRad="228600" dist="76200" dir="5400000">
              <a:srgbClr val="000000">
                <a:alpha val="55000"/>
              </a:srgbClr>
            </a:outerShdw>
          </a:effectLst>
        </p:spPr>
      </p:sp>
      <p:sp>
        <p:nvSpPr>
          <p:cNvPr id="11" name="col-1-k"/>
          <p:cNvSpPr txBox="1"/>
          <p:nvPr/>
        </p:nvSpPr>
        <p:spPr>
          <a:xfrm>
            <a:off x="4224528" y="2084832"/>
            <a:ext cx="2011680" cy="201168"/>
          </a:xfrm>
          <a:prstGeom prst="rect">
            <a:avLst/>
          </a:prstGeom>
          <a:noFill/>
          <a:ln/>
        </p:spPr>
        <p:txBody>
          <a:bodyPr wrap="square" lIns="0" tIns="0" rIns="0" bIns="0" rtlCol="0" anchor="t"/>
          <a:lstStyle/>
          <a:p>
            <a:pPr indent="0" marL="0">
              <a:buNone/>
            </a:pPr>
            <a:r>
              <a:rPr lang="en-US" sz="800" spc="500" kern="0" dirty="0">
                <a:solidFill>
                  <a:srgbClr val="FF4FB0"/>
                </a:solidFill>
              </a:rPr>
              <a:t>WHY</a:t>
            </a:r>
            <a:endParaRPr lang="en-US" sz="800" dirty="0"/>
          </a:p>
        </p:txBody>
      </p:sp>
      <p:sp>
        <p:nvSpPr>
          <p:cNvPr id="12" name="col-1-0"/>
          <p:cNvSpPr txBox="1"/>
          <p:nvPr/>
        </p:nvSpPr>
        <p:spPr>
          <a:xfrm>
            <a:off x="4224528" y="2377440"/>
            <a:ext cx="1993392" cy="502920"/>
          </a:xfrm>
          <a:prstGeom prst="rect">
            <a:avLst/>
          </a:prstGeom>
          <a:noFill/>
          <a:ln/>
        </p:spPr>
        <p:txBody>
          <a:bodyPr wrap="square" lIns="0" tIns="0" rIns="0" bIns="0" rtlCol="0" anchor="t"/>
          <a:lstStyle/>
          <a:p>
            <a:pPr indent="0" marL="0">
              <a:buNone/>
            </a:pPr>
            <a:r>
              <a:rPr lang="en-US" sz="1200" dirty="0">
                <a:solidFill>
                  <a:srgbClr val="FAFAFA"/>
                </a:solidFill>
              </a:rPr>
              <a:t>Test if a mapped brain can really drive a body</a:t>
            </a:r>
            <a:endParaRPr lang="en-US" sz="1200" dirty="0"/>
          </a:p>
        </p:txBody>
      </p:sp>
      <p:sp>
        <p:nvSpPr>
          <p:cNvPr id="13" name="col-1-1"/>
          <p:cNvSpPr txBox="1"/>
          <p:nvPr/>
        </p:nvSpPr>
        <p:spPr>
          <a:xfrm>
            <a:off x="4224528" y="2926080"/>
            <a:ext cx="1993392" cy="502920"/>
          </a:xfrm>
          <a:prstGeom prst="rect">
            <a:avLst/>
          </a:prstGeom>
          <a:noFill/>
          <a:ln/>
        </p:spPr>
        <p:txBody>
          <a:bodyPr wrap="square" lIns="0" tIns="0" rIns="0" bIns="0" rtlCol="0" anchor="t"/>
          <a:lstStyle/>
          <a:p>
            <a:pPr indent="0" marL="0">
              <a:buNone/>
            </a:pPr>
            <a:r>
              <a:rPr lang="en-US" sz="1200" dirty="0">
                <a:solidFill>
                  <a:srgbClr val="FAFAFA"/>
                </a:solidFill>
              </a:rPr>
              <a:t>See which neurons carry the decision</a:t>
            </a:r>
            <a:endParaRPr lang="en-US" sz="1200" dirty="0"/>
          </a:p>
        </p:txBody>
      </p:sp>
      <p:sp>
        <p:nvSpPr>
          <p:cNvPr id="14" name="col-1-2"/>
          <p:cNvSpPr txBox="1"/>
          <p:nvPr/>
        </p:nvSpPr>
        <p:spPr>
          <a:xfrm>
            <a:off x="4224528" y="3474720"/>
            <a:ext cx="1993392" cy="502920"/>
          </a:xfrm>
          <a:prstGeom prst="rect">
            <a:avLst/>
          </a:prstGeom>
          <a:noFill/>
          <a:ln/>
        </p:spPr>
        <p:txBody>
          <a:bodyPr wrap="square" lIns="0" tIns="0" rIns="0" bIns="0" rtlCol="0" anchor="t"/>
          <a:lstStyle/>
          <a:p>
            <a:pPr indent="0" marL="0">
              <a:buNone/>
            </a:pPr>
            <a:r>
              <a:rPr lang="en-US" sz="1200" dirty="0">
                <a:solidFill>
                  <a:srgbClr val="FAFAFA"/>
                </a:solidFill>
              </a:rPr>
              <a:t>A path to small drones guided by vision</a:t>
            </a:r>
            <a:endParaRPr lang="en-US" sz="1200" dirty="0"/>
          </a:p>
        </p:txBody>
      </p:sp>
      <p:sp>
        <p:nvSpPr>
          <p:cNvPr id="15" name="rule-card"/>
          <p:cNvSpPr/>
          <p:nvPr/>
        </p:nvSpPr>
        <p:spPr>
          <a:xfrm>
            <a:off x="6583680" y="1920240"/>
            <a:ext cx="2103120" cy="2148840"/>
          </a:xfrm>
          <a:prstGeom prst="rect">
            <a:avLst/>
          </a:prstGeom>
          <a:solidFill>
            <a:srgbClr val="18181B">
              <a:alpha val="88000"/>
            </a:srgbClr>
          </a:solidFill>
          <a:ln w="9525">
            <a:solidFill>
              <a:srgbClr val="FF2D6F"/>
            </a:solidFill>
            <a:prstDash val="solid"/>
          </a:ln>
          <a:effectLst>
            <a:outerShdw sx="100000" sy="100000" kx="0" ky="0" algn="bl" rotWithShape="0" blurRad="228600" dist="76200" dir="5400000">
              <a:srgbClr val="000000">
                <a:alpha val="55000"/>
              </a:srgbClr>
            </a:outerShdw>
          </a:effectLst>
        </p:spPr>
      </p:sp>
      <p:sp>
        <p:nvSpPr>
          <p:cNvPr id="16" name="rule-k"/>
          <p:cNvSpPr txBox="1"/>
          <p:nvPr/>
        </p:nvSpPr>
        <p:spPr>
          <a:xfrm>
            <a:off x="6766560" y="2084832"/>
            <a:ext cx="1828800" cy="201168"/>
          </a:xfrm>
          <a:prstGeom prst="rect">
            <a:avLst/>
          </a:prstGeom>
          <a:noFill/>
          <a:ln/>
        </p:spPr>
        <p:txBody>
          <a:bodyPr wrap="square" lIns="0" tIns="0" rIns="0" bIns="0" rtlCol="0" anchor="t"/>
          <a:lstStyle/>
          <a:p>
            <a:pPr indent="0" marL="0">
              <a:buNone/>
            </a:pPr>
            <a:r>
              <a:rPr lang="en-US" sz="800" spc="500" kern="0" dirty="0">
                <a:solidFill>
                  <a:srgbClr val="FF2D6F"/>
                </a:solidFill>
              </a:rPr>
              <a:t>OUR RULE NO. 1</a:t>
            </a:r>
            <a:endParaRPr lang="en-US" sz="800" dirty="0"/>
          </a:p>
        </p:txBody>
      </p:sp>
      <p:sp>
        <p:nvSpPr>
          <p:cNvPr id="17" name="rule-h"/>
          <p:cNvSpPr txBox="1"/>
          <p:nvPr/>
        </p:nvSpPr>
        <p:spPr>
          <a:xfrm>
            <a:off x="6766560" y="2304288"/>
            <a:ext cx="1783080" cy="457200"/>
          </a:xfrm>
          <a:prstGeom prst="rect">
            <a:avLst/>
          </a:prstGeom>
          <a:noFill/>
          <a:ln/>
        </p:spPr>
        <p:txBody>
          <a:bodyPr wrap="square" lIns="0" tIns="0" rIns="0" bIns="0" rtlCol="0" anchor="t"/>
          <a:lstStyle/>
          <a:p>
            <a:pPr indent="0" marL="0">
              <a:buNone/>
            </a:pPr>
            <a:r>
              <a:rPr lang="en-US" sz="1200" b="1" dirty="0">
                <a:solidFill>
                  <a:srgbClr val="FAFAFA"/>
                </a:solidFill>
              </a:rPr>
              <a:t>The connectome makes the key decision</a:t>
            </a:r>
            <a:endParaRPr lang="en-US" sz="1200" dirty="0"/>
          </a:p>
        </p:txBody>
      </p:sp>
      <p:sp>
        <p:nvSpPr>
          <p:cNvPr id="18" name="rule-s-value"/>
          <p:cNvSpPr txBox="1"/>
          <p:nvPr/>
        </p:nvSpPr>
        <p:spPr>
          <a:xfrm>
            <a:off x="6766560" y="2788920"/>
            <a:ext cx="1783080" cy="548640"/>
          </a:xfrm>
          <a:prstGeom prst="rect">
            <a:avLst/>
          </a:prstGeom>
          <a:noFill/>
          <a:ln/>
        </p:spPr>
        <p:txBody>
          <a:bodyPr wrap="square" lIns="0" tIns="0" rIns="0" bIns="0" rtlCol="0" anchor="t"/>
          <a:lstStyle/>
          <a:p>
            <a:pPr indent="0" marL="0">
              <a:buNone/>
            </a:pPr>
            <a:r>
              <a:rPr lang="en-US" sz="2600" dirty="0">
                <a:solidFill>
                  <a:srgbClr val="FF2D6F"/>
                </a:solidFill>
                <a:latin typeface="Roboto Light" pitchFamily="34" charset="0"/>
                <a:ea typeface="Roboto Light" pitchFamily="34" charset="-122"/>
                <a:cs typeface="Roboto Light" pitchFamily="34" charset="-120"/>
              </a:rPr>
              <a:t>100%</a:t>
            </a:r>
            <a:endParaRPr lang="en-US" sz="2600" dirty="0"/>
          </a:p>
        </p:txBody>
      </p:sp>
      <p:sp>
        <p:nvSpPr>
          <p:cNvPr id="19" name="rule-s-label"/>
          <p:cNvSpPr txBox="1"/>
          <p:nvPr/>
        </p:nvSpPr>
        <p:spPr>
          <a:xfrm>
            <a:off x="6766560" y="3355848"/>
            <a:ext cx="1783080" cy="457200"/>
          </a:xfrm>
          <a:prstGeom prst="rect">
            <a:avLst/>
          </a:prstGeom>
          <a:noFill/>
          <a:ln/>
        </p:spPr>
        <p:txBody>
          <a:bodyPr wrap="square" lIns="0" tIns="0" rIns="0" bIns="0" rtlCol="0" anchor="t"/>
          <a:lstStyle/>
          <a:p>
            <a:pPr indent="0" marL="0">
              <a:buNone/>
            </a:pPr>
            <a:r>
              <a:rPr lang="en-US" sz="1200" dirty="0">
                <a:solidFill>
                  <a:srgbClr val="A1A1AA"/>
                </a:solidFill>
              </a:rPr>
              <a:t>of the heading near the target comes from fly neurons</a:t>
            </a:r>
            <a:endParaRPr lang="en-US" sz="1200" dirty="0"/>
          </a:p>
        </p:txBody>
      </p:sp>
      <p:sp>
        <p:nvSpPr>
          <p:cNvPr id="20" name="glossary-0"/>
          <p:cNvSpPr txBox="1"/>
          <p:nvPr/>
        </p:nvSpPr>
        <p:spPr>
          <a:xfrm>
            <a:off x="566928" y="4206240"/>
            <a:ext cx="4053840" cy="411480"/>
          </a:xfrm>
          <a:prstGeom prst="rect">
            <a:avLst/>
          </a:prstGeom>
          <a:noFill/>
          <a:ln/>
        </p:spPr>
        <p:txBody>
          <a:bodyPr wrap="square" lIns="0" tIns="0" rIns="0" bIns="0" rtlCol="0" anchor="t"/>
          <a:lstStyle/>
          <a:p>
            <a:pPr indent="0" marL="0">
              <a:buNone/>
            </a:pPr>
            <a:r>
              <a:rPr lang="en-US" sz="900" b="1" dirty="0">
                <a:solidFill>
                  <a:srgbClr val="A1A1AA"/>
                </a:solidFill>
              </a:rPr>
              <a:t>Connectome:</a:t>
            </a:r>
            <a:pPr indent="0" marL="0">
              <a:buNone/>
            </a:pPr>
            <a:r>
              <a:rPr lang="en-US" sz="900" dirty="0">
                <a:solidFill>
                  <a:srgbClr val="71717A"/>
                </a:solidFill>
              </a:rPr>
              <a:t> the complete wiring diagram of a nervous system, every neuron and synapse</a:t>
            </a:r>
            <a:endParaRPr lang="en-US" sz="900" dirty="0"/>
          </a:p>
        </p:txBody>
      </p:sp>
      <p:sp>
        <p:nvSpPr>
          <p:cNvPr id="21" name="glossary-1"/>
          <p:cNvSpPr txBox="1"/>
          <p:nvPr/>
        </p:nvSpPr>
        <p:spPr>
          <a:xfrm>
            <a:off x="4895088" y="4206240"/>
            <a:ext cx="3764280" cy="411480"/>
          </a:xfrm>
          <a:prstGeom prst="rect">
            <a:avLst/>
          </a:prstGeom>
          <a:noFill/>
          <a:ln/>
        </p:spPr>
        <p:txBody>
          <a:bodyPr wrap="square" lIns="0" tIns="0" rIns="0" bIns="0" rtlCol="0" anchor="t"/>
          <a:lstStyle/>
          <a:p>
            <a:pPr indent="0" marL="0">
              <a:buNone/>
            </a:pPr>
            <a:r>
              <a:rPr lang="en-US" sz="900" b="1" dirty="0">
                <a:solidFill>
                  <a:srgbClr val="A1A1AA"/>
                </a:solidFill>
              </a:rPr>
              <a:t>Flight neurons:</a:t>
            </a:r>
            <a:pPr indent="0" marL="0">
              <a:buNone/>
            </a:pPr>
            <a:r>
              <a:rPr lang="en-US" sz="900" dirty="0">
                <a:solidFill>
                  <a:srgbClr val="71717A"/>
                </a:solidFill>
              </a:rPr>
              <a:t> neurons that carry flight commands from the brain to the wings</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1A1A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IDEA</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HOW IT WORKS: ONE LOOP, 8 STEPS</a:t>
            </a:r>
            <a:endParaRPr lang="en-US" sz="1600" dirty="0"/>
          </a:p>
        </p:txBody>
      </p:sp>
      <p:sp>
        <p:nvSpPr>
          <p:cNvPr id="4" name="node-0"/>
          <p:cNvSpPr/>
          <p:nvPr/>
        </p:nvSpPr>
        <p:spPr>
          <a:xfrm>
            <a:off x="502920" y="1005840"/>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pic>
        <p:nvPicPr>
          <p:cNvPr id="5" name="node-0-img" descr="C:\NeuroFly\docs\prezentacja\assets\eye_right.jpg"/>
          <p:cNvPicPr>
            <a:picLocks noChangeAspect="1"/>
          </p:cNvPicPr>
          <p:nvPr/>
        </p:nvPicPr>
        <p:blipFill>
          <a:blip r:embed="rId3"/>
          <a:srcRect/>
          <a:stretch/>
        </p:blipFill>
        <p:spPr>
          <a:xfrm>
            <a:off x="566928" y="1069848"/>
            <a:ext cx="1655064" cy="694944"/>
          </a:xfrm>
          <a:prstGeom prst="rect">
            <a:avLst/>
          </a:prstGeom>
        </p:spPr>
      </p:pic>
      <p:sp>
        <p:nvSpPr>
          <p:cNvPr id="6" name="node-0-title"/>
          <p:cNvSpPr txBox="1"/>
          <p:nvPr/>
        </p:nvSpPr>
        <p:spPr>
          <a:xfrm>
            <a:off x="630936" y="1828800"/>
            <a:ext cx="1563624" cy="256032"/>
          </a:xfrm>
          <a:prstGeom prst="rect">
            <a:avLst/>
          </a:prstGeom>
          <a:noFill/>
          <a:ln/>
        </p:spPr>
        <p:txBody>
          <a:bodyPr wrap="square" lIns="0" tIns="0" rIns="0" bIns="0" rtlCol="0" anchor="t"/>
          <a:lstStyle/>
          <a:p>
            <a:pPr marL="0" indent="0">
              <a:buNone/>
            </a:pPr>
            <a:r>
              <a:rPr lang="en-US" sz="1100" dirty="0">
                <a:solidFill>
                  <a:srgbClr val="2FD3C4"/>
                </a:solidFill>
                <a:latin typeface="Michroma" pitchFamily="34" charset="0"/>
                <a:ea typeface="Michroma" pitchFamily="34" charset="-122"/>
                <a:cs typeface="Michroma" pitchFamily="34" charset="-120"/>
              </a:rPr>
              <a:t>1  </a:t>
            </a:r>
            <a:r>
              <a:rPr lang="en-US" sz="1300" b="1" dirty="0">
                <a:solidFill>
                  <a:srgbClr val="FAFAFA"/>
                </a:solidFill>
              </a:rPr>
              <a:t>Camera</a:t>
            </a:r>
            <a:endParaRPr lang="en-US" sz="1300" dirty="0"/>
          </a:p>
        </p:txBody>
      </p:sp>
      <p:sp>
        <p:nvSpPr>
          <p:cNvPr id="7" name="node-0-desc"/>
          <p:cNvSpPr txBox="1"/>
          <p:nvPr/>
        </p:nvSpPr>
        <p:spPr>
          <a:xfrm>
            <a:off x="630936" y="2084832"/>
            <a:ext cx="1563624" cy="256032"/>
          </a:xfrm>
          <a:prstGeom prst="rect">
            <a:avLst/>
          </a:prstGeom>
          <a:noFill/>
          <a:ln/>
        </p:spPr>
        <p:txBody>
          <a:bodyPr wrap="square" lIns="0" tIns="0" rIns="0" bIns="0" rtlCol="0" anchor="t"/>
          <a:lstStyle/>
          <a:p>
            <a:pPr marL="0" indent="0">
              <a:buNone/>
            </a:pPr>
            <a:r>
              <a:rPr lang="en-US" sz="1000" dirty="0">
                <a:solidFill>
                  <a:srgbClr val="A1A1AA"/>
                </a:solidFill>
              </a:rPr>
              <a:t>2 eyes, 157° view each</a:t>
            </a:r>
            <a:endParaRPr lang="en-US" sz="1000" dirty="0"/>
          </a:p>
        </p:txBody>
      </p:sp>
      <p:sp>
        <p:nvSpPr>
          <p:cNvPr id="8" name="node-1"/>
          <p:cNvSpPr/>
          <p:nvPr/>
        </p:nvSpPr>
        <p:spPr>
          <a:xfrm>
            <a:off x="2606040" y="1005840"/>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pic>
        <p:nvPicPr>
          <p:cNvPr id="9" name="node-1-img" descr="C:\NeuroFly\docs\prezentacja\assets\retina_right.jpg"/>
          <p:cNvPicPr>
            <a:picLocks noChangeAspect="1"/>
          </p:cNvPicPr>
          <p:nvPr/>
        </p:nvPicPr>
        <p:blipFill>
          <a:blip r:embed="rId4"/>
          <a:srcRect/>
          <a:stretch/>
        </p:blipFill>
        <p:spPr>
          <a:xfrm>
            <a:off x="2670048" y="1069848"/>
            <a:ext cx="1655064" cy="694944"/>
          </a:xfrm>
          <a:prstGeom prst="rect">
            <a:avLst/>
          </a:prstGeom>
        </p:spPr>
      </p:pic>
      <p:sp>
        <p:nvSpPr>
          <p:cNvPr id="10" name="node-1-title"/>
          <p:cNvSpPr txBox="1"/>
          <p:nvPr/>
        </p:nvSpPr>
        <p:spPr>
          <a:xfrm>
            <a:off x="2734056" y="1828800"/>
            <a:ext cx="1563624" cy="256032"/>
          </a:xfrm>
          <a:prstGeom prst="rect">
            <a:avLst/>
          </a:prstGeom>
          <a:noFill/>
          <a:ln/>
        </p:spPr>
        <p:txBody>
          <a:bodyPr wrap="square" lIns="0" tIns="0" rIns="0" bIns="0" rtlCol="0" anchor="t"/>
          <a:lstStyle/>
          <a:p>
            <a:pPr marL="0" indent="0">
              <a:buNone/>
            </a:pPr>
            <a:r>
              <a:rPr lang="en-US" sz="1100" dirty="0">
                <a:solidFill>
                  <a:srgbClr val="2FD3C4"/>
                </a:solidFill>
                <a:latin typeface="Michroma" pitchFamily="34" charset="0"/>
                <a:ea typeface="Michroma" pitchFamily="34" charset="-122"/>
                <a:cs typeface="Michroma" pitchFamily="34" charset="-120"/>
              </a:rPr>
              <a:t>2  </a:t>
            </a:r>
            <a:r>
              <a:rPr lang="en-US" sz="1300" b="1" dirty="0">
                <a:solidFill>
                  <a:srgbClr val="FAFAFA"/>
                </a:solidFill>
              </a:rPr>
              <a:t>Retina</a:t>
            </a:r>
            <a:endParaRPr lang="en-US" sz="1300" dirty="0"/>
          </a:p>
        </p:txBody>
      </p:sp>
      <p:sp>
        <p:nvSpPr>
          <p:cNvPr id="11" name="node-1-desc"/>
          <p:cNvSpPr txBox="1"/>
          <p:nvPr/>
        </p:nvSpPr>
        <p:spPr>
          <a:xfrm>
            <a:off x="2734056" y="2084832"/>
            <a:ext cx="1563624" cy="256032"/>
          </a:xfrm>
          <a:prstGeom prst="rect">
            <a:avLst/>
          </a:prstGeom>
          <a:noFill/>
          <a:ln/>
        </p:spPr>
        <p:txBody>
          <a:bodyPr wrap="square" lIns="0" tIns="0" rIns="0" bIns="0" rtlCol="0" anchor="t"/>
          <a:lstStyle/>
          <a:p>
            <a:pPr marL="0" indent="0">
              <a:buNone/>
            </a:pPr>
            <a:r>
              <a:rPr lang="en-US" sz="1000" dirty="0">
                <a:solidFill>
                  <a:srgbClr val="A1A1AA"/>
                </a:solidFill>
              </a:rPr>
              <a:t>721 facets per eye</a:t>
            </a:r>
            <a:endParaRPr lang="en-US" sz="1000" dirty="0"/>
          </a:p>
        </p:txBody>
      </p:sp>
      <p:sp>
        <p:nvSpPr>
          <p:cNvPr id="12" name="node-2"/>
          <p:cNvSpPr/>
          <p:nvPr/>
        </p:nvSpPr>
        <p:spPr>
          <a:xfrm>
            <a:off x="4709160" y="1005840"/>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pic>
        <p:nvPicPr>
          <p:cNvPr id="13" name="node-2-img" descr="C:\NeuroFly\docs\prezentacja\assets\thumb_flyvis.jpg"/>
          <p:cNvPicPr>
            <a:picLocks noChangeAspect="1"/>
          </p:cNvPicPr>
          <p:nvPr/>
        </p:nvPicPr>
        <p:blipFill>
          <a:blip r:embed="rId5"/>
          <a:srcRect/>
          <a:stretch/>
        </p:blipFill>
        <p:spPr>
          <a:xfrm>
            <a:off x="4773168" y="1069848"/>
            <a:ext cx="1655064" cy="694944"/>
          </a:xfrm>
          <a:prstGeom prst="rect">
            <a:avLst/>
          </a:prstGeom>
        </p:spPr>
      </p:pic>
      <p:sp>
        <p:nvSpPr>
          <p:cNvPr id="14" name="node-2-title"/>
          <p:cNvSpPr txBox="1"/>
          <p:nvPr/>
        </p:nvSpPr>
        <p:spPr>
          <a:xfrm>
            <a:off x="4837176" y="1828800"/>
            <a:ext cx="1563624" cy="256032"/>
          </a:xfrm>
          <a:prstGeom prst="rect">
            <a:avLst/>
          </a:prstGeom>
          <a:noFill/>
          <a:ln/>
        </p:spPr>
        <p:txBody>
          <a:bodyPr wrap="square" lIns="0" tIns="0" rIns="0" bIns="0" rtlCol="0" anchor="t"/>
          <a:lstStyle/>
          <a:p>
            <a:pPr marL="0" indent="0">
              <a:buNone/>
            </a:pPr>
            <a:r>
              <a:rPr lang="en-US" sz="1100" dirty="0">
                <a:solidFill>
                  <a:srgbClr val="2FD3C4"/>
                </a:solidFill>
                <a:latin typeface="Michroma" pitchFamily="34" charset="0"/>
                <a:ea typeface="Michroma" pitchFamily="34" charset="-122"/>
                <a:cs typeface="Michroma" pitchFamily="34" charset="-120"/>
              </a:rPr>
              <a:t>3  </a:t>
            </a:r>
            <a:r>
              <a:rPr lang="en-US" sz="1300" b="1" dirty="0">
                <a:solidFill>
                  <a:srgbClr val="FAFAFA"/>
                </a:solidFill>
              </a:rPr>
              <a:t>FlyVis</a:t>
            </a:r>
            <a:endParaRPr lang="en-US" sz="1300" dirty="0"/>
          </a:p>
        </p:txBody>
      </p:sp>
      <p:sp>
        <p:nvSpPr>
          <p:cNvPr id="15" name="node-2-desc"/>
          <p:cNvSpPr txBox="1"/>
          <p:nvPr/>
        </p:nvSpPr>
        <p:spPr>
          <a:xfrm>
            <a:off x="4837176" y="2084832"/>
            <a:ext cx="1563624" cy="256032"/>
          </a:xfrm>
          <a:prstGeom prst="rect">
            <a:avLst/>
          </a:prstGeom>
          <a:noFill/>
          <a:ln/>
        </p:spPr>
        <p:txBody>
          <a:bodyPr wrap="square" lIns="0" tIns="0" rIns="0" bIns="0" rtlCol="0" anchor="t"/>
          <a:lstStyle/>
          <a:p>
            <a:pPr marL="0" indent="0">
              <a:buNone/>
            </a:pPr>
            <a:r>
              <a:rPr lang="en-US" sz="1000" dirty="0">
                <a:solidFill>
                  <a:srgbClr val="A1A1AA"/>
                </a:solidFill>
              </a:rPr>
              <a:t>fly vision model</a:t>
            </a:r>
            <a:endParaRPr lang="en-US" sz="1000" dirty="0"/>
          </a:p>
        </p:txBody>
      </p:sp>
      <p:sp>
        <p:nvSpPr>
          <p:cNvPr id="16" name="node-3"/>
          <p:cNvSpPr/>
          <p:nvPr/>
        </p:nvSpPr>
        <p:spPr>
          <a:xfrm>
            <a:off x="6812280" y="1005840"/>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pic>
        <p:nvPicPr>
          <p:cNvPr id="17" name="node-3-img" descr="C:\NeuroFly\docs\prezentacja\assets\thumb_map.jpg"/>
          <p:cNvPicPr>
            <a:picLocks noChangeAspect="1"/>
          </p:cNvPicPr>
          <p:nvPr/>
        </p:nvPicPr>
        <p:blipFill>
          <a:blip r:embed="rId6"/>
          <a:srcRect/>
          <a:stretch/>
        </p:blipFill>
        <p:spPr>
          <a:xfrm>
            <a:off x="6876288" y="1069848"/>
            <a:ext cx="1655064" cy="694944"/>
          </a:xfrm>
          <a:prstGeom prst="rect">
            <a:avLst/>
          </a:prstGeom>
        </p:spPr>
      </p:pic>
      <p:sp>
        <p:nvSpPr>
          <p:cNvPr id="18" name="node-3-title"/>
          <p:cNvSpPr txBox="1"/>
          <p:nvPr/>
        </p:nvSpPr>
        <p:spPr>
          <a:xfrm>
            <a:off x="6940296" y="1828800"/>
            <a:ext cx="1563624" cy="256032"/>
          </a:xfrm>
          <a:prstGeom prst="rect">
            <a:avLst/>
          </a:prstGeom>
          <a:noFill/>
          <a:ln/>
        </p:spPr>
        <p:txBody>
          <a:bodyPr wrap="square" lIns="0" tIns="0" rIns="0" bIns="0" rtlCol="0" anchor="t"/>
          <a:lstStyle/>
          <a:p>
            <a:pPr marL="0" indent="0">
              <a:buNone/>
            </a:pPr>
            <a:r>
              <a:rPr lang="en-US" sz="1100" dirty="0">
                <a:solidFill>
                  <a:srgbClr val="2FD3C4"/>
                </a:solidFill>
                <a:latin typeface="Michroma" pitchFamily="34" charset="0"/>
                <a:ea typeface="Michroma" pitchFamily="34" charset="-122"/>
                <a:cs typeface="Michroma" pitchFamily="34" charset="-120"/>
              </a:rPr>
              <a:t>4  </a:t>
            </a:r>
            <a:r>
              <a:rPr lang="en-US" sz="1300" b="1" dirty="0">
                <a:solidFill>
                  <a:srgbClr val="FAFAFA"/>
                </a:solidFill>
              </a:rPr>
              <a:t>Into the brain</a:t>
            </a:r>
            <a:endParaRPr lang="en-US" sz="1300" dirty="0"/>
          </a:p>
        </p:txBody>
      </p:sp>
      <p:sp>
        <p:nvSpPr>
          <p:cNvPr id="19" name="node-3-desc"/>
          <p:cNvSpPr txBox="1"/>
          <p:nvPr/>
        </p:nvSpPr>
        <p:spPr>
          <a:xfrm>
            <a:off x="6940296" y="2084832"/>
            <a:ext cx="1563624" cy="256032"/>
          </a:xfrm>
          <a:prstGeom prst="rect">
            <a:avLst/>
          </a:prstGeom>
          <a:noFill/>
          <a:ln/>
        </p:spPr>
        <p:txBody>
          <a:bodyPr wrap="square" lIns="0" tIns="0" rIns="0" bIns="0" rtlCol="0" anchor="t"/>
          <a:lstStyle/>
          <a:p>
            <a:pPr marL="0" indent="0">
              <a:buNone/>
            </a:pPr>
            <a:r>
              <a:rPr lang="en-US" sz="1000" dirty="0">
                <a:solidFill>
                  <a:srgbClr val="A1A1AA"/>
                </a:solidFill>
              </a:rPr>
              <a:t>22,462 neurons get input</a:t>
            </a:r>
            <a:endParaRPr lang="en-US" sz="1000" dirty="0"/>
          </a:p>
        </p:txBody>
      </p:sp>
      <p:sp>
        <p:nvSpPr>
          <p:cNvPr id="20" name="node-4"/>
          <p:cNvSpPr/>
          <p:nvPr/>
        </p:nvSpPr>
        <p:spPr>
          <a:xfrm>
            <a:off x="502920" y="2670048"/>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pic>
        <p:nvPicPr>
          <p:cNvPr id="21" name="node-4-img" descr="C:\NeuroFly\docs\prezentacja\assets\thumb_wiring.jpg"/>
          <p:cNvPicPr>
            <a:picLocks noChangeAspect="1"/>
          </p:cNvPicPr>
          <p:nvPr/>
        </p:nvPicPr>
        <p:blipFill>
          <a:blip r:embed="rId7"/>
          <a:srcRect/>
          <a:stretch/>
        </p:blipFill>
        <p:spPr>
          <a:xfrm>
            <a:off x="566928" y="2734056"/>
            <a:ext cx="1655064" cy="694944"/>
          </a:xfrm>
          <a:prstGeom prst="rect">
            <a:avLst/>
          </a:prstGeom>
        </p:spPr>
      </p:pic>
      <p:sp>
        <p:nvSpPr>
          <p:cNvPr id="22" name="node-4-title"/>
          <p:cNvSpPr txBox="1"/>
          <p:nvPr/>
        </p:nvSpPr>
        <p:spPr>
          <a:xfrm>
            <a:off x="630936" y="3493008"/>
            <a:ext cx="1563624" cy="256032"/>
          </a:xfrm>
          <a:prstGeom prst="rect">
            <a:avLst/>
          </a:prstGeom>
          <a:noFill/>
          <a:ln/>
        </p:spPr>
        <p:txBody>
          <a:bodyPr wrap="square" lIns="0" tIns="0" rIns="0" bIns="0" rtlCol="0" anchor="t"/>
          <a:lstStyle/>
          <a:p>
            <a:pPr marL="0" indent="0">
              <a:buNone/>
            </a:pPr>
            <a:r>
              <a:rPr lang="en-US" sz="1100" dirty="0">
                <a:solidFill>
                  <a:srgbClr val="FFB547"/>
                </a:solidFill>
                <a:latin typeface="Michroma" pitchFamily="34" charset="0"/>
                <a:ea typeface="Michroma" pitchFamily="34" charset="-122"/>
                <a:cs typeface="Michroma" pitchFamily="34" charset="-120"/>
              </a:rPr>
              <a:t>5  </a:t>
            </a:r>
            <a:r>
              <a:rPr lang="en-US" sz="1300" b="1" dirty="0">
                <a:solidFill>
                  <a:srgbClr val="FAFAFA"/>
                </a:solidFill>
              </a:rPr>
              <a:t>Fly brain</a:t>
            </a:r>
            <a:endParaRPr lang="en-US" sz="1300" dirty="0"/>
          </a:p>
        </p:txBody>
      </p:sp>
      <p:sp>
        <p:nvSpPr>
          <p:cNvPr id="23" name="node-4-desc"/>
          <p:cNvSpPr txBox="1"/>
          <p:nvPr/>
        </p:nvSpPr>
        <p:spPr>
          <a:xfrm>
            <a:off x="630936" y="3749040"/>
            <a:ext cx="1563624" cy="256032"/>
          </a:xfrm>
          <a:prstGeom prst="rect">
            <a:avLst/>
          </a:prstGeom>
          <a:noFill/>
          <a:ln/>
        </p:spPr>
        <p:txBody>
          <a:bodyPr wrap="square" lIns="0" tIns="0" rIns="0" bIns="0" rtlCol="0" anchor="t"/>
          <a:lstStyle/>
          <a:p>
            <a:pPr marL="0" indent="0">
              <a:buNone/>
            </a:pPr>
            <a:r>
              <a:rPr lang="en-US" sz="1000" dirty="0">
                <a:solidFill>
                  <a:srgbClr val="A1A1AA"/>
                </a:solidFill>
              </a:rPr>
              <a:t>175,401 neurons</a:t>
            </a:r>
            <a:endParaRPr lang="en-US" sz="1000" dirty="0"/>
          </a:p>
        </p:txBody>
      </p:sp>
      <p:sp>
        <p:nvSpPr>
          <p:cNvPr id="24" name="node-5"/>
          <p:cNvSpPr/>
          <p:nvPr/>
        </p:nvSpPr>
        <p:spPr>
          <a:xfrm>
            <a:off x="2606040" y="2670048"/>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pic>
        <p:nvPicPr>
          <p:cNvPr id="25" name="node-5-img" descr="C:\NeuroFly\docs\prezentacja\assets\thumb_circuit.jpg"/>
          <p:cNvPicPr>
            <a:picLocks noChangeAspect="1"/>
          </p:cNvPicPr>
          <p:nvPr/>
        </p:nvPicPr>
        <p:blipFill>
          <a:blip r:embed="rId8"/>
          <a:srcRect/>
          <a:stretch/>
        </p:blipFill>
        <p:spPr>
          <a:xfrm>
            <a:off x="2670048" y="2734056"/>
            <a:ext cx="1655064" cy="694944"/>
          </a:xfrm>
          <a:prstGeom prst="rect">
            <a:avLst/>
          </a:prstGeom>
        </p:spPr>
      </p:pic>
      <p:sp>
        <p:nvSpPr>
          <p:cNvPr id="26" name="node-5-title"/>
          <p:cNvSpPr txBox="1"/>
          <p:nvPr/>
        </p:nvSpPr>
        <p:spPr>
          <a:xfrm>
            <a:off x="2734056" y="3493008"/>
            <a:ext cx="1563624" cy="256032"/>
          </a:xfrm>
          <a:prstGeom prst="rect">
            <a:avLst/>
          </a:prstGeom>
          <a:noFill/>
          <a:ln/>
        </p:spPr>
        <p:txBody>
          <a:bodyPr wrap="square" lIns="0" tIns="0" rIns="0" bIns="0" rtlCol="0" anchor="t"/>
          <a:lstStyle/>
          <a:p>
            <a:pPr marL="0" indent="0">
              <a:buNone/>
            </a:pPr>
            <a:r>
              <a:rPr lang="en-US" sz="1100" dirty="0">
                <a:solidFill>
                  <a:srgbClr val="FF4FB0"/>
                </a:solidFill>
                <a:latin typeface="Michroma" pitchFamily="34" charset="0"/>
                <a:ea typeface="Michroma" pitchFamily="34" charset="-122"/>
                <a:cs typeface="Michroma" pitchFamily="34" charset="-120"/>
              </a:rPr>
              <a:t>6  </a:t>
            </a:r>
            <a:r>
              <a:rPr lang="en-US" sz="1300" b="1" dirty="0">
                <a:solidFill>
                  <a:srgbClr val="FAFAFA"/>
                </a:solidFill>
              </a:rPr>
              <a:t>Flight neurons</a:t>
            </a:r>
            <a:endParaRPr lang="en-US" sz="1300" dirty="0"/>
          </a:p>
        </p:txBody>
      </p:sp>
      <p:sp>
        <p:nvSpPr>
          <p:cNvPr id="27" name="node-5-desc"/>
          <p:cNvSpPr txBox="1"/>
          <p:nvPr/>
        </p:nvSpPr>
        <p:spPr>
          <a:xfrm>
            <a:off x="2734056" y="3749040"/>
            <a:ext cx="1563624" cy="256032"/>
          </a:xfrm>
          <a:prstGeom prst="rect">
            <a:avLst/>
          </a:prstGeom>
          <a:noFill/>
          <a:ln/>
        </p:spPr>
        <p:txBody>
          <a:bodyPr wrap="square" lIns="0" tIns="0" rIns="0" bIns="0" rtlCol="0" anchor="t"/>
          <a:lstStyle/>
          <a:p>
            <a:pPr marL="0" indent="0">
              <a:buNone/>
            </a:pPr>
            <a:r>
              <a:rPr lang="en-US" sz="1000" dirty="0">
                <a:solidFill>
                  <a:srgbClr val="A1A1AA"/>
                </a:solidFill>
              </a:rPr>
              <a:t>the brain's flight commands</a:t>
            </a:r>
            <a:endParaRPr lang="en-US" sz="1000" dirty="0"/>
          </a:p>
        </p:txBody>
      </p:sp>
      <p:sp>
        <p:nvSpPr>
          <p:cNvPr id="28" name="node-6"/>
          <p:cNvSpPr/>
          <p:nvPr/>
        </p:nvSpPr>
        <p:spPr>
          <a:xfrm>
            <a:off x="4709160" y="2670048"/>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pic>
        <p:nvPicPr>
          <p:cNvPr id="29" name="node-6-img" descr="C:\NeuroFly\docs\prezentacja\assets\thumb_decoder.jpg"/>
          <p:cNvPicPr>
            <a:picLocks noChangeAspect="1"/>
          </p:cNvPicPr>
          <p:nvPr/>
        </p:nvPicPr>
        <p:blipFill>
          <a:blip r:embed="rId9"/>
          <a:srcRect/>
          <a:stretch/>
        </p:blipFill>
        <p:spPr>
          <a:xfrm>
            <a:off x="4773168" y="2734056"/>
            <a:ext cx="1655064" cy="694944"/>
          </a:xfrm>
          <a:prstGeom prst="rect">
            <a:avLst/>
          </a:prstGeom>
        </p:spPr>
      </p:pic>
      <p:sp>
        <p:nvSpPr>
          <p:cNvPr id="30" name="node-6-title"/>
          <p:cNvSpPr txBox="1"/>
          <p:nvPr/>
        </p:nvSpPr>
        <p:spPr>
          <a:xfrm>
            <a:off x="4837176" y="3493008"/>
            <a:ext cx="1563624" cy="256032"/>
          </a:xfrm>
          <a:prstGeom prst="rect">
            <a:avLst/>
          </a:prstGeom>
          <a:noFill/>
          <a:ln/>
        </p:spPr>
        <p:txBody>
          <a:bodyPr wrap="square" lIns="0" tIns="0" rIns="0" bIns="0" rtlCol="0" anchor="t"/>
          <a:lstStyle/>
          <a:p>
            <a:pPr marL="0" indent="0">
              <a:buNone/>
            </a:pPr>
            <a:r>
              <a:rPr lang="en-US" sz="1100" dirty="0">
                <a:solidFill>
                  <a:srgbClr val="A1A1AA"/>
                </a:solidFill>
                <a:latin typeface="Michroma" pitchFamily="34" charset="0"/>
                <a:ea typeface="Michroma" pitchFamily="34" charset="-122"/>
                <a:cs typeface="Michroma" pitchFamily="34" charset="-120"/>
              </a:rPr>
              <a:t>7  </a:t>
            </a:r>
            <a:r>
              <a:rPr lang="en-US" sz="1300" b="1" dirty="0">
                <a:solidFill>
                  <a:srgbClr val="FAFAFA"/>
                </a:solidFill>
              </a:rPr>
              <a:t>Decoder</a:t>
            </a:r>
            <a:endParaRPr lang="en-US" sz="1300" dirty="0"/>
          </a:p>
        </p:txBody>
      </p:sp>
      <p:sp>
        <p:nvSpPr>
          <p:cNvPr id="31" name="node-6-desc"/>
          <p:cNvSpPr txBox="1"/>
          <p:nvPr/>
        </p:nvSpPr>
        <p:spPr>
          <a:xfrm>
            <a:off x="4837176" y="3749040"/>
            <a:ext cx="1563624" cy="256032"/>
          </a:xfrm>
          <a:prstGeom prst="rect">
            <a:avLst/>
          </a:prstGeom>
          <a:noFill/>
          <a:ln/>
        </p:spPr>
        <p:txBody>
          <a:bodyPr wrap="square" lIns="0" tIns="0" rIns="0" bIns="0" rtlCol="0" anchor="t"/>
          <a:lstStyle/>
          <a:p>
            <a:pPr marL="0" indent="0">
              <a:buNone/>
            </a:pPr>
            <a:r>
              <a:rPr lang="en-US" sz="1000" dirty="0">
                <a:solidFill>
                  <a:srgbClr val="A1A1AA"/>
                </a:solidFill>
              </a:rPr>
              <a:t>turns them into 4 numbers</a:t>
            </a:r>
            <a:endParaRPr lang="en-US" sz="1000" dirty="0"/>
          </a:p>
        </p:txBody>
      </p:sp>
      <p:sp>
        <p:nvSpPr>
          <p:cNvPr id="32" name="node-7"/>
          <p:cNvSpPr/>
          <p:nvPr/>
        </p:nvSpPr>
        <p:spPr>
          <a:xfrm>
            <a:off x="6812280" y="2670048"/>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pic>
        <p:nvPicPr>
          <p:cNvPr id="33" name="node-7-img" descr="C:\NeuroFly\docs\prezentacja\assets\drone_chase.jpg"/>
          <p:cNvPicPr>
            <a:picLocks noChangeAspect="1"/>
          </p:cNvPicPr>
          <p:nvPr/>
        </p:nvPicPr>
        <p:blipFill>
          <a:blip r:embed="rId10"/>
          <a:srcRect/>
          <a:stretch/>
        </p:blipFill>
        <p:spPr>
          <a:xfrm>
            <a:off x="6876288" y="2734056"/>
            <a:ext cx="1655064" cy="694944"/>
          </a:xfrm>
          <a:prstGeom prst="rect">
            <a:avLst/>
          </a:prstGeom>
        </p:spPr>
      </p:pic>
      <p:sp>
        <p:nvSpPr>
          <p:cNvPr id="34" name="node-7-title"/>
          <p:cNvSpPr txBox="1"/>
          <p:nvPr/>
        </p:nvSpPr>
        <p:spPr>
          <a:xfrm>
            <a:off x="6940296" y="3493008"/>
            <a:ext cx="1563624" cy="256032"/>
          </a:xfrm>
          <a:prstGeom prst="rect">
            <a:avLst/>
          </a:prstGeom>
          <a:noFill/>
          <a:ln/>
        </p:spPr>
        <p:txBody>
          <a:bodyPr wrap="square" lIns="0" tIns="0" rIns="0" bIns="0" rtlCol="0" anchor="t"/>
          <a:lstStyle/>
          <a:p>
            <a:pPr marL="0" indent="0">
              <a:buNone/>
            </a:pPr>
            <a:r>
              <a:rPr lang="en-US" sz="1100" dirty="0">
                <a:solidFill>
                  <a:srgbClr val="4F8CFF"/>
                </a:solidFill>
                <a:latin typeface="Michroma" pitchFamily="34" charset="0"/>
                <a:ea typeface="Michroma" pitchFamily="34" charset="-122"/>
                <a:cs typeface="Michroma" pitchFamily="34" charset="-120"/>
              </a:rPr>
              <a:t>8  </a:t>
            </a:r>
            <a:r>
              <a:rPr lang="en-US" sz="1300" b="1" dirty="0">
                <a:solidFill>
                  <a:srgbClr val="FAFAFA"/>
                </a:solidFill>
              </a:rPr>
              <a:t>Drone</a:t>
            </a:r>
            <a:endParaRPr lang="en-US" sz="1300" dirty="0"/>
          </a:p>
        </p:txBody>
      </p:sp>
      <p:sp>
        <p:nvSpPr>
          <p:cNvPr id="35" name="node-7-desc"/>
          <p:cNvSpPr txBox="1"/>
          <p:nvPr/>
        </p:nvSpPr>
        <p:spPr>
          <a:xfrm>
            <a:off x="6940296" y="3749040"/>
            <a:ext cx="1563624" cy="256032"/>
          </a:xfrm>
          <a:prstGeom prst="rect">
            <a:avLst/>
          </a:prstGeom>
          <a:noFill/>
          <a:ln/>
        </p:spPr>
        <p:txBody>
          <a:bodyPr wrap="square" lIns="0" tIns="0" rIns="0" bIns="0" rtlCol="0" anchor="t"/>
          <a:lstStyle/>
          <a:p>
            <a:pPr marL="0" indent="0">
              <a:buNone/>
            </a:pPr>
            <a:r>
              <a:rPr lang="en-US" sz="1000" dirty="0">
                <a:solidFill>
                  <a:srgbClr val="A1A1AA"/>
                </a:solidFill>
              </a:rPr>
              <a:t>moves, then back to 1</a:t>
            </a:r>
            <a:endParaRPr lang="en-US" sz="1000" dirty="0"/>
          </a:p>
        </p:txBody>
      </p:sp>
      <p:sp>
        <p:nvSpPr>
          <p:cNvPr id="36" name="glossary-0"/>
          <p:cNvSpPr txBox="1"/>
          <p:nvPr/>
        </p:nvSpPr>
        <p:spPr>
          <a:xfrm>
            <a:off x="566928" y="4206240"/>
            <a:ext cx="2542540" cy="411480"/>
          </a:xfrm>
          <a:prstGeom prst="rect">
            <a:avLst/>
          </a:prstGeom>
          <a:noFill/>
          <a:ln/>
        </p:spPr>
        <p:txBody>
          <a:bodyPr wrap="square" lIns="0" tIns="0" rIns="0" bIns="0" rtlCol="0" anchor="t"/>
          <a:lstStyle/>
          <a:p>
            <a:pPr marL="0" indent="0">
              <a:buNone/>
            </a:pPr>
            <a:r>
              <a:rPr lang="en-US" sz="900" b="1" dirty="0">
                <a:solidFill>
                  <a:srgbClr val="A1A1AA"/>
                </a:solidFill>
              </a:rPr>
              <a:t>FlyVis:</a:t>
            </a:r>
            <a:r>
              <a:rPr lang="en-US" sz="900" dirty="0">
                <a:solidFill>
                  <a:srgbClr val="71717A"/>
                </a:solidFill>
              </a:rPr>
              <a:t> a published model of how the fly eye and visual brain process an image</a:t>
            </a:r>
            <a:endParaRPr lang="en-US" sz="900" dirty="0"/>
          </a:p>
        </p:txBody>
      </p:sp>
      <p:sp>
        <p:nvSpPr>
          <p:cNvPr id="37" name="glossary-1"/>
          <p:cNvSpPr txBox="1"/>
          <p:nvPr/>
        </p:nvSpPr>
        <p:spPr>
          <a:xfrm>
            <a:off x="3383788" y="4206240"/>
            <a:ext cx="2542540" cy="411480"/>
          </a:xfrm>
          <a:prstGeom prst="rect">
            <a:avLst/>
          </a:prstGeom>
          <a:noFill/>
          <a:ln/>
        </p:spPr>
        <p:txBody>
          <a:bodyPr wrap="square" lIns="0" tIns="0" rIns="0" bIns="0" rtlCol="0" anchor="t"/>
          <a:lstStyle/>
          <a:p>
            <a:pPr marL="0" indent="0">
              <a:buNone/>
            </a:pPr>
            <a:r>
              <a:rPr lang="en-US" sz="900" b="1" dirty="0">
                <a:solidFill>
                  <a:srgbClr val="A1A1AA"/>
                </a:solidFill>
              </a:rPr>
              <a:t>Flight neurons:</a:t>
            </a:r>
            <a:r>
              <a:rPr lang="en-US" sz="900" dirty="0">
                <a:solidFill>
                  <a:srgbClr val="71717A"/>
                </a:solidFill>
              </a:rPr>
              <a:t> neurons that carry flight commands from the brain to the wings</a:t>
            </a:r>
            <a:endParaRPr lang="en-US" sz="900" dirty="0"/>
          </a:p>
        </p:txBody>
      </p:sp>
      <p:sp>
        <p:nvSpPr>
          <p:cNvPr id="38" name="glossary-2"/>
          <p:cNvSpPr txBox="1"/>
          <p:nvPr/>
        </p:nvSpPr>
        <p:spPr>
          <a:xfrm>
            <a:off x="6200648" y="4206240"/>
            <a:ext cx="2458720" cy="411480"/>
          </a:xfrm>
          <a:prstGeom prst="rect">
            <a:avLst/>
          </a:prstGeom>
          <a:noFill/>
          <a:ln/>
        </p:spPr>
        <p:txBody>
          <a:bodyPr wrap="square" lIns="0" tIns="0" rIns="0" bIns="0" rtlCol="0" anchor="t"/>
          <a:lstStyle/>
          <a:p>
            <a:pPr marL="0" indent="0">
              <a:buNone/>
            </a:pPr>
            <a:r>
              <a:rPr lang="en-US" sz="900" b="1" dirty="0">
                <a:solidFill>
                  <a:srgbClr val="A1A1AA"/>
                </a:solidFill>
              </a:rPr>
              <a:t>Thrust, roll, pitch, yaw:</a:t>
            </a:r>
            <a:r>
              <a:rPr lang="en-US" sz="900" dirty="0">
                <a:solidFill>
                  <a:srgbClr val="71717A"/>
                </a:solidFill>
              </a:rPr>
              <a:t> total power, tilt sideways, nose up or down, turn</a:t>
            </a:r>
            <a:endParaRPr lang="en-US" sz="900" dirty="0"/>
          </a:p>
        </p:txBody>
      </p:sp>
      <p:sp>
        <p:nvSpPr>
          <p:cNvPr id="39"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1A1AA"/>
                </a:solidFill>
              </a:defRPr>
            </a:lvl1pPr>
          </a:lstStyle>
          <a:p>
            <a:pPr algn="r"/>
            <a:fld id="{F7021451-1387-4CA6-816F-3879F97B5CBC}" type="slidenum">
              <a:rPr lang="en-US" b="0"/>
              <a:t>4</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HOW IT WORKS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STEPS 4–5: THE FLY BRAIN</a:t>
            </a:r>
            <a:endParaRPr lang="en-US" sz="1600" dirty="0"/>
          </a:p>
        </p:txBody>
      </p:sp>
      <p:pic>
        <p:nvPicPr>
          <p:cNvPr id="4" name="render-wiring" descr="C:\NeuroFly\docs\prezentacja\assets\connectome_wiring.jpg"/>
          <p:cNvPicPr>
            <a:picLocks noChangeAspect="1"/>
          </p:cNvPicPr>
          <p:nvPr/>
        </p:nvPicPr>
        <p:blipFill>
          <a:blip r:embed="rId3"/>
          <a:stretch>
            <a:fillRect/>
          </a:stretch>
        </p:blipFill>
        <p:spPr>
          <a:xfrm>
            <a:off x="365760" y="914400"/>
            <a:ext cx="2743200" cy="3328416"/>
          </a:xfrm>
          <a:prstGeom prst="rect">
            <a:avLst/>
          </a:prstGeom>
        </p:spPr>
      </p:pic>
      <p:sp>
        <p:nvSpPr>
          <p:cNvPr id="5" name="s-neurons-value"/>
          <p:cNvSpPr txBox="1"/>
          <p:nvPr/>
        </p:nvSpPr>
        <p:spPr>
          <a:xfrm>
            <a:off x="3566160" y="1051560"/>
            <a:ext cx="2468880" cy="548640"/>
          </a:xfrm>
          <a:prstGeom prst="rect">
            <a:avLst/>
          </a:prstGeom>
          <a:noFill/>
          <a:ln/>
        </p:spPr>
        <p:txBody>
          <a:bodyPr wrap="square" lIns="0" tIns="0" rIns="0" bIns="0" rtlCol="0" anchor="t"/>
          <a:lstStyle/>
          <a:p>
            <a:pPr marL="0" indent="0">
              <a:buNone/>
            </a:pPr>
            <a:r>
              <a:rPr lang="en-US" sz="3200" dirty="0">
                <a:solidFill>
                  <a:srgbClr val="FAFAFA"/>
                </a:solidFill>
                <a:latin typeface="Roboto Light" pitchFamily="34" charset="0"/>
                <a:ea typeface="Roboto Light" pitchFamily="34" charset="-122"/>
                <a:cs typeface="Roboto Light" pitchFamily="34" charset="-120"/>
              </a:rPr>
              <a:t>175,401</a:t>
            </a:r>
            <a:endParaRPr lang="en-US" sz="3200" dirty="0"/>
          </a:p>
        </p:txBody>
      </p:sp>
      <p:sp>
        <p:nvSpPr>
          <p:cNvPr id="6" name="s-neurons-label"/>
          <p:cNvSpPr txBox="1"/>
          <p:nvPr/>
        </p:nvSpPr>
        <p:spPr>
          <a:xfrm>
            <a:off x="3566160" y="1618488"/>
            <a:ext cx="2468880" cy="457200"/>
          </a:xfrm>
          <a:prstGeom prst="rect">
            <a:avLst/>
          </a:prstGeom>
          <a:noFill/>
          <a:ln/>
        </p:spPr>
        <p:txBody>
          <a:bodyPr wrap="square" lIns="0" tIns="0" rIns="0" bIns="0" rtlCol="0" anchor="t"/>
          <a:lstStyle/>
          <a:p>
            <a:pPr marL="0" indent="0">
              <a:buNone/>
            </a:pPr>
            <a:r>
              <a:rPr lang="en-US" sz="1200" dirty="0">
                <a:solidFill>
                  <a:srgbClr val="A1A1AA"/>
                </a:solidFill>
              </a:rPr>
              <a:t>neurons in the fly brain and nerve cord</a:t>
            </a:r>
            <a:endParaRPr lang="en-US" sz="1200" dirty="0"/>
          </a:p>
        </p:txBody>
      </p:sp>
      <p:sp>
        <p:nvSpPr>
          <p:cNvPr id="7" name="s-syn-value"/>
          <p:cNvSpPr txBox="1"/>
          <p:nvPr/>
        </p:nvSpPr>
        <p:spPr>
          <a:xfrm>
            <a:off x="6172200" y="1051560"/>
            <a:ext cx="2468880" cy="548640"/>
          </a:xfrm>
          <a:prstGeom prst="rect">
            <a:avLst/>
          </a:prstGeom>
          <a:noFill/>
          <a:ln/>
        </p:spPr>
        <p:txBody>
          <a:bodyPr wrap="square" lIns="0" tIns="0" rIns="0" bIns="0" rtlCol="0" anchor="t"/>
          <a:lstStyle/>
          <a:p>
            <a:pPr marL="0" indent="0">
              <a:buNone/>
            </a:pPr>
            <a:r>
              <a:rPr lang="en-US" sz="3200" dirty="0">
                <a:solidFill>
                  <a:srgbClr val="FAFAFA"/>
                </a:solidFill>
                <a:latin typeface="Roboto Light" pitchFamily="34" charset="0"/>
                <a:ea typeface="Roboto Light" pitchFamily="34" charset="-122"/>
                <a:cs typeface="Roboto Light" pitchFamily="34" charset="-120"/>
              </a:rPr>
              <a:t>18.6 M</a:t>
            </a:r>
            <a:endParaRPr lang="en-US" sz="3200" dirty="0"/>
          </a:p>
        </p:txBody>
      </p:sp>
      <p:sp>
        <p:nvSpPr>
          <p:cNvPr id="8" name="s-syn-label"/>
          <p:cNvSpPr txBox="1"/>
          <p:nvPr/>
        </p:nvSpPr>
        <p:spPr>
          <a:xfrm>
            <a:off x="6172200" y="1618488"/>
            <a:ext cx="2468880" cy="457200"/>
          </a:xfrm>
          <a:prstGeom prst="rect">
            <a:avLst/>
          </a:prstGeom>
          <a:noFill/>
          <a:ln/>
        </p:spPr>
        <p:txBody>
          <a:bodyPr wrap="square" lIns="0" tIns="0" rIns="0" bIns="0" rtlCol="0" anchor="t"/>
          <a:lstStyle/>
          <a:p>
            <a:pPr marL="0" indent="0">
              <a:buNone/>
            </a:pPr>
            <a:r>
              <a:rPr lang="en-US" sz="1200" dirty="0">
                <a:solidFill>
                  <a:srgbClr val="A1A1AA"/>
                </a:solidFill>
              </a:rPr>
              <a:t>synapses, the contacts between neurons</a:t>
            </a:r>
            <a:endParaRPr lang="en-US" sz="1200" dirty="0"/>
          </a:p>
        </p:txBody>
      </p:sp>
      <p:sp>
        <p:nvSpPr>
          <p:cNvPr id="9" name="s-edges-value"/>
          <p:cNvSpPr txBox="1"/>
          <p:nvPr/>
        </p:nvSpPr>
        <p:spPr>
          <a:xfrm>
            <a:off x="3566160" y="2194560"/>
            <a:ext cx="2468880" cy="548640"/>
          </a:xfrm>
          <a:prstGeom prst="rect">
            <a:avLst/>
          </a:prstGeom>
          <a:noFill/>
          <a:ln/>
        </p:spPr>
        <p:txBody>
          <a:bodyPr wrap="square" lIns="0" tIns="0" rIns="0" bIns="0" rtlCol="0" anchor="t"/>
          <a:lstStyle/>
          <a:p>
            <a:pPr marL="0" indent="0">
              <a:buNone/>
            </a:pPr>
            <a:r>
              <a:rPr lang="en-US" sz="3200" dirty="0">
                <a:solidFill>
                  <a:srgbClr val="FAFAFA"/>
                </a:solidFill>
                <a:latin typeface="Roboto Light" pitchFamily="34" charset="0"/>
                <a:ea typeface="Roboto Light" pitchFamily="34" charset="-122"/>
                <a:cs typeface="Roboto Light" pitchFamily="34" charset="-120"/>
              </a:rPr>
              <a:t>1.53 M</a:t>
            </a:r>
            <a:endParaRPr lang="en-US" sz="3200" dirty="0"/>
          </a:p>
        </p:txBody>
      </p:sp>
      <p:sp>
        <p:nvSpPr>
          <p:cNvPr id="10" name="s-edges-label"/>
          <p:cNvSpPr txBox="1"/>
          <p:nvPr/>
        </p:nvSpPr>
        <p:spPr>
          <a:xfrm>
            <a:off x="3566160" y="2761488"/>
            <a:ext cx="2468880" cy="457200"/>
          </a:xfrm>
          <a:prstGeom prst="rect">
            <a:avLst/>
          </a:prstGeom>
          <a:noFill/>
          <a:ln/>
        </p:spPr>
        <p:txBody>
          <a:bodyPr wrap="square" lIns="0" tIns="0" rIns="0" bIns="0" rtlCol="0" anchor="t"/>
          <a:lstStyle/>
          <a:p>
            <a:pPr marL="0" indent="0">
              <a:buNone/>
            </a:pPr>
            <a:r>
              <a:rPr lang="en-US" sz="1200" dirty="0">
                <a:solidFill>
                  <a:srgbClr val="A1A1AA"/>
                </a:solidFill>
              </a:rPr>
              <a:t>neuron-to-neuron connections we use</a:t>
            </a:r>
            <a:endParaRPr lang="en-US" sz="1200" dirty="0"/>
          </a:p>
        </p:txBody>
      </p:sp>
      <p:sp>
        <p:nvSpPr>
          <p:cNvPr id="11" name="s-skel-value"/>
          <p:cNvSpPr txBox="1"/>
          <p:nvPr/>
        </p:nvSpPr>
        <p:spPr>
          <a:xfrm>
            <a:off x="6172200" y="2194560"/>
            <a:ext cx="2468880" cy="548640"/>
          </a:xfrm>
          <a:prstGeom prst="rect">
            <a:avLst/>
          </a:prstGeom>
          <a:noFill/>
          <a:ln/>
        </p:spPr>
        <p:txBody>
          <a:bodyPr wrap="square" lIns="0" tIns="0" rIns="0" bIns="0" rtlCol="0" anchor="t"/>
          <a:lstStyle/>
          <a:p>
            <a:pPr marL="0" indent="0">
              <a:buNone/>
            </a:pPr>
            <a:r>
              <a:rPr lang="en-US" sz="3200" dirty="0">
                <a:solidFill>
                  <a:srgbClr val="FAFAFA"/>
                </a:solidFill>
                <a:latin typeface="Roboto Light" pitchFamily="34" charset="0"/>
                <a:ea typeface="Roboto Light" pitchFamily="34" charset="-122"/>
                <a:cs typeface="Roboto Light" pitchFamily="34" charset="-120"/>
              </a:rPr>
              <a:t>863</a:t>
            </a:r>
            <a:endParaRPr lang="en-US" sz="3200" dirty="0"/>
          </a:p>
        </p:txBody>
      </p:sp>
      <p:sp>
        <p:nvSpPr>
          <p:cNvPr id="12" name="s-skel-label"/>
          <p:cNvSpPr txBox="1"/>
          <p:nvPr/>
        </p:nvSpPr>
        <p:spPr>
          <a:xfrm>
            <a:off x="6172200" y="2761488"/>
            <a:ext cx="2468880" cy="457200"/>
          </a:xfrm>
          <a:prstGeom prst="rect">
            <a:avLst/>
          </a:prstGeom>
          <a:noFill/>
          <a:ln/>
        </p:spPr>
        <p:txBody>
          <a:bodyPr wrap="square" lIns="0" tIns="0" rIns="0" bIns="0" rtlCol="0" anchor="t"/>
          <a:lstStyle/>
          <a:p>
            <a:pPr marL="0" indent="0">
              <a:buNone/>
            </a:pPr>
            <a:r>
              <a:rPr lang="en-US" sz="1200" dirty="0">
                <a:solidFill>
                  <a:srgbClr val="A1A1AA"/>
                </a:solidFill>
              </a:rPr>
              <a:t>flight neurons drawn in full 3D shape</a:t>
            </a:r>
            <a:endParaRPr lang="en-US" sz="1200" dirty="0"/>
          </a:p>
        </p:txBody>
      </p:sp>
      <p:sp>
        <p:nvSpPr>
          <p:cNvPr id="13" name="t-ol-label"/>
          <p:cNvSpPr txBox="1"/>
          <p:nvPr/>
        </p:nvSpPr>
        <p:spPr>
          <a:xfrm>
            <a:off x="3566160" y="3291840"/>
            <a:ext cx="2743200" cy="237744"/>
          </a:xfrm>
          <a:prstGeom prst="rect">
            <a:avLst/>
          </a:prstGeom>
          <a:noFill/>
          <a:ln/>
        </p:spPr>
        <p:txBody>
          <a:bodyPr wrap="square" lIns="0" tIns="0" rIns="0" bIns="0" rtlCol="0" anchor="t"/>
          <a:lstStyle/>
          <a:p>
            <a:pPr marL="0" indent="0">
              <a:buNone/>
            </a:pPr>
            <a:r>
              <a:rPr lang="en-US" sz="1100" b="1" dirty="0">
                <a:solidFill>
                  <a:srgbClr val="2FD3C4"/>
                </a:solidFill>
              </a:rPr>
              <a:t>optic lobes: 105,646</a:t>
            </a:r>
            <a:endParaRPr lang="en-US" sz="1100" dirty="0"/>
          </a:p>
        </p:txBody>
      </p:sp>
      <p:sp>
        <p:nvSpPr>
          <p:cNvPr id="14" name="t-cb-label"/>
          <p:cNvSpPr txBox="1"/>
          <p:nvPr/>
        </p:nvSpPr>
        <p:spPr>
          <a:xfrm>
            <a:off x="3566160" y="3566160"/>
            <a:ext cx="2743200" cy="237744"/>
          </a:xfrm>
          <a:prstGeom prst="rect">
            <a:avLst/>
          </a:prstGeom>
          <a:noFill/>
          <a:ln/>
        </p:spPr>
        <p:txBody>
          <a:bodyPr wrap="square" lIns="0" tIns="0" rIns="0" bIns="0" rtlCol="0" anchor="t"/>
          <a:lstStyle/>
          <a:p>
            <a:pPr marL="0" indent="0">
              <a:buNone/>
            </a:pPr>
            <a:r>
              <a:rPr lang="en-US" sz="1100" b="1" dirty="0">
                <a:solidFill>
                  <a:srgbClr val="A98BFF"/>
                </a:solidFill>
              </a:rPr>
              <a:t>central brain: 42,620</a:t>
            </a:r>
            <a:endParaRPr lang="en-US" sz="1100" dirty="0"/>
          </a:p>
        </p:txBody>
      </p:sp>
      <p:sp>
        <p:nvSpPr>
          <p:cNvPr id="15" name="t-vnc-label"/>
          <p:cNvSpPr txBox="1"/>
          <p:nvPr/>
        </p:nvSpPr>
        <p:spPr>
          <a:xfrm>
            <a:off x="6172200" y="3291840"/>
            <a:ext cx="2743200" cy="237744"/>
          </a:xfrm>
          <a:prstGeom prst="rect">
            <a:avLst/>
          </a:prstGeom>
          <a:noFill/>
          <a:ln/>
        </p:spPr>
        <p:txBody>
          <a:bodyPr wrap="square" lIns="0" tIns="0" rIns="0" bIns="0" rtlCol="0" anchor="t"/>
          <a:lstStyle/>
          <a:p>
            <a:pPr marL="0" indent="0">
              <a:buNone/>
            </a:pPr>
            <a:r>
              <a:rPr lang="en-US" sz="1100" b="1" dirty="0">
                <a:solidFill>
                  <a:srgbClr val="FF4FB0"/>
                </a:solidFill>
              </a:rPr>
              <a:t>VNC: 26,769</a:t>
            </a:r>
            <a:endParaRPr lang="en-US" sz="1100" dirty="0"/>
          </a:p>
        </p:txBody>
      </p:sp>
      <p:sp>
        <p:nvSpPr>
          <p:cNvPr id="16" name="t-dn-label"/>
          <p:cNvSpPr txBox="1"/>
          <p:nvPr/>
        </p:nvSpPr>
        <p:spPr>
          <a:xfrm>
            <a:off x="6172200" y="3566160"/>
            <a:ext cx="2743200" cy="237744"/>
          </a:xfrm>
          <a:prstGeom prst="rect">
            <a:avLst/>
          </a:prstGeom>
          <a:noFill/>
          <a:ln/>
        </p:spPr>
        <p:txBody>
          <a:bodyPr wrap="square" lIns="0" tIns="0" rIns="0" bIns="0" rtlCol="0" anchor="t"/>
          <a:lstStyle/>
          <a:p>
            <a:pPr marL="0" indent="0">
              <a:buNone/>
            </a:pPr>
            <a:r>
              <a:rPr lang="en-US" sz="1100" b="1" dirty="0">
                <a:solidFill>
                  <a:srgbClr val="FFB547"/>
                </a:solidFill>
              </a:rPr>
              <a:t>DN / AN: 3,165</a:t>
            </a:r>
            <a:endParaRPr lang="en-US" sz="1100" dirty="0"/>
          </a:p>
        </p:txBody>
      </p:sp>
      <p:sp>
        <p:nvSpPr>
          <p:cNvPr id="17" name="wiring-note"/>
          <p:cNvSpPr txBox="1"/>
          <p:nvPr/>
        </p:nvSpPr>
        <p:spPr>
          <a:xfrm>
            <a:off x="3566160" y="3886200"/>
            <a:ext cx="5029200" cy="274320"/>
          </a:xfrm>
          <a:prstGeom prst="rect">
            <a:avLst/>
          </a:prstGeom>
          <a:noFill/>
          <a:ln/>
        </p:spPr>
        <p:txBody>
          <a:bodyPr wrap="square" lIns="0" tIns="0" rIns="0" bIns="0" rtlCol="0" anchor="t"/>
          <a:lstStyle/>
          <a:p>
            <a:pPr marL="0" indent="0">
              <a:buNone/>
            </a:pPr>
            <a:r>
              <a:rPr lang="en-US" sz="1000" i="1" dirty="0">
                <a:solidFill>
                  <a:srgbClr val="A1A1AA"/>
                </a:solidFill>
              </a:rPr>
              <a:t>Lines: 60,000 real connections from BANC, drawn as straight lines between neurons.</a:t>
            </a:r>
            <a:endParaRPr lang="en-US" sz="1000" dirty="0"/>
          </a:p>
        </p:txBody>
      </p:sp>
      <p:sp>
        <p:nvSpPr>
          <p:cNvPr id="18" name="glossary-0"/>
          <p:cNvSpPr txBox="1"/>
          <p:nvPr/>
        </p:nvSpPr>
        <p:spPr>
          <a:xfrm>
            <a:off x="3566160" y="4206240"/>
            <a:ext cx="1467311" cy="411480"/>
          </a:xfrm>
          <a:prstGeom prst="rect">
            <a:avLst/>
          </a:prstGeom>
          <a:noFill/>
          <a:ln/>
        </p:spPr>
        <p:txBody>
          <a:bodyPr wrap="square" lIns="0" tIns="0" rIns="0" bIns="0" rtlCol="0" anchor="t"/>
          <a:lstStyle/>
          <a:p>
            <a:pPr marL="0" indent="0">
              <a:buNone/>
            </a:pPr>
            <a:r>
              <a:rPr lang="en-US" sz="900" b="1" dirty="0">
                <a:solidFill>
                  <a:srgbClr val="A1A1AA"/>
                </a:solidFill>
              </a:rPr>
              <a:t>VNC:</a:t>
            </a:r>
            <a:r>
              <a:rPr lang="en-US" sz="900" dirty="0">
                <a:solidFill>
                  <a:srgbClr val="71717A"/>
                </a:solidFill>
              </a:rPr>
              <a:t> ventral nerve cord, the fly's spinal cord</a:t>
            </a:r>
            <a:endParaRPr lang="en-US" sz="900" dirty="0"/>
          </a:p>
        </p:txBody>
      </p:sp>
      <p:sp>
        <p:nvSpPr>
          <p:cNvPr id="19" name="glossary-1"/>
          <p:cNvSpPr txBox="1"/>
          <p:nvPr/>
        </p:nvSpPr>
        <p:spPr>
          <a:xfrm>
            <a:off x="5307791" y="4206240"/>
            <a:ext cx="1716007" cy="411480"/>
          </a:xfrm>
          <a:prstGeom prst="rect">
            <a:avLst/>
          </a:prstGeom>
          <a:noFill/>
          <a:ln/>
        </p:spPr>
        <p:txBody>
          <a:bodyPr wrap="square" lIns="0" tIns="0" rIns="0" bIns="0" rtlCol="0" anchor="t"/>
          <a:lstStyle/>
          <a:p>
            <a:pPr marL="0" indent="0">
              <a:buNone/>
            </a:pPr>
            <a:r>
              <a:rPr lang="en-US" sz="900" b="1" dirty="0">
                <a:solidFill>
                  <a:srgbClr val="A1A1AA"/>
                </a:solidFill>
              </a:rPr>
              <a:t>DN / AN:</a:t>
            </a:r>
            <a:r>
              <a:rPr lang="en-US" sz="900" dirty="0">
                <a:solidFill>
                  <a:srgbClr val="71717A"/>
                </a:solidFill>
              </a:rPr>
              <a:t> neurons linking brain and nerve cord, down / up</a:t>
            </a:r>
            <a:endParaRPr lang="en-US" sz="900" dirty="0"/>
          </a:p>
        </p:txBody>
      </p:sp>
      <p:sp>
        <p:nvSpPr>
          <p:cNvPr id="20" name="glossary-2"/>
          <p:cNvSpPr txBox="1"/>
          <p:nvPr/>
        </p:nvSpPr>
        <p:spPr>
          <a:xfrm>
            <a:off x="7298118" y="4206240"/>
            <a:ext cx="1342962" cy="411480"/>
          </a:xfrm>
          <a:prstGeom prst="rect">
            <a:avLst/>
          </a:prstGeom>
          <a:noFill/>
          <a:ln/>
        </p:spPr>
        <p:txBody>
          <a:bodyPr wrap="square" lIns="0" tIns="0" rIns="0" bIns="0" rtlCol="0" anchor="t"/>
          <a:lstStyle/>
          <a:p>
            <a:pPr marL="0" indent="0">
              <a:buNone/>
            </a:pPr>
            <a:r>
              <a:rPr lang="en-US" sz="900" b="1" dirty="0">
                <a:solidFill>
                  <a:srgbClr val="A1A1AA"/>
                </a:solidFill>
              </a:rPr>
              <a:t>Optic lobes:</a:t>
            </a:r>
            <a:r>
              <a:rPr lang="en-US" sz="900" dirty="0">
                <a:solidFill>
                  <a:srgbClr val="71717A"/>
                </a:solidFill>
              </a:rPr>
              <a:t> the visual part of the brain</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1A1AA"/>
                </a:solidFill>
              </a:defRPr>
            </a:lvl1pPr>
          </a:lstStyle>
          <a:p>
            <a:pPr algn="r"/>
            <a:fld id="{F7021451-1387-4CA6-816F-3879F97B5CBC}" type="slidenum">
              <a:rPr lang="en-US" b="0"/>
              <a:t>6</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HOW IT WORKS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STEP 6: WHERE THE BRAIN KNOWS THE TARGET</a:t>
            </a:r>
            <a:endParaRPr lang="en-US" sz="1600" dirty="0"/>
          </a:p>
        </p:txBody>
      </p:sp>
      <p:graphicFrame>
        <p:nvGraphicFramePr>
          <p:cNvPr id="4" name="chart-side"/>
          <p:cNvGraphicFramePr/>
          <p:nvPr/>
        </p:nvGraphicFramePr>
        <p:xfrm>
          <a:off x="457200" y="1051560"/>
          <a:ext cx="51206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dn-value"/>
          <p:cNvSpPr txBox="1"/>
          <p:nvPr/>
        </p:nvSpPr>
        <p:spPr>
          <a:xfrm>
            <a:off x="6035040" y="1188720"/>
            <a:ext cx="2743200" cy="548640"/>
          </a:xfrm>
          <a:prstGeom prst="rect">
            <a:avLst/>
          </a:prstGeom>
          <a:noFill/>
          <a:ln/>
        </p:spPr>
        <p:txBody>
          <a:bodyPr wrap="square" lIns="0" tIns="0" rIns="0" bIns="0" rtlCol="0" anchor="t"/>
          <a:lstStyle/>
          <a:p>
            <a:pPr marL="0" indent="0">
              <a:buNone/>
            </a:pPr>
            <a:r>
              <a:rPr lang="en-US" sz="3200" dirty="0">
                <a:solidFill>
                  <a:srgbClr val="FF2D6F"/>
                </a:solidFill>
                <a:latin typeface="Roboto Light" pitchFamily="34" charset="0"/>
                <a:ea typeface="Roboto Light" pitchFamily="34" charset="-122"/>
                <a:cs typeface="Roboto Light" pitchFamily="34" charset="-120"/>
              </a:rPr>
              <a:t>99%</a:t>
            </a:r>
            <a:endParaRPr lang="en-US" sz="3200" dirty="0"/>
          </a:p>
        </p:txBody>
      </p:sp>
      <p:sp>
        <p:nvSpPr>
          <p:cNvPr id="6" name="s-dn-label"/>
          <p:cNvSpPr txBox="1"/>
          <p:nvPr/>
        </p:nvSpPr>
        <p:spPr>
          <a:xfrm>
            <a:off x="6035040" y="1755648"/>
            <a:ext cx="2743200" cy="457200"/>
          </a:xfrm>
          <a:prstGeom prst="rect">
            <a:avLst/>
          </a:prstGeom>
          <a:noFill/>
          <a:ln/>
        </p:spPr>
        <p:txBody>
          <a:bodyPr wrap="square" lIns="0" tIns="0" rIns="0" bIns="0" rtlCol="0" anchor="t"/>
          <a:lstStyle/>
          <a:p>
            <a:pPr marL="0" indent="0">
              <a:buNone/>
            </a:pPr>
            <a:r>
              <a:rPr lang="en-US" sz="1200" dirty="0">
                <a:solidFill>
                  <a:srgbClr val="A1A1AA"/>
                </a:solidFill>
              </a:rPr>
              <a:t>of scenes where single flight neurons tell left from right correctly</a:t>
            </a:r>
            <a:endParaRPr lang="en-US" sz="1200" dirty="0"/>
          </a:p>
        </p:txBody>
      </p:sp>
      <p:sp>
        <p:nvSpPr>
          <p:cNvPr id="7" name="s-mn-value"/>
          <p:cNvSpPr txBox="1"/>
          <p:nvPr/>
        </p:nvSpPr>
        <p:spPr>
          <a:xfrm>
            <a:off x="6035040" y="2560320"/>
            <a:ext cx="2743200" cy="548640"/>
          </a:xfrm>
          <a:prstGeom prst="rect">
            <a:avLst/>
          </a:prstGeom>
          <a:noFill/>
          <a:ln/>
        </p:spPr>
        <p:txBody>
          <a:bodyPr wrap="square" lIns="0" tIns="0" rIns="0" bIns="0" rtlCol="0" anchor="t"/>
          <a:lstStyle/>
          <a:p>
            <a:pPr marL="0" indent="0">
              <a:buNone/>
            </a:pPr>
            <a:r>
              <a:rPr lang="en-US" sz="3200" dirty="0">
                <a:solidFill>
                  <a:srgbClr val="A1A1AA"/>
                </a:solidFill>
                <a:latin typeface="Roboto Light" pitchFamily="34" charset="0"/>
                <a:ea typeface="Roboto Light" pitchFamily="34" charset="-122"/>
                <a:cs typeface="Roboto Light" pitchFamily="34" charset="-120"/>
              </a:rPr>
              <a:t>68%</a:t>
            </a:r>
            <a:endParaRPr lang="en-US" sz="3200" dirty="0"/>
          </a:p>
        </p:txBody>
      </p:sp>
      <p:sp>
        <p:nvSpPr>
          <p:cNvPr id="8" name="s-mn-label"/>
          <p:cNvSpPr txBox="1"/>
          <p:nvPr/>
        </p:nvSpPr>
        <p:spPr>
          <a:xfrm>
            <a:off x="6035040" y="3127248"/>
            <a:ext cx="2743200" cy="457200"/>
          </a:xfrm>
          <a:prstGeom prst="rect">
            <a:avLst/>
          </a:prstGeom>
          <a:noFill/>
          <a:ln/>
        </p:spPr>
        <p:txBody>
          <a:bodyPr wrap="square" lIns="0" tIns="0" rIns="0" bIns="0" rtlCol="0" anchor="t"/>
          <a:lstStyle/>
          <a:p>
            <a:pPr marL="0" indent="0">
              <a:buNone/>
            </a:pPr>
            <a:r>
              <a:rPr lang="en-US" sz="1200" dirty="0">
                <a:solidFill>
                  <a:srgbClr val="A1A1AA"/>
                </a:solidFill>
              </a:rPr>
              <a:t>if you average the muscle neurons: left and right cancel out</a:t>
            </a:r>
            <a:endParaRPr lang="en-US" sz="1200" dirty="0"/>
          </a:p>
        </p:txBody>
      </p:sp>
      <p:sp>
        <p:nvSpPr>
          <p:cNvPr id="9" name="glossary-0"/>
          <p:cNvSpPr txBox="1"/>
          <p:nvPr/>
        </p:nvSpPr>
        <p:spPr>
          <a:xfrm>
            <a:off x="566928" y="4206240"/>
            <a:ext cx="8092440" cy="411480"/>
          </a:xfrm>
          <a:prstGeom prst="rect">
            <a:avLst/>
          </a:prstGeom>
          <a:noFill/>
          <a:ln/>
        </p:spPr>
        <p:txBody>
          <a:bodyPr wrap="square" lIns="0" tIns="0" rIns="0" bIns="0" rtlCol="0" anchor="t"/>
          <a:lstStyle/>
          <a:p>
            <a:pPr marL="0" indent="0">
              <a:buNone/>
            </a:pPr>
            <a:r>
              <a:rPr lang="en-US" sz="900" b="1" dirty="0">
                <a:solidFill>
                  <a:srgbClr val="A1A1AA"/>
                </a:solidFill>
              </a:rPr>
              <a:t>Accuracy:</a:t>
            </a:r>
            <a:r>
              <a:rPr lang="en-US" sz="900" dirty="0">
                <a:solidFill>
                  <a:srgbClr val="71717A"/>
                </a:solidFill>
              </a:rPr>
              <a:t> how often we can tell which side the target is on (50% = guessing)</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1A1AA"/>
                </a:solidFill>
              </a:defRPr>
            </a:lvl1pPr>
          </a:lstStyle>
          <a:p>
            <a:pPr algn="r"/>
            <a:fld id="{F7021451-1387-4CA6-816F-3879F97B5CBC}" type="slidenum">
              <a:rPr lang="en-US" b="0"/>
              <a:t>8</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HOW IT WORKS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WHO STEERS WHAT: GPS FAR, FLY BRAIN NEAR</a:t>
            </a:r>
            <a:endParaRPr lang="en-US" sz="1600" dirty="0"/>
          </a:p>
        </p:txBody>
      </p:sp>
      <p:sp>
        <p:nvSpPr>
          <p:cNvPr id="4" name="bar-gps"/>
          <p:cNvSpPr/>
          <p:nvPr/>
        </p:nvSpPr>
        <p:spPr>
          <a:xfrm>
            <a:off x="566928" y="1188720"/>
            <a:ext cx="5017313" cy="457200"/>
          </a:xfrm>
          <a:prstGeom prst="rect">
            <a:avLst/>
          </a:prstGeom>
          <a:solidFill>
            <a:srgbClr val="4F8CFF">
              <a:alpha val="45000"/>
            </a:srgbClr>
          </a:solidFill>
          <a:ln w="9525">
            <a:solidFill>
              <a:srgbClr val="4F8CFF"/>
            </a:solidFill>
            <a:prstDash val="solid"/>
          </a:ln>
        </p:spPr>
        <p:txBody>
          <a:bodyPr/>
          <a:lstStyle/>
          <a:p>
            <a:endParaRPr lang="pl-PL"/>
          </a:p>
        </p:txBody>
      </p:sp>
      <p:sp>
        <p:nvSpPr>
          <p:cNvPr id="5" name="bar-banc"/>
          <p:cNvSpPr/>
          <p:nvPr/>
        </p:nvSpPr>
        <p:spPr>
          <a:xfrm>
            <a:off x="5584241" y="1188720"/>
            <a:ext cx="3075127" cy="457200"/>
          </a:xfrm>
          <a:prstGeom prst="rect">
            <a:avLst/>
          </a:prstGeom>
          <a:solidFill>
            <a:srgbClr val="FF2D6F">
              <a:alpha val="65000"/>
            </a:srgbClr>
          </a:solidFill>
          <a:ln w="9525">
            <a:solidFill>
              <a:srgbClr val="FF2D6F"/>
            </a:solidFill>
            <a:prstDash val="solid"/>
          </a:ln>
        </p:spPr>
        <p:txBody>
          <a:bodyPr/>
          <a:lstStyle/>
          <a:p>
            <a:endParaRPr lang="pl-PL"/>
          </a:p>
        </p:txBody>
      </p:sp>
      <p:sp>
        <p:nvSpPr>
          <p:cNvPr id="6" name="bar-gps-t"/>
          <p:cNvSpPr txBox="1"/>
          <p:nvPr/>
        </p:nvSpPr>
        <p:spPr>
          <a:xfrm>
            <a:off x="749808" y="1307592"/>
            <a:ext cx="4389120" cy="237744"/>
          </a:xfrm>
          <a:prstGeom prst="rect">
            <a:avLst/>
          </a:prstGeom>
          <a:noFill/>
          <a:ln/>
        </p:spPr>
        <p:txBody>
          <a:bodyPr wrap="square" lIns="0" tIns="0" rIns="0" bIns="0" rtlCol="0" anchor="t"/>
          <a:lstStyle/>
          <a:p>
            <a:pPr marL="0" indent="0">
              <a:buNone/>
            </a:pPr>
            <a:r>
              <a:rPr lang="en-US" sz="1200" dirty="0">
                <a:solidFill>
                  <a:srgbClr val="FAFAFA"/>
                </a:solidFill>
              </a:rPr>
              <a:t>far from the target: heading from GPS + compass</a:t>
            </a:r>
            <a:endParaRPr lang="en-US" sz="1200" dirty="0"/>
          </a:p>
        </p:txBody>
      </p:sp>
      <p:sp>
        <p:nvSpPr>
          <p:cNvPr id="7" name="bar-banc-t"/>
          <p:cNvSpPr txBox="1"/>
          <p:nvPr/>
        </p:nvSpPr>
        <p:spPr>
          <a:xfrm>
            <a:off x="5767121" y="1307592"/>
            <a:ext cx="2926080" cy="237744"/>
          </a:xfrm>
          <a:prstGeom prst="rect">
            <a:avLst/>
          </a:prstGeom>
          <a:noFill/>
          <a:ln/>
        </p:spPr>
        <p:txBody>
          <a:bodyPr wrap="square" lIns="0" tIns="0" rIns="0" bIns="0" rtlCol="0" anchor="t"/>
          <a:lstStyle/>
          <a:p>
            <a:pPr marL="0" indent="0">
              <a:buNone/>
            </a:pPr>
            <a:r>
              <a:rPr lang="en-US" sz="1200" b="1" dirty="0">
                <a:solidFill>
                  <a:srgbClr val="FAFAFA"/>
                </a:solidFill>
              </a:rPr>
              <a:t>last 4 m: heading from BANC</a:t>
            </a:r>
            <a:endParaRPr lang="en-US" sz="1200" dirty="0"/>
          </a:p>
        </p:txBody>
      </p:sp>
      <p:sp>
        <p:nvSpPr>
          <p:cNvPr id="8" name="bar-l"/>
          <p:cNvSpPr txBox="1"/>
          <p:nvPr/>
        </p:nvSpPr>
        <p:spPr>
          <a:xfrm>
            <a:off x="566928" y="1719072"/>
            <a:ext cx="914400" cy="219456"/>
          </a:xfrm>
          <a:prstGeom prst="rect">
            <a:avLst/>
          </a:prstGeom>
          <a:noFill/>
          <a:ln/>
        </p:spPr>
        <p:txBody>
          <a:bodyPr wrap="square" lIns="0" tIns="0" rIns="0" bIns="0" rtlCol="0" anchor="t"/>
          <a:lstStyle/>
          <a:p>
            <a:pPr marL="0" indent="0">
              <a:buNone/>
            </a:pPr>
            <a:r>
              <a:rPr lang="en-US" sz="1000" dirty="0">
                <a:solidFill>
                  <a:srgbClr val="A1A1AA"/>
                </a:solidFill>
              </a:rPr>
              <a:t>drone</a:t>
            </a:r>
            <a:endParaRPr lang="en-US" sz="1000" dirty="0"/>
          </a:p>
        </p:txBody>
      </p:sp>
      <p:sp>
        <p:nvSpPr>
          <p:cNvPr id="9" name="bar-r"/>
          <p:cNvSpPr txBox="1"/>
          <p:nvPr/>
        </p:nvSpPr>
        <p:spPr>
          <a:xfrm>
            <a:off x="7744968" y="1719072"/>
            <a:ext cx="914400" cy="219456"/>
          </a:xfrm>
          <a:prstGeom prst="rect">
            <a:avLst/>
          </a:prstGeom>
          <a:noFill/>
          <a:ln/>
        </p:spPr>
        <p:txBody>
          <a:bodyPr wrap="square" lIns="0" tIns="0" rIns="0" bIns="0" rtlCol="0" anchor="t"/>
          <a:lstStyle/>
          <a:p>
            <a:pPr marL="0" indent="0" algn="r">
              <a:buNone/>
            </a:pPr>
            <a:r>
              <a:rPr lang="en-US" sz="1000" dirty="0">
                <a:solidFill>
                  <a:srgbClr val="A1A1AA"/>
                </a:solidFill>
              </a:rPr>
              <a:t>target</a:t>
            </a:r>
            <a:endParaRPr lang="en-US" sz="1000" dirty="0"/>
          </a:p>
        </p:txBody>
      </p:sp>
      <p:sp>
        <p:nvSpPr>
          <p:cNvPr id="10" name="bar-mid"/>
          <p:cNvSpPr txBox="1"/>
          <p:nvPr/>
        </p:nvSpPr>
        <p:spPr>
          <a:xfrm>
            <a:off x="3389681" y="1719072"/>
            <a:ext cx="4389120" cy="219456"/>
          </a:xfrm>
          <a:prstGeom prst="rect">
            <a:avLst/>
          </a:prstGeom>
          <a:noFill/>
          <a:ln/>
        </p:spPr>
        <p:txBody>
          <a:bodyPr wrap="square" lIns="0" tIns="0" rIns="0" bIns="0" rtlCol="0" anchor="t"/>
          <a:lstStyle/>
          <a:p>
            <a:pPr marL="0" indent="0" algn="ctr">
              <a:buNone/>
            </a:pPr>
            <a:r>
              <a:rPr lang="en-US" sz="1000" dirty="0">
                <a:solidFill>
                  <a:srgbClr val="A1A1AA"/>
                </a:solidFill>
              </a:rPr>
              <a:t>smooth hand-over: up close GPS is not precise enough</a:t>
            </a:r>
            <a:endParaRPr lang="en-US" sz="1000" dirty="0"/>
          </a:p>
        </p:txBody>
      </p:sp>
      <p:sp>
        <p:nvSpPr>
          <p:cNvPr id="11" name="ax-yaw"/>
          <p:cNvSpPr/>
          <p:nvPr/>
        </p:nvSpPr>
        <p:spPr>
          <a:xfrm>
            <a:off x="566928" y="2240280"/>
            <a:ext cx="3931920" cy="1783080"/>
          </a:xfrm>
          <a:prstGeom prst="rect">
            <a:avLst/>
          </a:prstGeom>
          <a:solidFill>
            <a:srgbClr val="18181B">
              <a:alpha val="88000"/>
            </a:srgbClr>
          </a:solidFill>
          <a:ln w="9525">
            <a:solidFill>
              <a:srgbClr val="FF2D6F"/>
            </a:solidFill>
            <a:prstDash val="solid"/>
          </a:ln>
          <a:effectLst>
            <a:outerShdw blurRad="228600" dist="76200" dir="5400000" algn="bl" rotWithShape="0">
              <a:srgbClr val="000000">
                <a:alpha val="55000"/>
              </a:srgbClr>
            </a:outerShdw>
          </a:effectLst>
        </p:spPr>
        <p:txBody>
          <a:bodyPr/>
          <a:lstStyle/>
          <a:p>
            <a:endParaRPr lang="pl-PL"/>
          </a:p>
        </p:txBody>
      </p:sp>
      <p:sp>
        <p:nvSpPr>
          <p:cNvPr id="12" name="ax-ctl"/>
          <p:cNvSpPr/>
          <p:nvPr/>
        </p:nvSpPr>
        <p:spPr>
          <a:xfrm>
            <a:off x="4727448" y="2240280"/>
            <a:ext cx="3931920" cy="178308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13" name="ax-yaw-k"/>
          <p:cNvSpPr txBox="1"/>
          <p:nvPr/>
        </p:nvSpPr>
        <p:spPr>
          <a:xfrm>
            <a:off x="822960" y="2395728"/>
            <a:ext cx="3200400" cy="201168"/>
          </a:xfrm>
          <a:prstGeom prst="rect">
            <a:avLst/>
          </a:prstGeom>
          <a:noFill/>
          <a:ln/>
        </p:spPr>
        <p:txBody>
          <a:bodyPr wrap="square" lIns="0" tIns="0" rIns="0" bIns="0" rtlCol="0" anchor="t"/>
          <a:lstStyle/>
          <a:p>
            <a:pPr marL="0" indent="0">
              <a:buNone/>
            </a:pPr>
            <a:r>
              <a:rPr lang="en-US" sz="800" kern="0" spc="500" dirty="0">
                <a:solidFill>
                  <a:srgbClr val="FF2D6F"/>
                </a:solidFill>
              </a:rPr>
              <a:t>WHERE TO TURN</a:t>
            </a:r>
            <a:endParaRPr lang="en-US" sz="800" dirty="0"/>
          </a:p>
        </p:txBody>
      </p:sp>
      <p:sp>
        <p:nvSpPr>
          <p:cNvPr id="14" name="ax-yaw-h"/>
          <p:cNvSpPr txBox="1"/>
          <p:nvPr/>
        </p:nvSpPr>
        <p:spPr>
          <a:xfrm>
            <a:off x="822960" y="2651760"/>
            <a:ext cx="3383280" cy="365760"/>
          </a:xfrm>
          <a:prstGeom prst="rect">
            <a:avLst/>
          </a:prstGeom>
          <a:noFill/>
          <a:ln/>
        </p:spPr>
        <p:txBody>
          <a:bodyPr wrap="square" lIns="0" tIns="0" rIns="0" bIns="0" rtlCol="0" anchor="t"/>
          <a:lstStyle/>
          <a:p>
            <a:pPr marL="0" indent="0">
              <a:buNone/>
            </a:pPr>
            <a:r>
              <a:rPr lang="en-US" sz="1800" b="1" dirty="0">
                <a:solidFill>
                  <a:srgbClr val="FAFAFA"/>
                </a:solidFill>
              </a:rPr>
              <a:t>BANC only</a:t>
            </a:r>
            <a:endParaRPr lang="en-US" sz="1800" dirty="0"/>
          </a:p>
        </p:txBody>
      </p:sp>
      <p:sp>
        <p:nvSpPr>
          <p:cNvPr id="15" name="ax-yaw-d"/>
          <p:cNvSpPr txBox="1"/>
          <p:nvPr/>
        </p:nvSpPr>
        <p:spPr>
          <a:xfrm>
            <a:off x="822960" y="3090672"/>
            <a:ext cx="3474720" cy="822960"/>
          </a:xfrm>
          <a:prstGeom prst="rect">
            <a:avLst/>
          </a:prstGeom>
          <a:noFill/>
          <a:ln/>
        </p:spPr>
        <p:txBody>
          <a:bodyPr wrap="square" lIns="0" tIns="0" rIns="0" bIns="0" rtlCol="0" anchor="t"/>
          <a:lstStyle/>
          <a:p>
            <a:pPr marL="0" indent="0">
              <a:buNone/>
            </a:pPr>
            <a:r>
              <a:rPr lang="en-US" sz="1200" dirty="0">
                <a:solidFill>
                  <a:srgbClr val="A1A1AA"/>
                </a:solidFill>
              </a:rPr>
              <a:t>Only fly neurons decide the direction. Drone sensors are not allowed to help.</a:t>
            </a:r>
            <a:endParaRPr lang="en-US" sz="1200" dirty="0"/>
          </a:p>
        </p:txBody>
      </p:sp>
      <p:sp>
        <p:nvSpPr>
          <p:cNvPr id="16" name="ax-ctl-k"/>
          <p:cNvSpPr txBox="1"/>
          <p:nvPr/>
        </p:nvSpPr>
        <p:spPr>
          <a:xfrm>
            <a:off x="4983480" y="2395728"/>
            <a:ext cx="3474720" cy="201168"/>
          </a:xfrm>
          <a:prstGeom prst="rect">
            <a:avLst/>
          </a:prstGeom>
          <a:noFill/>
          <a:ln/>
        </p:spPr>
        <p:txBody>
          <a:bodyPr wrap="square" lIns="0" tIns="0" rIns="0" bIns="0" rtlCol="0" anchor="t"/>
          <a:lstStyle/>
          <a:p>
            <a:pPr marL="0" indent="0">
              <a:buNone/>
            </a:pPr>
            <a:r>
              <a:rPr lang="en-US" sz="800" kern="0" spc="500" dirty="0">
                <a:solidFill>
                  <a:srgbClr val="4F8CFF"/>
                </a:solidFill>
              </a:rPr>
              <a:t>STAYING LEVEL AND AT HEIGHT</a:t>
            </a:r>
            <a:endParaRPr lang="en-US" sz="800" dirty="0"/>
          </a:p>
        </p:txBody>
      </p:sp>
      <p:sp>
        <p:nvSpPr>
          <p:cNvPr id="17" name="ax-ctl-h"/>
          <p:cNvSpPr txBox="1"/>
          <p:nvPr/>
        </p:nvSpPr>
        <p:spPr>
          <a:xfrm>
            <a:off x="4983480" y="2651760"/>
            <a:ext cx="3474720" cy="365760"/>
          </a:xfrm>
          <a:prstGeom prst="rect">
            <a:avLst/>
          </a:prstGeom>
          <a:noFill/>
          <a:ln/>
        </p:spPr>
        <p:txBody>
          <a:bodyPr wrap="square" lIns="0" tIns="0" rIns="0" bIns="0" rtlCol="0" anchor="t"/>
          <a:lstStyle/>
          <a:p>
            <a:pPr marL="0" indent="0">
              <a:buNone/>
            </a:pPr>
            <a:r>
              <a:rPr lang="en-US" sz="1800" b="1" dirty="0">
                <a:solidFill>
                  <a:srgbClr val="FAFAFA"/>
                </a:solidFill>
              </a:rPr>
              <a:t>BANC + drone sensors</a:t>
            </a:r>
            <a:endParaRPr lang="en-US" sz="1800" dirty="0"/>
          </a:p>
        </p:txBody>
      </p:sp>
      <p:sp>
        <p:nvSpPr>
          <p:cNvPr id="18" name="ax-ctl-d"/>
          <p:cNvSpPr txBox="1"/>
          <p:nvPr/>
        </p:nvSpPr>
        <p:spPr>
          <a:xfrm>
            <a:off x="4983480" y="3090672"/>
            <a:ext cx="3474720" cy="822960"/>
          </a:xfrm>
          <a:prstGeom prst="rect">
            <a:avLst/>
          </a:prstGeom>
          <a:noFill/>
          <a:ln/>
        </p:spPr>
        <p:txBody>
          <a:bodyPr wrap="square" lIns="0" tIns="0" rIns="0" bIns="0" rtlCol="0" anchor="t"/>
          <a:lstStyle/>
          <a:p>
            <a:pPr marL="0" indent="0">
              <a:buNone/>
            </a:pPr>
            <a:r>
              <a:rPr lang="en-US" sz="1200" dirty="0">
                <a:solidFill>
                  <a:srgbClr val="A1A1AA"/>
                </a:solidFill>
              </a:rPr>
              <a:t>The fly brain never sees the drone's height or speed, so the sensors help here.</a:t>
            </a:r>
            <a:endParaRPr lang="en-US" sz="1200" dirty="0"/>
          </a:p>
        </p:txBody>
      </p:sp>
      <p:sp>
        <p:nvSpPr>
          <p:cNvPr id="19" name="glossary-0"/>
          <p:cNvSpPr txBox="1"/>
          <p:nvPr/>
        </p:nvSpPr>
        <p:spPr>
          <a:xfrm>
            <a:off x="566928" y="4206240"/>
            <a:ext cx="2775180" cy="411480"/>
          </a:xfrm>
          <a:prstGeom prst="rect">
            <a:avLst/>
          </a:prstGeom>
          <a:noFill/>
          <a:ln/>
        </p:spPr>
        <p:txBody>
          <a:bodyPr wrap="square" lIns="0" tIns="0" rIns="0" bIns="0" rtlCol="0" anchor="t"/>
          <a:lstStyle/>
          <a:p>
            <a:pPr marL="0" indent="0">
              <a:buNone/>
            </a:pPr>
            <a:r>
              <a:rPr lang="en-US" sz="900" b="1" dirty="0">
                <a:solidFill>
                  <a:srgbClr val="A1A1AA"/>
                </a:solidFill>
              </a:rPr>
              <a:t>GPS:</a:t>
            </a:r>
            <a:r>
              <a:rPr lang="en-US" sz="900" dirty="0">
                <a:solidFill>
                  <a:srgbClr val="71717A"/>
                </a:solidFill>
              </a:rPr>
              <a:t> satellite position, here with a wandering 2.5 m error</a:t>
            </a:r>
            <a:endParaRPr lang="en-US" sz="900" dirty="0"/>
          </a:p>
        </p:txBody>
      </p:sp>
      <p:sp>
        <p:nvSpPr>
          <p:cNvPr id="20" name="glossary-1"/>
          <p:cNvSpPr txBox="1"/>
          <p:nvPr/>
        </p:nvSpPr>
        <p:spPr>
          <a:xfrm>
            <a:off x="3616428" y="4206240"/>
            <a:ext cx="1993439" cy="411480"/>
          </a:xfrm>
          <a:prstGeom prst="rect">
            <a:avLst/>
          </a:prstGeom>
          <a:noFill/>
          <a:ln/>
        </p:spPr>
        <p:txBody>
          <a:bodyPr wrap="square" lIns="0" tIns="0" rIns="0" bIns="0" rtlCol="0" anchor="t"/>
          <a:lstStyle/>
          <a:p>
            <a:pPr marL="0" indent="0">
              <a:buNone/>
            </a:pPr>
            <a:r>
              <a:rPr lang="en-US" sz="900" b="1" dirty="0">
                <a:solidFill>
                  <a:srgbClr val="A1A1AA"/>
                </a:solidFill>
              </a:rPr>
              <a:t>Heading:</a:t>
            </a:r>
            <a:r>
              <a:rPr lang="en-US" sz="900" dirty="0">
                <a:solidFill>
                  <a:srgbClr val="71717A"/>
                </a:solidFill>
              </a:rPr>
              <a:t> the direction the nose points</a:t>
            </a:r>
            <a:endParaRPr lang="en-US" sz="900" dirty="0"/>
          </a:p>
        </p:txBody>
      </p:sp>
      <p:sp>
        <p:nvSpPr>
          <p:cNvPr id="21" name="glossary-2"/>
          <p:cNvSpPr txBox="1"/>
          <p:nvPr/>
        </p:nvSpPr>
        <p:spPr>
          <a:xfrm>
            <a:off x="5884188" y="4206240"/>
            <a:ext cx="2775180" cy="411480"/>
          </a:xfrm>
          <a:prstGeom prst="rect">
            <a:avLst/>
          </a:prstGeom>
          <a:noFill/>
          <a:ln/>
        </p:spPr>
        <p:txBody>
          <a:bodyPr wrap="square" lIns="0" tIns="0" rIns="0" bIns="0" rtlCol="0" anchor="t"/>
          <a:lstStyle/>
          <a:p>
            <a:pPr marL="0" indent="0">
              <a:buNone/>
            </a:pPr>
            <a:r>
              <a:rPr lang="en-US" sz="900" b="1" dirty="0">
                <a:solidFill>
                  <a:srgbClr val="A1A1AA"/>
                </a:solidFill>
              </a:rPr>
              <a:t>Our choice:</a:t>
            </a:r>
            <a:r>
              <a:rPr lang="en-US" sz="900" dirty="0">
                <a:solidFill>
                  <a:srgbClr val="71717A"/>
                </a:solidFill>
              </a:rPr>
              <a:t> fly brain = where to go, sensors = stay stable</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1A1AA"/>
                </a:solidFill>
              </a:defRPr>
            </a:lvl1pPr>
          </a:lstStyle>
          <a:p>
            <a:pPr algn="r"/>
            <a:fld id="{F7021451-1387-4CA6-816F-3879F97B5CBC}" type="slidenum">
              <a:rPr lang="en-US" b="0"/>
              <a:t>11</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RESULTS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RESULT: HOVER, TURN, GUST</a:t>
            </a:r>
            <a:endParaRPr lang="en-US" sz="1600" dirty="0"/>
          </a:p>
        </p:txBody>
      </p:sp>
      <p:sp>
        <p:nvSpPr>
          <p:cNvPr id="4" name="r-0"/>
          <p:cNvSpPr/>
          <p:nvPr/>
        </p:nvSpPr>
        <p:spPr>
          <a:xfrm>
            <a:off x="502920" y="1051560"/>
            <a:ext cx="5029200" cy="65836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5" name="r-0-k"/>
          <p:cNvSpPr txBox="1"/>
          <p:nvPr/>
        </p:nvSpPr>
        <p:spPr>
          <a:xfrm>
            <a:off x="713232" y="1243584"/>
            <a:ext cx="1371600" cy="292608"/>
          </a:xfrm>
          <a:prstGeom prst="rect">
            <a:avLst/>
          </a:prstGeom>
          <a:noFill/>
          <a:ln/>
        </p:spPr>
        <p:txBody>
          <a:bodyPr wrap="square" lIns="0" tIns="0" rIns="0" bIns="0" rtlCol="0" anchor="t"/>
          <a:lstStyle/>
          <a:p>
            <a:pPr marL="0" indent="0">
              <a:buNone/>
            </a:pPr>
            <a:r>
              <a:rPr lang="en-US" sz="1300" b="1" dirty="0">
                <a:solidFill>
                  <a:srgbClr val="FAFAFA"/>
                </a:solidFill>
              </a:rPr>
              <a:t>Hover</a:t>
            </a:r>
            <a:endParaRPr lang="en-US" sz="1300" dirty="0"/>
          </a:p>
        </p:txBody>
      </p:sp>
      <p:sp>
        <p:nvSpPr>
          <p:cNvPr id="6" name="r-0-v"/>
          <p:cNvSpPr txBox="1"/>
          <p:nvPr/>
        </p:nvSpPr>
        <p:spPr>
          <a:xfrm>
            <a:off x="2057400" y="1170432"/>
            <a:ext cx="1600200" cy="411480"/>
          </a:xfrm>
          <a:prstGeom prst="rect">
            <a:avLst/>
          </a:prstGeom>
          <a:noFill/>
          <a:ln/>
        </p:spPr>
        <p:txBody>
          <a:bodyPr wrap="square" lIns="0" tIns="0" rIns="0" bIns="0" rtlCol="0" anchor="t"/>
          <a:lstStyle/>
          <a:p>
            <a:pPr marL="0" indent="0">
              <a:buNone/>
            </a:pPr>
            <a:r>
              <a:rPr lang="en-US" sz="2200" dirty="0">
                <a:solidFill>
                  <a:srgbClr val="FF2D6F"/>
                </a:solidFill>
                <a:latin typeface="Roboto Light" pitchFamily="34" charset="0"/>
                <a:ea typeface="Roboto Light" pitchFamily="34" charset="-122"/>
                <a:cs typeface="Roboto Light" pitchFamily="34" charset="-120"/>
              </a:rPr>
              <a:t>1.7°</a:t>
            </a:r>
            <a:endParaRPr lang="en-US" sz="2200" dirty="0"/>
          </a:p>
        </p:txBody>
      </p:sp>
      <p:sp>
        <p:nvSpPr>
          <p:cNvPr id="7" name="r-0-d"/>
          <p:cNvSpPr txBox="1"/>
          <p:nvPr/>
        </p:nvSpPr>
        <p:spPr>
          <a:xfrm>
            <a:off x="3703320" y="1170432"/>
            <a:ext cx="1737360" cy="457200"/>
          </a:xfrm>
          <a:prstGeom prst="rect">
            <a:avLst/>
          </a:prstGeom>
          <a:noFill/>
          <a:ln/>
        </p:spPr>
        <p:txBody>
          <a:bodyPr wrap="square" lIns="0" tIns="0" rIns="0" bIns="0" rtlCol="0" anchor="t"/>
          <a:lstStyle/>
          <a:p>
            <a:pPr marL="0" indent="0">
              <a:buNone/>
            </a:pPr>
            <a:r>
              <a:rPr lang="en-US" sz="1000" dirty="0">
                <a:solidFill>
                  <a:srgbClr val="A1A1AA"/>
                </a:solidFill>
              </a:rPr>
              <a:t>heading error while hovering</a:t>
            </a:r>
            <a:endParaRPr lang="en-US" sz="1000" dirty="0"/>
          </a:p>
        </p:txBody>
      </p:sp>
      <p:sp>
        <p:nvSpPr>
          <p:cNvPr id="8" name="r-1"/>
          <p:cNvSpPr/>
          <p:nvPr/>
        </p:nvSpPr>
        <p:spPr>
          <a:xfrm>
            <a:off x="502920" y="1819656"/>
            <a:ext cx="5029200" cy="65836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9" name="r-1-k"/>
          <p:cNvSpPr txBox="1"/>
          <p:nvPr/>
        </p:nvSpPr>
        <p:spPr>
          <a:xfrm>
            <a:off x="713232" y="2011680"/>
            <a:ext cx="1371600" cy="292608"/>
          </a:xfrm>
          <a:prstGeom prst="rect">
            <a:avLst/>
          </a:prstGeom>
          <a:noFill/>
          <a:ln/>
        </p:spPr>
        <p:txBody>
          <a:bodyPr wrap="square" lIns="0" tIns="0" rIns="0" bIns="0" rtlCol="0" anchor="t"/>
          <a:lstStyle/>
          <a:p>
            <a:pPr marL="0" indent="0">
              <a:buNone/>
            </a:pPr>
            <a:r>
              <a:rPr lang="en-US" sz="1300" b="1" dirty="0">
                <a:solidFill>
                  <a:srgbClr val="FAFAFA"/>
                </a:solidFill>
              </a:rPr>
              <a:t>Target +60°</a:t>
            </a:r>
            <a:endParaRPr lang="en-US" sz="1300" dirty="0"/>
          </a:p>
        </p:txBody>
      </p:sp>
      <p:sp>
        <p:nvSpPr>
          <p:cNvPr id="10" name="r-1-v"/>
          <p:cNvSpPr txBox="1"/>
          <p:nvPr/>
        </p:nvSpPr>
        <p:spPr>
          <a:xfrm>
            <a:off x="2057400" y="1938528"/>
            <a:ext cx="1600200" cy="411480"/>
          </a:xfrm>
          <a:prstGeom prst="rect">
            <a:avLst/>
          </a:prstGeom>
          <a:noFill/>
          <a:ln/>
        </p:spPr>
        <p:txBody>
          <a:bodyPr wrap="square" lIns="0" tIns="0" rIns="0" bIns="0" rtlCol="0" anchor="t"/>
          <a:lstStyle/>
          <a:p>
            <a:pPr marL="0" indent="0">
              <a:buNone/>
            </a:pPr>
            <a:r>
              <a:rPr lang="en-US" sz="2200" dirty="0">
                <a:solidFill>
                  <a:srgbClr val="FF2D6F"/>
                </a:solidFill>
                <a:latin typeface="Roboto Light" pitchFamily="34" charset="0"/>
                <a:ea typeface="Roboto Light" pitchFamily="34" charset="-122"/>
                <a:cs typeface="Roboto Light" pitchFamily="34" charset="-120"/>
              </a:rPr>
              <a:t>7°</a:t>
            </a:r>
            <a:endParaRPr lang="en-US" sz="2200" dirty="0"/>
          </a:p>
        </p:txBody>
      </p:sp>
      <p:sp>
        <p:nvSpPr>
          <p:cNvPr id="11" name="r-1-d"/>
          <p:cNvSpPr txBox="1"/>
          <p:nvPr/>
        </p:nvSpPr>
        <p:spPr>
          <a:xfrm>
            <a:off x="3703320" y="1938528"/>
            <a:ext cx="1737360" cy="457200"/>
          </a:xfrm>
          <a:prstGeom prst="rect">
            <a:avLst/>
          </a:prstGeom>
          <a:noFill/>
          <a:ln/>
        </p:spPr>
        <p:txBody>
          <a:bodyPr wrap="square" lIns="0" tIns="0" rIns="0" bIns="0" rtlCol="0" anchor="t"/>
          <a:lstStyle/>
          <a:p>
            <a:pPr marL="0" indent="0">
              <a:buNone/>
            </a:pPr>
            <a:r>
              <a:rPr lang="en-US" sz="1000" dirty="0">
                <a:solidFill>
                  <a:srgbClr val="A1A1AA"/>
                </a:solidFill>
              </a:rPr>
              <a:t>error after the turn settles (6 s)</a:t>
            </a:r>
            <a:endParaRPr lang="en-US" sz="1000" dirty="0"/>
          </a:p>
        </p:txBody>
      </p:sp>
      <p:sp>
        <p:nvSpPr>
          <p:cNvPr id="12" name="r-2"/>
          <p:cNvSpPr/>
          <p:nvPr/>
        </p:nvSpPr>
        <p:spPr>
          <a:xfrm>
            <a:off x="502920" y="2587752"/>
            <a:ext cx="5029200" cy="65836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13" name="r-2-k"/>
          <p:cNvSpPr txBox="1"/>
          <p:nvPr/>
        </p:nvSpPr>
        <p:spPr>
          <a:xfrm>
            <a:off x="713232" y="2779776"/>
            <a:ext cx="1371600" cy="292608"/>
          </a:xfrm>
          <a:prstGeom prst="rect">
            <a:avLst/>
          </a:prstGeom>
          <a:noFill/>
          <a:ln/>
        </p:spPr>
        <p:txBody>
          <a:bodyPr wrap="square" lIns="0" tIns="0" rIns="0" bIns="0" rtlCol="0" anchor="t"/>
          <a:lstStyle/>
          <a:p>
            <a:pPr marL="0" indent="0">
              <a:buNone/>
            </a:pPr>
            <a:r>
              <a:rPr lang="en-US" sz="1300" b="1" dirty="0">
                <a:solidFill>
                  <a:srgbClr val="FAFAFA"/>
                </a:solidFill>
              </a:rPr>
              <a:t>Target −60°</a:t>
            </a:r>
            <a:endParaRPr lang="en-US" sz="1300" dirty="0"/>
          </a:p>
        </p:txBody>
      </p:sp>
      <p:sp>
        <p:nvSpPr>
          <p:cNvPr id="14" name="r-2-v"/>
          <p:cNvSpPr txBox="1"/>
          <p:nvPr/>
        </p:nvSpPr>
        <p:spPr>
          <a:xfrm>
            <a:off x="2057400" y="2706624"/>
            <a:ext cx="1600200" cy="411480"/>
          </a:xfrm>
          <a:prstGeom prst="rect">
            <a:avLst/>
          </a:prstGeom>
          <a:noFill/>
          <a:ln/>
        </p:spPr>
        <p:txBody>
          <a:bodyPr wrap="square" lIns="0" tIns="0" rIns="0" bIns="0" rtlCol="0" anchor="t"/>
          <a:lstStyle/>
          <a:p>
            <a:pPr marL="0" indent="0">
              <a:buNone/>
            </a:pPr>
            <a:r>
              <a:rPr lang="en-US" sz="2200" dirty="0">
                <a:solidFill>
                  <a:srgbClr val="FF2D6F"/>
                </a:solidFill>
                <a:latin typeface="Roboto Light" pitchFamily="34" charset="0"/>
                <a:ea typeface="Roboto Light" pitchFamily="34" charset="-122"/>
                <a:cs typeface="Roboto Light" pitchFamily="34" charset="-120"/>
              </a:rPr>
              <a:t>21°</a:t>
            </a:r>
            <a:endParaRPr lang="en-US" sz="2200" dirty="0"/>
          </a:p>
        </p:txBody>
      </p:sp>
      <p:sp>
        <p:nvSpPr>
          <p:cNvPr id="15" name="r-2-d"/>
          <p:cNvSpPr txBox="1"/>
          <p:nvPr/>
        </p:nvSpPr>
        <p:spPr>
          <a:xfrm>
            <a:off x="3703320" y="2706624"/>
            <a:ext cx="1737360" cy="457200"/>
          </a:xfrm>
          <a:prstGeom prst="rect">
            <a:avLst/>
          </a:prstGeom>
          <a:noFill/>
          <a:ln/>
        </p:spPr>
        <p:txBody>
          <a:bodyPr wrap="square" lIns="0" tIns="0" rIns="0" bIns="0" rtlCol="0" anchor="t"/>
          <a:lstStyle/>
          <a:p>
            <a:pPr marL="0" indent="0">
              <a:buNone/>
            </a:pPr>
            <a:r>
              <a:rPr lang="en-US" sz="1000" dirty="0">
                <a:solidFill>
                  <a:srgbClr val="A1A1AA"/>
                </a:solidFill>
              </a:rPr>
              <a:t>turns, a bit weaker on the left</a:t>
            </a:r>
            <a:endParaRPr lang="en-US" sz="1000" dirty="0"/>
          </a:p>
        </p:txBody>
      </p:sp>
      <p:sp>
        <p:nvSpPr>
          <p:cNvPr id="16" name="r-3"/>
          <p:cNvSpPr/>
          <p:nvPr/>
        </p:nvSpPr>
        <p:spPr>
          <a:xfrm>
            <a:off x="502920" y="3355848"/>
            <a:ext cx="5029200" cy="65836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17" name="r-3-k"/>
          <p:cNvSpPr txBox="1"/>
          <p:nvPr/>
        </p:nvSpPr>
        <p:spPr>
          <a:xfrm>
            <a:off x="713232" y="3547872"/>
            <a:ext cx="1371600" cy="292608"/>
          </a:xfrm>
          <a:prstGeom prst="rect">
            <a:avLst/>
          </a:prstGeom>
          <a:noFill/>
          <a:ln/>
        </p:spPr>
        <p:txBody>
          <a:bodyPr wrap="square" lIns="0" tIns="0" rIns="0" bIns="0" rtlCol="0" anchor="t"/>
          <a:lstStyle/>
          <a:p>
            <a:pPr marL="0" indent="0">
              <a:buNone/>
            </a:pPr>
            <a:r>
              <a:rPr lang="en-US" sz="1300" b="1" dirty="0">
                <a:solidFill>
                  <a:srgbClr val="FAFAFA"/>
                </a:solidFill>
              </a:rPr>
              <a:t>Gust</a:t>
            </a:r>
            <a:endParaRPr lang="en-US" sz="1300" dirty="0"/>
          </a:p>
        </p:txBody>
      </p:sp>
      <p:sp>
        <p:nvSpPr>
          <p:cNvPr id="18" name="r-3-v"/>
          <p:cNvSpPr txBox="1"/>
          <p:nvPr/>
        </p:nvSpPr>
        <p:spPr>
          <a:xfrm>
            <a:off x="2057400" y="3474720"/>
            <a:ext cx="1600200" cy="411480"/>
          </a:xfrm>
          <a:prstGeom prst="rect">
            <a:avLst/>
          </a:prstGeom>
          <a:noFill/>
          <a:ln/>
        </p:spPr>
        <p:txBody>
          <a:bodyPr wrap="square" lIns="0" tIns="0" rIns="0" bIns="0" rtlCol="0" anchor="t"/>
          <a:lstStyle/>
          <a:p>
            <a:pPr marL="0" indent="0">
              <a:buNone/>
            </a:pPr>
            <a:r>
              <a:rPr lang="en-US" sz="2200" dirty="0">
                <a:solidFill>
                  <a:srgbClr val="FF2D6F"/>
                </a:solidFill>
                <a:latin typeface="Roboto Light" pitchFamily="34" charset="0"/>
                <a:ea typeface="Roboto Light" pitchFamily="34" charset="-122"/>
                <a:cs typeface="Roboto Light" pitchFamily="34" charset="-120"/>
              </a:rPr>
              <a:t>35° to 1.5°</a:t>
            </a:r>
            <a:endParaRPr lang="en-US" sz="2200" dirty="0"/>
          </a:p>
        </p:txBody>
      </p:sp>
      <p:sp>
        <p:nvSpPr>
          <p:cNvPr id="19" name="r-3-d"/>
          <p:cNvSpPr txBox="1"/>
          <p:nvPr/>
        </p:nvSpPr>
        <p:spPr>
          <a:xfrm>
            <a:off x="3703320" y="3474720"/>
            <a:ext cx="1737360" cy="457200"/>
          </a:xfrm>
          <a:prstGeom prst="rect">
            <a:avLst/>
          </a:prstGeom>
          <a:noFill/>
          <a:ln/>
        </p:spPr>
        <p:txBody>
          <a:bodyPr wrap="square" lIns="0" tIns="0" rIns="0" bIns="0" rtlCol="0" anchor="t"/>
          <a:lstStyle/>
          <a:p>
            <a:pPr marL="0" indent="0">
              <a:buNone/>
            </a:pPr>
            <a:r>
              <a:rPr lang="en-US" sz="1000" dirty="0">
                <a:solidFill>
                  <a:srgbClr val="A1A1AA"/>
                </a:solidFill>
              </a:rPr>
              <a:t>pushed off course, back on course in 3.9 s</a:t>
            </a:r>
            <a:endParaRPr lang="en-US" sz="1000" dirty="0"/>
          </a:p>
        </p:txBody>
      </p:sp>
      <p:pic>
        <p:nvPicPr>
          <p:cNvPr id="20" name="img-drone" descr="C:\NeuroFly\docs\prezentacja\assets\drone_chase.jpg"/>
          <p:cNvPicPr>
            <a:picLocks noChangeAspect="1"/>
          </p:cNvPicPr>
          <p:nvPr/>
        </p:nvPicPr>
        <p:blipFill>
          <a:blip r:embed="rId3"/>
          <a:stretch>
            <a:fillRect/>
          </a:stretch>
        </p:blipFill>
        <p:spPr>
          <a:xfrm>
            <a:off x="5806440" y="1051560"/>
            <a:ext cx="2880360" cy="2157984"/>
          </a:xfrm>
          <a:prstGeom prst="rect">
            <a:avLst/>
          </a:prstGeom>
          <a:effectLst>
            <a:outerShdw blurRad="228600" dist="76200" dir="5400000" algn="bl" rotWithShape="0">
              <a:srgbClr val="000000">
                <a:alpha val="55000"/>
              </a:srgbClr>
            </a:outerShdw>
          </a:effectLst>
        </p:spPr>
      </p:pic>
      <p:sp>
        <p:nvSpPr>
          <p:cNvPr id="21" name="r-cap"/>
          <p:cNvSpPr txBox="1"/>
          <p:nvPr/>
        </p:nvSpPr>
        <p:spPr>
          <a:xfrm>
            <a:off x="5806440" y="3337560"/>
            <a:ext cx="2880360" cy="731520"/>
          </a:xfrm>
          <a:prstGeom prst="rect">
            <a:avLst/>
          </a:prstGeom>
          <a:noFill/>
          <a:ln/>
        </p:spPr>
        <p:txBody>
          <a:bodyPr wrap="square" lIns="0" tIns="0" rIns="0" bIns="0" rtlCol="0" anchor="t"/>
          <a:lstStyle/>
          <a:p>
            <a:pPr marL="0" indent="0">
              <a:buNone/>
            </a:pPr>
            <a:r>
              <a:rPr lang="en-US" sz="1000" dirty="0">
                <a:solidFill>
                  <a:srgbClr val="A1A1AA"/>
                </a:solidFill>
              </a:rPr>
              <a:t>Real fly vision and the full fly brain, flying the simulated drone.</a:t>
            </a:r>
            <a:endParaRPr lang="en-US" sz="1000" dirty="0"/>
          </a:p>
        </p:txBody>
      </p:sp>
      <p:sp>
        <p:nvSpPr>
          <p:cNvPr id="22" name="glossary-0"/>
          <p:cNvSpPr txBox="1"/>
          <p:nvPr/>
        </p:nvSpPr>
        <p:spPr>
          <a:xfrm>
            <a:off x="566928" y="4206240"/>
            <a:ext cx="3163529" cy="411480"/>
          </a:xfrm>
          <a:prstGeom prst="rect">
            <a:avLst/>
          </a:prstGeom>
          <a:noFill/>
          <a:ln/>
        </p:spPr>
        <p:txBody>
          <a:bodyPr wrap="square" lIns="0" tIns="0" rIns="0" bIns="0" rtlCol="0" anchor="t"/>
          <a:lstStyle/>
          <a:p>
            <a:pPr marL="0" indent="0">
              <a:buNone/>
            </a:pPr>
            <a:r>
              <a:rPr lang="en-US" sz="900" b="1" dirty="0">
                <a:solidFill>
                  <a:srgbClr val="A1A1AA"/>
                </a:solidFill>
              </a:rPr>
              <a:t>Heading error:</a:t>
            </a:r>
            <a:r>
              <a:rPr lang="en-US" sz="900" dirty="0">
                <a:solidFill>
                  <a:srgbClr val="71717A"/>
                </a:solidFill>
              </a:rPr>
              <a:t> angle between the nose and the target</a:t>
            </a:r>
            <a:endParaRPr lang="en-US" sz="900" dirty="0"/>
          </a:p>
        </p:txBody>
      </p:sp>
      <p:sp>
        <p:nvSpPr>
          <p:cNvPr id="23" name="glossary-1"/>
          <p:cNvSpPr txBox="1"/>
          <p:nvPr/>
        </p:nvSpPr>
        <p:spPr>
          <a:xfrm>
            <a:off x="4004777" y="4206240"/>
            <a:ext cx="2287475" cy="411480"/>
          </a:xfrm>
          <a:prstGeom prst="rect">
            <a:avLst/>
          </a:prstGeom>
          <a:noFill/>
          <a:ln/>
        </p:spPr>
        <p:txBody>
          <a:bodyPr wrap="square" lIns="0" tIns="0" rIns="0" bIns="0" rtlCol="0" anchor="t"/>
          <a:lstStyle/>
          <a:p>
            <a:pPr marL="0" indent="0">
              <a:buNone/>
            </a:pPr>
            <a:r>
              <a:rPr lang="en-US" sz="900" b="1" dirty="0">
                <a:solidFill>
                  <a:srgbClr val="A1A1AA"/>
                </a:solidFill>
              </a:rPr>
              <a:t>Gust:</a:t>
            </a:r>
            <a:r>
              <a:rPr lang="en-US" sz="900" dirty="0">
                <a:solidFill>
                  <a:srgbClr val="71717A"/>
                </a:solidFill>
              </a:rPr>
              <a:t> a simulated sudden wind push</a:t>
            </a:r>
            <a:endParaRPr lang="en-US" sz="900" dirty="0"/>
          </a:p>
        </p:txBody>
      </p:sp>
      <p:sp>
        <p:nvSpPr>
          <p:cNvPr id="24" name="glossary-2"/>
          <p:cNvSpPr txBox="1"/>
          <p:nvPr/>
        </p:nvSpPr>
        <p:spPr>
          <a:xfrm>
            <a:off x="6566572" y="4206240"/>
            <a:ext cx="2092796" cy="411480"/>
          </a:xfrm>
          <a:prstGeom prst="rect">
            <a:avLst/>
          </a:prstGeom>
          <a:noFill/>
          <a:ln/>
        </p:spPr>
        <p:txBody>
          <a:bodyPr wrap="square" lIns="0" tIns="0" rIns="0" bIns="0" rtlCol="0" anchor="t"/>
          <a:lstStyle/>
          <a:p>
            <a:pPr marL="0" indent="0">
              <a:buNone/>
            </a:pPr>
            <a:r>
              <a:rPr lang="en-US" sz="900" b="1" dirty="0">
                <a:solidFill>
                  <a:srgbClr val="A1A1AA"/>
                </a:solidFill>
              </a:rPr>
              <a:t>Heading:</a:t>
            </a:r>
            <a:r>
              <a:rPr lang="en-US" sz="900" dirty="0">
                <a:solidFill>
                  <a:srgbClr val="71717A"/>
                </a:solidFill>
              </a:rPr>
              <a:t> where the nose points</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1A1AA"/>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RESULTS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RESULT: FLIGHT IN NEW WORLDS</a:t>
            </a:r>
            <a:endParaRPr lang="en-US" sz="1600" dirty="0"/>
          </a:p>
        </p:txBody>
      </p:sp>
      <p:graphicFrame>
        <p:nvGraphicFramePr>
          <p:cNvPr id="4" name="chart-world"/>
          <p:cNvGraphicFramePr/>
          <p:nvPr/>
        </p:nvGraphicFramePr>
        <p:xfrm>
          <a:off x="457200" y="1005840"/>
          <a:ext cx="512064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5" name="world-axis"/>
          <p:cNvSpPr txBox="1"/>
          <p:nvPr/>
        </p:nvSpPr>
        <p:spPr>
          <a:xfrm>
            <a:off x="640080" y="3749040"/>
            <a:ext cx="4937760" cy="237744"/>
          </a:xfrm>
          <a:prstGeom prst="rect">
            <a:avLst/>
          </a:prstGeom>
          <a:noFill/>
          <a:ln/>
        </p:spPr>
        <p:txBody>
          <a:bodyPr wrap="square" lIns="0" tIns="0" rIns="0" bIns="0" rtlCol="0" anchor="t"/>
          <a:lstStyle/>
          <a:p>
            <a:pPr marL="0" indent="0">
              <a:buNone/>
            </a:pPr>
            <a:r>
              <a:rPr lang="en-US" sz="1000" dirty="0">
                <a:solidFill>
                  <a:srgbClr val="A1A1AA"/>
                </a:solidFill>
              </a:rPr>
              <a:t>training flights done before each test; red: best weights, kept</a:t>
            </a:r>
            <a:endParaRPr lang="en-US" sz="1000" dirty="0"/>
          </a:p>
        </p:txBody>
      </p:sp>
      <p:sp>
        <p:nvSpPr>
          <p:cNvPr id="6" name="s-best-value"/>
          <p:cNvSpPr txBox="1"/>
          <p:nvPr/>
        </p:nvSpPr>
        <p:spPr>
          <a:xfrm>
            <a:off x="6035040" y="1097280"/>
            <a:ext cx="2743200" cy="548640"/>
          </a:xfrm>
          <a:prstGeom prst="rect">
            <a:avLst/>
          </a:prstGeom>
          <a:noFill/>
          <a:ln/>
        </p:spPr>
        <p:txBody>
          <a:bodyPr wrap="square" lIns="0" tIns="0" rIns="0" bIns="0" rtlCol="0" anchor="t"/>
          <a:lstStyle/>
          <a:p>
            <a:pPr marL="0" indent="0">
              <a:buNone/>
            </a:pPr>
            <a:r>
              <a:rPr lang="en-US" sz="3200" dirty="0">
                <a:solidFill>
                  <a:srgbClr val="FF2D6F"/>
                </a:solidFill>
                <a:latin typeface="Roboto Light" pitchFamily="34" charset="0"/>
                <a:ea typeface="Roboto Light" pitchFamily="34" charset="-122"/>
                <a:cs typeface="Roboto Light" pitchFamily="34" charset="-120"/>
              </a:rPr>
              <a:t>5 / 6</a:t>
            </a:r>
            <a:endParaRPr lang="en-US" sz="3200" dirty="0"/>
          </a:p>
        </p:txBody>
      </p:sp>
      <p:sp>
        <p:nvSpPr>
          <p:cNvPr id="7" name="s-best-label"/>
          <p:cNvSpPr txBox="1"/>
          <p:nvPr/>
        </p:nvSpPr>
        <p:spPr>
          <a:xfrm>
            <a:off x="6035040" y="1664208"/>
            <a:ext cx="2743200" cy="457200"/>
          </a:xfrm>
          <a:prstGeom prst="rect">
            <a:avLst/>
          </a:prstGeom>
          <a:noFill/>
          <a:ln/>
        </p:spPr>
        <p:txBody>
          <a:bodyPr wrap="square" lIns="0" tIns="0" rIns="0" bIns="0" rtlCol="0" anchor="t"/>
          <a:lstStyle/>
          <a:p>
            <a:pPr marL="0" indent="0">
              <a:buNone/>
            </a:pPr>
            <a:r>
              <a:rPr lang="en-US" sz="1200" dirty="0">
                <a:solidFill>
                  <a:srgbClr val="A1A1AA"/>
                </a:solidFill>
              </a:rPr>
              <a:t>new worlds where the drone reached the target</a:t>
            </a:r>
            <a:endParaRPr lang="en-US" sz="1200" dirty="0"/>
          </a:p>
        </p:txBody>
      </p:sp>
      <p:sp>
        <p:nvSpPr>
          <p:cNvPr id="8" name="s-dist-value"/>
          <p:cNvSpPr txBox="1"/>
          <p:nvPr/>
        </p:nvSpPr>
        <p:spPr>
          <a:xfrm>
            <a:off x="6035040" y="2240280"/>
            <a:ext cx="2743200" cy="548640"/>
          </a:xfrm>
          <a:prstGeom prst="rect">
            <a:avLst/>
          </a:prstGeom>
          <a:noFill/>
          <a:ln/>
        </p:spPr>
        <p:txBody>
          <a:bodyPr wrap="square" lIns="0" tIns="0" rIns="0" bIns="0" rtlCol="0" anchor="t"/>
          <a:lstStyle/>
          <a:p>
            <a:pPr marL="0" indent="0">
              <a:buNone/>
            </a:pPr>
            <a:r>
              <a:rPr lang="en-US" sz="2600" dirty="0">
                <a:solidFill>
                  <a:srgbClr val="FAFAFA"/>
                </a:solidFill>
                <a:latin typeface="Roboto Light" pitchFamily="34" charset="0"/>
                <a:ea typeface="Roboto Light" pitchFamily="34" charset="-122"/>
                <a:cs typeface="Roboto Light" pitchFamily="34" charset="-120"/>
              </a:rPr>
              <a:t>18.2 m to 2.1 m</a:t>
            </a:r>
            <a:endParaRPr lang="en-US" sz="2600" dirty="0"/>
          </a:p>
        </p:txBody>
      </p:sp>
      <p:sp>
        <p:nvSpPr>
          <p:cNvPr id="9" name="s-dist-label"/>
          <p:cNvSpPr txBox="1"/>
          <p:nvPr/>
        </p:nvSpPr>
        <p:spPr>
          <a:xfrm>
            <a:off x="6035040" y="2807208"/>
            <a:ext cx="2743200" cy="457200"/>
          </a:xfrm>
          <a:prstGeom prst="rect">
            <a:avLst/>
          </a:prstGeom>
          <a:noFill/>
          <a:ln/>
        </p:spPr>
        <p:txBody>
          <a:bodyPr wrap="square" lIns="0" tIns="0" rIns="0" bIns="0" rtlCol="0" anchor="t"/>
          <a:lstStyle/>
          <a:p>
            <a:pPr marL="0" indent="0">
              <a:buNone/>
            </a:pPr>
            <a:r>
              <a:rPr lang="en-US" sz="1200" dirty="0">
                <a:solidFill>
                  <a:srgbClr val="A1A1AA"/>
                </a:solidFill>
              </a:rPr>
              <a:t>closest the drone got to the target, before vs after training</a:t>
            </a:r>
            <a:endParaRPr lang="en-US" sz="1200" dirty="0"/>
          </a:p>
        </p:txBody>
      </p:sp>
      <p:sp>
        <p:nvSpPr>
          <p:cNvPr id="10" name="world-note"/>
          <p:cNvSpPr txBox="1"/>
          <p:nvPr/>
        </p:nvSpPr>
        <p:spPr>
          <a:xfrm>
            <a:off x="6035040" y="3383280"/>
            <a:ext cx="2743200" cy="548640"/>
          </a:xfrm>
          <a:prstGeom prst="rect">
            <a:avLst/>
          </a:prstGeom>
          <a:noFill/>
          <a:ln/>
        </p:spPr>
        <p:txBody>
          <a:bodyPr wrap="square" lIns="0" tIns="0" rIns="0" bIns="0" rtlCol="0" anchor="t"/>
          <a:lstStyle/>
          <a:p>
            <a:pPr marL="0" indent="0">
              <a:buNone/>
            </a:pPr>
            <a:r>
              <a:rPr lang="en-US" sz="1100" dirty="0">
                <a:solidFill>
                  <a:srgbClr val="A1A1AA"/>
                </a:solidFill>
              </a:rPr>
              <a:t>Start about 20 m away, 40 s to get there, imperfect sensors.</a:t>
            </a:r>
            <a:endParaRPr lang="en-US" sz="1100" dirty="0"/>
          </a:p>
        </p:txBody>
      </p:sp>
      <p:sp>
        <p:nvSpPr>
          <p:cNvPr id="11" name="glossary-0"/>
          <p:cNvSpPr txBox="1"/>
          <p:nvPr/>
        </p:nvSpPr>
        <p:spPr>
          <a:xfrm>
            <a:off x="566928" y="4206240"/>
            <a:ext cx="3233420" cy="411480"/>
          </a:xfrm>
          <a:prstGeom prst="rect">
            <a:avLst/>
          </a:prstGeom>
          <a:noFill/>
          <a:ln/>
        </p:spPr>
        <p:txBody>
          <a:bodyPr wrap="square" lIns="0" tIns="0" rIns="0" bIns="0" rtlCol="0" anchor="t"/>
          <a:lstStyle/>
          <a:p>
            <a:pPr marL="0" indent="0">
              <a:buNone/>
            </a:pPr>
            <a:r>
              <a:rPr lang="en-US" sz="900" b="1" dirty="0">
                <a:solidFill>
                  <a:srgbClr val="A1A1AA"/>
                </a:solidFill>
              </a:rPr>
              <a:t>Test worlds:</a:t>
            </a:r>
            <a:r>
              <a:rPr lang="en-US" sz="900" dirty="0">
                <a:solidFill>
                  <a:srgbClr val="71717A"/>
                </a:solidFill>
              </a:rPr>
              <a:t> 6 fixed worlds the model never trained on</a:t>
            </a:r>
            <a:endParaRPr lang="en-US" sz="900" dirty="0"/>
          </a:p>
        </p:txBody>
      </p:sp>
      <p:sp>
        <p:nvSpPr>
          <p:cNvPr id="12" name="glossary-1"/>
          <p:cNvSpPr txBox="1"/>
          <p:nvPr/>
        </p:nvSpPr>
        <p:spPr>
          <a:xfrm>
            <a:off x="4074668" y="4206240"/>
            <a:ext cx="4584700" cy="411480"/>
          </a:xfrm>
          <a:prstGeom prst="rect">
            <a:avLst/>
          </a:prstGeom>
          <a:noFill/>
          <a:ln/>
        </p:spPr>
        <p:txBody>
          <a:bodyPr wrap="square" lIns="0" tIns="0" rIns="0" bIns="0" rtlCol="0" anchor="t"/>
          <a:lstStyle/>
          <a:p>
            <a:pPr marL="0" indent="0">
              <a:buNone/>
            </a:pPr>
            <a:r>
              <a:rPr lang="en-US" sz="900" b="1" dirty="0">
                <a:solidFill>
                  <a:srgbClr val="A1A1AA"/>
                </a:solidFill>
              </a:rPr>
              <a:t>Closest distance:</a:t>
            </a:r>
            <a:r>
              <a:rPr lang="en-US" sz="900" dirty="0">
                <a:solidFill>
                  <a:srgbClr val="71717A"/>
                </a:solidFill>
              </a:rPr>
              <a:t> how near the drone got to the target, averaged over the 6 worlds</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1A1AA"/>
                </a:solidFill>
              </a:defRPr>
            </a:lvl1pPr>
          </a:lstStyle>
          <a:p>
            <a:pPr algn="r"/>
            <a:fld id="{F7021451-1387-4CA6-816F-3879F97B5CBC}" type="slidenum">
              <a:rPr lang="en-US" b="0"/>
              <a:t>14</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NEXT</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WHY IT MATTERS: WHO GAINS</a:t>
            </a:r>
            <a:endParaRPr lang="en-US" sz="1600" dirty="0"/>
          </a:p>
        </p:txBody>
      </p:sp>
      <p:sp>
        <p:nvSpPr>
          <p:cNvPr id="4" name="u-0"/>
          <p:cNvSpPr/>
          <p:nvPr/>
        </p:nvSpPr>
        <p:spPr>
          <a:xfrm>
            <a:off x="566928" y="1097280"/>
            <a:ext cx="3977640" cy="132588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5" name="u-0-h"/>
          <p:cNvSpPr txBox="1"/>
          <p:nvPr/>
        </p:nvSpPr>
        <p:spPr>
          <a:xfrm>
            <a:off x="795528" y="1261872"/>
            <a:ext cx="3520440" cy="310896"/>
          </a:xfrm>
          <a:prstGeom prst="rect">
            <a:avLst/>
          </a:prstGeom>
          <a:noFill/>
          <a:ln/>
        </p:spPr>
        <p:txBody>
          <a:bodyPr wrap="square" lIns="0" tIns="0" rIns="0" bIns="0" rtlCol="0" anchor="t"/>
          <a:lstStyle/>
          <a:p>
            <a:pPr marL="0" indent="0">
              <a:buNone/>
            </a:pPr>
            <a:r>
              <a:rPr lang="en-US" sz="1500" b="1" dirty="0">
                <a:solidFill>
                  <a:srgbClr val="FFB547"/>
                </a:solidFill>
              </a:rPr>
              <a:t>Neuroscientists</a:t>
            </a:r>
            <a:endParaRPr lang="en-US" sz="1500" dirty="0"/>
          </a:p>
        </p:txBody>
      </p:sp>
      <p:sp>
        <p:nvSpPr>
          <p:cNvPr id="6" name="u-0-d"/>
          <p:cNvSpPr txBox="1"/>
          <p:nvPr/>
        </p:nvSpPr>
        <p:spPr>
          <a:xfrm>
            <a:off x="795528" y="1609344"/>
            <a:ext cx="3520440" cy="411480"/>
          </a:xfrm>
          <a:prstGeom prst="rect">
            <a:avLst/>
          </a:prstGeom>
          <a:noFill/>
          <a:ln/>
        </p:spPr>
        <p:txBody>
          <a:bodyPr wrap="square" lIns="0" tIns="0" rIns="0" bIns="0" rtlCol="0" anchor="t"/>
          <a:lstStyle/>
          <a:p>
            <a:pPr marL="0" indent="0">
              <a:buNone/>
            </a:pPr>
            <a:r>
              <a:rPr lang="en-US" sz="1200" dirty="0">
                <a:solidFill>
                  <a:srgbClr val="FAFAFA"/>
                </a:solidFill>
              </a:rPr>
              <a:t>Put real wiring in a body: which neurons matter?</a:t>
            </a:r>
            <a:endParaRPr lang="en-US" sz="1200" dirty="0"/>
          </a:p>
        </p:txBody>
      </p:sp>
      <p:sp>
        <p:nvSpPr>
          <p:cNvPr id="7" name="u-0-e"/>
          <p:cNvSpPr txBox="1"/>
          <p:nvPr/>
        </p:nvSpPr>
        <p:spPr>
          <a:xfrm>
            <a:off x="795528" y="2066544"/>
            <a:ext cx="3520440" cy="256032"/>
          </a:xfrm>
          <a:prstGeom prst="rect">
            <a:avLst/>
          </a:prstGeom>
          <a:noFill/>
          <a:ln/>
        </p:spPr>
        <p:txBody>
          <a:bodyPr wrap="square" lIns="0" tIns="0" rIns="0" bIns="0" rtlCol="0" anchor="t"/>
          <a:lstStyle/>
          <a:p>
            <a:pPr marL="0" indent="0">
              <a:buNone/>
            </a:pPr>
            <a:r>
              <a:rPr lang="en-US" sz="1100" dirty="0">
                <a:solidFill>
                  <a:srgbClr val="A1A1AA"/>
                </a:solidFill>
              </a:rPr>
              <a:t>Found: single flight neurons know where the target is (99%)</a:t>
            </a:r>
            <a:endParaRPr lang="en-US" sz="1100" dirty="0"/>
          </a:p>
        </p:txBody>
      </p:sp>
      <p:sp>
        <p:nvSpPr>
          <p:cNvPr id="8" name="u-1"/>
          <p:cNvSpPr/>
          <p:nvPr/>
        </p:nvSpPr>
        <p:spPr>
          <a:xfrm>
            <a:off x="4681728" y="1097280"/>
            <a:ext cx="3977640" cy="132588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9" name="u-1-h"/>
          <p:cNvSpPr txBox="1"/>
          <p:nvPr/>
        </p:nvSpPr>
        <p:spPr>
          <a:xfrm>
            <a:off x="4910328" y="1261872"/>
            <a:ext cx="3520440" cy="310896"/>
          </a:xfrm>
          <a:prstGeom prst="rect">
            <a:avLst/>
          </a:prstGeom>
          <a:noFill/>
          <a:ln/>
        </p:spPr>
        <p:txBody>
          <a:bodyPr wrap="square" lIns="0" tIns="0" rIns="0" bIns="0" rtlCol="0" anchor="t"/>
          <a:lstStyle/>
          <a:p>
            <a:pPr marL="0" indent="0">
              <a:buNone/>
            </a:pPr>
            <a:r>
              <a:rPr lang="en-US" sz="1500" b="1" dirty="0">
                <a:solidFill>
                  <a:srgbClr val="2FD3C4"/>
                </a:solidFill>
              </a:rPr>
              <a:t>Drone &amp; robot builders</a:t>
            </a:r>
            <a:endParaRPr lang="en-US" sz="1500" dirty="0"/>
          </a:p>
        </p:txBody>
      </p:sp>
      <p:sp>
        <p:nvSpPr>
          <p:cNvPr id="10" name="u-1-d"/>
          <p:cNvSpPr txBox="1"/>
          <p:nvPr/>
        </p:nvSpPr>
        <p:spPr>
          <a:xfrm>
            <a:off x="4910328" y="1609344"/>
            <a:ext cx="3520440" cy="411480"/>
          </a:xfrm>
          <a:prstGeom prst="rect">
            <a:avLst/>
          </a:prstGeom>
          <a:noFill/>
          <a:ln/>
        </p:spPr>
        <p:txBody>
          <a:bodyPr wrap="square" lIns="0" tIns="0" rIns="0" bIns="0" rtlCol="0" anchor="t"/>
          <a:lstStyle/>
          <a:p>
            <a:pPr marL="0" indent="0">
              <a:buNone/>
            </a:pPr>
            <a:r>
              <a:rPr lang="en-US" sz="1200" dirty="0">
                <a:solidFill>
                  <a:srgbClr val="FAFAFA"/>
                </a:solidFill>
              </a:rPr>
              <a:t>Heading from a plain camera and a biological circuit</a:t>
            </a:r>
            <a:endParaRPr lang="en-US" sz="1200" dirty="0"/>
          </a:p>
        </p:txBody>
      </p:sp>
      <p:sp>
        <p:nvSpPr>
          <p:cNvPr id="11" name="u-1-e"/>
          <p:cNvSpPr txBox="1"/>
          <p:nvPr/>
        </p:nvSpPr>
        <p:spPr>
          <a:xfrm>
            <a:off x="4910328" y="2066544"/>
            <a:ext cx="3520440" cy="256032"/>
          </a:xfrm>
          <a:prstGeom prst="rect">
            <a:avLst/>
          </a:prstGeom>
          <a:noFill/>
          <a:ln/>
        </p:spPr>
        <p:txBody>
          <a:bodyPr wrap="square" lIns="0" tIns="0" rIns="0" bIns="0" rtlCol="0" anchor="t"/>
          <a:lstStyle/>
          <a:p>
            <a:pPr marL="0" indent="0">
              <a:buNone/>
            </a:pPr>
            <a:r>
              <a:rPr lang="en-US" sz="1100" dirty="0">
                <a:solidFill>
                  <a:srgbClr val="A1A1AA"/>
                </a:solidFill>
              </a:rPr>
              <a:t>Direction: small vision-guided drones</a:t>
            </a:r>
            <a:endParaRPr lang="en-US" sz="1100" dirty="0"/>
          </a:p>
        </p:txBody>
      </p:sp>
      <p:sp>
        <p:nvSpPr>
          <p:cNvPr id="12" name="u-2"/>
          <p:cNvSpPr/>
          <p:nvPr/>
        </p:nvSpPr>
        <p:spPr>
          <a:xfrm>
            <a:off x="566928" y="2587752"/>
            <a:ext cx="3977640" cy="132588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13" name="u-2-h"/>
          <p:cNvSpPr txBox="1"/>
          <p:nvPr/>
        </p:nvSpPr>
        <p:spPr>
          <a:xfrm>
            <a:off x="795528" y="2752344"/>
            <a:ext cx="3520440" cy="310896"/>
          </a:xfrm>
          <a:prstGeom prst="rect">
            <a:avLst/>
          </a:prstGeom>
          <a:noFill/>
          <a:ln/>
        </p:spPr>
        <p:txBody>
          <a:bodyPr wrap="square" lIns="0" tIns="0" rIns="0" bIns="0" rtlCol="0" anchor="t"/>
          <a:lstStyle/>
          <a:p>
            <a:pPr marL="0" indent="0">
              <a:buNone/>
            </a:pPr>
            <a:r>
              <a:rPr lang="en-US" sz="1500" b="1" dirty="0">
                <a:solidFill>
                  <a:srgbClr val="A98BFF"/>
                </a:solidFill>
              </a:rPr>
              <a:t>Students &amp; educators</a:t>
            </a:r>
            <a:endParaRPr lang="en-US" sz="1500" dirty="0"/>
          </a:p>
        </p:txBody>
      </p:sp>
      <p:sp>
        <p:nvSpPr>
          <p:cNvPr id="14" name="u-2-d"/>
          <p:cNvSpPr txBox="1"/>
          <p:nvPr/>
        </p:nvSpPr>
        <p:spPr>
          <a:xfrm>
            <a:off x="795528" y="3099816"/>
            <a:ext cx="3520440" cy="411480"/>
          </a:xfrm>
          <a:prstGeom prst="rect">
            <a:avLst/>
          </a:prstGeom>
          <a:noFill/>
          <a:ln/>
        </p:spPr>
        <p:txBody>
          <a:bodyPr wrap="square" lIns="0" tIns="0" rIns="0" bIns="0" rtlCol="0" anchor="t"/>
          <a:lstStyle/>
          <a:p>
            <a:pPr marL="0" indent="0">
              <a:buNone/>
            </a:pPr>
            <a:r>
              <a:rPr lang="en-US" sz="1200" dirty="0">
                <a:solidFill>
                  <a:srgbClr val="FAFAFA"/>
                </a:solidFill>
              </a:rPr>
              <a:t>Watch a real brain work: 3D explorer and live BANC panel</a:t>
            </a:r>
            <a:endParaRPr lang="en-US" sz="1200" dirty="0"/>
          </a:p>
        </p:txBody>
      </p:sp>
      <p:sp>
        <p:nvSpPr>
          <p:cNvPr id="15" name="u-2-e"/>
          <p:cNvSpPr txBox="1"/>
          <p:nvPr/>
        </p:nvSpPr>
        <p:spPr>
          <a:xfrm>
            <a:off x="795528" y="3557016"/>
            <a:ext cx="3520440" cy="256032"/>
          </a:xfrm>
          <a:prstGeom prst="rect">
            <a:avLst/>
          </a:prstGeom>
          <a:noFill/>
          <a:ln/>
        </p:spPr>
        <p:txBody>
          <a:bodyPr wrap="square" lIns="0" tIns="0" rIns="0" bIns="0" rtlCol="0" anchor="t"/>
          <a:lstStyle/>
          <a:p>
            <a:pPr marL="0" indent="0">
              <a:buNone/>
            </a:pPr>
            <a:r>
              <a:rPr lang="en-US" sz="1100" dirty="0">
                <a:solidFill>
                  <a:srgbClr val="A1A1AA"/>
                </a:solidFill>
              </a:rPr>
              <a:t>Connectomics you can see</a:t>
            </a:r>
            <a:endParaRPr lang="en-US" sz="1100" dirty="0"/>
          </a:p>
        </p:txBody>
      </p:sp>
      <p:sp>
        <p:nvSpPr>
          <p:cNvPr id="16" name="u-3"/>
          <p:cNvSpPr/>
          <p:nvPr/>
        </p:nvSpPr>
        <p:spPr>
          <a:xfrm>
            <a:off x="4681728" y="2587752"/>
            <a:ext cx="3977640" cy="132588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17" name="u-3-h"/>
          <p:cNvSpPr txBox="1"/>
          <p:nvPr/>
        </p:nvSpPr>
        <p:spPr>
          <a:xfrm>
            <a:off x="4910328" y="2752344"/>
            <a:ext cx="3520440" cy="310896"/>
          </a:xfrm>
          <a:prstGeom prst="rect">
            <a:avLst/>
          </a:prstGeom>
          <a:noFill/>
          <a:ln/>
        </p:spPr>
        <p:txBody>
          <a:bodyPr wrap="square" lIns="0" tIns="0" rIns="0" bIns="0" rtlCol="0" anchor="t"/>
          <a:lstStyle/>
          <a:p>
            <a:pPr marL="0" indent="0">
              <a:buNone/>
            </a:pPr>
            <a:r>
              <a:rPr lang="en-US" sz="1500" b="1" dirty="0">
                <a:solidFill>
                  <a:srgbClr val="FF4FB0"/>
                </a:solidFill>
              </a:rPr>
              <a:t>Anyone</a:t>
            </a:r>
            <a:endParaRPr lang="en-US" sz="1500" dirty="0"/>
          </a:p>
        </p:txBody>
      </p:sp>
      <p:sp>
        <p:nvSpPr>
          <p:cNvPr id="18" name="u-3-d"/>
          <p:cNvSpPr txBox="1"/>
          <p:nvPr/>
        </p:nvSpPr>
        <p:spPr>
          <a:xfrm>
            <a:off x="4910328" y="3099816"/>
            <a:ext cx="3520440" cy="411480"/>
          </a:xfrm>
          <a:prstGeom prst="rect">
            <a:avLst/>
          </a:prstGeom>
          <a:noFill/>
          <a:ln/>
        </p:spPr>
        <p:txBody>
          <a:bodyPr wrap="square" lIns="0" tIns="0" rIns="0" bIns="0" rtlCol="0" anchor="t"/>
          <a:lstStyle/>
          <a:p>
            <a:pPr marL="0" indent="0">
              <a:buNone/>
            </a:pPr>
            <a:r>
              <a:rPr lang="en-US" sz="1200" dirty="0">
                <a:solidFill>
                  <a:srgbClr val="FAFAFA"/>
                </a:solidFill>
              </a:rPr>
              <a:t>Open data and code, runs on a laptop GPU</a:t>
            </a:r>
            <a:endParaRPr lang="en-US" sz="1200" dirty="0"/>
          </a:p>
        </p:txBody>
      </p:sp>
      <p:sp>
        <p:nvSpPr>
          <p:cNvPr id="19" name="u-3-e"/>
          <p:cNvSpPr txBox="1"/>
          <p:nvPr/>
        </p:nvSpPr>
        <p:spPr>
          <a:xfrm>
            <a:off x="4910328" y="3557016"/>
            <a:ext cx="3520440" cy="256032"/>
          </a:xfrm>
          <a:prstGeom prst="rect">
            <a:avLst/>
          </a:prstGeom>
          <a:noFill/>
          <a:ln/>
        </p:spPr>
        <p:txBody>
          <a:bodyPr wrap="square" lIns="0" tIns="0" rIns="0" bIns="0" rtlCol="0" anchor="t"/>
          <a:lstStyle/>
          <a:p>
            <a:pPr marL="0" indent="0">
              <a:buNone/>
            </a:pPr>
            <a:r>
              <a:rPr lang="en-US" sz="1100" dirty="0">
                <a:solidFill>
                  <a:srgbClr val="A1A1AA"/>
                </a:solidFill>
              </a:rPr>
              <a:t>2.6 ms per frame for the full connectome</a:t>
            </a:r>
            <a:endParaRPr lang="en-US" sz="1100" dirty="0"/>
          </a:p>
        </p:txBody>
      </p:sp>
      <p:sp>
        <p:nvSpPr>
          <p:cNvPr id="20" name="glossary-0"/>
          <p:cNvSpPr txBox="1"/>
          <p:nvPr/>
        </p:nvSpPr>
        <p:spPr>
          <a:xfrm>
            <a:off x="566928" y="4206240"/>
            <a:ext cx="3600450" cy="411480"/>
          </a:xfrm>
          <a:prstGeom prst="rect">
            <a:avLst/>
          </a:prstGeom>
          <a:noFill/>
          <a:ln/>
        </p:spPr>
        <p:txBody>
          <a:bodyPr wrap="square" lIns="0" tIns="0" rIns="0" bIns="0" rtlCol="0" anchor="t"/>
          <a:lstStyle/>
          <a:p>
            <a:pPr marL="0" indent="0">
              <a:buNone/>
            </a:pPr>
            <a:r>
              <a:rPr lang="en-US" sz="900" b="1" dirty="0">
                <a:solidFill>
                  <a:srgbClr val="A1A1AA"/>
                </a:solidFill>
              </a:rPr>
              <a:t>DN:</a:t>
            </a:r>
            <a:r>
              <a:rPr lang="en-US" sz="900" dirty="0">
                <a:solidFill>
                  <a:srgbClr val="71717A"/>
                </a:solidFill>
              </a:rPr>
              <a:t> descending neuron, carries commands from the brain down to the body</a:t>
            </a:r>
            <a:endParaRPr lang="en-US" sz="900" dirty="0"/>
          </a:p>
        </p:txBody>
      </p:sp>
      <p:sp>
        <p:nvSpPr>
          <p:cNvPr id="21" name="glossary-1"/>
          <p:cNvSpPr txBox="1"/>
          <p:nvPr/>
        </p:nvSpPr>
        <p:spPr>
          <a:xfrm>
            <a:off x="4441698" y="4206240"/>
            <a:ext cx="2743200" cy="411480"/>
          </a:xfrm>
          <a:prstGeom prst="rect">
            <a:avLst/>
          </a:prstGeom>
          <a:noFill/>
          <a:ln/>
        </p:spPr>
        <p:txBody>
          <a:bodyPr wrap="square" lIns="0" tIns="0" rIns="0" bIns="0" rtlCol="0" anchor="t"/>
          <a:lstStyle/>
          <a:p>
            <a:pPr marL="0" indent="0">
              <a:buNone/>
            </a:pPr>
            <a:r>
              <a:rPr lang="en-US" sz="900" b="1" dirty="0">
                <a:solidFill>
                  <a:srgbClr val="A1A1AA"/>
                </a:solidFill>
              </a:rPr>
              <a:t>GPU:</a:t>
            </a:r>
            <a:r>
              <a:rPr lang="en-US" sz="900" dirty="0">
                <a:solidFill>
                  <a:srgbClr val="71717A"/>
                </a:solidFill>
              </a:rPr>
              <a:t> graphics card, updates all neurons in parallel</a:t>
            </a:r>
            <a:endParaRPr lang="en-US" sz="900" dirty="0"/>
          </a:p>
        </p:txBody>
      </p:sp>
      <p:sp>
        <p:nvSpPr>
          <p:cNvPr id="22" name="glossary-2"/>
          <p:cNvSpPr txBox="1"/>
          <p:nvPr/>
        </p:nvSpPr>
        <p:spPr>
          <a:xfrm>
            <a:off x="7459218" y="4206240"/>
            <a:ext cx="1200150" cy="411480"/>
          </a:xfrm>
          <a:prstGeom prst="rect">
            <a:avLst/>
          </a:prstGeom>
          <a:noFill/>
          <a:ln/>
        </p:spPr>
        <p:txBody>
          <a:bodyPr wrap="square" lIns="0" tIns="0" rIns="0" bIns="0" rtlCol="0" anchor="t"/>
          <a:lstStyle/>
          <a:p>
            <a:pPr marL="0" indent="0">
              <a:buNone/>
            </a:pPr>
            <a:r>
              <a:rPr lang="en-US" sz="900" b="1" dirty="0">
                <a:solidFill>
                  <a:srgbClr val="A1A1AA"/>
                </a:solidFill>
              </a:rPr>
              <a:t>ms:</a:t>
            </a:r>
            <a:r>
              <a:rPr lang="en-US" sz="900" dirty="0">
                <a:solidFill>
                  <a:srgbClr val="71717A"/>
                </a:solidFill>
              </a:rPr>
              <a:t> millisecond</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1A1AA"/>
                </a:solidFill>
              </a:defRPr>
            </a:lvl1pPr>
          </a:lstStyle>
          <a:p>
            <a:pPr algn="r"/>
            <a:fld id="{F7021451-1387-4CA6-816F-3879F97B5CBC}" type="slidenum">
              <a:rPr lang="en-US" b="0"/>
              <a:t>17</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render-bg" descr="C:\NeuroFly\docs\prezentacja\assets\connectome_wide.jpg"/>
          <p:cNvPicPr>
            <a:picLocks noChangeAspect="1"/>
          </p:cNvPicPr>
          <p:nvPr/>
        </p:nvPicPr>
        <p:blipFill>
          <a:blip r:embed="rId3">
            <a:alphaModFix amt="65000"/>
          </a:blip>
          <a:stretch>
            <a:fillRect/>
          </a:stretch>
        </p:blipFill>
        <p:spPr>
          <a:xfrm>
            <a:off x="3749040" y="685800"/>
            <a:ext cx="5394960" cy="2697480"/>
          </a:xfrm>
          <a:prstGeom prst="rect">
            <a:avLst/>
          </a:prstGeom>
        </p:spPr>
      </p:pic>
      <p:pic>
        <p:nvPicPr>
          <p:cNvPr id="3" name="logo" descr="C:\NeuroFly\docs\prezentacja\assets\logo.png"/>
          <p:cNvPicPr>
            <a:picLocks noChangeAspect="1"/>
          </p:cNvPicPr>
          <p:nvPr/>
        </p:nvPicPr>
        <p:blipFill>
          <a:blip r:embed="rId4"/>
          <a:stretch>
            <a:fillRect/>
          </a:stretch>
        </p:blipFill>
        <p:spPr>
          <a:xfrm>
            <a:off x="548640" y="1005840"/>
            <a:ext cx="914400" cy="539496"/>
          </a:xfrm>
          <a:prstGeom prst="rect">
            <a:avLst/>
          </a:prstGeom>
        </p:spPr>
      </p:pic>
      <p:sp>
        <p:nvSpPr>
          <p:cNvPr id="4" name="eyebrow"/>
          <p:cNvSpPr txBox="1"/>
          <p:nvPr/>
        </p:nvSpPr>
        <p:spPr>
          <a:xfrm>
            <a:off x="548640" y="1691640"/>
            <a:ext cx="4114800" cy="201168"/>
          </a:xfrm>
          <a:prstGeom prst="rect">
            <a:avLst/>
          </a:prstGeom>
          <a:noFill/>
          <a:ln/>
        </p:spPr>
        <p:txBody>
          <a:bodyPr wrap="square" lIns="0" tIns="0" rIns="0" bIns="0" rtlCol="0" anchor="t"/>
          <a:lstStyle/>
          <a:p>
            <a:pPr marL="0" indent="0">
              <a:buNone/>
            </a:pPr>
            <a:r>
              <a:rPr lang="en-US" sz="800" kern="0" spc="500" dirty="0">
                <a:solidFill>
                  <a:srgbClr val="FF2D6F"/>
                </a:solidFill>
              </a:rPr>
              <a:t>NEUROFLY   HACKYEAH</a:t>
            </a:r>
            <a:endParaRPr lang="en-US" sz="800" dirty="0"/>
          </a:p>
        </p:txBody>
      </p:sp>
      <p:sp>
        <p:nvSpPr>
          <p:cNvPr id="5" name="thanks"/>
          <p:cNvSpPr txBox="1"/>
          <p:nvPr/>
        </p:nvSpPr>
        <p:spPr>
          <a:xfrm>
            <a:off x="548640" y="1938528"/>
            <a:ext cx="4754880" cy="731520"/>
          </a:xfrm>
          <a:prstGeom prst="rect">
            <a:avLst/>
          </a:prstGeom>
          <a:noFill/>
          <a:ln/>
        </p:spPr>
        <p:txBody>
          <a:bodyPr wrap="square" lIns="0" tIns="0" rIns="0" bIns="0" rtlCol="0" anchor="t"/>
          <a:lstStyle/>
          <a:p>
            <a:pPr marL="0" indent="0">
              <a:buNone/>
            </a:pPr>
            <a:r>
              <a:rPr lang="en-US" sz="3600" kern="0" spc="200" dirty="0">
                <a:solidFill>
                  <a:srgbClr val="FAFAFA"/>
                </a:solidFill>
                <a:latin typeface="Michroma" pitchFamily="34" charset="0"/>
                <a:ea typeface="Michroma" pitchFamily="34" charset="-122"/>
                <a:cs typeface="Michroma" pitchFamily="34" charset="-120"/>
              </a:rPr>
              <a:t>THANK YOU</a:t>
            </a:r>
            <a:endParaRPr lang="en-US" sz="3600" dirty="0"/>
          </a:p>
        </p:txBody>
      </p:sp>
      <p:pic>
        <p:nvPicPr>
          <p:cNvPr id="6" name="accent-line" descr="C:\NeuroFly\docs\prezentacja\assets\accent_line.png"/>
          <p:cNvPicPr>
            <a:picLocks noChangeAspect="1"/>
          </p:cNvPicPr>
          <p:nvPr/>
        </p:nvPicPr>
        <p:blipFill>
          <a:blip r:embed="rId5"/>
          <a:stretch>
            <a:fillRect/>
          </a:stretch>
        </p:blipFill>
        <p:spPr>
          <a:xfrm>
            <a:off x="548640" y="2697480"/>
            <a:ext cx="45720" cy="731520"/>
          </a:xfrm>
          <a:prstGeom prst="rect">
            <a:avLst/>
          </a:prstGeom>
        </p:spPr>
      </p:pic>
      <p:sp>
        <p:nvSpPr>
          <p:cNvPr id="7" name="demo"/>
          <p:cNvSpPr txBox="1"/>
          <p:nvPr/>
        </p:nvSpPr>
        <p:spPr>
          <a:xfrm>
            <a:off x="777240" y="2724912"/>
            <a:ext cx="3291840" cy="685800"/>
          </a:xfrm>
          <a:prstGeom prst="rect">
            <a:avLst/>
          </a:prstGeom>
          <a:noFill/>
          <a:ln/>
        </p:spPr>
        <p:txBody>
          <a:bodyPr wrap="square" lIns="0" tIns="0" rIns="0" bIns="0" rtlCol="0" anchor="t"/>
          <a:lstStyle/>
          <a:p>
            <a:pPr marL="0" indent="0">
              <a:buNone/>
            </a:pPr>
            <a:r>
              <a:rPr lang="en-US" sz="1500" dirty="0">
                <a:solidFill>
                  <a:srgbClr val="A1A1AA"/>
                </a:solidFill>
              </a:rPr>
              <a:t>A real fly brain chose the heading.</a:t>
            </a:r>
            <a:endParaRPr lang="en-US" sz="1500" dirty="0"/>
          </a:p>
          <a:p>
            <a:pPr marL="0" indent="0">
              <a:buNone/>
            </a:pPr>
            <a:r>
              <a:rPr lang="en-US" sz="1500" dirty="0">
                <a:solidFill>
                  <a:srgbClr val="A1A1AA"/>
                </a:solidFill>
              </a:rPr>
              <a:t>Live demo: BANC panel in flight.</a:t>
            </a:r>
            <a:endParaRPr lang="en-US" sz="1500" dirty="0"/>
          </a:p>
        </p:txBody>
      </p:sp>
      <p:sp>
        <p:nvSpPr>
          <p:cNvPr id="8" name="repo"/>
          <p:cNvSpPr txBox="1"/>
          <p:nvPr/>
        </p:nvSpPr>
        <p:spPr>
          <a:xfrm>
            <a:off x="548640" y="4572000"/>
            <a:ext cx="5486400" cy="274320"/>
          </a:xfrm>
          <a:prstGeom prst="rect">
            <a:avLst/>
          </a:prstGeom>
          <a:noFill/>
          <a:ln/>
        </p:spPr>
        <p:txBody>
          <a:bodyPr wrap="square" lIns="0" tIns="0" rIns="0" bIns="0" rtlCol="0" anchor="t"/>
          <a:lstStyle/>
          <a:p>
            <a:pPr marL="0" indent="0">
              <a:buNone/>
            </a:pPr>
            <a:r>
              <a:rPr lang="en-US" sz="900" kern="0" spc="400" dirty="0">
                <a:solidFill>
                  <a:srgbClr val="FF2D6F"/>
                </a:solidFill>
              </a:rPr>
              <a:t>GITHUB.COM/FALCONDEVX/NEUROFLY</a:t>
            </a:r>
            <a:endParaRPr lang="en-US" sz="900" dirty="0"/>
          </a:p>
        </p:txBody>
      </p:sp>
      <p:sp>
        <p:nvSpPr>
          <p:cNvPr id="9" name="team-label"/>
          <p:cNvSpPr txBox="1"/>
          <p:nvPr/>
        </p:nvSpPr>
        <p:spPr>
          <a:xfrm>
            <a:off x="548640" y="3584448"/>
            <a:ext cx="4114800" cy="201168"/>
          </a:xfrm>
          <a:prstGeom prst="rect">
            <a:avLst/>
          </a:prstGeom>
          <a:noFill/>
          <a:ln/>
        </p:spPr>
        <p:txBody>
          <a:bodyPr wrap="square" lIns="0" tIns="0" rIns="0" bIns="0" rtlCol="0" anchor="t"/>
          <a:lstStyle/>
          <a:p>
            <a:pPr marL="0" indent="0">
              <a:buNone/>
            </a:pPr>
            <a:r>
              <a:rPr lang="en-US" sz="800" kern="0" spc="500" dirty="0">
                <a:solidFill>
                  <a:srgbClr val="FF2D6F"/>
                </a:solidFill>
              </a:rPr>
              <a:t>TEAM</a:t>
            </a:r>
          </a:p>
        </p:txBody>
      </p:sp>
      <p:sp>
        <p:nvSpPr>
          <p:cNvPr id="10" name="team-name"/>
          <p:cNvSpPr txBox="1"/>
          <p:nvPr/>
        </p:nvSpPr>
        <p:spPr>
          <a:xfrm>
            <a:off x="548640" y="3767328"/>
            <a:ext cx="5486400" cy="365760"/>
          </a:xfrm>
          <a:prstGeom prst="rect">
            <a:avLst/>
          </a:prstGeom>
          <a:noFill/>
          <a:ln/>
        </p:spPr>
        <p:txBody>
          <a:bodyPr wrap="square" lIns="0" tIns="0" rIns="0" bIns="0" rtlCol="0" anchor="t"/>
          <a:lstStyle/>
          <a:p>
            <a:pPr marL="0" indent="0">
              <a:buNone/>
            </a:pPr>
            <a:r>
              <a:rPr lang="en-US" sz="1800" kern="0" spc="200" dirty="0">
                <a:solidFill>
                  <a:srgbClr val="FAFAFA"/>
                </a:solidFill>
                <a:latin typeface="Michroma"/>
                <a:cs typeface="Michroma"/>
              </a:rPr>
              <a:t>THE ROOOK</a:t>
            </a:r>
          </a:p>
        </p:txBody>
      </p:sp>
      <p:sp>
        <p:nvSpPr>
          <p:cNvPr id="11" name="team-members"/>
          <p:cNvSpPr txBox="1"/>
          <p:nvPr/>
        </p:nvSpPr>
        <p:spPr>
          <a:xfrm>
            <a:off x="548640" y="4160520"/>
            <a:ext cx="7315200" cy="274320"/>
          </a:xfrm>
          <a:prstGeom prst="rect">
            <a:avLst/>
          </a:prstGeom>
          <a:noFill/>
          <a:ln/>
        </p:spPr>
        <p:txBody>
          <a:bodyPr wrap="square" lIns="0" tIns="0" rIns="0" bIns="0" rtlCol="0" anchor="t"/>
          <a:lstStyle/>
          <a:p>
            <a:pPr marL="0" indent="0">
              <a:buNone/>
            </a:pPr>
            <a:r>
              <a:rPr lang="en-US" sz="1300" kern="0" dirty="0">
                <a:solidFill>
                  <a:srgbClr val="A1A1AA"/>
                </a:solidFill>
              </a:rPr>
              <a:t>Dawid Wypych      Mateusz Nowaczek      Krzysztof Mazur</a:t>
            </a:r>
          </a:p>
        </p:txBody>
      </p:sp>
    </p:spTree>
  </p:cSld>
  <p:clrMapOvr>
    <a:masterClrMapping/>
  </p:clrMapOvr>
</p:sld>
</file>

<file path=ppt/theme/theme1.xml><?xml version="1.0" encoding="utf-8"?>
<a:theme xmlns:a="http://schemas.openxmlformats.org/drawingml/2006/main" name="NeuroFly">
  <a:themeElements>
    <a:clrScheme name="NeuroFly">
      <a:dk1>
        <a:srgbClr val="09090B"/>
      </a:dk1>
      <a:lt1>
        <a:srgbClr val="FAFAFA"/>
      </a:lt1>
      <a:dk2>
        <a:srgbClr val="18181B"/>
      </a:dk2>
      <a:lt2>
        <a:srgbClr val="A1A1AA"/>
      </a:lt2>
      <a:accent1>
        <a:srgbClr val="2FD3C4"/>
      </a:accent1>
      <a:accent2>
        <a:srgbClr val="FFB547"/>
      </a:accent2>
      <a:accent3>
        <a:srgbClr val="FF4FB0"/>
      </a:accent3>
      <a:accent4>
        <a:srgbClr val="4F8CFF"/>
      </a:accent4>
      <a:accent5>
        <a:srgbClr val="52525B"/>
      </a:accent5>
      <a:accent6>
        <a:srgbClr val="27272A"/>
      </a:accent6>
      <a:hlink>
        <a:srgbClr val="2FD3C4"/>
      </a:hlink>
      <a:folHlink>
        <a:srgbClr val="A1A1AA"/>
      </a:folHlink>
    </a:clrScheme>
    <a:fontScheme name="NeuroFly">
      <a:majorFont>
        <a:latin typeface="Michr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3926</Words>
  <Application>Microsoft Office PowerPoint</Application>
  <PresentationFormat>On-screen Show (16:9)</PresentationFormat>
  <Paragraphs>475</Paragraphs>
  <Slides>28</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Roboto</vt:lpstr>
      <vt:lpstr>Michroma</vt:lpstr>
      <vt:lpstr>Arial</vt:lpstr>
      <vt:lpstr>Consolas</vt:lpstr>
      <vt:lpstr>Roboto Light</vt:lpstr>
      <vt:lpstr>Cambria Math</vt:lpstr>
      <vt:lpstr>NeuroFly</vt:lpstr>
      <vt:lpstr>PowerPoint Presentation</vt:lpstr>
      <vt:lpstr>THE IDEA</vt:lpstr>
      <vt:lpstr>WHAT MAKES NEUROFLY DIFFERENT</vt:lpstr>
      <vt:lpstr>HOW IT WORKS: ONE LOOP, 8 STEPS</vt:lpstr>
      <vt:lpstr>STEPS 1–3: SEEING LIKE A FLY</vt:lpstr>
      <vt:lpstr>STEPS 4–5: THE FLY BRAIN</vt:lpstr>
      <vt:lpstr>STEP 6: THE FLIGHT NEURONS</vt:lpstr>
      <vt:lpstr>STEP 6: WHERE THE BRAIN KNOWS THE TARGET</vt:lpstr>
      <vt:lpstr>STEP 7: THE DECODER LEARNS TO READ</vt:lpstr>
      <vt:lpstr>STEP 8: THE DRONE AND ITS WORLD</vt:lpstr>
      <vt:lpstr>WHO STEERS WHAT: GPS FAR, FLY BRAIN NEAR</vt:lpstr>
      <vt:lpstr>RESULT 1: TURNING TO THE TARGET</vt:lpstr>
      <vt:lpstr>RESULT 2: HOVER, TURN, GUST</vt:lpstr>
      <vt:lpstr>RESULT 3: FLIGHT IN NEW WORLDS</vt:lpstr>
      <vt:lpstr>WHAT DOES NOT WORK YET</vt:lpstr>
      <vt:lpstr>FROM BANC VS. OUR ASSUMPTIONS</vt:lpstr>
      <vt:lpstr>WHY IT MATTERS: WHO GAINS</vt:lpstr>
      <vt:lpstr>FROM DEMO TO USERS</vt:lpstr>
      <vt:lpstr>HOW WE SPLIT THE WORK</vt:lpstr>
      <vt:lpstr>TRY IT YOURSELF</vt:lpstr>
      <vt:lpstr>PowerPoint Presentation</vt:lpstr>
      <vt:lpstr>DETAILS: THE BRAIN EQUATION</vt:lpstr>
      <vt:lpstr>DETAILS: CALIBRATION</vt:lpstr>
      <vt:lpstr>DETAILS: THE FLY'S GYROSCOPE</vt:lpstr>
      <vt:lpstr>DETAILS: THE LEFT-EYE GAP</vt:lpstr>
      <vt:lpstr>DETAILS: IMPERFECT SENSORS</vt:lpstr>
      <vt:lpstr>DETAILS: THE TEACHER STEPS BACK</vt:lpstr>
      <vt:lpstr>DETAILS: SPEED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NeuroFly — the brain of a fruit fly pilots a drone</dc:title>
  <dc:subject>PptxGenJS Presentation</dc:subject>
  <dc:creator>NeuroFly team</dc:creator>
  <cp:lastModifiedBy>Mateusz Nowaczek</cp:lastModifiedBy>
  <cp:revision>3</cp:revision>
  <dcterms:created xsi:type="dcterms:W3CDTF">2026-10-03T22:31:14Z</dcterms:created>
  <dcterms:modified xsi:type="dcterms:W3CDTF">2026-10-03T22:34:26Z</dcterms:modified>
</cp:coreProperties>
</file>