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5531dc64-75b5-568e-d36a-dea028201670}">
          <p14:sldIdLst>
            <p14:sldId id="256"/>
          </p14:sldIdLst>
        </p14:section>
        <p14:section name="Idea" id="{bc9fe652-17d6-24b6-3bfc-11b75f351654}">
          <p14:sldIdLst>
            <p14:sldId id="257"/>
            <p14:sldId id="258"/>
          </p14:sldIdLst>
        </p14:section>
        <p14:section name="How it works" id="{bdc3280b-542b-59b4-c1ac-f9c0b3067bdb}">
          <p14:sldIdLst>
            <p14:sldId id="259"/>
            <p14:sldId id="260"/>
          </p14:sldIdLst>
        </p14:section>
        <p14:section name="Results" id="{fdb02bc3-bc62-821f-d2d8-9944bb64f69e}">
          <p14:sldIdLst>
            <p14:sldId id="261"/>
            <p14:sldId id="262"/>
            <p14:sldId id="263"/>
          </p14:sldIdLst>
        </p14:section>
        <p14:section name="Honesty" id="{bdb00849-99b7-4d9a-2a8c-4c2b30b660e0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Target-side accuracy</c:v>
                </c:pt>
              </c:strCache>
            </c:strRef>
          </c:tx>
          <c:spPr>
            <a:solidFill>
              <a:srgbClr val="52525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AFAF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252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252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252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2D6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wing muscle neurons, averaged</c:v>
                  </c:pt>
                  <c:pt idx="1">
                    <c:v>wing muscle neurons, one by one</c:v>
                  </c:pt>
                  <c:pt idx="2">
                    <c:v>vision neurons</c:v>
                  </c:pt>
                  <c:pt idx="3">
                    <c:v>flight neurons, one by one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84</c:v>
                </c:pt>
                <c:pt idx="2">
                  <c:v>94</c:v>
                </c:pt>
                <c:pt idx="3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AFAF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1A1A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NeuroFly: the drone camera image goes through a model of the fly eye (FlyVis), then through the real Drosophila connectome (BANC v888, brain + ventral nerve cord), and flight-neuron activity steers the drone in simulation. Render: semi-transparent NeuroMechFly body (FlyGym) with the BANC connectome inside — body alignment is illustrative — next to the X2 drone from MuJoCo. The threads from flight neurons to the drone are an illustration of the loop, not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AI usually means random weights trained on huge data. We do the opposite: the network is the real fly connectome, mapped synapse by synapse. We run it as the brain of a drone in a closed loop. The brain itself is never trained; we only learn how to read its flight neurons.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use case: the final approach, where GPS is not precise enough. Far away a GPS pilot flies; inside 4 m the turn command comes only from BANC flight neurons. Drone sensors keep it level and at height. Today this runs in MuJoCo; the hardware step is on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camera frame goes once around the loop. Three AI parts: FlyVis (a trained network of the fly visual system), the BANC connectome itself (a biological neural network, simulated as a rate model on the GPU) and the decoder, learned by imitation (DAgger) and trained on 2 laptop GPUs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BANC v888 (Bates et al. 2026, public Lee Lab bucket, DOI 10.7910/DVN/7WTH1N). Groups from super_cluster, cell_function and body_part_sensory columns. Edges with at least 5 synapses, sign from the predicted neurotransmitter.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Ridge regression angle ~ activity, target from −90° to +90° at 3 distances, validated on the distance left out (scripts/check_side_decoding.py). Direction lives in individual descending neurons and is lost when averaged.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FlyVis + full BANC v888 in MuJoCo. Heading: 1,000 flights on 2 GPUs (planB_distributed). Worlds: 300 episodes with noisy sensors and wind; the last 150 with the teacher fully switched off reached the target 138 times. New worlds: seeds 101–106, best checkpoint 5 of 6 reached. Gust: planB_dn decoder, thrust held by the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users verify outputs and stay in control: the live panel (sim/brain_panel.py) shows signal strength in vision, DN, MN and haltere groups, who decides the heading (BANC vs GPS) and the votes of individual neurons. python -m sim.viewer --brain lets a person fly with WASD while the network only observes. The Next.js explorer shows every neuron with its top synaptic partners from the real edge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would rather show the limits than hide them. Each is a concrete next step. The split between what is BANC data and what is our modelling choice is stated on every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evolution wrote the weights, we gave them wings. Team roles follow the three parts of the loop. Disclosure as required: BANC data, FlyVis, FlyGym, MuJoCo and the X2 model are open resources; Claude Code was used as a coding assistant. Everything else was built during HackYeah.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CONTENT-image-3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NeuroFly\docs\prezentacja\assets\accent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82880"/>
            <a:ext cx="36576" cy="749808"/>
          </a:xfrm>
          <a:prstGeom prst="rect">
            <a:avLst/>
          </a:prstGeom>
        </p:spPr>
      </p:pic>
      <p:pic>
        <p:nvPicPr>
          <p:cNvPr id="3" name="Image 1" descr="C:\NeuroFly\docs\prezentacja\asset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90872"/>
            <a:ext cx="310896" cy="18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4645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NeuroFly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title_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title_image3.png"/><Relationship Id="rId4" Type="http://schemas.openxmlformats.org/officeDocument/2006/relationships/image" Target="../media/title_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image" Target="../media/image-4-8.jp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lconDevX/neurofl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-fly-drone" descr="C:\NeuroFly\docs\prezentacja\assets\fly_dro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91440"/>
            <a:ext cx="5852160" cy="4009644"/>
          </a:xfrm>
          <a:prstGeom prst="rect">
            <a:avLst/>
          </a:prstGeom>
        </p:spPr>
      </p:pic>
      <p:pic>
        <p:nvPicPr>
          <p:cNvPr id="3" name="logo" descr="C:\NeuroFly\docs\prezentacja\assets\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868680"/>
            <a:ext cx="914400" cy="539496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548640" y="16276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500" dirty="0">
                <a:solidFill>
                  <a:srgbClr val="FF2D6F"/>
                </a:solidFill>
              </a:rPr>
              <a:t>BANC V888 CONNECTOME</a:t>
            </a:r>
            <a:endParaRPr lang="en-US" sz="8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874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kern="0" spc="20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NEUROFLY</a:t>
            </a:r>
            <a:endParaRPr lang="en-US" sz="4000" dirty="0"/>
          </a:p>
        </p:txBody>
      </p:sp>
      <p:pic>
        <p:nvPicPr>
          <p:cNvPr id="6" name="accent-line" descr="C:\NeuroFly\docs\prezentacja\assets\accent_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88920"/>
            <a:ext cx="45720" cy="868680"/>
          </a:xfrm>
          <a:prstGeom prst="rect">
            <a:avLst/>
          </a:prstGeom>
        </p:spPr>
      </p:pic>
      <p:sp>
        <p:nvSpPr>
          <p:cNvPr id="7" name="subtitle"/>
          <p:cNvSpPr txBox="1"/>
          <p:nvPr/>
        </p:nvSpPr>
        <p:spPr>
          <a:xfrm>
            <a:off x="777239" y="2788920"/>
            <a:ext cx="302103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A1A1AA"/>
                </a:solidFill>
              </a:rPr>
              <a:t>The brain of a fruit fly</a:t>
            </a:r>
            <a:r>
              <a:rPr lang="pl-PL" sz="1800" dirty="0">
                <a:solidFill>
                  <a:srgbClr val="A1A1AA"/>
                </a:solidFill>
              </a:rPr>
              <a:t> which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1A1AA"/>
                </a:solidFill>
              </a:rPr>
              <a:t>pilots a drone</a:t>
            </a:r>
            <a:endParaRPr lang="en-US" sz="1800" dirty="0"/>
          </a:p>
        </p:txBody>
      </p:sp>
      <p:sp>
        <p:nvSpPr>
          <p:cNvPr id="8" name="footer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A1A1AA"/>
                </a:solidFill>
              </a:rPr>
              <a:t>FULL BANC V888 CONNECTOME      175,401 NEURONS      CLOSED LOOP IN MUJOCO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IDEA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MEASURED, NOT TRAINED</a:t>
            </a:r>
            <a:endParaRPr lang="en-US" sz="1600" dirty="0"/>
          </a:p>
        </p:txBody>
      </p:sp>
      <p:sp>
        <p:nvSpPr>
          <p:cNvPr id="4" name="c-ai"/>
          <p:cNvSpPr/>
          <p:nvPr/>
        </p:nvSpPr>
        <p:spPr>
          <a:xfrm>
            <a:off x="502920" y="960120"/>
            <a:ext cx="4937760" cy="86868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5" name="c-ai-k"/>
          <p:cNvSpPr txBox="1"/>
          <p:nvPr/>
        </p:nvSpPr>
        <p:spPr>
          <a:xfrm>
            <a:off x="713232" y="1051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A1A1AA"/>
                </a:solidFill>
              </a:rPr>
              <a:t>TYPICAL AI</a:t>
            </a:r>
            <a:endParaRPr lang="en-US" sz="800" dirty="0"/>
          </a:p>
        </p:txBody>
      </p:sp>
      <p:sp>
        <p:nvSpPr>
          <p:cNvPr id="6" name="c-ai-d"/>
          <p:cNvSpPr txBox="1"/>
          <p:nvPr/>
        </p:nvSpPr>
        <p:spPr>
          <a:xfrm>
            <a:off x="713232" y="1280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Random weights, learned from millions of examples. Nobody can say what one weight means.</a:t>
            </a:r>
            <a:endParaRPr lang="en-US" sz="1200" dirty="0"/>
          </a:p>
        </p:txBody>
      </p:sp>
      <p:sp>
        <p:nvSpPr>
          <p:cNvPr id="7" name="c-nf"/>
          <p:cNvSpPr/>
          <p:nvPr/>
        </p:nvSpPr>
        <p:spPr>
          <a:xfrm>
            <a:off x="502920" y="1938528"/>
            <a:ext cx="4937760" cy="98755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8" name="c-nf-k"/>
          <p:cNvSpPr txBox="1"/>
          <p:nvPr/>
        </p:nvSpPr>
        <p:spPr>
          <a:xfrm>
            <a:off x="713232" y="2029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NEUROFLY</a:t>
            </a:r>
            <a:endParaRPr lang="en-US" sz="800" dirty="0"/>
          </a:p>
        </p:txBody>
      </p:sp>
      <p:sp>
        <p:nvSpPr>
          <p:cNvPr id="9" name="c-nf-d"/>
          <p:cNvSpPr txBox="1"/>
          <p:nvPr/>
        </p:nvSpPr>
        <p:spPr>
          <a:xfrm>
            <a:off x="713232" y="22585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</a:rPr>
              <a:t>The real wiring of a fruit fly, measured synapse by synapse. Tuned by evolution, every neuron has a name.</a:t>
            </a:r>
            <a:endParaRPr lang="en-US" sz="1300" dirty="0"/>
          </a:p>
        </p:txBody>
      </p:sp>
      <p:sp>
        <p:nvSpPr>
          <p:cNvPr id="10" name="s-syn-value"/>
          <p:cNvSpPr txBox="1"/>
          <p:nvPr/>
        </p:nvSpPr>
        <p:spPr>
          <a:xfrm>
            <a:off x="50292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18.6 M</a:t>
            </a:r>
            <a:endParaRPr lang="en-US" sz="3200" dirty="0"/>
          </a:p>
        </p:txBody>
      </p:sp>
      <p:sp>
        <p:nvSpPr>
          <p:cNvPr id="11" name="s-syn-label"/>
          <p:cNvSpPr txBox="1"/>
          <p:nvPr/>
        </p:nvSpPr>
        <p:spPr>
          <a:xfrm>
            <a:off x="502920" y="3630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real synapses in the controller</a:t>
            </a:r>
            <a:endParaRPr lang="en-US" sz="1200" dirty="0"/>
          </a:p>
        </p:txBody>
      </p:sp>
      <p:sp>
        <p:nvSpPr>
          <p:cNvPr id="12" name="s-zero-value"/>
          <p:cNvSpPr txBox="1"/>
          <p:nvPr/>
        </p:nvSpPr>
        <p:spPr>
          <a:xfrm>
            <a:off x="301752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AFAF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</a:t>
            </a:r>
            <a:endParaRPr lang="en-US" sz="3200" dirty="0"/>
          </a:p>
        </p:txBody>
      </p:sp>
      <p:sp>
        <p:nvSpPr>
          <p:cNvPr id="13" name="s-zero-label"/>
          <p:cNvSpPr txBox="1"/>
          <p:nvPr/>
        </p:nvSpPr>
        <p:spPr>
          <a:xfrm>
            <a:off x="3017520" y="3630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invented connections or weights</a:t>
            </a:r>
            <a:endParaRPr lang="en-US" sz="1200" dirty="0"/>
          </a:p>
        </p:txBody>
      </p:sp>
      <p:pic>
        <p:nvPicPr>
          <p:cNvPr id="14" name="img-connectome" descr="C:\NeuroFly\docs\prezentacja\assets\connectome_3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914400"/>
            <a:ext cx="2697480" cy="327355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15" name="glossary-0"/>
          <p:cNvSpPr txBox="1"/>
          <p:nvPr/>
        </p:nvSpPr>
        <p:spPr>
          <a:xfrm>
            <a:off x="566928" y="4206240"/>
            <a:ext cx="356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Connectome: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complete wiring diagram of a nervous system</a:t>
            </a:r>
            <a:endParaRPr lang="en-US" sz="900" dirty="0"/>
          </a:p>
        </p:txBody>
      </p:sp>
      <p:sp>
        <p:nvSpPr>
          <p:cNvPr id="16" name="glossary-1"/>
          <p:cNvSpPr txBox="1"/>
          <p:nvPr/>
        </p:nvSpPr>
        <p:spPr>
          <a:xfrm>
            <a:off x="4403936" y="4206240"/>
            <a:ext cx="425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Right: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whole BANC connectome, 175,401 neurons at their real positions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IDEA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USE CASE: THE LAST METRES</a:t>
            </a:r>
            <a:endParaRPr lang="en-US" sz="1600" dirty="0"/>
          </a:p>
        </p:txBody>
      </p:sp>
      <p:pic>
        <p:nvPicPr>
          <p:cNvPr id="4" name="img-world" descr="C:\NeuroFly\docs\prezentacja\assets\wor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3840480" cy="26974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5" name="cap-world"/>
          <p:cNvSpPr txBox="1"/>
          <p:nvPr/>
        </p:nvSpPr>
        <p:spPr>
          <a:xfrm>
            <a:off x="502920" y="3813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Simulated world: hills, blocks, wind, a target mast</a:t>
            </a:r>
            <a:endParaRPr lang="en-US" sz="1000" dirty="0"/>
          </a:p>
        </p:txBody>
      </p:sp>
      <p:sp>
        <p:nvSpPr>
          <p:cNvPr id="6" name="story"/>
          <p:cNvSpPr txBox="1"/>
          <p:nvPr/>
        </p:nvSpPr>
        <p:spPr>
          <a:xfrm>
            <a:off x="4617720" y="1051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</a:rPr>
              <a:t>A rescue drone homes in on a beacon among rubble or trees, where GPS drifts by metres. GPS brings it close. The last 4 m are steered by the fly brain, from a plain camera.</a:t>
            </a:r>
            <a:endParaRPr lang="en-US" sz="1300" dirty="0"/>
          </a:p>
        </p:txBody>
      </p:sp>
      <p:sp>
        <p:nvSpPr>
          <p:cNvPr id="7" name="bar-gps"/>
          <p:cNvSpPr/>
          <p:nvPr/>
        </p:nvSpPr>
        <p:spPr>
          <a:xfrm>
            <a:off x="4617720" y="2331720"/>
            <a:ext cx="2212848" cy="411480"/>
          </a:xfrm>
          <a:prstGeom prst="rect">
            <a:avLst/>
          </a:prstGeom>
          <a:solidFill>
            <a:srgbClr val="4F8CFF">
              <a:alpha val="45000"/>
            </a:srgbClr>
          </a:solidFill>
          <a:ln w="9525">
            <a:solidFill>
              <a:srgbClr val="4F8CFF"/>
            </a:solidFill>
            <a:prstDash val="solid"/>
          </a:ln>
        </p:spPr>
      </p:sp>
      <p:sp>
        <p:nvSpPr>
          <p:cNvPr id="8" name="bar-banc"/>
          <p:cNvSpPr/>
          <p:nvPr/>
        </p:nvSpPr>
        <p:spPr>
          <a:xfrm>
            <a:off x="6830568" y="2331720"/>
            <a:ext cx="1810512" cy="411480"/>
          </a:xfrm>
          <a:prstGeom prst="rect">
            <a:avLst/>
          </a:prstGeom>
          <a:solidFill>
            <a:srgbClr val="FF2D6F">
              <a:alpha val="65000"/>
            </a:srgbClr>
          </a:solidFill>
          <a:ln w="9525">
            <a:solidFill>
              <a:srgbClr val="FF2D6F"/>
            </a:solidFill>
            <a:prstDash val="solid"/>
          </a:ln>
        </p:spPr>
      </p:sp>
      <p:sp>
        <p:nvSpPr>
          <p:cNvPr id="9" name="bar-gps-t"/>
          <p:cNvSpPr txBox="1"/>
          <p:nvPr/>
        </p:nvSpPr>
        <p:spPr>
          <a:xfrm>
            <a:off x="4754880" y="2432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</a:rPr>
              <a:t>far: GPS</a:t>
            </a:r>
            <a:endParaRPr lang="en-US" sz="1200" dirty="0"/>
          </a:p>
        </p:txBody>
      </p:sp>
      <p:sp>
        <p:nvSpPr>
          <p:cNvPr id="10" name="bar-banc-t"/>
          <p:cNvSpPr txBox="1"/>
          <p:nvPr/>
        </p:nvSpPr>
        <p:spPr>
          <a:xfrm>
            <a:off x="6967728" y="24323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</a:rPr>
              <a:t>near: fly brain</a:t>
            </a:r>
            <a:endParaRPr lang="en-US" sz="1200" dirty="0"/>
          </a:p>
        </p:txBody>
      </p:sp>
      <p:sp>
        <p:nvSpPr>
          <p:cNvPr id="11" name="s-gps-value"/>
          <p:cNvSpPr txBox="1"/>
          <p:nvPr/>
        </p:nvSpPr>
        <p:spPr>
          <a:xfrm>
            <a:off x="461772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4F8C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2.5 m</a:t>
            </a:r>
            <a:endParaRPr lang="en-US" sz="3200" dirty="0"/>
          </a:p>
        </p:txBody>
      </p:sp>
      <p:sp>
        <p:nvSpPr>
          <p:cNvPr id="12" name="s-gps-label"/>
          <p:cNvSpPr txBox="1"/>
          <p:nvPr/>
        </p:nvSpPr>
        <p:spPr>
          <a:xfrm>
            <a:off x="4617720" y="3447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GPS error in our simulation</a:t>
            </a:r>
            <a:endParaRPr lang="en-US" sz="1200" dirty="0"/>
          </a:p>
        </p:txBody>
      </p:sp>
      <p:sp>
        <p:nvSpPr>
          <p:cNvPr id="13" name="s-banc-value"/>
          <p:cNvSpPr txBox="1"/>
          <p:nvPr/>
        </p:nvSpPr>
        <p:spPr>
          <a:xfrm>
            <a:off x="672084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s-banc-label"/>
          <p:cNvSpPr txBox="1"/>
          <p:nvPr/>
        </p:nvSpPr>
        <p:spPr>
          <a:xfrm>
            <a:off x="6720840" y="3447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of the final heading comes from fly neurons</a:t>
            </a:r>
            <a:endParaRPr lang="en-US" sz="1200" dirty="0"/>
          </a:p>
        </p:txBody>
      </p:sp>
      <p:sp>
        <p:nvSpPr>
          <p:cNvPr id="15" name="glossary-0"/>
          <p:cNvSpPr txBox="1"/>
          <p:nvPr/>
        </p:nvSpPr>
        <p:spPr>
          <a:xfrm>
            <a:off x="566928" y="4206240"/>
            <a:ext cx="28390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Beacon: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target the drone must reach, here a dark mast</a:t>
            </a:r>
            <a:endParaRPr lang="en-US" sz="900" dirty="0"/>
          </a:p>
        </p:txBody>
      </p:sp>
      <p:sp>
        <p:nvSpPr>
          <p:cNvPr id="16" name="glossary-1"/>
          <p:cNvSpPr txBox="1"/>
          <p:nvPr/>
        </p:nvSpPr>
        <p:spPr>
          <a:xfrm>
            <a:off x="3680313" y="4206240"/>
            <a:ext cx="2068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Heading: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direction the nose points</a:t>
            </a:r>
            <a:endParaRPr lang="en-US" sz="900" dirty="0"/>
          </a:p>
        </p:txBody>
      </p:sp>
      <p:sp>
        <p:nvSpPr>
          <p:cNvPr id="17" name="glossary-2"/>
          <p:cNvSpPr txBox="1"/>
          <p:nvPr/>
        </p:nvSpPr>
        <p:spPr>
          <a:xfrm>
            <a:off x="6023094" y="4206240"/>
            <a:ext cx="2636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Status: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shown in simulation, not yet on a real drone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HOW IT WORKS: ONE LOOP, 8 STEPS</a:t>
            </a:r>
            <a:endParaRPr lang="en-US" sz="1600" dirty="0"/>
          </a:p>
        </p:txBody>
      </p:sp>
      <p:sp>
        <p:nvSpPr>
          <p:cNvPr id="4" name="node-0"/>
          <p:cNvSpPr/>
          <p:nvPr/>
        </p:nvSpPr>
        <p:spPr>
          <a:xfrm>
            <a:off x="502920" y="1005840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5" name="node-0-img" descr="C:\NeuroFly\docs\prezentacja\assets\eye_r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069848"/>
            <a:ext cx="1655064" cy="694944"/>
          </a:xfrm>
          <a:prstGeom prst="rect">
            <a:avLst/>
          </a:prstGeom>
        </p:spPr>
      </p:pic>
      <p:sp>
        <p:nvSpPr>
          <p:cNvPr id="6" name="node-0-title"/>
          <p:cNvSpPr txBox="1"/>
          <p:nvPr/>
        </p:nvSpPr>
        <p:spPr>
          <a:xfrm>
            <a:off x="630936" y="182880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D3C4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1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Camera</a:t>
            </a:r>
            <a:endParaRPr lang="en-US" sz="1300" dirty="0"/>
          </a:p>
        </p:txBody>
      </p:sp>
      <p:sp>
        <p:nvSpPr>
          <p:cNvPr id="7" name="node-0-desc"/>
          <p:cNvSpPr txBox="1"/>
          <p:nvPr/>
        </p:nvSpPr>
        <p:spPr>
          <a:xfrm>
            <a:off x="630936" y="208483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2 eyes, 157° view each</a:t>
            </a:r>
            <a:endParaRPr lang="en-US" sz="1000" dirty="0"/>
          </a:p>
        </p:txBody>
      </p:sp>
      <p:sp>
        <p:nvSpPr>
          <p:cNvPr id="8" name="node-1"/>
          <p:cNvSpPr/>
          <p:nvPr/>
        </p:nvSpPr>
        <p:spPr>
          <a:xfrm>
            <a:off x="2606040" y="1005840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9" name="node-1-img" descr="C:\NeuroFly\docs\prezentacja\assets\retina_righ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70048" y="1069848"/>
            <a:ext cx="1655064" cy="694944"/>
          </a:xfrm>
          <a:prstGeom prst="rect">
            <a:avLst/>
          </a:prstGeom>
        </p:spPr>
      </p:pic>
      <p:sp>
        <p:nvSpPr>
          <p:cNvPr id="10" name="node-1-title"/>
          <p:cNvSpPr txBox="1"/>
          <p:nvPr/>
        </p:nvSpPr>
        <p:spPr>
          <a:xfrm>
            <a:off x="2734056" y="182880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D3C4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2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Retina</a:t>
            </a:r>
            <a:endParaRPr lang="en-US" sz="1300" dirty="0"/>
          </a:p>
        </p:txBody>
      </p:sp>
      <p:sp>
        <p:nvSpPr>
          <p:cNvPr id="11" name="node-1-desc"/>
          <p:cNvSpPr txBox="1"/>
          <p:nvPr/>
        </p:nvSpPr>
        <p:spPr>
          <a:xfrm>
            <a:off x="2734056" y="208483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721 facets per eye</a:t>
            </a:r>
            <a:endParaRPr lang="en-US" sz="1000" dirty="0"/>
          </a:p>
        </p:txBody>
      </p:sp>
      <p:sp>
        <p:nvSpPr>
          <p:cNvPr id="12" name="node-2"/>
          <p:cNvSpPr/>
          <p:nvPr/>
        </p:nvSpPr>
        <p:spPr>
          <a:xfrm>
            <a:off x="4709160" y="1005840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13" name="node-2-img" descr="C:\NeuroFly\docs\prezentacja\assets\thumb_flyvi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73168" y="1069848"/>
            <a:ext cx="1655064" cy="694944"/>
          </a:xfrm>
          <a:prstGeom prst="rect">
            <a:avLst/>
          </a:prstGeom>
        </p:spPr>
      </p:pic>
      <p:sp>
        <p:nvSpPr>
          <p:cNvPr id="14" name="node-2-ai"/>
          <p:cNvSpPr/>
          <p:nvPr/>
        </p:nvSpPr>
        <p:spPr>
          <a:xfrm>
            <a:off x="4773168" y="1069848"/>
            <a:ext cx="1298448" cy="182880"/>
          </a:xfrm>
          <a:prstGeom prst="rect">
            <a:avLst/>
          </a:prstGeom>
          <a:solidFill>
            <a:srgbClr val="FF2D6F"/>
          </a:solidFill>
          <a:ln w="12700">
            <a:solidFill>
              <a:srgbClr val="FF2D6F"/>
            </a:solidFill>
            <a:prstDash val="solid"/>
          </a:ln>
        </p:spPr>
      </p:sp>
      <p:sp>
        <p:nvSpPr>
          <p:cNvPr id="15" name="node-2-ai-t"/>
          <p:cNvSpPr txBox="1"/>
          <p:nvPr/>
        </p:nvSpPr>
        <p:spPr>
          <a:xfrm>
            <a:off x="4818888" y="109270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AFAFA"/>
                </a:solidFill>
              </a:rPr>
              <a:t>TRAINED NET</a:t>
            </a:r>
            <a:endParaRPr lang="en-US" sz="700" dirty="0"/>
          </a:p>
        </p:txBody>
      </p:sp>
      <p:sp>
        <p:nvSpPr>
          <p:cNvPr id="16" name="node-2-title"/>
          <p:cNvSpPr txBox="1"/>
          <p:nvPr/>
        </p:nvSpPr>
        <p:spPr>
          <a:xfrm>
            <a:off x="4837176" y="182880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D3C4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3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FlyVis</a:t>
            </a:r>
            <a:endParaRPr lang="en-US" sz="1300" dirty="0"/>
          </a:p>
        </p:txBody>
      </p:sp>
      <p:sp>
        <p:nvSpPr>
          <p:cNvPr id="17" name="node-2-desc"/>
          <p:cNvSpPr txBox="1"/>
          <p:nvPr/>
        </p:nvSpPr>
        <p:spPr>
          <a:xfrm>
            <a:off x="4837176" y="208483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fly vision model</a:t>
            </a:r>
            <a:endParaRPr lang="en-US" sz="1000" dirty="0"/>
          </a:p>
        </p:txBody>
      </p:sp>
      <p:sp>
        <p:nvSpPr>
          <p:cNvPr id="18" name="node-3"/>
          <p:cNvSpPr/>
          <p:nvPr/>
        </p:nvSpPr>
        <p:spPr>
          <a:xfrm>
            <a:off x="6812280" y="1005840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19" name="node-3-img" descr="C:\NeuroFly\docs\prezentacja\assets\thumb_map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76288" y="1069848"/>
            <a:ext cx="1655064" cy="694944"/>
          </a:xfrm>
          <a:prstGeom prst="rect">
            <a:avLst/>
          </a:prstGeom>
        </p:spPr>
      </p:pic>
      <p:sp>
        <p:nvSpPr>
          <p:cNvPr id="20" name="node-3-title"/>
          <p:cNvSpPr txBox="1"/>
          <p:nvPr/>
        </p:nvSpPr>
        <p:spPr>
          <a:xfrm>
            <a:off x="6940296" y="182880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D3C4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4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Into the brain</a:t>
            </a:r>
            <a:endParaRPr lang="en-US" sz="1300" dirty="0"/>
          </a:p>
        </p:txBody>
      </p:sp>
      <p:sp>
        <p:nvSpPr>
          <p:cNvPr id="21" name="node-3-desc"/>
          <p:cNvSpPr txBox="1"/>
          <p:nvPr/>
        </p:nvSpPr>
        <p:spPr>
          <a:xfrm>
            <a:off x="6940296" y="208483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22,462 neurons get input</a:t>
            </a:r>
            <a:endParaRPr lang="en-US" sz="1000" dirty="0"/>
          </a:p>
        </p:txBody>
      </p:sp>
      <p:sp>
        <p:nvSpPr>
          <p:cNvPr id="22" name="node-4"/>
          <p:cNvSpPr/>
          <p:nvPr/>
        </p:nvSpPr>
        <p:spPr>
          <a:xfrm>
            <a:off x="502920" y="2670048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23" name="node-4-img" descr="C:\NeuroFly\docs\prezentacja\assets\thumb_wiring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66928" y="2734056"/>
            <a:ext cx="1655064" cy="694944"/>
          </a:xfrm>
          <a:prstGeom prst="rect">
            <a:avLst/>
          </a:prstGeom>
        </p:spPr>
      </p:pic>
      <p:sp>
        <p:nvSpPr>
          <p:cNvPr id="24" name="node-4-ai"/>
          <p:cNvSpPr/>
          <p:nvPr/>
        </p:nvSpPr>
        <p:spPr>
          <a:xfrm>
            <a:off x="566928" y="2734056"/>
            <a:ext cx="1298448" cy="182880"/>
          </a:xfrm>
          <a:prstGeom prst="rect">
            <a:avLst/>
          </a:prstGeom>
          <a:solidFill>
            <a:srgbClr val="FF2D6F"/>
          </a:solidFill>
          <a:ln w="12700">
            <a:solidFill>
              <a:srgbClr val="FF2D6F"/>
            </a:solidFill>
            <a:prstDash val="solid"/>
          </a:ln>
        </p:spPr>
      </p:sp>
      <p:sp>
        <p:nvSpPr>
          <p:cNvPr id="25" name="node-4-ai-t"/>
          <p:cNvSpPr txBox="1"/>
          <p:nvPr/>
        </p:nvSpPr>
        <p:spPr>
          <a:xfrm>
            <a:off x="612648" y="27569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AFAFA"/>
                </a:solidFill>
              </a:rPr>
              <a:t>REAL CONNECTOME</a:t>
            </a:r>
            <a:endParaRPr lang="en-US" sz="700" dirty="0"/>
          </a:p>
        </p:txBody>
      </p:sp>
      <p:sp>
        <p:nvSpPr>
          <p:cNvPr id="26" name="node-4-title"/>
          <p:cNvSpPr txBox="1"/>
          <p:nvPr/>
        </p:nvSpPr>
        <p:spPr>
          <a:xfrm>
            <a:off x="630936" y="349300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B547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5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Fly brain</a:t>
            </a:r>
            <a:endParaRPr lang="en-US" sz="1300" dirty="0"/>
          </a:p>
        </p:txBody>
      </p:sp>
      <p:sp>
        <p:nvSpPr>
          <p:cNvPr id="27" name="node-4-desc"/>
          <p:cNvSpPr txBox="1"/>
          <p:nvPr/>
        </p:nvSpPr>
        <p:spPr>
          <a:xfrm>
            <a:off x="630936" y="3749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175,401 neurons on GPU</a:t>
            </a:r>
            <a:endParaRPr lang="en-US" sz="1000" dirty="0"/>
          </a:p>
        </p:txBody>
      </p:sp>
      <p:sp>
        <p:nvSpPr>
          <p:cNvPr id="28" name="node-5"/>
          <p:cNvSpPr/>
          <p:nvPr/>
        </p:nvSpPr>
        <p:spPr>
          <a:xfrm>
            <a:off x="2606040" y="2670048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29" name="node-5-img" descr="C:\NeuroFly\docs\prezentacja\assets\thumb_circuit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670048" y="2734056"/>
            <a:ext cx="1655064" cy="694944"/>
          </a:xfrm>
          <a:prstGeom prst="rect">
            <a:avLst/>
          </a:prstGeom>
        </p:spPr>
      </p:pic>
      <p:sp>
        <p:nvSpPr>
          <p:cNvPr id="30" name="node-5-ai"/>
          <p:cNvSpPr/>
          <p:nvPr/>
        </p:nvSpPr>
        <p:spPr>
          <a:xfrm>
            <a:off x="2670048" y="2734056"/>
            <a:ext cx="1298448" cy="182880"/>
          </a:xfrm>
          <a:prstGeom prst="rect">
            <a:avLst/>
          </a:prstGeom>
          <a:solidFill>
            <a:srgbClr val="FF2D6F"/>
          </a:solidFill>
          <a:ln w="12700">
            <a:solidFill>
              <a:srgbClr val="FF2D6F"/>
            </a:solidFill>
            <a:prstDash val="solid"/>
          </a:ln>
        </p:spPr>
      </p:sp>
      <p:sp>
        <p:nvSpPr>
          <p:cNvPr id="31" name="node-5-ai-t"/>
          <p:cNvSpPr txBox="1"/>
          <p:nvPr/>
        </p:nvSpPr>
        <p:spPr>
          <a:xfrm>
            <a:off x="2715768" y="27569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AFAFA"/>
                </a:solidFill>
              </a:rPr>
              <a:t>REAL CONNECTOME</a:t>
            </a:r>
            <a:endParaRPr lang="en-US" sz="700" dirty="0"/>
          </a:p>
        </p:txBody>
      </p:sp>
      <p:sp>
        <p:nvSpPr>
          <p:cNvPr id="32" name="node-5-title"/>
          <p:cNvSpPr txBox="1"/>
          <p:nvPr/>
        </p:nvSpPr>
        <p:spPr>
          <a:xfrm>
            <a:off x="2734056" y="349300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4FB0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6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Flight neurons</a:t>
            </a:r>
            <a:endParaRPr lang="en-US" sz="1300" dirty="0"/>
          </a:p>
        </p:txBody>
      </p:sp>
      <p:sp>
        <p:nvSpPr>
          <p:cNvPr id="33" name="node-5-desc"/>
          <p:cNvSpPr txBox="1"/>
          <p:nvPr/>
        </p:nvSpPr>
        <p:spPr>
          <a:xfrm>
            <a:off x="2734056" y="3749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commands to the wings</a:t>
            </a:r>
            <a:endParaRPr lang="en-US" sz="1000" dirty="0"/>
          </a:p>
        </p:txBody>
      </p:sp>
      <p:sp>
        <p:nvSpPr>
          <p:cNvPr id="34" name="node-6"/>
          <p:cNvSpPr/>
          <p:nvPr/>
        </p:nvSpPr>
        <p:spPr>
          <a:xfrm>
            <a:off x="4709160" y="2670048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35" name="node-6-img" descr="C:\NeuroFly\docs\prezentacja\assets\thumb_decoder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773168" y="2734056"/>
            <a:ext cx="1655064" cy="694944"/>
          </a:xfrm>
          <a:prstGeom prst="rect">
            <a:avLst/>
          </a:prstGeom>
        </p:spPr>
      </p:pic>
      <p:sp>
        <p:nvSpPr>
          <p:cNvPr id="36" name="node-6-ai"/>
          <p:cNvSpPr/>
          <p:nvPr/>
        </p:nvSpPr>
        <p:spPr>
          <a:xfrm>
            <a:off x="4773168" y="2734056"/>
            <a:ext cx="1298448" cy="182880"/>
          </a:xfrm>
          <a:prstGeom prst="rect">
            <a:avLst/>
          </a:prstGeom>
          <a:solidFill>
            <a:srgbClr val="FF2D6F"/>
          </a:solidFill>
          <a:ln w="12700">
            <a:solidFill>
              <a:srgbClr val="FF2D6F"/>
            </a:solidFill>
            <a:prstDash val="solid"/>
          </a:ln>
        </p:spPr>
      </p:sp>
      <p:sp>
        <p:nvSpPr>
          <p:cNvPr id="37" name="node-6-ai-t"/>
          <p:cNvSpPr txBox="1"/>
          <p:nvPr/>
        </p:nvSpPr>
        <p:spPr>
          <a:xfrm>
            <a:off x="4818888" y="27569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AFAFA"/>
                </a:solidFill>
              </a:rPr>
              <a:t>IMITATION LEARNING</a:t>
            </a:r>
            <a:endParaRPr lang="en-US" sz="700" dirty="0"/>
          </a:p>
        </p:txBody>
      </p:sp>
      <p:sp>
        <p:nvSpPr>
          <p:cNvPr id="38" name="node-6-title"/>
          <p:cNvSpPr txBox="1"/>
          <p:nvPr/>
        </p:nvSpPr>
        <p:spPr>
          <a:xfrm>
            <a:off x="4837176" y="349300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7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Decoder</a:t>
            </a:r>
            <a:endParaRPr lang="en-US" sz="1300" dirty="0"/>
          </a:p>
        </p:txBody>
      </p:sp>
      <p:sp>
        <p:nvSpPr>
          <p:cNvPr id="39" name="node-6-desc"/>
          <p:cNvSpPr txBox="1"/>
          <p:nvPr/>
        </p:nvSpPr>
        <p:spPr>
          <a:xfrm>
            <a:off x="4837176" y="3749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turns them into 4 numbers</a:t>
            </a:r>
            <a:endParaRPr lang="en-US" sz="1000" dirty="0"/>
          </a:p>
        </p:txBody>
      </p:sp>
      <p:sp>
        <p:nvSpPr>
          <p:cNvPr id="40" name="node-7"/>
          <p:cNvSpPr/>
          <p:nvPr/>
        </p:nvSpPr>
        <p:spPr>
          <a:xfrm>
            <a:off x="6812280" y="2670048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41" name="node-7-img" descr="C:\NeuroFly\docs\prezentacja\assets\drone_chase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876288" y="2734056"/>
            <a:ext cx="1655064" cy="694944"/>
          </a:xfrm>
          <a:prstGeom prst="rect">
            <a:avLst/>
          </a:prstGeom>
        </p:spPr>
      </p:pic>
      <p:sp>
        <p:nvSpPr>
          <p:cNvPr id="42" name="node-7-title"/>
          <p:cNvSpPr txBox="1"/>
          <p:nvPr/>
        </p:nvSpPr>
        <p:spPr>
          <a:xfrm>
            <a:off x="6940296" y="349300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8CF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8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Drone</a:t>
            </a:r>
            <a:endParaRPr lang="en-US" sz="1300" dirty="0"/>
          </a:p>
        </p:txBody>
      </p:sp>
      <p:sp>
        <p:nvSpPr>
          <p:cNvPr id="43" name="node-7-desc"/>
          <p:cNvSpPr txBox="1"/>
          <p:nvPr/>
        </p:nvSpPr>
        <p:spPr>
          <a:xfrm>
            <a:off x="6940296" y="3749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moves, then back to 1</a:t>
            </a:r>
            <a:endParaRPr lang="en-US" sz="1000" dirty="0"/>
          </a:p>
        </p:txBody>
      </p:sp>
      <p:sp>
        <p:nvSpPr>
          <p:cNvPr id="44" name="glossary-0"/>
          <p:cNvSpPr txBox="1"/>
          <p:nvPr/>
        </p:nvSpPr>
        <p:spPr>
          <a:xfrm>
            <a:off x="566928" y="4206240"/>
            <a:ext cx="1876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Red tag: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where AI works in the loop</a:t>
            </a:r>
            <a:endParaRPr lang="en-US" sz="900" dirty="0"/>
          </a:p>
        </p:txBody>
      </p:sp>
      <p:sp>
        <p:nvSpPr>
          <p:cNvPr id="45" name="glossary-1"/>
          <p:cNvSpPr txBox="1"/>
          <p:nvPr/>
        </p:nvSpPr>
        <p:spPr>
          <a:xfrm>
            <a:off x="2717426" y="4206240"/>
            <a:ext cx="26579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FlyVis: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published model of the fly eye and visual brain</a:t>
            </a:r>
            <a:endParaRPr lang="en-US" sz="900" dirty="0"/>
          </a:p>
        </p:txBody>
      </p:sp>
      <p:sp>
        <p:nvSpPr>
          <p:cNvPr id="46" name="glossary-2"/>
          <p:cNvSpPr txBox="1"/>
          <p:nvPr/>
        </p:nvSpPr>
        <p:spPr>
          <a:xfrm>
            <a:off x="5649665" y="4206240"/>
            <a:ext cx="30097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Speed: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2.6 ms per frame for the whole connectome on a laptop GPU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THE BRAIN: REAL, NOT INVENTED</a:t>
            </a:r>
            <a:endParaRPr lang="en-US" sz="1600" dirty="0"/>
          </a:p>
        </p:txBody>
      </p:sp>
      <p:pic>
        <p:nvPicPr>
          <p:cNvPr id="4" name="render-circuit" descr="C:\NeuroFly\docs\prezentacja\assets\circuit_3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2743200" cy="3328416"/>
          </a:xfrm>
          <a:prstGeom prst="rect">
            <a:avLst/>
          </a:prstGeom>
        </p:spPr>
      </p:pic>
      <p:sp>
        <p:nvSpPr>
          <p:cNvPr id="5" name="s-neurons-value"/>
          <p:cNvSpPr txBox="1"/>
          <p:nvPr/>
        </p:nvSpPr>
        <p:spPr>
          <a:xfrm>
            <a:off x="3566160" y="1051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AFAF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175,401</a:t>
            </a:r>
            <a:endParaRPr lang="en-US" sz="3200" dirty="0"/>
          </a:p>
        </p:txBody>
      </p:sp>
      <p:sp>
        <p:nvSpPr>
          <p:cNvPr id="6" name="s-neurons-label"/>
          <p:cNvSpPr txBox="1"/>
          <p:nvPr/>
        </p:nvSpPr>
        <p:spPr>
          <a:xfrm>
            <a:off x="3566160" y="1618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neurons in the fly brain and nerve cord</a:t>
            </a:r>
            <a:endParaRPr lang="en-US" sz="1200" dirty="0"/>
          </a:p>
        </p:txBody>
      </p:sp>
      <p:sp>
        <p:nvSpPr>
          <p:cNvPr id="7" name="s-edges-value"/>
          <p:cNvSpPr txBox="1"/>
          <p:nvPr/>
        </p:nvSpPr>
        <p:spPr>
          <a:xfrm>
            <a:off x="6172200" y="1051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AFAF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1.53 M</a:t>
            </a:r>
            <a:endParaRPr lang="en-US" sz="3200" dirty="0"/>
          </a:p>
        </p:txBody>
      </p:sp>
      <p:sp>
        <p:nvSpPr>
          <p:cNvPr id="8" name="s-edges-label"/>
          <p:cNvSpPr txBox="1"/>
          <p:nvPr/>
        </p:nvSpPr>
        <p:spPr>
          <a:xfrm>
            <a:off x="6172200" y="1618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neuron-to-neuron connections we use</a:t>
            </a:r>
            <a:endParaRPr lang="en-US" sz="1200" dirty="0"/>
          </a:p>
        </p:txBody>
      </p:sp>
      <p:sp>
        <p:nvSpPr>
          <p:cNvPr id="9" name="g-0-c"/>
          <p:cNvSpPr txBox="1"/>
          <p:nvPr/>
        </p:nvSpPr>
        <p:spPr>
          <a:xfrm>
            <a:off x="356616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54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375</a:t>
            </a:r>
            <a:endParaRPr lang="en-US" sz="2200" dirty="0"/>
          </a:p>
        </p:txBody>
      </p:sp>
      <p:sp>
        <p:nvSpPr>
          <p:cNvPr id="10" name="g-0-d"/>
          <p:cNvSpPr txBox="1"/>
          <p:nvPr/>
        </p:nvSpPr>
        <p:spPr>
          <a:xfrm>
            <a:off x="3566160" y="2715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flight neurons from the brain</a:t>
            </a:r>
            <a:endParaRPr lang="en-US" sz="1000" dirty="0"/>
          </a:p>
        </p:txBody>
      </p:sp>
      <p:sp>
        <p:nvSpPr>
          <p:cNvPr id="11" name="g-1-c"/>
          <p:cNvSpPr txBox="1"/>
          <p:nvPr/>
        </p:nvSpPr>
        <p:spPr>
          <a:xfrm>
            <a:off x="530352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4FB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60</a:t>
            </a:r>
            <a:endParaRPr lang="en-US" sz="2200" dirty="0"/>
          </a:p>
        </p:txBody>
      </p:sp>
      <p:sp>
        <p:nvSpPr>
          <p:cNvPr id="12" name="g-1-d"/>
          <p:cNvSpPr txBox="1"/>
          <p:nvPr/>
        </p:nvSpPr>
        <p:spPr>
          <a:xfrm>
            <a:off x="5303520" y="2715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wing muscle neurons</a:t>
            </a:r>
            <a:endParaRPr lang="en-US" sz="1000" dirty="0"/>
          </a:p>
        </p:txBody>
      </p:sp>
      <p:sp>
        <p:nvSpPr>
          <p:cNvPr id="13" name="g-2-c"/>
          <p:cNvSpPr txBox="1"/>
          <p:nvPr/>
        </p:nvSpPr>
        <p:spPr>
          <a:xfrm>
            <a:off x="704088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4F8C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428</a:t>
            </a:r>
            <a:endParaRPr lang="en-US" sz="2200" dirty="0"/>
          </a:p>
        </p:txBody>
      </p:sp>
      <p:sp>
        <p:nvSpPr>
          <p:cNvPr id="14" name="g-2-d"/>
          <p:cNvSpPr txBox="1"/>
          <p:nvPr/>
        </p:nvSpPr>
        <p:spPr>
          <a:xfrm>
            <a:off x="7040880" y="2715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haltere neurons, the fly's gyroscope</a:t>
            </a:r>
            <a:endParaRPr lang="en-US" sz="1000" dirty="0"/>
          </a:p>
        </p:txBody>
      </p:sp>
      <p:sp>
        <p:nvSpPr>
          <p:cNvPr id="15" name="rule"/>
          <p:cNvSpPr txBox="1"/>
          <p:nvPr/>
        </p:nvSpPr>
        <p:spPr>
          <a:xfrm>
            <a:off x="356616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AFAFA"/>
                </a:solidFill>
              </a:rPr>
              <a:t>Every group comes from official BANC labels. We never guess a neuron's name or add a connection.</a:t>
            </a:r>
            <a:endParaRPr lang="en-US" sz="1200" dirty="0"/>
          </a:p>
        </p:txBody>
      </p:sp>
      <p:sp>
        <p:nvSpPr>
          <p:cNvPr id="16" name="glossary-0"/>
          <p:cNvSpPr txBox="1"/>
          <p:nvPr/>
        </p:nvSpPr>
        <p:spPr>
          <a:xfrm>
            <a:off x="3566160" y="4206240"/>
            <a:ext cx="27276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Left: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863 flight neurons in full 3D shape, from BANC skeletons</a:t>
            </a:r>
            <a:endParaRPr lang="en-US" sz="900" dirty="0"/>
          </a:p>
        </p:txBody>
      </p:sp>
      <p:sp>
        <p:nvSpPr>
          <p:cNvPr id="17" name="glossary-1"/>
          <p:cNvSpPr txBox="1"/>
          <p:nvPr/>
        </p:nvSpPr>
        <p:spPr>
          <a:xfrm>
            <a:off x="6568094" y="4206240"/>
            <a:ext cx="20729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Haltere: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tiny hind wing that senses rotation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SINGLE NEURONS KNOW THE TARGET</a:t>
            </a:r>
            <a:endParaRPr lang="en-US" sz="1600" dirty="0"/>
          </a:p>
        </p:txBody>
      </p:sp>
      <p:graphicFrame>
        <p:nvGraphicFramePr>
          <p:cNvPr id="4" name="chart-side" descr=""/>
          <p:cNvGraphicFramePr/>
          <p:nvPr/>
        </p:nvGraphicFramePr>
        <p:xfrm>
          <a:off x="457200" y="1051560"/>
          <a:ext cx="5120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-dn-value"/>
          <p:cNvSpPr txBox="1"/>
          <p:nvPr/>
        </p:nvSpPr>
        <p:spPr>
          <a:xfrm>
            <a:off x="603504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99%</a:t>
            </a:r>
            <a:endParaRPr lang="en-US" sz="3200" dirty="0"/>
          </a:p>
        </p:txBody>
      </p:sp>
      <p:sp>
        <p:nvSpPr>
          <p:cNvPr id="6" name="s-dn-label"/>
          <p:cNvSpPr txBox="1"/>
          <p:nvPr/>
        </p:nvSpPr>
        <p:spPr>
          <a:xfrm>
            <a:off x="6035040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of scenes where single flight neurons tell left from right correctly</a:t>
            </a:r>
            <a:endParaRPr lang="en-US" sz="1200" dirty="0"/>
          </a:p>
        </p:txBody>
      </p:sp>
      <p:sp>
        <p:nvSpPr>
          <p:cNvPr id="7" name="s-mn-value"/>
          <p:cNvSpPr txBox="1"/>
          <p:nvPr/>
        </p:nvSpPr>
        <p:spPr>
          <a:xfrm>
            <a:off x="603504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A1A1A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68%</a:t>
            </a:r>
            <a:endParaRPr lang="en-US" sz="3200" dirty="0"/>
          </a:p>
        </p:txBody>
      </p:sp>
      <p:sp>
        <p:nvSpPr>
          <p:cNvPr id="8" name="s-mn-label"/>
          <p:cNvSpPr txBox="1"/>
          <p:nvPr/>
        </p:nvSpPr>
        <p:spPr>
          <a:xfrm>
            <a:off x="6035040" y="2944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if you average the muscle neurons: left and right cancel out</a:t>
            </a:r>
            <a:endParaRPr lang="en-US" sz="1200" dirty="0"/>
          </a:p>
        </p:txBody>
      </p:sp>
      <p:sp>
        <p:nvSpPr>
          <p:cNvPr id="9" name="so"/>
          <p:cNvSpPr txBox="1"/>
          <p:nvPr/>
        </p:nvSpPr>
        <p:spPr>
          <a:xfrm>
            <a:off x="603504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AFAFA"/>
                </a:solidFill>
              </a:rPr>
              <a:t>So we read the brain neuron by neuron.</a:t>
            </a:r>
            <a:endParaRPr lang="en-US" sz="1200" dirty="0"/>
          </a:p>
        </p:txBody>
      </p:sp>
      <p:sp>
        <p:nvSpPr>
          <p:cNvPr id="10" name="glossary-0"/>
          <p:cNvSpPr txBox="1"/>
          <p:nvPr/>
        </p:nvSpPr>
        <p:spPr>
          <a:xfrm>
            <a:off x="566928" y="420624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Accuracy: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how often we can tell which side the target is on (50% = guessing)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RESULTS: IT LEARNS TO FLY TO THE TARGET</a:t>
            </a:r>
            <a:endParaRPr lang="en-US" sz="1600" dirty="0"/>
          </a:p>
        </p:txBody>
      </p:sp>
      <p:sp>
        <p:nvSpPr>
          <p:cNvPr id="4" name="r-0"/>
          <p:cNvSpPr/>
          <p:nvPr/>
        </p:nvSpPr>
        <p:spPr>
          <a:xfrm>
            <a:off x="502920" y="1024128"/>
            <a:ext cx="5029200" cy="658368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5" name="r-0-v"/>
          <p:cNvSpPr txBox="1"/>
          <p:nvPr/>
        </p:nvSpPr>
        <p:spPr>
          <a:xfrm>
            <a:off x="713232" y="1143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25.1° to 2.65°</a:t>
            </a:r>
            <a:endParaRPr lang="en-US" sz="2200" dirty="0"/>
          </a:p>
        </p:txBody>
      </p:sp>
      <p:sp>
        <p:nvSpPr>
          <p:cNvPr id="6" name="r-0-d"/>
          <p:cNvSpPr txBox="1"/>
          <p:nvPr/>
        </p:nvSpPr>
        <p:spPr>
          <a:xfrm>
            <a:off x="3108960" y="11338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average heading miss, before vs after 1,000 training flights</a:t>
            </a:r>
            <a:endParaRPr lang="en-US" sz="1100" dirty="0"/>
          </a:p>
        </p:txBody>
      </p:sp>
      <p:sp>
        <p:nvSpPr>
          <p:cNvPr id="7" name="r-1"/>
          <p:cNvSpPr/>
          <p:nvPr/>
        </p:nvSpPr>
        <p:spPr>
          <a:xfrm>
            <a:off x="502920" y="1792224"/>
            <a:ext cx="5029200" cy="658368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8" name="r-1-v"/>
          <p:cNvSpPr txBox="1"/>
          <p:nvPr/>
        </p:nvSpPr>
        <p:spPr>
          <a:xfrm>
            <a:off x="713232" y="19110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138 / 150</a:t>
            </a:r>
            <a:endParaRPr lang="en-US" sz="2200" dirty="0"/>
          </a:p>
        </p:txBody>
      </p:sp>
      <p:sp>
        <p:nvSpPr>
          <p:cNvPr id="9" name="r-1-d"/>
          <p:cNvSpPr txBox="1"/>
          <p:nvPr/>
        </p:nvSpPr>
        <p:spPr>
          <a:xfrm>
            <a:off x="3108960" y="1901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flights reached the target with no teacher at all (92%)</a:t>
            </a:r>
            <a:endParaRPr lang="en-US" sz="1100" dirty="0"/>
          </a:p>
        </p:txBody>
      </p:sp>
      <p:sp>
        <p:nvSpPr>
          <p:cNvPr id="10" name="r-2"/>
          <p:cNvSpPr/>
          <p:nvPr/>
        </p:nvSpPr>
        <p:spPr>
          <a:xfrm>
            <a:off x="502920" y="2560320"/>
            <a:ext cx="5029200" cy="658368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1" name="r-2-v"/>
          <p:cNvSpPr txBox="1"/>
          <p:nvPr/>
        </p:nvSpPr>
        <p:spPr>
          <a:xfrm>
            <a:off x="713232" y="2679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18.2 m to 2.1 m</a:t>
            </a:r>
            <a:endParaRPr lang="en-US" sz="2200" dirty="0"/>
          </a:p>
        </p:txBody>
      </p:sp>
      <p:sp>
        <p:nvSpPr>
          <p:cNvPr id="12" name="r-2-d"/>
          <p:cNvSpPr txBox="1"/>
          <p:nvPr/>
        </p:nvSpPr>
        <p:spPr>
          <a:xfrm>
            <a:off x="3108960" y="2670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closest approach in 6 new worlds never seen in training</a:t>
            </a:r>
            <a:endParaRPr lang="en-US" sz="1100" dirty="0"/>
          </a:p>
        </p:txBody>
      </p:sp>
      <p:sp>
        <p:nvSpPr>
          <p:cNvPr id="13" name="r-3"/>
          <p:cNvSpPr/>
          <p:nvPr/>
        </p:nvSpPr>
        <p:spPr>
          <a:xfrm>
            <a:off x="502920" y="3328416"/>
            <a:ext cx="5029200" cy="658368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4" name="r-3-v"/>
          <p:cNvSpPr txBox="1"/>
          <p:nvPr/>
        </p:nvSpPr>
        <p:spPr>
          <a:xfrm>
            <a:off x="713232" y="3447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35° to 1.5°</a:t>
            </a:r>
            <a:endParaRPr lang="en-US" sz="2200" dirty="0"/>
          </a:p>
        </p:txBody>
      </p:sp>
      <p:sp>
        <p:nvSpPr>
          <p:cNvPr id="15" name="r-3-d"/>
          <p:cNvSpPr txBox="1"/>
          <p:nvPr/>
        </p:nvSpPr>
        <p:spPr>
          <a:xfrm>
            <a:off x="3108960" y="34381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pushed off course by a gust, back on course in 3.9 s</a:t>
            </a:r>
            <a:endParaRPr lang="en-US" sz="1100" dirty="0"/>
          </a:p>
        </p:txBody>
      </p:sp>
      <p:pic>
        <p:nvPicPr>
          <p:cNvPr id="16" name="img-drone" descr="C:\NeuroFly\docs\prezentacja\assets\drone_l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024128"/>
            <a:ext cx="2834640" cy="1911096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pic>
        <p:nvPicPr>
          <p:cNvPr id="17" name="img-eyes" descr="C:\NeuroFly\docs\prezentacja\assets\eyes_liv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017520"/>
            <a:ext cx="2834640" cy="107899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18" name="glossary-0"/>
          <p:cNvSpPr txBox="1"/>
          <p:nvPr/>
        </p:nvSpPr>
        <p:spPr>
          <a:xfrm>
            <a:off x="566928" y="4206240"/>
            <a:ext cx="3909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Heading miss: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angle between the nose and the target, 0° = straight at it</a:t>
            </a:r>
            <a:endParaRPr lang="en-US" sz="900" dirty="0"/>
          </a:p>
        </p:txBody>
      </p:sp>
      <p:sp>
        <p:nvSpPr>
          <p:cNvPr id="19" name="glossary-1"/>
          <p:cNvSpPr txBox="1"/>
          <p:nvPr/>
        </p:nvSpPr>
        <p:spPr>
          <a:xfrm>
            <a:off x="4750308" y="4206240"/>
            <a:ext cx="3909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Bottom right: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what the drone's two eyes see, the target is the dark mast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YOU STAY IN CONTROL</a:t>
            </a:r>
            <a:endParaRPr lang="en-US" sz="1600" dirty="0"/>
          </a:p>
        </p:txBody>
      </p:sp>
      <p:pic>
        <p:nvPicPr>
          <p:cNvPr id="4" name="img-panel" descr="C:\NeuroFly\docs\prezentacja\assets\panel_l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2103120" cy="31089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5" name="k-0"/>
          <p:cNvSpPr/>
          <p:nvPr/>
        </p:nvSpPr>
        <p:spPr>
          <a:xfrm>
            <a:off x="2926080" y="960120"/>
            <a:ext cx="5715000" cy="71323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6" name="k-0-n"/>
          <p:cNvSpPr txBox="1"/>
          <p:nvPr/>
        </p:nvSpPr>
        <p:spPr>
          <a:xfrm>
            <a:off x="3108960" y="1143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k-0-h"/>
          <p:cNvSpPr txBox="1"/>
          <p:nvPr/>
        </p:nvSpPr>
        <p:spPr>
          <a:xfrm>
            <a:off x="3520440" y="1051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See who steers</a:t>
            </a:r>
            <a:endParaRPr lang="en-US" sz="1300" dirty="0"/>
          </a:p>
        </p:txBody>
      </p:sp>
      <p:sp>
        <p:nvSpPr>
          <p:cNvPr id="8" name="k-0-d"/>
          <p:cNvSpPr txBox="1"/>
          <p:nvPr/>
        </p:nvSpPr>
        <p:spPr>
          <a:xfrm>
            <a:off x="3520440" y="13075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Live share of the heading from the fly brain vs GPS, plus the final command.</a:t>
            </a:r>
            <a:endParaRPr lang="en-US" sz="1050" dirty="0"/>
          </a:p>
        </p:txBody>
      </p:sp>
      <p:sp>
        <p:nvSpPr>
          <p:cNvPr id="9" name="k-1"/>
          <p:cNvSpPr/>
          <p:nvPr/>
        </p:nvSpPr>
        <p:spPr>
          <a:xfrm>
            <a:off x="2926080" y="1746504"/>
            <a:ext cx="5715000" cy="71323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0" name="k-1-n"/>
          <p:cNvSpPr txBox="1"/>
          <p:nvPr/>
        </p:nvSpPr>
        <p:spPr>
          <a:xfrm>
            <a:off x="3108960" y="19293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k-1-h"/>
          <p:cNvSpPr txBox="1"/>
          <p:nvPr/>
        </p:nvSpPr>
        <p:spPr>
          <a:xfrm>
            <a:off x="3520440" y="18379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See why it turns</a:t>
            </a:r>
            <a:endParaRPr lang="en-US" sz="1300" dirty="0"/>
          </a:p>
        </p:txBody>
      </p:sp>
      <p:sp>
        <p:nvSpPr>
          <p:cNvPr id="12" name="k-1-d"/>
          <p:cNvSpPr txBox="1"/>
          <p:nvPr/>
        </p:nvSpPr>
        <p:spPr>
          <a:xfrm>
            <a:off x="3520440" y="209397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Each flight neuron's vote for left or right, from the real decoder weights.</a:t>
            </a:r>
            <a:endParaRPr lang="en-US" sz="1050" dirty="0"/>
          </a:p>
        </p:txBody>
      </p:sp>
      <p:sp>
        <p:nvSpPr>
          <p:cNvPr id="13" name="k-2"/>
          <p:cNvSpPr/>
          <p:nvPr/>
        </p:nvSpPr>
        <p:spPr>
          <a:xfrm>
            <a:off x="2926080" y="2532888"/>
            <a:ext cx="5715000" cy="71323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4" name="k-2-n"/>
          <p:cNvSpPr txBox="1"/>
          <p:nvPr/>
        </p:nvSpPr>
        <p:spPr>
          <a:xfrm>
            <a:off x="3108960" y="27157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k-2-h"/>
          <p:cNvSpPr txBox="1"/>
          <p:nvPr/>
        </p:nvSpPr>
        <p:spPr>
          <a:xfrm>
            <a:off x="3520440" y="26243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Take over any time</a:t>
            </a:r>
            <a:endParaRPr lang="en-US" sz="1300" dirty="0"/>
          </a:p>
        </p:txBody>
      </p:sp>
      <p:sp>
        <p:nvSpPr>
          <p:cNvPr id="16" name="k-2-d"/>
          <p:cNvSpPr txBox="1"/>
          <p:nvPr/>
        </p:nvSpPr>
        <p:spPr>
          <a:xfrm>
            <a:off x="3520440" y="2880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Sensors keep the drone level, GPS takes over far away, a pilot can fly by keyboard while the brain only watches.</a:t>
            </a:r>
            <a:endParaRPr lang="en-US" sz="1050" dirty="0"/>
          </a:p>
        </p:txBody>
      </p:sp>
      <p:sp>
        <p:nvSpPr>
          <p:cNvPr id="17" name="k-3"/>
          <p:cNvSpPr/>
          <p:nvPr/>
        </p:nvSpPr>
        <p:spPr>
          <a:xfrm>
            <a:off x="2926080" y="3319272"/>
            <a:ext cx="5715000" cy="71323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8" name="k-3-n"/>
          <p:cNvSpPr txBox="1"/>
          <p:nvPr/>
        </p:nvSpPr>
        <p:spPr>
          <a:xfrm>
            <a:off x="3108960" y="350215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k-3-h"/>
          <p:cNvSpPr txBox="1"/>
          <p:nvPr/>
        </p:nvSpPr>
        <p:spPr>
          <a:xfrm>
            <a:off x="3520440" y="3410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Check every neuron</a:t>
            </a:r>
            <a:endParaRPr lang="en-US" sz="1300" dirty="0"/>
          </a:p>
        </p:txBody>
      </p:sp>
      <p:sp>
        <p:nvSpPr>
          <p:cNvPr id="20" name="k-3-d"/>
          <p:cNvSpPr txBox="1"/>
          <p:nvPr/>
        </p:nvSpPr>
        <p:spPr>
          <a:xfrm>
            <a:off x="3520440" y="36667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3D explorer: every neuron, its class and its real synaptic partners from BANC.</a:t>
            </a:r>
            <a:endParaRPr lang="en-US" sz="1050" dirty="0"/>
          </a:p>
        </p:txBody>
      </p:sp>
      <p:sp>
        <p:nvSpPr>
          <p:cNvPr id="21" name="glossary-0"/>
          <p:cNvSpPr txBox="1"/>
          <p:nvPr/>
        </p:nvSpPr>
        <p:spPr>
          <a:xfrm>
            <a:off x="566928" y="4206240"/>
            <a:ext cx="34689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Left: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live BANC panel in flight, a brain you can watch</a:t>
            </a:r>
            <a:endParaRPr lang="en-US" sz="900" dirty="0"/>
          </a:p>
        </p:txBody>
      </p:sp>
      <p:sp>
        <p:nvSpPr>
          <p:cNvPr id="22" name="glossary-1"/>
          <p:cNvSpPr txBox="1"/>
          <p:nvPr/>
        </p:nvSpPr>
        <p:spPr>
          <a:xfrm>
            <a:off x="4310215" y="4206240"/>
            <a:ext cx="43491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Not a black box: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every command traces back from pixel to neuron to wing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HONESTY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HONEST LIMITS AND NEXT STEPS</a:t>
            </a:r>
            <a:endParaRPr lang="en-US" sz="1600" dirty="0"/>
          </a:p>
        </p:txBody>
      </p:sp>
      <p:sp>
        <p:nvSpPr>
          <p:cNvPr id="4" name="lim-k"/>
          <p:cNvSpPr txBox="1"/>
          <p:nvPr/>
        </p:nvSpPr>
        <p:spPr>
          <a:xfrm>
            <a:off x="566928" y="1005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WHAT DOES NOT WORK YET</a:t>
            </a:r>
            <a:endParaRPr lang="en-US" sz="800" dirty="0"/>
          </a:p>
        </p:txBody>
      </p:sp>
      <p:sp>
        <p:nvSpPr>
          <p:cNvPr id="5" name="lim-0-h"/>
          <p:cNvSpPr txBox="1"/>
          <p:nvPr/>
        </p:nvSpPr>
        <p:spPr>
          <a:xfrm>
            <a:off x="566928" y="1280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Lift</a:t>
            </a:r>
            <a:endParaRPr lang="en-US" sz="1300" dirty="0"/>
          </a:p>
        </p:txBody>
      </p:sp>
      <p:sp>
        <p:nvSpPr>
          <p:cNvPr id="6" name="lim-0-d"/>
          <p:cNvSpPr txBox="1"/>
          <p:nvPr/>
        </p:nvSpPr>
        <p:spPr>
          <a:xfrm>
            <a:off x="1783080" y="1298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fly-brain thrust too weak, the simulator holds height</a:t>
            </a:r>
            <a:endParaRPr lang="en-US" sz="1100" dirty="0"/>
          </a:p>
        </p:txBody>
      </p:sp>
      <p:sp>
        <p:nvSpPr>
          <p:cNvPr id="7" name="lim-1-h"/>
          <p:cNvSpPr txBox="1"/>
          <p:nvPr/>
        </p:nvSpPr>
        <p:spPr>
          <a:xfrm>
            <a:off x="566928" y="1938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Left eye</a:t>
            </a:r>
            <a:endParaRPr lang="en-US" sz="1300" dirty="0"/>
          </a:p>
        </p:txBody>
      </p:sp>
      <p:sp>
        <p:nvSpPr>
          <p:cNvPr id="8" name="lim-1-d"/>
          <p:cNvSpPr txBox="1"/>
          <p:nvPr/>
        </p:nvSpPr>
        <p:spPr>
          <a:xfrm>
            <a:off x="1783080" y="195681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fewer labelled neurons in BANC, ~3× less input</a:t>
            </a:r>
            <a:endParaRPr lang="en-US" sz="1100" dirty="0"/>
          </a:p>
        </p:txBody>
      </p:sp>
      <p:sp>
        <p:nvSpPr>
          <p:cNvPr id="9" name="lim-2-h"/>
          <p:cNvSpPr txBox="1"/>
          <p:nvPr/>
        </p:nvSpPr>
        <p:spPr>
          <a:xfrm>
            <a:off x="566928" y="2596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Obstacles</a:t>
            </a:r>
            <a:endParaRPr lang="en-US" sz="1300" dirty="0"/>
          </a:p>
        </p:txBody>
      </p:sp>
      <p:sp>
        <p:nvSpPr>
          <p:cNvPr id="10" name="lim-2-d"/>
          <p:cNvSpPr txBox="1"/>
          <p:nvPr/>
        </p:nvSpPr>
        <p:spPr>
          <a:xfrm>
            <a:off x="1783080" y="26151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the fly brain does not avoid blocks yet</a:t>
            </a:r>
            <a:endParaRPr lang="en-US" sz="1100" dirty="0"/>
          </a:p>
        </p:txBody>
      </p:sp>
      <p:sp>
        <p:nvSpPr>
          <p:cNvPr id="11" name="lim-3-h"/>
          <p:cNvSpPr txBox="1"/>
          <p:nvPr/>
        </p:nvSpPr>
        <p:spPr>
          <a:xfrm>
            <a:off x="566928" y="3255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Hardware</a:t>
            </a:r>
            <a:endParaRPr lang="en-US" sz="1300" dirty="0"/>
          </a:p>
        </p:txBody>
      </p:sp>
      <p:sp>
        <p:nvSpPr>
          <p:cNvPr id="12" name="lim-3-d"/>
          <p:cNvSpPr txBox="1"/>
          <p:nvPr/>
        </p:nvSpPr>
        <p:spPr>
          <a:xfrm>
            <a:off x="1783080" y="32735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simulation only, no real drone flown</a:t>
            </a:r>
            <a:endParaRPr lang="en-US" sz="1100" dirty="0"/>
          </a:p>
        </p:txBody>
      </p:sp>
      <p:sp>
        <p:nvSpPr>
          <p:cNvPr id="13" name="road-0"/>
          <p:cNvSpPr/>
          <p:nvPr/>
        </p:nvSpPr>
        <p:spPr>
          <a:xfrm>
            <a:off x="4709160" y="1005840"/>
            <a:ext cx="3931920" cy="89611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4" name="road-0-k"/>
          <p:cNvSpPr txBox="1"/>
          <p:nvPr/>
        </p:nvSpPr>
        <p:spPr>
          <a:xfrm>
            <a:off x="4919472" y="1133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TODAY</a:t>
            </a:r>
            <a:endParaRPr lang="en-US" sz="1300" dirty="0"/>
          </a:p>
        </p:txBody>
      </p:sp>
      <p:sp>
        <p:nvSpPr>
          <p:cNvPr id="15" name="road-0-s"/>
          <p:cNvSpPr txBox="1"/>
          <p:nvPr/>
        </p:nvSpPr>
        <p:spPr>
          <a:xfrm>
            <a:off x="7040880" y="115214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demonstrated</a:t>
            </a:r>
            <a:endParaRPr lang="en-US" sz="900" dirty="0"/>
          </a:p>
        </p:txBody>
      </p:sp>
      <p:sp>
        <p:nvSpPr>
          <p:cNvPr id="16" name="road-0-d"/>
          <p:cNvSpPr txBox="1"/>
          <p:nvPr/>
        </p:nvSpPr>
        <p:spPr>
          <a:xfrm>
            <a:off x="4919472" y="1463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</a:rPr>
              <a:t>Full BANC steers a simulated drone in random worlds</a:t>
            </a:r>
            <a:endParaRPr lang="en-US" sz="1100" dirty="0"/>
          </a:p>
        </p:txBody>
      </p:sp>
      <p:sp>
        <p:nvSpPr>
          <p:cNvPr id="17" name="road-1"/>
          <p:cNvSpPr/>
          <p:nvPr/>
        </p:nvSpPr>
        <p:spPr>
          <a:xfrm>
            <a:off x="4709160" y="2029968"/>
            <a:ext cx="3931920" cy="89611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8" name="road-1-k"/>
          <p:cNvSpPr txBox="1"/>
          <p:nvPr/>
        </p:nvSpPr>
        <p:spPr>
          <a:xfrm>
            <a:off x="4919472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A2B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NEXT</a:t>
            </a:r>
            <a:endParaRPr lang="en-US" sz="1300" dirty="0"/>
          </a:p>
        </p:txBody>
      </p:sp>
      <p:sp>
        <p:nvSpPr>
          <p:cNvPr id="19" name="road-1-s"/>
          <p:cNvSpPr txBox="1"/>
          <p:nvPr/>
        </p:nvSpPr>
        <p:spPr>
          <a:xfrm>
            <a:off x="7040880" y="21762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planned</a:t>
            </a:r>
            <a:endParaRPr lang="en-US" sz="900" dirty="0"/>
          </a:p>
        </p:txBody>
      </p:sp>
      <p:sp>
        <p:nvSpPr>
          <p:cNvPr id="20" name="road-1-d"/>
          <p:cNvSpPr txBox="1"/>
          <p:nvPr/>
        </p:nvSpPr>
        <p:spPr>
          <a:xfrm>
            <a:off x="4919472" y="24871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</a:rPr>
              <a:t>Two cameras on a micro-drone, connectome on an onboard GPU</a:t>
            </a:r>
            <a:endParaRPr lang="en-US" sz="1100" dirty="0"/>
          </a:p>
        </p:txBody>
      </p:sp>
      <p:sp>
        <p:nvSpPr>
          <p:cNvPr id="21" name="road-2"/>
          <p:cNvSpPr/>
          <p:nvPr/>
        </p:nvSpPr>
        <p:spPr>
          <a:xfrm>
            <a:off x="4709160" y="3054096"/>
            <a:ext cx="3931920" cy="89611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22" name="road-2-k"/>
          <p:cNvSpPr txBox="1"/>
          <p:nvPr/>
        </p:nvSpPr>
        <p:spPr>
          <a:xfrm>
            <a:off x="4919472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LATER</a:t>
            </a:r>
            <a:endParaRPr lang="en-US" sz="1300" dirty="0"/>
          </a:p>
        </p:txBody>
      </p:sp>
      <p:sp>
        <p:nvSpPr>
          <p:cNvPr id="23" name="road-2-s"/>
          <p:cNvSpPr txBox="1"/>
          <p:nvPr/>
        </p:nvSpPr>
        <p:spPr>
          <a:xfrm>
            <a:off x="7040880" y="3200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potential</a:t>
            </a:r>
            <a:endParaRPr lang="en-US" sz="900" dirty="0"/>
          </a:p>
        </p:txBody>
      </p:sp>
      <p:sp>
        <p:nvSpPr>
          <p:cNvPr id="24" name="road-2-d"/>
          <p:cNvSpPr txBox="1"/>
          <p:nvPr/>
        </p:nvSpPr>
        <p:spPr>
          <a:xfrm>
            <a:off x="4919472" y="35112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</a:rPr>
              <a:t>Search and rescue homing, low-power neuromorphic chips</a:t>
            </a:r>
            <a:endParaRPr lang="en-US" sz="1100" dirty="0"/>
          </a:p>
        </p:txBody>
      </p:sp>
      <p:sp>
        <p:nvSpPr>
          <p:cNvPr id="25" name="glossary-0"/>
          <p:cNvSpPr txBox="1"/>
          <p:nvPr/>
        </p:nvSpPr>
        <p:spPr>
          <a:xfrm>
            <a:off x="566928" y="4206240"/>
            <a:ext cx="32797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From BANC: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neurons, synapses, excite or inhibit, neuron groups, 3D shapes</a:t>
            </a:r>
            <a:endParaRPr lang="en-US" sz="900" dirty="0"/>
          </a:p>
        </p:txBody>
      </p:sp>
      <p:sp>
        <p:nvSpPr>
          <p:cNvPr id="26" name="glossary-1"/>
          <p:cNvSpPr txBox="1"/>
          <p:nvPr/>
        </p:nvSpPr>
        <p:spPr>
          <a:xfrm>
            <a:off x="4121045" y="4206240"/>
            <a:ext cx="45383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Our assumptions: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neuron activity equation, how vision enters, how flight neurons become drone commands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-1"/>
          <p:cNvSpPr txBox="1"/>
          <p:nvPr/>
        </p:nvSpPr>
        <p:spPr>
          <a:xfrm>
            <a:off x="54864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EVOLUTION WROTE THE WEIGHTS.</a:t>
            </a:r>
            <a:endParaRPr lang="en-US" sz="2000" dirty="0"/>
          </a:p>
        </p:txBody>
      </p:sp>
      <p:sp>
        <p:nvSpPr>
          <p:cNvPr id="3" name="close-2"/>
          <p:cNvSpPr txBox="1"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WE GAVE THEM WINGS.</a:t>
            </a:r>
            <a:endParaRPr lang="en-US" sz="2000" dirty="0"/>
          </a:p>
        </p:txBody>
      </p:sp>
      <p:sp>
        <p:nvSpPr>
          <p:cNvPr id="4" name="team-k"/>
          <p:cNvSpPr txBox="1"/>
          <p:nvPr/>
        </p:nvSpPr>
        <p:spPr>
          <a:xfrm>
            <a:off x="548640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TEAM THE ROOOK</a:t>
            </a:r>
            <a:endParaRPr lang="en-US" sz="800" dirty="0"/>
          </a:p>
        </p:txBody>
      </p:sp>
      <p:sp>
        <p:nvSpPr>
          <p:cNvPr id="5" name="team-0-h"/>
          <p:cNvSpPr txBox="1"/>
          <p:nvPr/>
        </p:nvSpPr>
        <p:spPr>
          <a:xfrm>
            <a:off x="54864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The eyes</a:t>
            </a:r>
            <a:endParaRPr lang="en-US" sz="1300" dirty="0"/>
          </a:p>
        </p:txBody>
      </p:sp>
      <p:sp>
        <p:nvSpPr>
          <p:cNvPr id="6" name="team-0-d"/>
          <p:cNvSpPr txBox="1"/>
          <p:nvPr/>
        </p:nvSpPr>
        <p:spPr>
          <a:xfrm>
            <a:off x="201168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camera, fly retina, FlyVis, input to BANC</a:t>
            </a:r>
            <a:endParaRPr lang="en-US" sz="1100" dirty="0"/>
          </a:p>
        </p:txBody>
      </p:sp>
      <p:sp>
        <p:nvSpPr>
          <p:cNvPr id="7" name="team-1-h"/>
          <p:cNvSpPr txBox="1"/>
          <p:nvPr/>
        </p:nvSpPr>
        <p:spPr>
          <a:xfrm>
            <a:off x="54864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The brain</a:t>
            </a:r>
            <a:endParaRPr lang="en-US" sz="1300" dirty="0"/>
          </a:p>
        </p:txBody>
      </p:sp>
      <p:sp>
        <p:nvSpPr>
          <p:cNvPr id="8" name="team-1-d"/>
          <p:cNvSpPr txBox="1"/>
          <p:nvPr/>
        </p:nvSpPr>
        <p:spPr>
          <a:xfrm>
            <a:off x="201168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full connectome on GPU, decoders, training</a:t>
            </a:r>
            <a:endParaRPr lang="en-US" sz="1100" dirty="0"/>
          </a:p>
        </p:txBody>
      </p:sp>
      <p:sp>
        <p:nvSpPr>
          <p:cNvPr id="9" name="team-2-h"/>
          <p:cNvSpPr txBox="1"/>
          <p:nvPr/>
        </p:nvSpPr>
        <p:spPr>
          <a:xfrm>
            <a:off x="54864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Body and world</a:t>
            </a:r>
            <a:endParaRPr lang="en-US" sz="1300" dirty="0"/>
          </a:p>
        </p:txBody>
      </p:sp>
      <p:sp>
        <p:nvSpPr>
          <p:cNvPr id="10" name="team-2-d"/>
          <p:cNvSpPr txBox="1"/>
          <p:nvPr/>
        </p:nvSpPr>
        <p:spPr>
          <a:xfrm>
            <a:off x="201168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drone, sensors, wind, random worlds</a:t>
            </a:r>
            <a:endParaRPr lang="en-US" sz="1100" dirty="0"/>
          </a:p>
        </p:txBody>
      </p:sp>
      <p:sp>
        <p:nvSpPr>
          <p:cNvPr id="11" name="members"/>
          <p:cNvSpPr txBox="1"/>
          <p:nvPr/>
        </p:nvSpPr>
        <p:spPr>
          <a:xfrm>
            <a:off x="548640" y="3337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</a:rPr>
              <a:t>Dawid Wypych      Mateusz Nowaczek      Krzysztof Mazur</a:t>
            </a:r>
            <a:endParaRPr lang="en-US" sz="1200" dirty="0"/>
          </a:p>
        </p:txBody>
      </p:sp>
      <p:sp>
        <p:nvSpPr>
          <p:cNvPr id="12" name="src-k"/>
          <p:cNvSpPr txBox="1"/>
          <p:nvPr/>
        </p:nvSpPr>
        <p:spPr>
          <a:xfrm>
            <a:off x="4846320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BUILT ON, WITH THANKS</a:t>
            </a:r>
            <a:endParaRPr lang="en-US" sz="800" dirty="0"/>
          </a:p>
        </p:txBody>
      </p:sp>
      <p:sp>
        <p:nvSpPr>
          <p:cNvPr id="13" name="sources"/>
          <p:cNvSpPr txBox="1"/>
          <p:nvPr/>
        </p:nvSpPr>
        <p:spPr>
          <a:xfrm>
            <a:off x="4846320" y="192024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AFAFA"/>
                </a:solidFill>
              </a:rPr>
              <a:t>BANC v888 connectome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1A1AA"/>
                </a:solidFill>
              </a:rPr>
              <a:t>Bates et al. 2026, doi 10.7910/DVN/7WTH1N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AFAFA"/>
                </a:solidFill>
              </a:rPr>
              <a:t>FlyVis, FlyGym, MuJoCo, Skydio X2 model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1A1AA"/>
                </a:solidFill>
              </a:rPr>
              <a:t>open models and simulator (MuJoCo Menagerie)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AFAFA"/>
                </a:solidFill>
              </a:rPr>
              <a:t>Claude Code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1A1AA"/>
                </a:solidFill>
              </a:rPr>
              <a:t>AI assistant for code, docs and slides</a:t>
            </a:r>
            <a:endParaRPr lang="en-US" sz="1100" dirty="0"/>
          </a:p>
        </p:txBody>
      </p:sp>
      <p:sp>
        <p:nvSpPr>
          <p:cNvPr id="14" name="built"/>
          <p:cNvSpPr txBox="1"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Built during HackYeah: the whole loop, controller, decoders and training, drone simulator, live panel, 3D explorer.</a:t>
            </a:r>
            <a:endParaRPr lang="en-US" sz="1000" dirty="0"/>
          </a:p>
        </p:txBody>
      </p:sp>
      <p:sp>
        <p:nvSpPr>
          <p:cNvPr id="15" name="repo">
            <a:hlinkClick r:id="rId1" tooltip=""/>
          </p:cNvPr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u="sng" spc="400" kern="0" dirty="0">
                <a:solidFill>
                  <a:srgbClr val="FF2D6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GITHUB.COM/FALCONDEVX/NEUROFLY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roFly">
  <a:themeElements>
    <a:clrScheme name="NeuroFly">
      <a:dk1>
        <a:srgbClr val="09090B"/>
      </a:dk1>
      <a:lt1>
        <a:srgbClr val="FAFAFA"/>
      </a:lt1>
      <a:dk2>
        <a:srgbClr val="18181B"/>
      </a:dk2>
      <a:lt2>
        <a:srgbClr val="A1A1AA"/>
      </a:lt2>
      <a:accent1>
        <a:srgbClr val="2FD3C4"/>
      </a:accent1>
      <a:accent2>
        <a:srgbClr val="FFB547"/>
      </a:accent2>
      <a:accent3>
        <a:srgbClr val="FF4FB0"/>
      </a:accent3>
      <a:accent4>
        <a:srgbClr val="4F8CFF"/>
      </a:accent4>
      <a:accent5>
        <a:srgbClr val="52525B"/>
      </a:accent5>
      <a:accent6>
        <a:srgbClr val="27272A"/>
      </a:accent6>
      <a:hlink>
        <a:srgbClr val="2FD3C4"/>
      </a:hlink>
      <a:folHlink>
        <a:srgbClr val="A1A1AA"/>
      </a:folHlink>
    </a:clrScheme>
    <a:fontScheme name="NeuroFly">
      <a:majorFont>
        <a:latin typeface="Michr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NeuroFly — the brain of a fruit fly pilots a drone</dc:title>
  <dc:subject>PptxGenJS Presentation</dc:subject>
  <dc:creator>NeuroFly team</dc:creator>
  <cp:lastModifiedBy>NeuroFly team</cp:lastModifiedBy>
  <cp:revision>1</cp:revision>
  <dcterms:created xsi:type="dcterms:W3CDTF">2026-10-03T23:45:08Z</dcterms:created>
  <dcterms:modified xsi:type="dcterms:W3CDTF">2026-10-03T23:45:08Z</dcterms:modified>
</cp:coreProperties>
</file>